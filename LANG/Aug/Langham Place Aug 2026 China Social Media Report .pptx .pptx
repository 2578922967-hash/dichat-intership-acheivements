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Lst>
  <p:sldSz cy="5143500" cx="9144000"/>
  <p:notesSz cx="6858000" cy="9144000"/>
  <p:embeddedFontLst>
    <p:embeddedFont>
      <p:font typeface="Roboto"/>
      <p:regular r:id="rId44"/>
      <p:bold r:id="rId45"/>
      <p:italic r:id="rId46"/>
      <p:boldItalic r:id="rId47"/>
    </p:embeddedFont>
    <p:embeddedFont>
      <p:font typeface="Inter"/>
      <p:regular r:id="rId48"/>
      <p:bold r:id="rId49"/>
      <p:italic r:id="rId50"/>
      <p:boldItalic r:id="rId51"/>
    </p:embeddedFont>
    <p:embeddedFont>
      <p:font typeface="Lato"/>
      <p:regular r:id="rId52"/>
      <p:bold r:id="rId53"/>
      <p:italic r:id="rId54"/>
      <p:boldItalic r:id="rId55"/>
    </p:embeddedFont>
    <p:embeddedFont>
      <p:font typeface="Source Code Pro"/>
      <p:regular r:id="rId56"/>
      <p:bold r:id="rId57"/>
      <p:italic r:id="rId58"/>
      <p:boldItalic r:id="rId59"/>
    </p:embeddedFont>
    <p:embeddedFont>
      <p:font typeface="Oswald"/>
      <p:regular r:id="rId60"/>
      <p:bold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62" roundtripDataSignature="AMtx7miND9o2/U+T73lkR3dD7YZm0z6qS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DiDi DiChat"/>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BF73CE5-E657-4C52-95DC-C96709342244}">
  <a:tblStyle styleId="{CBF73CE5-E657-4C52-95DC-C96709342244}"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font" Target="fonts/Roboto-regular.fntdata"/><Relationship Id="rId43" Type="http://schemas.openxmlformats.org/officeDocument/2006/relationships/slide" Target="slides/slide35.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Inter-regular.fntdata"/><Relationship Id="rId47" Type="http://schemas.openxmlformats.org/officeDocument/2006/relationships/font" Target="fonts/Roboto-boldItalic.fntdata"/><Relationship Id="rId49" Type="http://schemas.openxmlformats.org/officeDocument/2006/relationships/font" Target="fonts/Inter-bold.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customschemas.google.com/relationships/presentationmetadata" Target="metadata"/><Relationship Id="rId61" Type="http://schemas.openxmlformats.org/officeDocument/2006/relationships/font" Target="fonts/Oswald-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Oswald-regular.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Inter-boldItalic.fntdata"/><Relationship Id="rId50" Type="http://schemas.openxmlformats.org/officeDocument/2006/relationships/font" Target="fonts/Inter-italic.fntdata"/><Relationship Id="rId53" Type="http://schemas.openxmlformats.org/officeDocument/2006/relationships/font" Target="fonts/Lato-bold.fntdata"/><Relationship Id="rId52" Type="http://schemas.openxmlformats.org/officeDocument/2006/relationships/font" Target="fonts/Lato-regular.fntdata"/><Relationship Id="rId11" Type="http://schemas.openxmlformats.org/officeDocument/2006/relationships/slide" Target="slides/slide3.xml"/><Relationship Id="rId55" Type="http://schemas.openxmlformats.org/officeDocument/2006/relationships/font" Target="fonts/Lato-boldItalic.fntdata"/><Relationship Id="rId10" Type="http://schemas.openxmlformats.org/officeDocument/2006/relationships/slide" Target="slides/slide2.xml"/><Relationship Id="rId54" Type="http://schemas.openxmlformats.org/officeDocument/2006/relationships/font" Target="fonts/Lato-italic.fntdata"/><Relationship Id="rId13" Type="http://schemas.openxmlformats.org/officeDocument/2006/relationships/slide" Target="slides/slide5.xml"/><Relationship Id="rId57" Type="http://schemas.openxmlformats.org/officeDocument/2006/relationships/font" Target="fonts/SourceCodePro-bold.fntdata"/><Relationship Id="rId12" Type="http://schemas.openxmlformats.org/officeDocument/2006/relationships/slide" Target="slides/slide4.xml"/><Relationship Id="rId56" Type="http://schemas.openxmlformats.org/officeDocument/2006/relationships/font" Target="fonts/SourceCodePro-regular.fntdata"/><Relationship Id="rId15" Type="http://schemas.openxmlformats.org/officeDocument/2006/relationships/slide" Target="slides/slide7.xml"/><Relationship Id="rId59" Type="http://schemas.openxmlformats.org/officeDocument/2006/relationships/font" Target="fonts/SourceCodePro-boldItalic.fntdata"/><Relationship Id="rId14" Type="http://schemas.openxmlformats.org/officeDocument/2006/relationships/slide" Target="slides/slide6.xml"/><Relationship Id="rId58" Type="http://schemas.openxmlformats.org/officeDocument/2006/relationships/font" Target="fonts/SourceCodePro-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07T03:08:54.163">
    <p:pos x="6000" y="0"/>
    <p:text>@richyy@dichat.hk @jessica@dichat.hk</p:text>
    <p:extLst>
      <p:ext uri="{C676402C-5697-4E1C-873F-D02D1690AC5C}">
        <p15:threadingInfo timeZoneBias="0"/>
      </p:ext>
      <p:ext uri="http://customooxmlschemas.google.com/">
        <go:slidesCustomData xmlns:go="http://customooxmlschemas.google.com/" commentPostId="AAACGtu2YXw"/>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zh-HK" sz="1050">
                <a:solidFill>
                  <a:schemeClr val="dk1"/>
                </a:solidFill>
                <a:latin typeface="Times New Roman"/>
                <a:ea typeface="Times New Roman"/>
                <a:cs typeface="Times New Roman"/>
                <a:sym typeface="Times New Roman"/>
              </a:rPr>
              <a:t>Total Cost: </a:t>
            </a:r>
            <a:r>
              <a:rPr b="1" lang="zh-HK" sz="1050">
                <a:solidFill>
                  <a:schemeClr val="dk1"/>
                </a:solidFill>
                <a:latin typeface="Times New Roman"/>
                <a:ea typeface="Times New Roman"/>
                <a:cs typeface="Times New Roman"/>
                <a:sym typeface="Times New Roman"/>
              </a:rPr>
              <a:t>3,414.66 HKD (3,006.90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CPE: 3,414.66 / 3,196 = </a:t>
            </a:r>
            <a:r>
              <a:rPr b="1" lang="zh-HK" sz="1050">
                <a:solidFill>
                  <a:schemeClr val="dk1"/>
                </a:solidFill>
                <a:latin typeface="Times New Roman"/>
                <a:ea typeface="Times New Roman"/>
                <a:cs typeface="Times New Roman"/>
                <a:sym typeface="Times New Roman"/>
              </a:rPr>
              <a:t>1.07 HKD (0.94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CPM: 3,414.66 / 44,431 x 1000 </a:t>
            </a:r>
            <a:r>
              <a:rPr b="1" lang="zh-HK" sz="1050">
                <a:solidFill>
                  <a:schemeClr val="dk1"/>
                </a:solidFill>
                <a:latin typeface="Times New Roman"/>
                <a:ea typeface="Times New Roman"/>
                <a:cs typeface="Times New Roman"/>
                <a:sym typeface="Times New Roman"/>
              </a:rPr>
              <a:t>= 76.84 HKD (67.67 RMB)</a:t>
            </a:r>
            <a:br>
              <a:rPr b="1" lang="zh-HK" sz="1050">
                <a:solidFill>
                  <a:schemeClr val="dk1"/>
                </a:solidFill>
                <a:latin typeface="Times New Roman"/>
                <a:ea typeface="Times New Roman"/>
                <a:cs typeface="Times New Roman"/>
                <a:sym typeface="Times New Roman"/>
              </a:rPr>
            </a:br>
            <a:r>
              <a:rPr lang="zh-HK" sz="1050">
                <a:solidFill>
                  <a:schemeClr val="dk1"/>
                </a:solidFill>
                <a:latin typeface="Times New Roman"/>
                <a:ea typeface="Times New Roman"/>
                <a:cs typeface="Times New Roman"/>
                <a:sym typeface="Times New Roman"/>
              </a:rPr>
              <a:t>CTR: 5,017 / 44,431 x 100 </a:t>
            </a:r>
            <a:r>
              <a:rPr b="1" lang="zh-HK" sz="1050">
                <a:solidFill>
                  <a:schemeClr val="dk1"/>
                </a:solidFill>
                <a:latin typeface="Times New Roman"/>
                <a:ea typeface="Times New Roman"/>
                <a:cs typeface="Times New Roman"/>
                <a:sym typeface="Times New Roman"/>
              </a:rPr>
              <a:t>= 11.29%</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e72db23f1e_0_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3e72db23f1e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e0a25aff75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8" name="Google Shape;398;g3e0a25aff75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3" name="Google Shape;413;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8b93e9011f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8" name="Google Shape;428;g38b93e9011f_2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409beac5032_3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409beac5032_3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409beac5032_3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409beac5032_3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409beac5032_3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6" name="Google Shape;476;g409beac5032_3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409beac5032_3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409beac5032_3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409beac5032_3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6" name="Google Shape;506;g409beac5032_3_1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409beac5032_3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g409beac5032_3_1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409beac5032_3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409beac5032_3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e0a6527a63_6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8" name="Google Shape;548;g3e0a6527a63_6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f478e7f549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8" name="Google Shape;558;g3f478e7f549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409beac5032_3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8" name="Google Shape;568;g409beac5032_3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fa160e2d0d_1_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g3fa160e2d0d_1_1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f679a2d4e1_0_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8" name="Google Shape;588;g3f679a2d4e1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f679a2d4e1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g3f679a2d4e1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f679a2d4e1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7" name="Google Shape;617;g3f679a2d4e1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f679a2d4e1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3" name="Google Shape;633;g3f679a2d4e1_0_3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f997c9d9d1_1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1" name="Google Shape;651;g3f997c9d9d1_1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fa1a1a2c2b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g3fa1a1a2c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9" name="Google Shape;67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2"/>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13" name="Google Shape;13;p22"/>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15" name="Google Shape;15;p22"/>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6" name="Shape 16"/>
        <p:cNvGrpSpPr/>
        <p:nvPr/>
      </p:nvGrpSpPr>
      <p:grpSpPr>
        <a:xfrm>
          <a:off x="0" y="0"/>
          <a:ext cx="0" cy="0"/>
          <a:chOff x="0" y="0"/>
          <a:chExt cx="0" cy="0"/>
        </a:xfrm>
      </p:grpSpPr>
      <p:sp>
        <p:nvSpPr>
          <p:cNvPr id="17" name="Google Shape;17;p23"/>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8" name="Google Shape;18;p23"/>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9" name="Google Shape;19;p23"/>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20" name="Google Shape;20;p23"/>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21" name="Google Shape;21;p23"/>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23" name="Google Shape;23;p23"/>
          <p:cNvPicPr preferRelativeResize="0"/>
          <p:nvPr/>
        </p:nvPicPr>
        <p:blipFill rotWithShape="1">
          <a:blip r:embed="rId2">
            <a:alphaModFix/>
          </a:blip>
          <a:srcRect b="10251" l="11546" r="10431" t="12545"/>
          <a:stretch/>
        </p:blipFill>
        <p:spPr>
          <a:xfrm>
            <a:off x="4572000" y="4860017"/>
            <a:ext cx="946700" cy="26662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26" name="Google Shape;2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27" name="Google Shape;27;p24"/>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0" name="Google Shape;30;p25"/>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tx">
  <p:cSld name="TITLE_AND_BODY">
    <p:spTree>
      <p:nvGrpSpPr>
        <p:cNvPr id="31" name="Shape 31"/>
        <p:cNvGrpSpPr/>
        <p:nvPr/>
      </p:nvGrpSpPr>
      <p:grpSpPr>
        <a:xfrm>
          <a:off x="0" y="0"/>
          <a:ext cx="0" cy="0"/>
          <a:chOff x="0" y="0"/>
          <a:chExt cx="0" cy="0"/>
        </a:xfrm>
      </p:grpSpPr>
      <p:sp>
        <p:nvSpPr>
          <p:cNvPr id="32" name="Google Shape;32;p26"/>
          <p:cNvSpPr txBox="1"/>
          <p:nvPr>
            <p:ph idx="12" type="sldNum"/>
          </p:nvPr>
        </p:nvSpPr>
        <p:spPr>
          <a:xfrm>
            <a:off x="6348407" y="4661536"/>
            <a:ext cx="204794" cy="211454"/>
          </a:xfrm>
          <a:prstGeom prst="rect">
            <a:avLst/>
          </a:prstGeom>
          <a:noFill/>
          <a:ln>
            <a:noFill/>
          </a:ln>
        </p:spPr>
        <p:txBody>
          <a:bodyPr anchorCtr="0" anchor="ctr" bIns="45700" lIns="45700" spcFirstLastPara="1" rIns="45700"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3" name="Google Shape;33;p26"/>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7"/>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7"/>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37" name="Google Shape;3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38" name="Google Shape;38;p27"/>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cxnSp>
        <p:nvCxnSpPr>
          <p:cNvPr id="40" name="Google Shape;40;p28"/>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41" name="Google Shape;41;p2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42" name="Google Shape;42;p28"/>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3" name="Google Shape;43;p28"/>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44" name="Google Shape;4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45" name="Google Shape;45;p28"/>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cxnSp>
        <p:nvCxnSpPr>
          <p:cNvPr id="47" name="Google Shape;47;p2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8" name="Google Shape;48;p2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9" name="Google Shape;49;p2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0" name="Google Shape;5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51" name="Google Shape;51;p29"/>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52" name="Shape 52"/>
        <p:cNvGrpSpPr/>
        <p:nvPr/>
      </p:nvGrpSpPr>
      <p:grpSpPr>
        <a:xfrm>
          <a:off x="0" y="0"/>
          <a:ext cx="0" cy="0"/>
          <a:chOff x="0" y="0"/>
          <a:chExt cx="0" cy="0"/>
        </a:xfrm>
      </p:grpSpPr>
      <p:sp>
        <p:nvSpPr>
          <p:cNvPr id="53" name="Google Shape;53;p3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54" name="Google Shape;5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55" name="Google Shape;55;p30"/>
          <p:cNvPicPr preferRelativeResize="0"/>
          <p:nvPr/>
        </p:nvPicPr>
        <p:blipFill rotWithShape="1">
          <a:blip r:embed="rId2">
            <a:alphaModFix/>
          </a:blip>
          <a:srcRect b="10251" l="11546" r="10431" t="12545"/>
          <a:stretch/>
        </p:blipFill>
        <p:spPr>
          <a:xfrm>
            <a:off x="4098649" y="4836249"/>
            <a:ext cx="946700" cy="26662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cxnSp>
        <p:nvCxnSpPr>
          <p:cNvPr id="57" name="Google Shape;57;p3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8" name="Google Shape;58;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59" name="Google Shape;59;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60" name="Google Shape;6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Google Shape;353;g6fb7e013a8_0_5" id="61" name="Google Shape;61;p31"/>
          <p:cNvPicPr preferRelativeResize="0"/>
          <p:nvPr/>
        </p:nvPicPr>
        <p:blipFill rotWithShape="1">
          <a:blip r:embed="rId2">
            <a:alphaModFix/>
          </a:blip>
          <a:srcRect b="10251" l="11546" r="10431" t="12545"/>
          <a:stretch/>
        </p:blipFill>
        <p:spPr>
          <a:xfrm>
            <a:off x="4098649" y="4844716"/>
            <a:ext cx="946700" cy="26662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11" showMasterSp="0">
  <p:cSld name="CUSTOM_11">
    <p:spTree>
      <p:nvGrpSpPr>
        <p:cNvPr id="62" name="Shape 62"/>
        <p:cNvGrpSpPr/>
        <p:nvPr/>
      </p:nvGrpSpPr>
      <p:grpSpPr>
        <a:xfrm>
          <a:off x="0" y="0"/>
          <a:ext cx="0" cy="0"/>
          <a:chOff x="0" y="0"/>
          <a:chExt cx="0" cy="0"/>
        </a:xfrm>
      </p:grpSpPr>
      <p:sp>
        <p:nvSpPr>
          <p:cNvPr id="63" name="Google Shape;63;g3f6c672e547_6_103"/>
          <p:cNvSpPr txBox="1"/>
          <p:nvPr>
            <p:ph type="title"/>
          </p:nvPr>
        </p:nvSpPr>
        <p:spPr>
          <a:xfrm>
            <a:off x="228600" y="137319"/>
            <a:ext cx="4114800" cy="571500"/>
          </a:xfrm>
          <a:prstGeom prst="rect">
            <a:avLst/>
          </a:prstGeom>
          <a:noFill/>
          <a:ln>
            <a:noFill/>
          </a:ln>
        </p:spPr>
        <p:txBody>
          <a:bodyPr anchorCtr="0" anchor="ctr" bIns="22850" lIns="45725" spcFirstLastPara="1" rIns="45725" wrap="square" tIns="22850">
            <a:normAutofit/>
          </a:bodyPr>
          <a:lstStyle>
            <a:lvl1pPr lvl="0" algn="ctr">
              <a:lnSpc>
                <a:spcPct val="100000"/>
              </a:lnSpc>
              <a:spcBef>
                <a:spcPts val="0"/>
              </a:spcBef>
              <a:spcAft>
                <a:spcPts val="0"/>
              </a:spcAft>
              <a:buClr>
                <a:schemeClr val="dk1"/>
              </a:buClr>
              <a:buSzPts val="9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4" name="Google Shape;64;g3f6c672e547_6_103"/>
          <p:cNvSpPr txBox="1"/>
          <p:nvPr>
            <p:ph idx="12" type="sldNum"/>
          </p:nvPr>
        </p:nvSpPr>
        <p:spPr>
          <a:xfrm>
            <a:off x="3276600" y="3178175"/>
            <a:ext cx="1066800" cy="182700"/>
          </a:xfrm>
          <a:prstGeom prst="rect">
            <a:avLst/>
          </a:prstGeom>
          <a:noFill/>
          <a:ln>
            <a:noFill/>
          </a:ln>
        </p:spPr>
        <p:txBody>
          <a:bodyPr anchorCtr="0" anchor="ctr" bIns="22850" lIns="45725" spcFirstLastPara="1" rIns="45725" wrap="square" tIns="2285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pic>
        <p:nvPicPr>
          <p:cNvPr descr="A black and white logo&#10;&#10;Description automatically generated" id="65" name="Google Shape;65;g3f6c672e547_6_103"/>
          <p:cNvPicPr preferRelativeResize="0"/>
          <p:nvPr/>
        </p:nvPicPr>
        <p:blipFill rotWithShape="1">
          <a:blip r:embed="rId2">
            <a:alphaModFix/>
          </a:blip>
          <a:srcRect b="0" l="0" r="0" t="0"/>
          <a:stretch/>
        </p:blipFill>
        <p:spPr>
          <a:xfrm>
            <a:off x="4034758" y="4931426"/>
            <a:ext cx="769689" cy="18761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0" name="Shape 70"/>
        <p:cNvGrpSpPr/>
        <p:nvPr/>
      </p:nvGrpSpPr>
      <p:grpSpPr>
        <a:xfrm>
          <a:off x="0" y="0"/>
          <a:ext cx="0" cy="0"/>
          <a:chOff x="0" y="0"/>
          <a:chExt cx="0" cy="0"/>
        </a:xfrm>
      </p:grpSpPr>
      <p:sp>
        <p:nvSpPr>
          <p:cNvPr id="71" name="Google Shape;71;g38b93e9011f_2_8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2" name="Google Shape;72;g38b93e9011f_2_8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73" name="Google Shape;73;g38b93e9011f_2_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g38b93e9011f_2_8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6" name="Google Shape;76;g38b93e9011f_2_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7" name="Shape 77"/>
        <p:cNvGrpSpPr/>
        <p:nvPr/>
      </p:nvGrpSpPr>
      <p:grpSpPr>
        <a:xfrm>
          <a:off x="0" y="0"/>
          <a:ext cx="0" cy="0"/>
          <a:chOff x="0" y="0"/>
          <a:chExt cx="0" cy="0"/>
        </a:xfrm>
      </p:grpSpPr>
      <p:sp>
        <p:nvSpPr>
          <p:cNvPr id="78" name="Google Shape;78;g38b93e9011f_2_9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9" name="Google Shape;79;g38b93e9011f_2_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0" name="Google Shape;80;g38b93e9011f_2_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g38b93e9011f_2_9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 name="Google Shape;83;g38b93e9011f_2_9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4" name="Google Shape;84;g38b93e9011f_2_9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5" name="Google Shape;85;g38b93e9011f_2_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6" name="Shape 86"/>
        <p:cNvGrpSpPr/>
        <p:nvPr/>
      </p:nvGrpSpPr>
      <p:grpSpPr>
        <a:xfrm>
          <a:off x="0" y="0"/>
          <a:ext cx="0" cy="0"/>
          <a:chOff x="0" y="0"/>
          <a:chExt cx="0" cy="0"/>
        </a:xfrm>
      </p:grpSpPr>
      <p:sp>
        <p:nvSpPr>
          <p:cNvPr id="87" name="Google Shape;87;g38b93e9011f_2_10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 name="Google Shape;88;g38b93e9011f_2_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g38b93e9011f_2_10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1" name="Google Shape;91;g38b93e9011f_2_10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2" name="Google Shape;92;g38b93e9011f_2_10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g38b93e9011f_2_10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5" name="Google Shape;95;g38b93e9011f_2_10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6" name="Shape 96"/>
        <p:cNvGrpSpPr/>
        <p:nvPr/>
      </p:nvGrpSpPr>
      <p:grpSpPr>
        <a:xfrm>
          <a:off x="0" y="0"/>
          <a:ext cx="0" cy="0"/>
          <a:chOff x="0" y="0"/>
          <a:chExt cx="0" cy="0"/>
        </a:xfrm>
      </p:grpSpPr>
      <p:sp>
        <p:nvSpPr>
          <p:cNvPr id="97" name="Google Shape;97;g38b93e9011f_2_1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8b93e9011f_2_1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9" name="Google Shape;99;g38b93e9011f_2_1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00" name="Google Shape;100;g38b93e9011f_2_1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1" name="Google Shape;101;g38b93e9011f_2_1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sp>
        <p:nvSpPr>
          <p:cNvPr id="103" name="Google Shape;103;g38b93e9011f_2_11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04" name="Google Shape;104;g38b93e9011f_2_1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sp>
        <p:nvSpPr>
          <p:cNvPr id="106" name="Google Shape;106;g38b93e9011f_2_11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7" name="Google Shape;107;g38b93e9011f_2_11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08" name="Google Shape;108;g38b93e9011f_2_1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9" name="Shape 109"/>
        <p:cNvGrpSpPr/>
        <p:nvPr/>
      </p:nvGrpSpPr>
      <p:grpSpPr>
        <a:xfrm>
          <a:off x="0" y="0"/>
          <a:ext cx="0" cy="0"/>
          <a:chOff x="0" y="0"/>
          <a:chExt cx="0" cy="0"/>
        </a:xfrm>
      </p:grpSpPr>
      <p:sp>
        <p:nvSpPr>
          <p:cNvPr id="110" name="Google Shape;110;g38b93e9011f_2_1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HK"/>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封面">
  <p:cSld name="封面">
    <p:spTree>
      <p:nvGrpSpPr>
        <p:cNvPr id="111" name="Shape 111"/>
        <p:cNvGrpSpPr/>
        <p:nvPr/>
      </p:nvGrpSpPr>
      <p:grpSpPr>
        <a:xfrm>
          <a:off x="0" y="0"/>
          <a:ext cx="0" cy="0"/>
          <a:chOff x="0" y="0"/>
          <a:chExt cx="0" cy="0"/>
        </a:xfrm>
      </p:grpSpPr>
      <p:sp>
        <p:nvSpPr>
          <p:cNvPr id="112" name="Google Shape;112;g38b93e9011f_2_125"/>
          <p:cNvSpPr txBox="1"/>
          <p:nvPr>
            <p:ph type="ctrTitle"/>
          </p:nvPr>
        </p:nvSpPr>
        <p:spPr>
          <a:xfrm>
            <a:off x="1143000" y="1102675"/>
            <a:ext cx="6858000" cy="1790700"/>
          </a:xfrm>
          <a:prstGeom prst="rect">
            <a:avLst/>
          </a:prstGeom>
          <a:noFill/>
          <a:ln>
            <a:noFill/>
          </a:ln>
        </p:spPr>
        <p:txBody>
          <a:bodyPr anchorCtr="0" anchor="b" bIns="34275" lIns="68575" spcFirstLastPara="1" rIns="68575" wrap="square" tIns="34275">
            <a:normAutofit/>
          </a:bodyPr>
          <a:lstStyle>
            <a:lvl1pPr lvl="0" algn="ctr">
              <a:lnSpc>
                <a:spcPct val="130000"/>
              </a:lnSpc>
              <a:spcBef>
                <a:spcPts val="0"/>
              </a:spcBef>
              <a:spcAft>
                <a:spcPts val="0"/>
              </a:spcAft>
              <a:buClr>
                <a:schemeClr val="dk1"/>
              </a:buClr>
              <a:buSzPts val="4500"/>
              <a:buFont typeface="Microsoft Yahei"/>
              <a:buNone/>
              <a:defRPr sz="4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g38b93e9011f_2_125"/>
          <p:cNvSpPr txBox="1"/>
          <p:nvPr>
            <p:ph idx="1" type="subTitle"/>
          </p:nvPr>
        </p:nvSpPr>
        <p:spPr>
          <a:xfrm>
            <a:off x="1143000" y="2962431"/>
            <a:ext cx="6858000" cy="1241700"/>
          </a:xfrm>
          <a:prstGeom prst="rect">
            <a:avLst/>
          </a:prstGeom>
          <a:noFill/>
          <a:ln>
            <a:noFill/>
          </a:ln>
        </p:spPr>
        <p:txBody>
          <a:bodyPr anchorCtr="0" anchor="t" bIns="34275" lIns="68575" spcFirstLastPara="1" rIns="68575" wrap="square" tIns="34275">
            <a:normAutofit/>
          </a:bodyPr>
          <a:lstStyle>
            <a:lvl1pPr lvl="0" algn="ctr">
              <a:lnSpc>
                <a:spcPct val="130000"/>
              </a:lnSpc>
              <a:spcBef>
                <a:spcPts val="800"/>
              </a:spcBef>
              <a:spcAft>
                <a:spcPts val="0"/>
              </a:spcAft>
              <a:buClr>
                <a:schemeClr val="dk1"/>
              </a:buClr>
              <a:buSzPts val="1800"/>
              <a:buNone/>
              <a:defRPr sz="1800"/>
            </a:lvl1pPr>
            <a:lvl2pPr lvl="1" algn="ctr">
              <a:lnSpc>
                <a:spcPct val="130000"/>
              </a:lnSpc>
              <a:spcBef>
                <a:spcPts val="1200"/>
              </a:spcBef>
              <a:spcAft>
                <a:spcPts val="0"/>
              </a:spcAft>
              <a:buClr>
                <a:schemeClr val="dk1"/>
              </a:buClr>
              <a:buSzPts val="1500"/>
              <a:buNone/>
              <a:defRPr sz="1500"/>
            </a:lvl2pPr>
            <a:lvl3pPr lvl="2" algn="ctr">
              <a:lnSpc>
                <a:spcPct val="130000"/>
              </a:lnSpc>
              <a:spcBef>
                <a:spcPts val="1200"/>
              </a:spcBef>
              <a:spcAft>
                <a:spcPts val="0"/>
              </a:spcAft>
              <a:buClr>
                <a:schemeClr val="dk1"/>
              </a:buClr>
              <a:buSzPts val="1400"/>
              <a:buNone/>
              <a:defRPr sz="1400"/>
            </a:lvl3pPr>
            <a:lvl4pPr lvl="3" algn="ctr">
              <a:lnSpc>
                <a:spcPct val="130000"/>
              </a:lnSpc>
              <a:spcBef>
                <a:spcPts val="1200"/>
              </a:spcBef>
              <a:spcAft>
                <a:spcPts val="0"/>
              </a:spcAft>
              <a:buClr>
                <a:schemeClr val="dk1"/>
              </a:buClr>
              <a:buSzPts val="1200"/>
              <a:buNone/>
              <a:defRPr sz="1200"/>
            </a:lvl4pPr>
            <a:lvl5pPr lvl="4" algn="ctr">
              <a:lnSpc>
                <a:spcPct val="130000"/>
              </a:lnSpc>
              <a:spcBef>
                <a:spcPts val="1200"/>
              </a:spcBef>
              <a:spcAft>
                <a:spcPts val="0"/>
              </a:spcAft>
              <a:buClr>
                <a:schemeClr val="dk1"/>
              </a:buClr>
              <a:buSzPts val="1200"/>
              <a:buNone/>
              <a:defRPr sz="1200"/>
            </a:lvl5pPr>
            <a:lvl6pPr lvl="5" algn="ctr">
              <a:lnSpc>
                <a:spcPct val="130000"/>
              </a:lnSpc>
              <a:spcBef>
                <a:spcPts val="1200"/>
              </a:spcBef>
              <a:spcAft>
                <a:spcPts val="0"/>
              </a:spcAft>
              <a:buClr>
                <a:schemeClr val="dk1"/>
              </a:buClr>
              <a:buSzPts val="1200"/>
              <a:buNone/>
              <a:defRPr sz="1200"/>
            </a:lvl6pPr>
            <a:lvl7pPr lvl="6" algn="ctr">
              <a:lnSpc>
                <a:spcPct val="130000"/>
              </a:lnSpc>
              <a:spcBef>
                <a:spcPts val="1200"/>
              </a:spcBef>
              <a:spcAft>
                <a:spcPts val="0"/>
              </a:spcAft>
              <a:buClr>
                <a:schemeClr val="dk1"/>
              </a:buClr>
              <a:buSzPts val="1200"/>
              <a:buNone/>
              <a:defRPr sz="1200"/>
            </a:lvl7pPr>
            <a:lvl8pPr lvl="7" algn="ctr">
              <a:lnSpc>
                <a:spcPct val="130000"/>
              </a:lnSpc>
              <a:spcBef>
                <a:spcPts val="1200"/>
              </a:spcBef>
              <a:spcAft>
                <a:spcPts val="0"/>
              </a:spcAft>
              <a:buClr>
                <a:schemeClr val="dk1"/>
              </a:buClr>
              <a:buSzPts val="1200"/>
              <a:buNone/>
              <a:defRPr sz="1200"/>
            </a:lvl8pPr>
            <a:lvl9pPr lvl="8" algn="ctr">
              <a:lnSpc>
                <a:spcPct val="130000"/>
              </a:lnSpc>
              <a:spcBef>
                <a:spcPts val="1200"/>
              </a:spcBef>
              <a:spcAft>
                <a:spcPts val="1200"/>
              </a:spcAft>
              <a:buClr>
                <a:schemeClr val="dk1"/>
              </a:buClr>
              <a:buSzPts val="1200"/>
              <a:buNone/>
              <a:defRPr sz="12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 name="Google Shape;7;p2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160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1600"/>
              </a:spcBef>
              <a:spcAft>
                <a:spcPts val="160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zh-HK"/>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 name="Shape 66"/>
        <p:cNvGrpSpPr/>
        <p:nvPr/>
      </p:nvGrpSpPr>
      <p:grpSpPr>
        <a:xfrm>
          <a:off x="0" y="0"/>
          <a:ext cx="0" cy="0"/>
          <a:chOff x="0" y="0"/>
          <a:chExt cx="0" cy="0"/>
        </a:xfrm>
      </p:grpSpPr>
      <p:sp>
        <p:nvSpPr>
          <p:cNvPr id="67" name="Google Shape;67;g38b93e9011f_2_8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68" name="Google Shape;68;g38b93e9011f_2_8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69" name="Google Shape;69;g38b93e9011f_2_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HK"/>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8.png"/></Relationships>
</file>

<file path=ppt/slides/_rels/slide4.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8.png"/><Relationship Id="rId13" Type="http://schemas.openxmlformats.org/officeDocument/2006/relationships/image" Target="../media/image15.jpg"/><Relationship Id="rId12" Type="http://schemas.openxmlformats.org/officeDocument/2006/relationships/image" Target="../media/image21.jpg"/><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7.png"/><Relationship Id="rId15" Type="http://schemas.openxmlformats.org/officeDocument/2006/relationships/image" Target="../media/image16.jpg"/><Relationship Id="rId14" Type="http://schemas.openxmlformats.org/officeDocument/2006/relationships/image" Target="../media/image17.jpg"/><Relationship Id="rId16" Type="http://schemas.openxmlformats.org/officeDocument/2006/relationships/image" Target="../media/image18.jp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3.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45.jpg"/><Relationship Id="rId6" Type="http://schemas.openxmlformats.org/officeDocument/2006/relationships/image" Target="../media/image20.jpg"/><Relationship Id="rId7" Type="http://schemas.openxmlformats.org/officeDocument/2006/relationships/image" Target="../media/image4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image" Target="../media/image5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4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71.jpg"/><Relationship Id="rId8" Type="http://schemas.openxmlformats.org/officeDocument/2006/relationships/image" Target="../media/image7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29.png"/><Relationship Id="rId4" Type="http://schemas.openxmlformats.org/officeDocument/2006/relationships/image" Target="../media/image24.png"/><Relationship Id="rId5" Type="http://schemas.openxmlformats.org/officeDocument/2006/relationships/image" Target="../media/image6.png"/><Relationship Id="rId6" Type="http://schemas.openxmlformats.org/officeDocument/2006/relationships/hyperlink" Target="https://www.huitun.com/" TargetMode="External"/><Relationship Id="rId7"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hyperlink" Target="https://www.huitun.com/"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6.png"/><Relationship Id="rId5" Type="http://schemas.openxmlformats.org/officeDocument/2006/relationships/hyperlink" Target="https://www.huitun.com/" TargetMode="External"/><Relationship Id="rId6" Type="http://schemas.openxmlformats.org/officeDocument/2006/relationships/image" Target="../media/image8.png"/><Relationship Id="rId7"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27.jpg"/><Relationship Id="rId5" Type="http://schemas.openxmlformats.org/officeDocument/2006/relationships/image" Target="../media/image33.jpg"/><Relationship Id="rId6" Type="http://schemas.openxmlformats.org/officeDocument/2006/relationships/image" Target="../media/image51.jpg"/><Relationship Id="rId7" Type="http://schemas.openxmlformats.org/officeDocument/2006/relationships/image" Target="../media/image4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 Id="rId9"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6.png"/><Relationship Id="rId7" Type="http://schemas.openxmlformats.org/officeDocument/2006/relationships/image" Target="../media/image32.png"/><Relationship Id="rId8" Type="http://schemas.openxmlformats.org/officeDocument/2006/relationships/image" Target="../media/image35.png"/></Relationships>
</file>

<file path=ppt/slides/_rels/slide17.xml.rels><?xml version="1.0" encoding="UTF-8" standalone="yes"?><Relationships xmlns="http://schemas.openxmlformats.org/package/2006/relationships"><Relationship Id="rId11" Type="http://schemas.openxmlformats.org/officeDocument/2006/relationships/image" Target="../media/image40.png"/><Relationship Id="rId10" Type="http://schemas.openxmlformats.org/officeDocument/2006/relationships/image" Target="../media/image34.png"/><Relationship Id="rId13" Type="http://schemas.openxmlformats.org/officeDocument/2006/relationships/hyperlink" Target="https://www.xiaohongshu.com/explore/6a91152a000000003702ffdf?xsec_token=ABYFFH9ilH1mtdMnNTZcVb8mI-ecGk_DD1H8RwNeQx5eQ=&amp;xsec_source=pc_search" TargetMode="External"/><Relationship Id="rId12" Type="http://schemas.openxmlformats.org/officeDocument/2006/relationships/image" Target="../media/image42.png"/><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comments" Target="../comments/comment1.xml"/><Relationship Id="rId4" Type="http://schemas.openxmlformats.org/officeDocument/2006/relationships/image" Target="../media/image6.png"/><Relationship Id="rId9" Type="http://schemas.openxmlformats.org/officeDocument/2006/relationships/hyperlink" Target="https://www.xiaohongshu.com/search_result?keyword=%25E6%25B8%25AF%25E7%259C%259F%25E5%25A5%25BD%25E5%25A5%25BD%25E7%25A9%25BF&amp;type=54&amp;source=web_note_detail_r10" TargetMode="External"/><Relationship Id="rId5" Type="http://schemas.openxmlformats.org/officeDocument/2006/relationships/hyperlink" Target="https://www.xiaohongshu.com/search_result?keyword=%25E9%25A6%2599%25E6%25B8%25AF%25E6%2597%25B6%25E4%25BB%25A3%25E5%25B9%25BF%25E5%259C%25BA&amp;type=54&amp;source=web_note_detail_r10" TargetMode="External"/><Relationship Id="rId6" Type="http://schemas.openxmlformats.org/officeDocument/2006/relationships/hyperlink" Target="https://www.xiaohongshu.com/search_result?keyword=%25E9%25A6%2599%25E6%25B8%25AF%25E8%25B4%25AD%25E7%2589%25A9&amp;type=54&amp;source=web_note_detail_r10" TargetMode="External"/><Relationship Id="rId7" Type="http://schemas.openxmlformats.org/officeDocument/2006/relationships/hyperlink" Target="https://www.xiaohongshu.com/search_result?keyword=%25E9%2593%259C%25E9%2594%25A3%25E6%25B9%25BE%25E8%25B4%25AD%25E7%2589%25A9&amp;type=54&amp;source=web_note_detail_r10" TargetMode="External"/><Relationship Id="rId8" Type="http://schemas.openxmlformats.org/officeDocument/2006/relationships/hyperlink" Target="https://www.xiaohongshu.com/search_result?keyword=%25E6%25B8%25AF%25E7%259C%259F%25E5%25A5%25BD%25E5%25A5%25BD%25E9%2580%259B&amp;type=54&amp;source=web_note_detail_r10" TargetMode="External"/></Relationships>
</file>

<file path=ppt/slides/_rels/slide18.xml.rels><?xml version="1.0" encoding="UTF-8" standalone="yes"?><Relationships xmlns="http://schemas.openxmlformats.org/package/2006/relationships"><Relationship Id="rId11" Type="http://schemas.openxmlformats.org/officeDocument/2006/relationships/hyperlink" Target="https://www.xiaohongshu.com/user/profile/658ec3b5000000002200bf25?xsec_token=AB8t66kHK5GffAKzVqIpgMzdnjxaTcf-BvkYaCCzdU5v0%3D&amp;xsec_source=pc_search" TargetMode="External"/><Relationship Id="rId10" Type="http://schemas.openxmlformats.org/officeDocument/2006/relationships/hyperlink" Target="https://www.xiaohongshu.com/search_result?keyword=%25E9%25A6%2599%25E6%25B8%25AF%25E5%2591%25A8%25E6%259C%25AB%25E6%25B8%25B8&amp;type=54&amp;source=web_note_detail_r10" TargetMode="External"/><Relationship Id="rId13" Type="http://schemas.openxmlformats.org/officeDocument/2006/relationships/hyperlink" Target="https://www.xiaohongshu.com/explore/6a86aeb50000000014029570?xsec_token=ABY51oSqS_n047WNkgsDF6uPQkub8vRznX_VNTYwAUQUc=&amp;xsec_source=pc_search" TargetMode="External"/><Relationship Id="rId12" Type="http://schemas.openxmlformats.org/officeDocument/2006/relationships/hyperlink" Target="https://www.xiaohongshu.com/user/profile/658ec3b5000000002200bf25?xsec_token=AB8t66kHK5GffAKzVqIpgMzdnjxaTcf-BvkYaCCzdU5v0%3D&amp;xsec_source=pc_search" TargetMode="External"/><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hyperlink" Target="https://www.xiaohongshu.com/search_result?keyword=%25E9%25A6%2599%25E6%25B8%25AF%25E6%2597%25B6%25E4%25BB%25A3%25E5%25B9%25BF%25E5%259C%25BA&amp;type=54&amp;source=web_note_detail_r10" TargetMode="External"/><Relationship Id="rId9" Type="http://schemas.openxmlformats.org/officeDocument/2006/relationships/hyperlink" Target="https://www.xiaohongshu.com/search_result?keyword=%25E5%2585%2583%25E6%259C%2597%25E5%25A5%25BD%25E5%258E%25BB%25E5%25A4%2584&amp;type=54&amp;source=web_note_detail_r10" TargetMode="External"/><Relationship Id="rId15" Type="http://schemas.openxmlformats.org/officeDocument/2006/relationships/image" Target="../media/image41.png"/><Relationship Id="rId14" Type="http://schemas.openxmlformats.org/officeDocument/2006/relationships/image" Target="../media/image39.png"/><Relationship Id="rId5" Type="http://schemas.openxmlformats.org/officeDocument/2006/relationships/hyperlink" Target="https://www.xiaohongshu.com/search_result?keyword=YOHOMALL%25E5%25BD%25A2%25E7%2582%25B9&amp;type=54&amp;source=web_note_detail_r10" TargetMode="External"/><Relationship Id="rId6" Type="http://schemas.openxmlformats.org/officeDocument/2006/relationships/hyperlink" Target="https://www.xiaohongshu.com/search_result?keyword=%25E9%25A6%2599%25E6%25B8%25AF%25E7%2594%259F%25E6%25B4%25BB&amp;type=54&amp;source=web_note_detail_r10" TargetMode="External"/><Relationship Id="rId7" Type="http://schemas.openxmlformats.org/officeDocument/2006/relationships/hyperlink" Target="https://www.xiaohongshu.com/search_result?keyword=%25E9%25A6%2599%25E6%25B8%25AF%25E6%258E%25A2%25E5%25BA%2597&amp;type=54&amp;source=web_note_detail_r10" TargetMode="External"/><Relationship Id="rId8" Type="http://schemas.openxmlformats.org/officeDocument/2006/relationships/hyperlink" Target="https://www.xiaohongshu.com/search_result?keyword=%25E9%25A6%2599%25E6%25B8%25AF%25E6%2589%2593%25E5%258D%25A1&amp;type=54&amp;source=web_note_detail_r1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www.xiaohongshu.com/user/profile/658ec3b5000000002200bf25?xsec_token=AB8t66kHK5GffAKzVqIpgMzdnjxaTcf-BvkYaCCzdU5v0%3D&amp;xsec_source=pc_search" TargetMode="External"/><Relationship Id="rId9" Type="http://schemas.openxmlformats.org/officeDocument/2006/relationships/image" Target="../media/image72.jpg"/><Relationship Id="rId5" Type="http://schemas.openxmlformats.org/officeDocument/2006/relationships/hyperlink" Target="https://mp.weixin.qq.com/s/qRAHnQABKRNAqoVn1D7F0g" TargetMode="External"/><Relationship Id="rId6" Type="http://schemas.openxmlformats.org/officeDocument/2006/relationships/image" Target="../media/image3.png"/><Relationship Id="rId7" Type="http://schemas.openxmlformats.org/officeDocument/2006/relationships/image" Target="../media/image68.jpg"/><Relationship Id="rId8" Type="http://schemas.openxmlformats.org/officeDocument/2006/relationships/image" Target="../media/image6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www.xiaohongshu.com/user/profile/658ec3b5000000002200bf25?xsec_token=AB8t66kHK5GffAKzVqIpgMzdnjxaTcf-BvkYaCCzdU5v0%3D&amp;xsec_source=pc_search" TargetMode="External"/><Relationship Id="rId9" Type="http://schemas.openxmlformats.org/officeDocument/2006/relationships/image" Target="../media/image50.jpg"/><Relationship Id="rId5" Type="http://schemas.openxmlformats.org/officeDocument/2006/relationships/hyperlink" Target="https://mp.weixin.qq.com/s/px8fw304Ssp2ST15BPjY8Q" TargetMode="External"/><Relationship Id="rId6" Type="http://schemas.openxmlformats.org/officeDocument/2006/relationships/image" Target="../media/image3.png"/><Relationship Id="rId7" Type="http://schemas.openxmlformats.org/officeDocument/2006/relationships/image" Target="../media/image69.jpg"/><Relationship Id="rId8" Type="http://schemas.openxmlformats.org/officeDocument/2006/relationships/image" Target="../media/image7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www.xiaohongshu.com/user/profile/658ec3b5000000002200bf25?xsec_token=AB8t66kHK5GffAKzVqIpgMzdnjxaTcf-BvkYaCCzdU5v0%3D&amp;xsec_source=pc_search" TargetMode="External"/><Relationship Id="rId9" Type="http://schemas.openxmlformats.org/officeDocument/2006/relationships/image" Target="../media/image55.jpg"/><Relationship Id="rId5" Type="http://schemas.openxmlformats.org/officeDocument/2006/relationships/hyperlink" Target="https://weixin.qq.com/sph/A4zuSr8Ske" TargetMode="External"/><Relationship Id="rId6" Type="http://schemas.openxmlformats.org/officeDocument/2006/relationships/image" Target="../media/image9.png"/><Relationship Id="rId7" Type="http://schemas.openxmlformats.org/officeDocument/2006/relationships/image" Target="../media/image46.jpg"/><Relationship Id="rId8" Type="http://schemas.openxmlformats.org/officeDocument/2006/relationships/image" Target="../media/image5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www.xiaohongshu.com/user/profile/658ec3b5000000002200bf25?xsec_token=AB8t66kHK5GffAKzVqIpgMzdnjxaTcf-BvkYaCCzdU5v0%3D&amp;xsec_source=pc_search" TargetMode="External"/><Relationship Id="rId5" Type="http://schemas.openxmlformats.org/officeDocument/2006/relationships/hyperlink" Target="https://weixin.qq.com/sph/AftdbXEzqN" TargetMode="External"/><Relationship Id="rId6" Type="http://schemas.openxmlformats.org/officeDocument/2006/relationships/image" Target="../media/image9.png"/><Relationship Id="rId7" Type="http://schemas.openxmlformats.org/officeDocument/2006/relationships/image" Target="../media/image67.jpg"/><Relationship Id="rId8" Type="http://schemas.openxmlformats.org/officeDocument/2006/relationships/image" Target="../media/image6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www.xiaohongshu.com/user/profile/658ec3b5000000002200bf25?xsec_token=AB8t66kHK5GffAKzVqIpgMzdnjxaTcf-BvkYaCCzdU5v0%3D&amp;xsec_source=pc_search" TargetMode="External"/><Relationship Id="rId5" Type="http://schemas.openxmlformats.org/officeDocument/2006/relationships/hyperlink" Target="https://v.douyin.com/F1f8N1d3sG4/%20:1pm%20HiC:/%20j@c.nQ%2009/04" TargetMode="External"/><Relationship Id="rId6" Type="http://schemas.openxmlformats.org/officeDocument/2006/relationships/image" Target="../media/image7.png"/><Relationship Id="rId7" Type="http://schemas.openxmlformats.org/officeDocument/2006/relationships/image" Target="../media/image78.jpg"/><Relationship Id="rId8" Type="http://schemas.openxmlformats.org/officeDocument/2006/relationships/image" Target="../media/image7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hyperlink" Target="https://www.xiaohongshu.com/user/profile/658ec3b5000000002200bf25?xsec_token=AB8t66kHK5GffAKzVqIpgMzdnjxaTcf-BvkYaCCzdU5v0%3D&amp;xsec_source=pc_search" TargetMode="External"/><Relationship Id="rId4" Type="http://schemas.openxmlformats.org/officeDocument/2006/relationships/hyperlink" Target="https://v.douyin.com/PncdBMUNjLM/%20:4pm%20oDu:/%20k@p.Qk%2012/31" TargetMode="External"/><Relationship Id="rId5" Type="http://schemas.openxmlformats.org/officeDocument/2006/relationships/image" Target="../media/image7.png"/><Relationship Id="rId6" Type="http://schemas.openxmlformats.org/officeDocument/2006/relationships/image" Target="../media/image77.jpg"/><Relationship Id="rId7" Type="http://schemas.openxmlformats.org/officeDocument/2006/relationships/image" Target="../media/image7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4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8.png"/><Relationship Id="rId4" Type="http://schemas.openxmlformats.org/officeDocument/2006/relationships/image" Target="../media/image52.png"/><Relationship Id="rId5"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8.png"/><Relationship Id="rId4" Type="http://schemas.openxmlformats.org/officeDocument/2006/relationships/image" Target="../media/image59.png"/><Relationship Id="rId5"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61.png"/><Relationship Id="rId5" Type="http://schemas.openxmlformats.org/officeDocument/2006/relationships/image" Target="../media/image6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56.png"/><Relationship Id="rId6"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82.jpg"/><Relationship Id="rId6" Type="http://schemas.openxmlformats.org/officeDocument/2006/relationships/image" Target="../media/image85.png"/><Relationship Id="rId7" Type="http://schemas.openxmlformats.org/officeDocument/2006/relationships/image" Target="../media/image7.png"/><Relationship Id="rId8"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64.png"/><Relationship Id="rId6" Type="http://schemas.openxmlformats.org/officeDocument/2006/relationships/image" Target="../media/image81.jpg"/><Relationship Id="rId7" Type="http://schemas.openxmlformats.org/officeDocument/2006/relationships/image" Target="../media/image8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84.png"/><Relationship Id="rId6" Type="http://schemas.openxmlformats.org/officeDocument/2006/relationships/image" Target="../media/image8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3.png"/><Relationship Id="rId6" Type="http://schemas.openxmlformats.org/officeDocument/2006/relationships/image" Target="../media/image74.png"/><Relationship Id="rId7" Type="http://schemas.openxmlformats.org/officeDocument/2006/relationships/image" Target="../media/image8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hyperlink" Target="mailto:info@dichat.hk"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6000"/>
              <a:buNone/>
            </a:pPr>
            <a:r>
              <a:rPr lang="zh-HK" sz="4800"/>
              <a:t>Langham Place</a:t>
            </a:r>
            <a:br>
              <a:rPr lang="zh-HK" sz="4800"/>
            </a:br>
            <a:r>
              <a:rPr lang="zh-HK" sz="4800"/>
              <a:t>China Social Media Report</a:t>
            </a:r>
            <a:endParaRPr sz="4800"/>
          </a:p>
        </p:txBody>
      </p:sp>
      <p:sp>
        <p:nvSpPr>
          <p:cNvPr id="119" name="Google Shape;119;p1"/>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r>
              <a:t/>
            </a:r>
            <a:endParaRPr sz="2800"/>
          </a:p>
          <a:p>
            <a:pPr indent="0" lvl="0" marL="0" rtl="0" algn="ctr">
              <a:lnSpc>
                <a:spcPct val="100000"/>
              </a:lnSpc>
              <a:spcBef>
                <a:spcPts val="0"/>
              </a:spcBef>
              <a:spcAft>
                <a:spcPts val="0"/>
              </a:spcAft>
              <a:buSzPts val="3600"/>
              <a:buNone/>
            </a:pPr>
            <a:r>
              <a:rPr lang="zh-HK" sz="2800"/>
              <a:t>Aug 2026</a:t>
            </a:r>
            <a:endParaRPr sz="2800"/>
          </a:p>
        </p:txBody>
      </p:sp>
      <p:pic>
        <p:nvPicPr>
          <p:cNvPr descr="About | Langham Place" id="120" name="Google Shape;120;p1"/>
          <p:cNvPicPr preferRelativeResize="0"/>
          <p:nvPr/>
        </p:nvPicPr>
        <p:blipFill rotWithShape="1">
          <a:blip r:embed="rId3">
            <a:alphaModFix/>
          </a:blip>
          <a:srcRect b="21020" l="14063" r="17215" t="26140"/>
          <a:stretch/>
        </p:blipFill>
        <p:spPr>
          <a:xfrm>
            <a:off x="4027797" y="3498385"/>
            <a:ext cx="1049155" cy="423511"/>
          </a:xfrm>
          <a:prstGeom prst="rect">
            <a:avLst/>
          </a:prstGeom>
          <a:noFill/>
          <a:ln>
            <a:noFill/>
          </a:ln>
        </p:spPr>
      </p:pic>
      <p:pic>
        <p:nvPicPr>
          <p:cNvPr id="121" name="Google Shape;121;p1"/>
          <p:cNvPicPr preferRelativeResize="0"/>
          <p:nvPr/>
        </p:nvPicPr>
        <p:blipFill rotWithShape="1">
          <a:blip r:embed="rId4">
            <a:alphaModFix/>
          </a:blip>
          <a:srcRect b="0" l="0" r="0" t="0"/>
          <a:stretch/>
        </p:blipFill>
        <p:spPr>
          <a:xfrm>
            <a:off x="3535664" y="3095715"/>
            <a:ext cx="379728" cy="379728"/>
          </a:xfrm>
          <a:prstGeom prst="rect">
            <a:avLst/>
          </a:prstGeom>
          <a:noFill/>
          <a:ln>
            <a:noFill/>
          </a:ln>
        </p:spPr>
      </p:pic>
      <p:pic>
        <p:nvPicPr>
          <p:cNvPr id="122" name="Google Shape;122;p1"/>
          <p:cNvPicPr preferRelativeResize="0"/>
          <p:nvPr/>
        </p:nvPicPr>
        <p:blipFill rotWithShape="1">
          <a:blip r:embed="rId5">
            <a:alphaModFix/>
          </a:blip>
          <a:srcRect b="0" l="0" r="0" t="0"/>
          <a:stretch/>
        </p:blipFill>
        <p:spPr>
          <a:xfrm>
            <a:off x="4026114" y="3095707"/>
            <a:ext cx="379725" cy="379744"/>
          </a:xfrm>
          <a:prstGeom prst="rect">
            <a:avLst/>
          </a:prstGeom>
          <a:noFill/>
          <a:ln>
            <a:noFill/>
          </a:ln>
        </p:spPr>
      </p:pic>
      <p:pic>
        <p:nvPicPr>
          <p:cNvPr id="123" name="Google Shape;123;p1"/>
          <p:cNvPicPr preferRelativeResize="0"/>
          <p:nvPr/>
        </p:nvPicPr>
        <p:blipFill rotWithShape="1">
          <a:blip r:embed="rId6">
            <a:alphaModFix/>
          </a:blip>
          <a:srcRect b="24248" l="33990" r="33993" t="24257"/>
          <a:stretch/>
        </p:blipFill>
        <p:spPr>
          <a:xfrm>
            <a:off x="4755489" y="3094780"/>
            <a:ext cx="379800" cy="381600"/>
          </a:xfrm>
          <a:prstGeom prst="roundRect">
            <a:avLst>
              <a:gd fmla="val 16667" name="adj"/>
            </a:avLst>
          </a:prstGeom>
          <a:noFill/>
          <a:ln>
            <a:noFill/>
          </a:ln>
        </p:spPr>
      </p:pic>
      <p:pic>
        <p:nvPicPr>
          <p:cNvPr id="124" name="Google Shape;124;p1"/>
          <p:cNvPicPr preferRelativeResize="0"/>
          <p:nvPr/>
        </p:nvPicPr>
        <p:blipFill rotWithShape="1">
          <a:blip r:embed="rId7">
            <a:alphaModFix/>
          </a:blip>
          <a:srcRect b="0" l="0" r="0" t="0"/>
          <a:stretch/>
        </p:blipFill>
        <p:spPr>
          <a:xfrm>
            <a:off x="5319750" y="3095713"/>
            <a:ext cx="379800" cy="379800"/>
          </a:xfrm>
          <a:prstGeom prst="roundRect">
            <a:avLst>
              <a:gd fmla="val 16667" name="adj"/>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lt1"/>
              </a:buClr>
              <a:buSzPts val="4600"/>
              <a:buNone/>
            </a:pPr>
            <a:r>
              <a:rPr lang="zh-HK"/>
              <a:t>Agenda</a:t>
            </a:r>
            <a:endParaRPr/>
          </a:p>
        </p:txBody>
      </p:sp>
      <p:sp>
        <p:nvSpPr>
          <p:cNvPr id="130" name="Google Shape;130;p2"/>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p>
            <a:pPr indent="0" lvl="0" marL="0" rtl="0" algn="l">
              <a:lnSpc>
                <a:spcPct val="200000"/>
              </a:lnSpc>
              <a:spcBef>
                <a:spcPts val="0"/>
              </a:spcBef>
              <a:spcAft>
                <a:spcPts val="0"/>
              </a:spcAft>
              <a:buSzPts val="1800"/>
              <a:buNone/>
            </a:pPr>
            <a:r>
              <a:t/>
            </a:r>
            <a:endParaRPr b="1">
              <a:solidFill>
                <a:schemeClr val="dk1"/>
              </a:solidFill>
              <a:latin typeface="Times New Roman"/>
              <a:ea typeface="Times New Roman"/>
              <a:cs typeface="Times New Roman"/>
              <a:sym typeface="Times New Roman"/>
            </a:endParaRPr>
          </a:p>
          <a:p>
            <a:pPr indent="-317500" lvl="0" marL="457200" rtl="0" algn="l">
              <a:lnSpc>
                <a:spcPct val="200000"/>
              </a:lnSpc>
              <a:spcBef>
                <a:spcPts val="0"/>
              </a:spcBef>
              <a:spcAft>
                <a:spcPts val="0"/>
              </a:spcAft>
              <a:buClr>
                <a:srgbClr val="000000"/>
              </a:buClr>
              <a:buSzPts val="1400"/>
              <a:buFont typeface="Times New Roman"/>
              <a:buChar char="●"/>
            </a:pPr>
            <a:r>
              <a:rPr b="1" lang="zh-HK">
                <a:solidFill>
                  <a:schemeClr val="dk1"/>
                </a:solidFill>
                <a:latin typeface="Times New Roman"/>
                <a:ea typeface="Times New Roman"/>
                <a:cs typeface="Times New Roman"/>
                <a:sym typeface="Times New Roman"/>
              </a:rPr>
              <a:t>August 2026 Summary</a:t>
            </a:r>
            <a:endParaRPr b="1">
              <a:solidFill>
                <a:schemeClr val="dk1"/>
              </a:solidFill>
              <a:latin typeface="Times New Roman"/>
              <a:ea typeface="Times New Roman"/>
              <a:cs typeface="Times New Roman"/>
              <a:sym typeface="Times New Roman"/>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Followers Analysis </a:t>
            </a:r>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Content Analysis </a:t>
            </a:r>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Competitor Insights </a:t>
            </a:r>
            <a:endParaRPr b="1">
              <a:latin typeface="Times New Roman"/>
              <a:ea typeface="Times New Roman"/>
              <a:cs typeface="Times New Roman"/>
              <a:sym typeface="Times New Roman"/>
            </a:endParaRPr>
          </a:p>
          <a:p>
            <a:pPr indent="-317500" lvl="1" marL="9144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KOL Campaign Analysis</a:t>
            </a:r>
            <a:endParaRPr b="1">
              <a:latin typeface="Times New Roman"/>
              <a:ea typeface="Times New Roman"/>
              <a:cs typeface="Times New Roman"/>
              <a:sym typeface="Times New Roman"/>
            </a:endParaRPr>
          </a:p>
          <a:p>
            <a:pPr indent="-317500" lvl="0" marL="457200" rtl="0" algn="l">
              <a:lnSpc>
                <a:spcPct val="200000"/>
              </a:lnSpc>
              <a:spcBef>
                <a:spcPts val="0"/>
              </a:spcBef>
              <a:spcAft>
                <a:spcPts val="0"/>
              </a:spcAft>
              <a:buSzPts val="1400"/>
              <a:buFont typeface="Times New Roman"/>
              <a:buChar char="●"/>
            </a:pPr>
            <a:r>
              <a:rPr b="1" lang="zh-HK">
                <a:latin typeface="Times New Roman"/>
                <a:ea typeface="Times New Roman"/>
                <a:cs typeface="Times New Roman"/>
                <a:sym typeface="Times New Roman"/>
              </a:rPr>
              <a:t>Learnings</a:t>
            </a:r>
            <a:r>
              <a:rPr b="1" lang="zh-HK" sz="1400">
                <a:solidFill>
                  <a:srgbClr val="000000"/>
                </a:solidFill>
                <a:latin typeface="Times New Roman"/>
                <a:ea typeface="Times New Roman"/>
                <a:cs typeface="Times New Roman"/>
                <a:sym typeface="Times New Roman"/>
              </a:rPr>
              <a:t> </a:t>
            </a:r>
            <a:r>
              <a:rPr b="1" lang="zh-HK">
                <a:latin typeface="Times New Roman"/>
                <a:ea typeface="Times New Roman"/>
                <a:cs typeface="Times New Roman"/>
                <a:sym typeface="Times New Roman"/>
              </a:rPr>
              <a:t>&amp; Suggestions</a:t>
            </a:r>
            <a:endParaRPr/>
          </a:p>
        </p:txBody>
      </p:sp>
      <p:pic>
        <p:nvPicPr>
          <p:cNvPr descr="About | Langham Place" id="131" name="Google Shape;131;p2"/>
          <p:cNvPicPr preferRelativeResize="0"/>
          <p:nvPr/>
        </p:nvPicPr>
        <p:blipFill rotWithShape="1">
          <a:blip r:embed="rId3">
            <a:alphaModFix/>
          </a:blip>
          <a:srcRect b="21020" l="14063" r="17215" t="26140"/>
          <a:stretch/>
        </p:blipFill>
        <p:spPr>
          <a:xfrm>
            <a:off x="8094845" y="170700"/>
            <a:ext cx="1049155" cy="42351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graphicFrame>
        <p:nvGraphicFramePr>
          <p:cNvPr id="136" name="Google Shape;136;p3"/>
          <p:cNvGraphicFramePr/>
          <p:nvPr/>
        </p:nvGraphicFramePr>
        <p:xfrm>
          <a:off x="210684" y="2058485"/>
          <a:ext cx="3000000" cy="3000000"/>
        </p:xfrm>
        <a:graphic>
          <a:graphicData uri="http://schemas.openxmlformats.org/drawingml/2006/table">
            <a:tbl>
              <a:tblPr>
                <a:noFill/>
                <a:tableStyleId>{CBF73CE5-E657-4C52-95DC-C96709342244}</a:tableStyleId>
              </a:tblPr>
              <a:tblGrid>
                <a:gridCol w="881200"/>
                <a:gridCol w="764000"/>
                <a:gridCol w="630350"/>
                <a:gridCol w="630350"/>
                <a:gridCol w="630350"/>
              </a:tblGrid>
              <a:tr h="44687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F1F1F"/>
                          </a:solidFill>
                          <a:latin typeface="Times New Roman"/>
                          <a:ea typeface="Times New Roman"/>
                          <a:cs typeface="Times New Roman"/>
                          <a:sym typeface="Times New Roman"/>
                        </a:rPr>
                        <a:t>July 2026</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Fans Number</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2</a:t>
                      </a:r>
                      <a:r>
                        <a:rPr lang="zh-HK" sz="1000">
                          <a:latin typeface="Times New Roman"/>
                          <a:ea typeface="Times New Roman"/>
                          <a:cs typeface="Times New Roman"/>
                          <a:sym typeface="Times New Roman"/>
                        </a:rPr>
                        <a:t>3,769</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41,</a:t>
                      </a:r>
                      <a:r>
                        <a:rPr lang="zh-HK" sz="1000">
                          <a:latin typeface="Times New Roman"/>
                          <a:ea typeface="Times New Roman"/>
                          <a:cs typeface="Times New Roman"/>
                          <a:sym typeface="Times New Roman"/>
                        </a:rPr>
                        <a:t>780</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5</a:t>
                      </a:r>
                      <a:r>
                        <a:rPr lang="zh-HK" sz="1000">
                          <a:latin typeface="Times New Roman"/>
                          <a:ea typeface="Times New Roman"/>
                          <a:cs typeface="Times New Roman"/>
                          <a:sym typeface="Times New Roman"/>
                        </a:rPr>
                        <a:t>34</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2,</a:t>
                      </a:r>
                      <a:r>
                        <a:rPr lang="zh-HK" sz="1000">
                          <a:solidFill>
                            <a:srgbClr val="1F1F1F"/>
                          </a:solidFill>
                          <a:latin typeface="Times New Roman"/>
                          <a:ea typeface="Times New Roman"/>
                          <a:cs typeface="Times New Roman"/>
                          <a:sym typeface="Times New Roman"/>
                        </a:rPr>
                        <a:t>903</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Fans Net growth</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884</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226</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5</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250</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No. of Post</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5</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3</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3</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4</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Total Views</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22,324</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041</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11,</a:t>
                      </a:r>
                      <a:r>
                        <a:rPr lang="zh-HK" sz="1000">
                          <a:latin typeface="Times New Roman"/>
                          <a:ea typeface="Times New Roman"/>
                          <a:cs typeface="Times New Roman"/>
                          <a:sym typeface="Times New Roman"/>
                        </a:rPr>
                        <a:t>839</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20</a:t>
                      </a:r>
                      <a:r>
                        <a:rPr lang="zh-HK" sz="1000" u="none" cap="none" strike="noStrike">
                          <a:solidFill>
                            <a:srgbClr val="1F1F1F"/>
                          </a:solidFill>
                          <a:latin typeface="Times New Roman"/>
                          <a:ea typeface="Times New Roman"/>
                          <a:cs typeface="Times New Roman"/>
                          <a:sym typeface="Times New Roman"/>
                        </a:rPr>
                        <a:t>,08</a:t>
                      </a:r>
                      <a:r>
                        <a:rPr lang="zh-HK" sz="1000">
                          <a:solidFill>
                            <a:srgbClr val="1F1F1F"/>
                          </a:solidFill>
                          <a:latin typeface="Times New Roman"/>
                          <a:ea typeface="Times New Roman"/>
                          <a:cs typeface="Times New Roman"/>
                          <a:sym typeface="Times New Roman"/>
                        </a:rPr>
                        <a:t>0</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Total Engagement</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2,751</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130</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75</a:t>
                      </a:r>
                      <a:endParaRPr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F1F1F"/>
                          </a:solidFill>
                          <a:latin typeface="Times New Roman"/>
                          <a:ea typeface="Times New Roman"/>
                          <a:cs typeface="Times New Roman"/>
                          <a:sym typeface="Times New Roman"/>
                        </a:rPr>
                        <a:t>841</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200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Engagement Rate</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1</a:t>
                      </a:r>
                      <a:r>
                        <a:rPr b="1" lang="zh-HK" sz="1000">
                          <a:latin typeface="Times New Roman"/>
                          <a:ea typeface="Times New Roman"/>
                          <a:cs typeface="Times New Roman"/>
                          <a:sym typeface="Times New Roman"/>
                        </a:rPr>
                        <a:t>2</a:t>
                      </a:r>
                      <a:r>
                        <a:rPr b="1" lang="zh-HK" sz="1000" u="none" cap="none" strike="noStrike">
                          <a:latin typeface="Times New Roman"/>
                          <a:ea typeface="Times New Roman"/>
                          <a:cs typeface="Times New Roman"/>
                          <a:sym typeface="Times New Roman"/>
                        </a:rPr>
                        <a:t>.</a:t>
                      </a:r>
                      <a:r>
                        <a:rPr b="1" lang="zh-HK" sz="1000">
                          <a:latin typeface="Times New Roman"/>
                          <a:ea typeface="Times New Roman"/>
                          <a:cs typeface="Times New Roman"/>
                          <a:sym typeface="Times New Roman"/>
                        </a:rPr>
                        <a:t>32</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latin typeface="Times New Roman"/>
                          <a:ea typeface="Times New Roman"/>
                          <a:cs typeface="Times New Roman"/>
                          <a:sym typeface="Times New Roman"/>
                        </a:rPr>
                        <a:t>12</a:t>
                      </a:r>
                      <a:r>
                        <a:rPr b="1" lang="zh-HK" sz="1000" u="none" cap="none" strike="noStrike">
                          <a:latin typeface="Times New Roman"/>
                          <a:ea typeface="Times New Roman"/>
                          <a:cs typeface="Times New Roman"/>
                          <a:sym typeface="Times New Roman"/>
                        </a:rPr>
                        <a:t>.</a:t>
                      </a:r>
                      <a:r>
                        <a:rPr b="1" lang="zh-HK" sz="1000">
                          <a:latin typeface="Times New Roman"/>
                          <a:ea typeface="Times New Roman"/>
                          <a:cs typeface="Times New Roman"/>
                          <a:sym typeface="Times New Roman"/>
                        </a:rPr>
                        <a:t>49</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0.</a:t>
                      </a:r>
                      <a:r>
                        <a:rPr b="1" lang="zh-HK" sz="1000">
                          <a:latin typeface="Times New Roman"/>
                          <a:ea typeface="Times New Roman"/>
                          <a:cs typeface="Times New Roman"/>
                          <a:sym typeface="Times New Roman"/>
                        </a:rPr>
                        <a:t>63</a:t>
                      </a:r>
                      <a:r>
                        <a:rPr b="1" lang="zh-HK" sz="1000" u="none" cap="none" strike="noStrike">
                          <a:latin typeface="Times New Roman"/>
                          <a:ea typeface="Times New Roman"/>
                          <a:cs typeface="Times New Roman"/>
                          <a:sym typeface="Times New Roman"/>
                        </a:rPr>
                        <a: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F1F1F"/>
                          </a:solidFill>
                          <a:latin typeface="Times New Roman"/>
                          <a:ea typeface="Times New Roman"/>
                          <a:cs typeface="Times New Roman"/>
                          <a:sym typeface="Times New Roman"/>
                        </a:rPr>
                        <a:t>4</a:t>
                      </a:r>
                      <a:r>
                        <a:rPr b="1" lang="zh-HK" sz="1000" u="none" cap="none" strike="noStrike">
                          <a:solidFill>
                            <a:srgbClr val="1F1F1F"/>
                          </a:solidFill>
                          <a:latin typeface="Times New Roman"/>
                          <a:ea typeface="Times New Roman"/>
                          <a:cs typeface="Times New Roman"/>
                          <a:sym typeface="Times New Roman"/>
                        </a:rPr>
                        <a:t>.</a:t>
                      </a:r>
                      <a:r>
                        <a:rPr b="1" lang="zh-HK" sz="1000">
                          <a:solidFill>
                            <a:srgbClr val="1F1F1F"/>
                          </a:solidFill>
                          <a:latin typeface="Times New Roman"/>
                          <a:ea typeface="Times New Roman"/>
                          <a:cs typeface="Times New Roman"/>
                          <a:sym typeface="Times New Roman"/>
                        </a:rPr>
                        <a:t>19</a:t>
                      </a:r>
                      <a:r>
                        <a:rPr b="1" lang="zh-HK" sz="1000" u="none" cap="none" strike="noStrike">
                          <a:solidFill>
                            <a:srgbClr val="1F1F1F"/>
                          </a:solidFill>
                          <a:latin typeface="Times New Roman"/>
                          <a:ea typeface="Times New Roman"/>
                          <a:cs typeface="Times New Roman"/>
                          <a:sym typeface="Times New Roman"/>
                        </a:rPr>
                        <a:t>%</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37" name="Google Shape;137;p3"/>
          <p:cNvSpPr txBox="1"/>
          <p:nvPr/>
        </p:nvSpPr>
        <p:spPr>
          <a:xfrm>
            <a:off x="371225" y="128683"/>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lang="zh-HK" sz="2000">
                <a:solidFill>
                  <a:schemeClr val="dk1"/>
                </a:solidFill>
                <a:latin typeface="Times New Roman"/>
                <a:ea typeface="Times New Roman"/>
                <a:cs typeface="Times New Roman"/>
                <a:sym typeface="Times New Roman"/>
              </a:rPr>
              <a:t>August</a:t>
            </a:r>
            <a:r>
              <a:rPr b="1" i="0" lang="zh-HK" sz="2000" u="none" cap="none" strike="noStrike">
                <a:solidFill>
                  <a:schemeClr val="dk1"/>
                </a:solidFill>
                <a:latin typeface="Times New Roman"/>
                <a:ea typeface="Times New Roman"/>
                <a:cs typeface="Times New Roman"/>
                <a:sym typeface="Times New Roman"/>
              </a:rPr>
              <a:t> Performance Summary</a:t>
            </a:r>
            <a:endParaRPr b="1" i="0" sz="2000" u="none" cap="none" strike="noStrike">
              <a:solidFill>
                <a:schemeClr val="dk1"/>
              </a:solidFill>
              <a:latin typeface="Times New Roman"/>
              <a:ea typeface="Times New Roman"/>
              <a:cs typeface="Times New Roman"/>
              <a:sym typeface="Times New Roman"/>
            </a:endParaRPr>
          </a:p>
        </p:txBody>
      </p:sp>
      <p:sp>
        <p:nvSpPr>
          <p:cNvPr id="138" name="Google Shape;138;p3"/>
          <p:cNvSpPr txBox="1"/>
          <p:nvPr/>
        </p:nvSpPr>
        <p:spPr>
          <a:xfrm>
            <a:off x="6584895" y="1715596"/>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KPI Achievement</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pic>
        <p:nvPicPr>
          <p:cNvPr id="139" name="Google Shape;139;p3"/>
          <p:cNvPicPr preferRelativeResize="0"/>
          <p:nvPr/>
        </p:nvPicPr>
        <p:blipFill rotWithShape="1">
          <a:blip r:embed="rId3">
            <a:alphaModFix/>
          </a:blip>
          <a:srcRect b="0" l="0" r="0" t="0"/>
          <a:stretch/>
        </p:blipFill>
        <p:spPr>
          <a:xfrm>
            <a:off x="6448239" y="2543471"/>
            <a:ext cx="174039" cy="515142"/>
          </a:xfrm>
          <a:prstGeom prst="rect">
            <a:avLst/>
          </a:prstGeom>
          <a:noFill/>
          <a:ln>
            <a:noFill/>
          </a:ln>
        </p:spPr>
      </p:pic>
      <p:pic>
        <p:nvPicPr>
          <p:cNvPr id="140" name="Google Shape;140;p3"/>
          <p:cNvPicPr preferRelativeResize="0"/>
          <p:nvPr/>
        </p:nvPicPr>
        <p:blipFill rotWithShape="1">
          <a:blip r:embed="rId3">
            <a:alphaModFix/>
          </a:blip>
          <a:srcRect b="0" l="0" r="0" t="0"/>
          <a:stretch/>
        </p:blipFill>
        <p:spPr>
          <a:xfrm>
            <a:off x="8595309" y="2818679"/>
            <a:ext cx="174039" cy="515142"/>
          </a:xfrm>
          <a:prstGeom prst="rect">
            <a:avLst/>
          </a:prstGeom>
          <a:noFill/>
          <a:ln>
            <a:noFill/>
          </a:ln>
        </p:spPr>
      </p:pic>
      <p:sp>
        <p:nvSpPr>
          <p:cNvPr id="141" name="Google Shape;141;p3"/>
          <p:cNvSpPr txBox="1"/>
          <p:nvPr/>
        </p:nvSpPr>
        <p:spPr>
          <a:xfrm>
            <a:off x="6452184" y="2291064"/>
            <a:ext cx="2266200" cy="579000"/>
          </a:xfrm>
          <a:prstGeom prst="rect">
            <a:avLst/>
          </a:prstGeom>
          <a:noFill/>
          <a:ln>
            <a:noFill/>
          </a:ln>
        </p:spPr>
        <p:txBody>
          <a:bodyPr anchorCtr="0" anchor="t" bIns="88250" lIns="88250" spcFirstLastPara="1" rIns="88250" wrap="square" tIns="88250">
            <a:spAutoFit/>
          </a:bodyPr>
          <a:lstStyle/>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Growth  (</a:t>
            </a:r>
            <a:r>
              <a:rPr b="1" lang="zh-HK" sz="868">
                <a:solidFill>
                  <a:srgbClr val="0F7E99"/>
                </a:solidFill>
                <a:latin typeface="Inter"/>
                <a:ea typeface="Inter"/>
                <a:cs typeface="Inter"/>
                <a:sym typeface="Inter"/>
              </a:rPr>
              <a:t>5</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554</a:t>
            </a:r>
            <a:r>
              <a:rPr b="0" i="0" lang="zh-HK" sz="868" u="none" cap="none" strike="noStrike">
                <a:solidFill>
                  <a:srgbClr val="595959"/>
                </a:solidFill>
                <a:latin typeface="Inter"/>
                <a:ea typeface="Inter"/>
                <a:cs typeface="Inter"/>
                <a:sym typeface="Inter"/>
              </a:rPr>
              <a:t>/ 6,000)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Engagement Rate (</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2</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32</a:t>
            </a:r>
            <a:r>
              <a:rPr b="1" i="0" lang="zh-HK" sz="868" u="none" cap="none" strike="noStrike">
                <a:solidFill>
                  <a:srgbClr val="0F7E99"/>
                </a:solidFill>
                <a:latin typeface="Inter"/>
                <a:ea typeface="Inter"/>
                <a:cs typeface="Inter"/>
                <a:sym typeface="Inter"/>
              </a:rPr>
              <a:t>%</a:t>
            </a:r>
            <a:r>
              <a:rPr b="0" i="0" lang="zh-HK" sz="868" u="none" cap="none" strike="noStrike">
                <a:solidFill>
                  <a:srgbClr val="595959"/>
                </a:solidFill>
                <a:latin typeface="Inter"/>
                <a:ea typeface="Inter"/>
                <a:cs typeface="Inter"/>
                <a:sym typeface="Inter"/>
              </a:rPr>
              <a:t> / 15%)</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Community (</a:t>
            </a:r>
            <a:r>
              <a:rPr b="1" i="0" lang="zh-HK" sz="868" u="none" cap="none" strike="noStrike">
                <a:solidFill>
                  <a:srgbClr val="0F7E99"/>
                </a:solidFill>
                <a:latin typeface="Inter"/>
                <a:ea typeface="Inter"/>
                <a:cs typeface="Inter"/>
                <a:sym typeface="Inter"/>
              </a:rPr>
              <a:t>4</a:t>
            </a:r>
            <a:r>
              <a:rPr b="1" lang="zh-HK" sz="868">
                <a:solidFill>
                  <a:srgbClr val="0F7E99"/>
                </a:solidFill>
                <a:latin typeface="Inter"/>
                <a:ea typeface="Inter"/>
                <a:cs typeface="Inter"/>
                <a:sym typeface="Inter"/>
              </a:rPr>
              <a:t>2</a:t>
            </a:r>
            <a:r>
              <a:rPr b="1" i="0" lang="zh-HK" sz="868" u="none" cap="none" strike="noStrike">
                <a:solidFill>
                  <a:srgbClr val="0F7E99"/>
                </a:solidFill>
                <a:latin typeface="Inter"/>
                <a:ea typeface="Inter"/>
                <a:cs typeface="Inter"/>
                <a:sym typeface="Inter"/>
              </a:rPr>
              <a:t>1</a:t>
            </a:r>
            <a:r>
              <a:rPr b="0" i="0" lang="zh-HK" sz="868" u="none" cap="none" strike="noStrike">
                <a:solidFill>
                  <a:srgbClr val="595959"/>
                </a:solidFill>
                <a:latin typeface="Inter"/>
                <a:ea typeface="Inter"/>
                <a:cs typeface="Inter"/>
                <a:sym typeface="Inter"/>
              </a:rPr>
              <a:t> / 500)</a:t>
            </a:r>
            <a:endParaRPr b="0" i="0" sz="868" u="none" cap="none" strike="noStrike">
              <a:solidFill>
                <a:srgbClr val="595959"/>
              </a:solidFill>
              <a:latin typeface="Inter"/>
              <a:ea typeface="Inter"/>
              <a:cs typeface="Inter"/>
              <a:sym typeface="Inter"/>
            </a:endParaRPr>
          </a:p>
        </p:txBody>
      </p:sp>
      <p:sp>
        <p:nvSpPr>
          <p:cNvPr id="142" name="Google Shape;142;p3"/>
          <p:cNvSpPr txBox="1"/>
          <p:nvPr/>
        </p:nvSpPr>
        <p:spPr>
          <a:xfrm>
            <a:off x="8302962" y="2263328"/>
            <a:ext cx="696000" cy="579000"/>
          </a:xfrm>
          <a:prstGeom prst="rect">
            <a:avLst/>
          </a:prstGeom>
          <a:noFill/>
          <a:ln>
            <a:noFill/>
          </a:ln>
        </p:spPr>
        <p:txBody>
          <a:bodyPr anchorCtr="0" anchor="t" bIns="88250" lIns="88250" spcFirstLastPara="1" rIns="88250" wrap="square" tIns="88250">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92</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57</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latin typeface="Inter"/>
                <a:ea typeface="Inter"/>
                <a:cs typeface="Inter"/>
                <a:sym typeface="Inter"/>
              </a:rPr>
              <a:t>8</a:t>
            </a:r>
            <a:r>
              <a:rPr b="1" lang="zh-HK" sz="868">
                <a:solidFill>
                  <a:schemeClr val="dk1"/>
                </a:solidFill>
                <a:latin typeface="Inter"/>
                <a:ea typeface="Inter"/>
                <a:cs typeface="Inter"/>
                <a:sym typeface="Inter"/>
              </a:rPr>
              <a:t>2</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13</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latin typeface="Inter"/>
                <a:ea typeface="Inter"/>
                <a:cs typeface="Inter"/>
                <a:sym typeface="Inter"/>
              </a:rPr>
              <a:t>8</a:t>
            </a:r>
            <a:r>
              <a:rPr b="1" lang="zh-HK" sz="868">
                <a:solidFill>
                  <a:schemeClr val="dk1"/>
                </a:solidFill>
                <a:latin typeface="Inter"/>
                <a:ea typeface="Inter"/>
                <a:cs typeface="Inter"/>
                <a:sym typeface="Inter"/>
              </a:rPr>
              <a:t>4</a:t>
            </a:r>
            <a:r>
              <a:rPr b="1" i="0" lang="zh-HK" sz="868" u="none" cap="none" strike="noStrike">
                <a:solidFill>
                  <a:schemeClr val="dk1"/>
                </a:solidFill>
                <a:latin typeface="Inter"/>
                <a:ea typeface="Inter"/>
                <a:cs typeface="Inter"/>
                <a:sym typeface="Inter"/>
              </a:rPr>
              <a:t>.20%</a:t>
            </a:r>
            <a:endParaRPr b="1" i="0" sz="868" u="none" cap="none" strike="noStrike">
              <a:solidFill>
                <a:schemeClr val="dk1"/>
              </a:solidFill>
              <a:latin typeface="Inter"/>
              <a:ea typeface="Inter"/>
              <a:cs typeface="Inter"/>
              <a:sym typeface="Inter"/>
            </a:endParaRPr>
          </a:p>
        </p:txBody>
      </p:sp>
      <p:sp>
        <p:nvSpPr>
          <p:cNvPr id="143" name="Google Shape;143;p3"/>
          <p:cNvSpPr txBox="1"/>
          <p:nvPr/>
        </p:nvSpPr>
        <p:spPr>
          <a:xfrm>
            <a:off x="0" y="480300"/>
            <a:ext cx="9144000" cy="12354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Driven by the </a:t>
            </a:r>
            <a:r>
              <a:rPr b="1" lang="zh-HK" sz="1100">
                <a:solidFill>
                  <a:srgbClr val="0F1115"/>
                </a:solidFill>
                <a:highlight>
                  <a:srgbClr val="FFFFFF"/>
                </a:highlight>
                <a:latin typeface="Times New Roman"/>
                <a:ea typeface="Times New Roman"/>
                <a:cs typeface="Times New Roman"/>
                <a:sym typeface="Times New Roman"/>
              </a:rPr>
              <a:t>Chiikawa movie launch, F&amp;B and local lifestyle content,</a:t>
            </a:r>
            <a:r>
              <a:rPr lang="zh-HK" sz="1100">
                <a:solidFill>
                  <a:srgbClr val="0F1115"/>
                </a:solidFill>
                <a:highlight>
                  <a:srgbClr val="FFFFFF"/>
                </a:highlight>
                <a:latin typeface="Times New Roman"/>
                <a:ea typeface="Times New Roman"/>
                <a:cs typeface="Times New Roman"/>
                <a:sym typeface="Times New Roman"/>
              </a:rPr>
              <a:t> all channels recorded steady fan growth and engagement in Aug.</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XHS </a:t>
            </a:r>
            <a:r>
              <a:rPr lang="zh-HK" sz="1100">
                <a:solidFill>
                  <a:srgbClr val="0F1115"/>
                </a:solidFill>
                <a:highlight>
                  <a:srgbClr val="FFFFFF"/>
                </a:highlight>
                <a:latin typeface="Times New Roman"/>
                <a:ea typeface="Times New Roman"/>
                <a:cs typeface="Times New Roman"/>
                <a:sym typeface="Times New Roman"/>
              </a:rPr>
              <a:t>continued to lead in engagement and recorded the highest net fan growth among all channels.</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WeChat</a:t>
            </a:r>
            <a:r>
              <a:rPr lang="zh-HK" sz="1100">
                <a:solidFill>
                  <a:srgbClr val="0F1115"/>
                </a:solidFill>
                <a:highlight>
                  <a:srgbClr val="FFFFFF"/>
                </a:highlight>
                <a:latin typeface="Times New Roman"/>
                <a:ea typeface="Times New Roman"/>
                <a:cs typeface="Times New Roman"/>
                <a:sym typeface="Times New Roman"/>
              </a:rPr>
              <a:t> saw strong engagement performance with an engagement rate of </a:t>
            </a:r>
            <a:r>
              <a:rPr b="1" lang="zh-HK" sz="1100">
                <a:solidFill>
                  <a:srgbClr val="0F1115"/>
                </a:solidFill>
                <a:highlight>
                  <a:srgbClr val="FFFFFF"/>
                </a:highlight>
                <a:latin typeface="Times New Roman"/>
                <a:ea typeface="Times New Roman"/>
                <a:cs typeface="Times New Roman"/>
                <a:sym typeface="Times New Roman"/>
              </a:rPr>
              <a:t>12.49%</a:t>
            </a:r>
            <a:r>
              <a:rPr lang="zh-HK" sz="1100">
                <a:solidFill>
                  <a:srgbClr val="0F1115"/>
                </a:solidFill>
                <a:highlight>
                  <a:srgbClr val="FFFFFF"/>
                </a:highlight>
                <a:latin typeface="Times New Roman"/>
                <a:ea typeface="Times New Roman"/>
                <a:cs typeface="Times New Roman"/>
                <a:sym typeface="Times New Roman"/>
              </a:rPr>
              <a:t> , while </a:t>
            </a:r>
            <a:r>
              <a:rPr b="1" lang="zh-HK" sz="1100">
                <a:solidFill>
                  <a:srgbClr val="0F1115"/>
                </a:solidFill>
                <a:highlight>
                  <a:srgbClr val="FFFFFF"/>
                </a:highlight>
                <a:latin typeface="Times New Roman"/>
                <a:ea typeface="Times New Roman"/>
                <a:cs typeface="Times New Roman"/>
                <a:sym typeface="Times New Roman"/>
              </a:rPr>
              <a:t>Channel</a:t>
            </a:r>
            <a:r>
              <a:rPr lang="zh-HK" sz="1100">
                <a:solidFill>
                  <a:srgbClr val="0F1115"/>
                </a:solidFill>
                <a:highlight>
                  <a:srgbClr val="FFFFFF"/>
                </a:highlight>
                <a:latin typeface="Times New Roman"/>
                <a:ea typeface="Times New Roman"/>
                <a:cs typeface="Times New Roman"/>
                <a:sym typeface="Times New Roman"/>
              </a:rPr>
              <a:t> maintained steady growth with monthly views exceeding its target at 236.78% .</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Douyin</a:t>
            </a:r>
            <a:r>
              <a:rPr lang="zh-HK" sz="1100">
                <a:solidFill>
                  <a:srgbClr val="0F1115"/>
                </a:solidFill>
                <a:highlight>
                  <a:srgbClr val="FFFFFF"/>
                </a:highlight>
                <a:latin typeface="Times New Roman"/>
                <a:ea typeface="Times New Roman"/>
                <a:cs typeface="Times New Roman"/>
                <a:sym typeface="Times New Roman"/>
              </a:rPr>
              <a:t> recorded </a:t>
            </a:r>
            <a:r>
              <a:rPr lang="zh-HK" sz="1100">
                <a:solidFill>
                  <a:srgbClr val="0F1115"/>
                </a:solidFill>
                <a:highlight>
                  <a:srgbClr val="FFFFFF"/>
                </a:highlight>
                <a:latin typeface="Times New Roman"/>
                <a:ea typeface="Times New Roman"/>
                <a:cs typeface="Times New Roman"/>
                <a:sym typeface="Times New Roman"/>
              </a:rPr>
              <a:t>steady fan growth and monthly views.</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0F1115"/>
              </a:buClr>
              <a:buSzPts val="1100"/>
              <a:buFont typeface="Inter"/>
              <a:buChar char="●"/>
            </a:pPr>
            <a:r>
              <a:rPr lang="zh-HK" sz="1100">
                <a:solidFill>
                  <a:srgbClr val="0F1115"/>
                </a:solidFill>
                <a:highlight>
                  <a:srgbClr val="FFFFFF"/>
                </a:highlight>
                <a:latin typeface="Times New Roman"/>
                <a:ea typeface="Times New Roman"/>
                <a:cs typeface="Times New Roman"/>
                <a:sym typeface="Times New Roman"/>
              </a:rPr>
              <a:t>A total of </a:t>
            </a:r>
            <a:r>
              <a:rPr b="1" lang="zh-HK" sz="1100">
                <a:solidFill>
                  <a:srgbClr val="0F1115"/>
                </a:solidFill>
                <a:highlight>
                  <a:srgbClr val="FFFFFF"/>
                </a:highlight>
                <a:latin typeface="Times New Roman"/>
                <a:ea typeface="Times New Roman"/>
                <a:cs typeface="Times New Roman"/>
                <a:sym typeface="Times New Roman"/>
              </a:rPr>
              <a:t>3,395.84 RMB</a:t>
            </a:r>
            <a:r>
              <a:rPr lang="zh-HK" sz="1100">
                <a:solidFill>
                  <a:srgbClr val="0F1115"/>
                </a:solidFill>
                <a:highlight>
                  <a:srgbClr val="FFFFFF"/>
                </a:highlight>
                <a:latin typeface="Times New Roman"/>
                <a:ea typeface="Times New Roman"/>
                <a:cs typeface="Times New Roman"/>
                <a:sym typeface="Times New Roman"/>
              </a:rPr>
              <a:t> was spent on ad boosting, primarily on </a:t>
            </a:r>
            <a:r>
              <a:rPr b="1" lang="zh-HK" sz="1100">
                <a:solidFill>
                  <a:srgbClr val="0F1115"/>
                </a:solidFill>
                <a:highlight>
                  <a:srgbClr val="FFFFFF"/>
                </a:highlight>
                <a:latin typeface="Times New Roman"/>
                <a:ea typeface="Times New Roman"/>
                <a:cs typeface="Times New Roman"/>
                <a:sym typeface="Times New Roman"/>
              </a:rPr>
              <a:t>XHS</a:t>
            </a:r>
            <a:r>
              <a:rPr lang="zh-HK" sz="1100">
                <a:solidFill>
                  <a:srgbClr val="0F1115"/>
                </a:solidFill>
                <a:highlight>
                  <a:srgbClr val="FFFFFF"/>
                </a:highlight>
                <a:latin typeface="Times New Roman"/>
                <a:ea typeface="Times New Roman"/>
                <a:cs typeface="Times New Roman"/>
                <a:sym typeface="Times New Roman"/>
              </a:rPr>
              <a:t> to maximize reach for content posts and drive engagement.</a:t>
            </a:r>
            <a:r>
              <a:rPr lang="zh-HK" sz="1100">
                <a:latin typeface="Times New Roman"/>
                <a:ea typeface="Times New Roman"/>
                <a:cs typeface="Times New Roman"/>
                <a:sym typeface="Times New Roman"/>
              </a:rPr>
              <a:t> </a:t>
            </a:r>
            <a:endParaRPr sz="11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700"/>
              </a:spcBef>
              <a:spcAft>
                <a:spcPts val="1200"/>
              </a:spcAft>
              <a:buClr>
                <a:srgbClr val="000000"/>
              </a:buClr>
              <a:buSzPts val="1200"/>
              <a:buFont typeface="Arial"/>
              <a:buNone/>
            </a:pPr>
            <a:r>
              <a:t/>
            </a:r>
            <a:endParaRPr i="0" sz="1100" u="none" cap="none" strike="noStrike">
              <a:solidFill>
                <a:srgbClr val="0F1115"/>
              </a:solidFill>
              <a:latin typeface="Times New Roman"/>
              <a:ea typeface="Times New Roman"/>
              <a:cs typeface="Times New Roman"/>
              <a:sym typeface="Times New Roman"/>
            </a:endParaRPr>
          </a:p>
        </p:txBody>
      </p:sp>
      <p:graphicFrame>
        <p:nvGraphicFramePr>
          <p:cNvPr id="144" name="Google Shape;144;p3"/>
          <p:cNvGraphicFramePr/>
          <p:nvPr/>
        </p:nvGraphicFramePr>
        <p:xfrm>
          <a:off x="3802150" y="2066079"/>
          <a:ext cx="3000000" cy="3000000"/>
        </p:xfrm>
        <a:graphic>
          <a:graphicData uri="http://schemas.openxmlformats.org/drawingml/2006/table">
            <a:tbl>
              <a:tblPr>
                <a:noFill/>
                <a:tableStyleId>{CBF73CE5-E657-4C52-95DC-C96709342244}</a:tableStyleId>
              </a:tblPr>
              <a:tblGrid>
                <a:gridCol w="694850"/>
                <a:gridCol w="602450"/>
                <a:gridCol w="602450"/>
                <a:gridCol w="602450"/>
              </a:tblGrid>
              <a:tr h="447250">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F1F1F"/>
                          </a:solidFill>
                          <a:latin typeface="Times New Roman"/>
                          <a:ea typeface="Times New Roman"/>
                          <a:cs typeface="Times New Roman"/>
                          <a:sym typeface="Times New Roman"/>
                        </a:rPr>
                        <a:t>Channel</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Times New Roman"/>
                          <a:ea typeface="Times New Roman"/>
                          <a:cs typeface="Times New Roman"/>
                          <a:sym typeface="Times New Roman"/>
                        </a:rPr>
                        <a:t>Cost</a:t>
                      </a:r>
                      <a:endParaRPr b="1" sz="10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700" u="none" cap="none" strike="noStrike">
                          <a:latin typeface="Times New Roman"/>
                          <a:ea typeface="Times New Roman"/>
                          <a:cs typeface="Times New Roman"/>
                          <a:sym typeface="Times New Roman"/>
                        </a:rPr>
                        <a:t>Total Impressions</a:t>
                      </a:r>
                      <a:endParaRPr b="1" sz="7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700" u="none" cap="none" strike="noStrike">
                          <a:latin typeface="Times New Roman"/>
                          <a:ea typeface="Times New Roman"/>
                          <a:cs typeface="Times New Roman"/>
                          <a:sym typeface="Times New Roman"/>
                        </a:rPr>
                        <a:t>Total </a:t>
                      </a:r>
                      <a:br>
                        <a:rPr b="1" lang="zh-HK" sz="700" u="none" cap="none" strike="noStrike">
                          <a:latin typeface="Times New Roman"/>
                          <a:ea typeface="Times New Roman"/>
                          <a:cs typeface="Times New Roman"/>
                          <a:sym typeface="Times New Roman"/>
                        </a:rPr>
                      </a:br>
                      <a:r>
                        <a:rPr b="1" lang="zh-HK" sz="700" u="none" cap="none" strike="noStrike">
                          <a:latin typeface="Times New Roman"/>
                          <a:ea typeface="Times New Roman"/>
                          <a:cs typeface="Times New Roman"/>
                          <a:sym typeface="Times New Roman"/>
                        </a:rPr>
                        <a:t>Engagement </a:t>
                      </a:r>
                      <a:endParaRPr b="1" sz="700" u="none" cap="none" strike="noStrike">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2C4C9"/>
                    </a:solidFill>
                  </a:tcPr>
                </a:tc>
              </a:tr>
              <a:tr h="544425">
                <a:tc>
                  <a:txBody>
                    <a:bodyPr/>
                    <a:lstStyle/>
                    <a:p>
                      <a:pPr indent="0" lvl="0" marL="0" marR="0" rtl="0" algn="ctr">
                        <a:lnSpc>
                          <a:spcPct val="115000"/>
                        </a:lnSpc>
                        <a:spcBef>
                          <a:spcPts val="0"/>
                        </a:spcBef>
                        <a:spcAft>
                          <a:spcPts val="0"/>
                        </a:spcAft>
                        <a:buClr>
                          <a:srgbClr val="000000"/>
                        </a:buClr>
                        <a:buSzPts val="1000"/>
                        <a:buFont typeface="Arial"/>
                        <a:buNone/>
                      </a:pPr>
                      <a:r>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100"/>
                        <a:buFont typeface="Arial"/>
                        <a:buNone/>
                      </a:pPr>
                      <a:r>
                        <a:rPr lang="zh-HK" sz="1000" u="none" cap="none" strike="noStrike">
                          <a:solidFill>
                            <a:schemeClr val="dk2"/>
                          </a:solidFill>
                          <a:latin typeface="Times New Roman"/>
                          <a:ea typeface="Times New Roman"/>
                          <a:cs typeface="Times New Roman"/>
                          <a:sym typeface="Times New Roman"/>
                        </a:rPr>
                        <a:t>¥2,</a:t>
                      </a:r>
                      <a:r>
                        <a:rPr lang="zh-HK" sz="1000">
                          <a:solidFill>
                            <a:schemeClr val="dk2"/>
                          </a:solidFill>
                          <a:latin typeface="Times New Roman"/>
                          <a:ea typeface="Times New Roman"/>
                          <a:cs typeface="Times New Roman"/>
                          <a:sym typeface="Times New Roman"/>
                        </a:rPr>
                        <a:t>012</a:t>
                      </a:r>
                      <a:r>
                        <a:rPr lang="zh-HK" sz="1000" u="none" cap="none" strike="noStrike">
                          <a:solidFill>
                            <a:schemeClr val="dk2"/>
                          </a:solidFill>
                          <a:latin typeface="Times New Roman"/>
                          <a:ea typeface="Times New Roman"/>
                          <a:cs typeface="Times New Roman"/>
                          <a:sym typeface="Times New Roman"/>
                        </a:rPr>
                        <a:t>.</a:t>
                      </a:r>
                      <a:r>
                        <a:rPr lang="zh-HK" sz="1000">
                          <a:solidFill>
                            <a:schemeClr val="dk2"/>
                          </a:solidFill>
                          <a:latin typeface="Times New Roman"/>
                          <a:ea typeface="Times New Roman"/>
                          <a:cs typeface="Times New Roman"/>
                          <a:sym typeface="Times New Roman"/>
                        </a:rPr>
                        <a:t>64</a:t>
                      </a:r>
                      <a:endParaRPr sz="1000" u="none" cap="none" strike="noStrike">
                        <a:solidFill>
                          <a:schemeClr val="dk2"/>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latin typeface="Times New Roman"/>
                          <a:ea typeface="Times New Roman"/>
                          <a:cs typeface="Times New Roman"/>
                          <a:sym typeface="Times New Roman"/>
                        </a:rPr>
                        <a:t>27</a:t>
                      </a:r>
                      <a:r>
                        <a:rPr lang="zh-HK" sz="1000" u="none" cap="none" strike="noStrike">
                          <a:latin typeface="Times New Roman"/>
                          <a:ea typeface="Times New Roman"/>
                          <a:cs typeface="Times New Roman"/>
                          <a:sym typeface="Times New Roman"/>
                        </a:rPr>
                        <a:t>,9</a:t>
                      </a:r>
                      <a:r>
                        <a:rPr lang="zh-HK" sz="1000">
                          <a:latin typeface="Times New Roman"/>
                          <a:ea typeface="Times New Roman"/>
                          <a:cs typeface="Times New Roman"/>
                          <a:sym typeface="Times New Roman"/>
                        </a:rPr>
                        <a:t>54</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latin typeface="Times New Roman"/>
                          <a:ea typeface="Times New Roman"/>
                          <a:cs typeface="Times New Roman"/>
                          <a:sym typeface="Times New Roman"/>
                        </a:rPr>
                        <a:t>1,</a:t>
                      </a:r>
                      <a:r>
                        <a:rPr lang="zh-HK" sz="1000">
                          <a:latin typeface="Times New Roman"/>
                          <a:ea typeface="Times New Roman"/>
                          <a:cs typeface="Times New Roman"/>
                          <a:sym typeface="Times New Roman"/>
                        </a:rPr>
                        <a:t>532</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98325">
                <a:tc>
                  <a:txBody>
                    <a:bodyPr/>
                    <a:lstStyle/>
                    <a:p>
                      <a:pPr indent="0" lvl="0" marL="0" marR="0" rtl="0" algn="ctr">
                        <a:lnSpc>
                          <a:spcPct val="115000"/>
                        </a:lnSpc>
                        <a:spcBef>
                          <a:spcPts val="0"/>
                        </a:spcBef>
                        <a:spcAft>
                          <a:spcPts val="0"/>
                        </a:spcAft>
                        <a:buClr>
                          <a:srgbClr val="000000"/>
                        </a:buClr>
                        <a:buSzPts val="1000"/>
                        <a:buFont typeface="Arial"/>
                        <a:buNone/>
                      </a:pPr>
                      <a:r>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¥25</a:t>
                      </a:r>
                      <a:r>
                        <a:rPr lang="zh-HK" sz="1000">
                          <a:solidFill>
                            <a:srgbClr val="1C1C1C"/>
                          </a:solidFill>
                          <a:latin typeface="Times New Roman"/>
                          <a:ea typeface="Times New Roman"/>
                          <a:cs typeface="Times New Roman"/>
                          <a:sym typeface="Times New Roman"/>
                        </a:rPr>
                        <a:t>3.2</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9,484</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25</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425">
                <a:tc>
                  <a:txBody>
                    <a:bodyPr/>
                    <a:lstStyle/>
                    <a:p>
                      <a:pPr indent="0" lvl="0" marL="0" marR="0" rtl="0" algn="l">
                        <a:lnSpc>
                          <a:spcPct val="115000"/>
                        </a:lnSpc>
                        <a:spcBef>
                          <a:spcPts val="0"/>
                        </a:spcBef>
                        <a:spcAft>
                          <a:spcPts val="0"/>
                        </a:spcAft>
                        <a:buClr>
                          <a:srgbClr val="000000"/>
                        </a:buClr>
                        <a:buSzPts val="1000"/>
                        <a:buFont typeface="Arial"/>
                        <a:buNone/>
                      </a:pPr>
                      <a:r>
                        <a:rPr lang="zh-HK" sz="1000" u="none" cap="none" strike="noStrike">
                          <a:solidFill>
                            <a:srgbClr val="1F1F1F"/>
                          </a:solidFill>
                          <a:latin typeface="Times New Roman"/>
                          <a:ea typeface="Times New Roman"/>
                          <a:cs typeface="Times New Roman"/>
                          <a:sym typeface="Times New Roman"/>
                        </a:rPr>
                        <a:t>    </a:t>
                      </a:r>
                      <a:endParaRPr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solidFill>
                            <a:srgbClr val="1C1C1C"/>
                          </a:solidFill>
                          <a:latin typeface="Times New Roman"/>
                          <a:ea typeface="Times New Roman"/>
                          <a:cs typeface="Times New Roman"/>
                          <a:sym typeface="Times New Roman"/>
                        </a:rPr>
                        <a:t>¥1,</a:t>
                      </a:r>
                      <a:r>
                        <a:rPr lang="zh-HK" sz="1000">
                          <a:solidFill>
                            <a:srgbClr val="1C1C1C"/>
                          </a:solidFill>
                          <a:latin typeface="Times New Roman"/>
                          <a:ea typeface="Times New Roman"/>
                          <a:cs typeface="Times New Roman"/>
                          <a:sym typeface="Times New Roman"/>
                        </a:rPr>
                        <a:t>130</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30</a:t>
                      </a:r>
                      <a:r>
                        <a:rPr lang="zh-HK" sz="1000" u="none" cap="none" strike="noStrike">
                          <a:solidFill>
                            <a:srgbClr val="1C1C1C"/>
                          </a:solidFill>
                          <a:latin typeface="Times New Roman"/>
                          <a:ea typeface="Times New Roman"/>
                          <a:cs typeface="Times New Roman"/>
                          <a:sym typeface="Times New Roman"/>
                        </a:rPr>
                        <a:t>,</a:t>
                      </a:r>
                      <a:r>
                        <a:rPr lang="zh-HK" sz="1000">
                          <a:solidFill>
                            <a:srgbClr val="1C1C1C"/>
                          </a:solidFill>
                          <a:latin typeface="Times New Roman"/>
                          <a:ea typeface="Times New Roman"/>
                          <a:cs typeface="Times New Roman"/>
                          <a:sym typeface="Times New Roman"/>
                        </a:rPr>
                        <a:t>510</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solidFill>
                            <a:srgbClr val="1C1C1C"/>
                          </a:solidFill>
                          <a:latin typeface="Times New Roman"/>
                          <a:ea typeface="Times New Roman"/>
                          <a:cs typeface="Times New Roman"/>
                          <a:sym typeface="Times New Roman"/>
                        </a:rPr>
                        <a:t>1,401</a:t>
                      </a:r>
                      <a:endParaRPr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42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F1F1F"/>
                          </a:solidFill>
                          <a:latin typeface="Times New Roman"/>
                          <a:ea typeface="Times New Roman"/>
                          <a:cs typeface="Times New Roman"/>
                          <a:sym typeface="Times New Roman"/>
                        </a:rPr>
                        <a:t>Total </a:t>
                      </a:r>
                      <a:endParaRPr b="1" sz="1000" u="none" cap="none" strike="noStrike">
                        <a:solidFill>
                          <a:srgbClr val="1F1F1F"/>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3</a:t>
                      </a: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395</a:t>
                      </a: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84</a:t>
                      </a:r>
                      <a:endParaRPr b="1" sz="1000" u="none" cap="none" strike="noStrike">
                        <a:solidFill>
                          <a:srgbClr val="1C1C1C"/>
                        </a:solidFill>
                        <a:latin typeface="Times New Roman"/>
                        <a:ea typeface="Times New Roman"/>
                        <a:cs typeface="Times New Roman"/>
                        <a:sym typeface="Times New Roman"/>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C1C1C"/>
                          </a:solidFill>
                          <a:latin typeface="Times New Roman"/>
                          <a:ea typeface="Times New Roman"/>
                          <a:cs typeface="Times New Roman"/>
                          <a:sym typeface="Times New Roman"/>
                        </a:rPr>
                        <a:t>67</a:t>
                      </a: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948</a:t>
                      </a:r>
                      <a:endParaRPr b="1" sz="1400" u="none" cap="none" strike="noStrike">
                        <a:solidFill>
                          <a:srgbClr val="1C1C1C"/>
                        </a:solidFill>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a:solidFill>
                            <a:srgbClr val="1C1C1C"/>
                          </a:solidFill>
                          <a:latin typeface="Times New Roman"/>
                          <a:ea typeface="Times New Roman"/>
                          <a:cs typeface="Times New Roman"/>
                          <a:sym typeface="Times New Roman"/>
                        </a:rPr>
                        <a:t>2</a:t>
                      </a:r>
                      <a:r>
                        <a:rPr b="1" lang="zh-HK" sz="1000" u="none" cap="none" strike="noStrike">
                          <a:solidFill>
                            <a:srgbClr val="1C1C1C"/>
                          </a:solidFill>
                          <a:latin typeface="Times New Roman"/>
                          <a:ea typeface="Times New Roman"/>
                          <a:cs typeface="Times New Roman"/>
                          <a:sym typeface="Times New Roman"/>
                        </a:rPr>
                        <a:t>,</a:t>
                      </a:r>
                      <a:r>
                        <a:rPr b="1" lang="zh-HK" sz="1000">
                          <a:solidFill>
                            <a:srgbClr val="1C1C1C"/>
                          </a:solidFill>
                          <a:latin typeface="Times New Roman"/>
                          <a:ea typeface="Times New Roman"/>
                          <a:cs typeface="Times New Roman"/>
                          <a:sym typeface="Times New Roman"/>
                        </a:rPr>
                        <a:t>958</a:t>
                      </a:r>
                      <a:endParaRPr b="1" sz="1400" u="none" cap="none" strike="noStrike">
                        <a:solidFill>
                          <a:srgbClr val="1C1C1C"/>
                        </a:solidFill>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45" name="Google Shape;145;p3"/>
          <p:cNvSpPr txBox="1"/>
          <p:nvPr/>
        </p:nvSpPr>
        <p:spPr>
          <a:xfrm>
            <a:off x="3915822" y="1714057"/>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Paid Performance</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sp>
        <p:nvSpPr>
          <p:cNvPr id="146" name="Google Shape;146;p3"/>
          <p:cNvSpPr txBox="1"/>
          <p:nvPr/>
        </p:nvSpPr>
        <p:spPr>
          <a:xfrm>
            <a:off x="829547" y="1711557"/>
            <a:ext cx="2225100" cy="3630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1200" u="none" cap="none" strike="noStrike">
                <a:solidFill>
                  <a:schemeClr val="dk1"/>
                </a:solidFill>
                <a:latin typeface="Times New Roman"/>
                <a:ea typeface="Times New Roman"/>
                <a:cs typeface="Times New Roman"/>
                <a:sym typeface="Times New Roman"/>
              </a:rPr>
              <a:t>Total Performance</a:t>
            </a:r>
            <a:endParaRPr b="1" i="0" sz="965" u="sng" cap="none" strike="noStrike">
              <a:solidFill>
                <a:srgbClr val="FFFFFF"/>
              </a:solidFill>
              <a:highlight>
                <a:srgbClr val="595959"/>
              </a:highlight>
              <a:latin typeface="Times New Roman"/>
              <a:ea typeface="Times New Roman"/>
              <a:cs typeface="Times New Roman"/>
              <a:sym typeface="Times New Roman"/>
            </a:endParaRPr>
          </a:p>
        </p:txBody>
      </p:sp>
      <p:pic>
        <p:nvPicPr>
          <p:cNvPr id="147" name="Google Shape;147;p3"/>
          <p:cNvPicPr preferRelativeResize="0"/>
          <p:nvPr/>
        </p:nvPicPr>
        <p:blipFill rotWithShape="1">
          <a:blip r:embed="rId4">
            <a:alphaModFix/>
          </a:blip>
          <a:srcRect b="0" l="0" r="0" t="0"/>
          <a:stretch/>
        </p:blipFill>
        <p:spPr>
          <a:xfrm>
            <a:off x="1277625" y="2096709"/>
            <a:ext cx="386075" cy="386075"/>
          </a:xfrm>
          <a:prstGeom prst="rect">
            <a:avLst/>
          </a:prstGeom>
          <a:noFill/>
          <a:ln>
            <a:noFill/>
          </a:ln>
        </p:spPr>
      </p:pic>
      <p:pic>
        <p:nvPicPr>
          <p:cNvPr id="148" name="Google Shape;148;p3"/>
          <p:cNvPicPr preferRelativeResize="0"/>
          <p:nvPr/>
        </p:nvPicPr>
        <p:blipFill rotWithShape="1">
          <a:blip r:embed="rId5">
            <a:alphaModFix/>
          </a:blip>
          <a:srcRect b="21816" l="32544" r="32537" t="22001"/>
          <a:stretch/>
        </p:blipFill>
        <p:spPr>
          <a:xfrm>
            <a:off x="3259525" y="2101850"/>
            <a:ext cx="363000" cy="364800"/>
          </a:xfrm>
          <a:prstGeom prst="roundRect">
            <a:avLst>
              <a:gd fmla="val 16667" name="adj"/>
            </a:avLst>
          </a:prstGeom>
          <a:noFill/>
          <a:ln>
            <a:noFill/>
          </a:ln>
        </p:spPr>
      </p:pic>
      <p:pic>
        <p:nvPicPr>
          <p:cNvPr id="149" name="Google Shape;149;p3"/>
          <p:cNvPicPr preferRelativeResize="0"/>
          <p:nvPr/>
        </p:nvPicPr>
        <p:blipFill rotWithShape="1">
          <a:blip r:embed="rId6">
            <a:alphaModFix/>
          </a:blip>
          <a:srcRect b="0" l="0" r="0" t="0"/>
          <a:stretch/>
        </p:blipFill>
        <p:spPr>
          <a:xfrm>
            <a:off x="1994999" y="2100366"/>
            <a:ext cx="363000" cy="363000"/>
          </a:xfrm>
          <a:prstGeom prst="rect">
            <a:avLst/>
          </a:prstGeom>
          <a:noFill/>
          <a:ln>
            <a:noFill/>
          </a:ln>
        </p:spPr>
      </p:pic>
      <p:pic>
        <p:nvPicPr>
          <p:cNvPr id="150" name="Google Shape;150;p3"/>
          <p:cNvPicPr preferRelativeResize="0"/>
          <p:nvPr/>
        </p:nvPicPr>
        <p:blipFill rotWithShape="1">
          <a:blip r:embed="rId4">
            <a:alphaModFix/>
          </a:blip>
          <a:srcRect b="0" l="0" r="0" t="0"/>
          <a:stretch/>
        </p:blipFill>
        <p:spPr>
          <a:xfrm>
            <a:off x="3968250" y="2608016"/>
            <a:ext cx="386075" cy="386075"/>
          </a:xfrm>
          <a:prstGeom prst="rect">
            <a:avLst/>
          </a:prstGeom>
          <a:noFill/>
          <a:ln>
            <a:noFill/>
          </a:ln>
        </p:spPr>
      </p:pic>
      <p:pic>
        <p:nvPicPr>
          <p:cNvPr id="151" name="Google Shape;151;p3" title="a697a07488e44c8c8c06bebbaeb5ef46.png"/>
          <p:cNvPicPr preferRelativeResize="0"/>
          <p:nvPr/>
        </p:nvPicPr>
        <p:blipFill rotWithShape="1">
          <a:blip r:embed="rId7">
            <a:alphaModFix/>
          </a:blip>
          <a:srcRect b="0" l="278" r="269" t="0"/>
          <a:stretch/>
        </p:blipFill>
        <p:spPr>
          <a:xfrm>
            <a:off x="3963875" y="3197905"/>
            <a:ext cx="394818" cy="397000"/>
          </a:xfrm>
          <a:prstGeom prst="rect">
            <a:avLst/>
          </a:prstGeom>
          <a:noFill/>
          <a:ln>
            <a:noFill/>
          </a:ln>
        </p:spPr>
      </p:pic>
      <p:pic>
        <p:nvPicPr>
          <p:cNvPr id="152" name="Google Shape;152;p3"/>
          <p:cNvPicPr preferRelativeResize="0"/>
          <p:nvPr/>
        </p:nvPicPr>
        <p:blipFill rotWithShape="1">
          <a:blip r:embed="rId5">
            <a:alphaModFix/>
          </a:blip>
          <a:srcRect b="21816" l="32544" r="32537" t="22001"/>
          <a:stretch/>
        </p:blipFill>
        <p:spPr>
          <a:xfrm>
            <a:off x="3963888" y="3761848"/>
            <a:ext cx="394800" cy="396900"/>
          </a:xfrm>
          <a:prstGeom prst="roundRect">
            <a:avLst>
              <a:gd fmla="val 16667" name="adj"/>
            </a:avLst>
          </a:prstGeom>
          <a:noFill/>
          <a:ln>
            <a:noFill/>
          </a:ln>
        </p:spPr>
      </p:pic>
      <p:pic>
        <p:nvPicPr>
          <p:cNvPr id="153" name="Google Shape;153;p3" title="a697a07488e44c8c8c06bebbaeb5ef46.png"/>
          <p:cNvPicPr preferRelativeResize="0"/>
          <p:nvPr/>
        </p:nvPicPr>
        <p:blipFill rotWithShape="1">
          <a:blip r:embed="rId7">
            <a:alphaModFix/>
          </a:blip>
          <a:srcRect b="0" l="278" r="269" t="0"/>
          <a:stretch/>
        </p:blipFill>
        <p:spPr>
          <a:xfrm>
            <a:off x="2611350" y="2083379"/>
            <a:ext cx="394818" cy="397000"/>
          </a:xfrm>
          <a:prstGeom prst="rect">
            <a:avLst/>
          </a:prstGeom>
          <a:noFill/>
          <a:ln>
            <a:noFill/>
          </a:ln>
        </p:spPr>
      </p:pic>
      <p:sp>
        <p:nvSpPr>
          <p:cNvPr id="154" name="Google Shape;154;p3"/>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
          <p:cNvSpPr txBox="1"/>
          <p:nvPr/>
        </p:nvSpPr>
        <p:spPr>
          <a:xfrm>
            <a:off x="6452175" y="2025049"/>
            <a:ext cx="13014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1" i="0" lang="zh-HK" sz="1000" u="none" cap="none" strike="noStrike">
                <a:solidFill>
                  <a:srgbClr val="0C7E99"/>
                </a:solidFill>
                <a:latin typeface="Georgia"/>
                <a:ea typeface="Georgia"/>
                <a:cs typeface="Georgia"/>
                <a:sym typeface="Georgia"/>
              </a:rPr>
              <a:t>XHS</a:t>
            </a:r>
            <a:r>
              <a:rPr b="1" i="0" lang="zh-HK" sz="1500" u="none" cap="none" strike="noStrike">
                <a:solidFill>
                  <a:srgbClr val="0C7E99"/>
                </a:solidFill>
                <a:latin typeface="Georgia"/>
                <a:ea typeface="Georgia"/>
                <a:cs typeface="Georgia"/>
                <a:sym typeface="Georgia"/>
              </a:rPr>
              <a:t> </a:t>
            </a:r>
            <a:endParaRPr b="0" i="0" sz="1400" u="none" cap="none" strike="noStrike">
              <a:solidFill>
                <a:srgbClr val="000000"/>
              </a:solidFill>
              <a:latin typeface="Arial"/>
              <a:ea typeface="Arial"/>
              <a:cs typeface="Arial"/>
              <a:sym typeface="Arial"/>
            </a:endParaRPr>
          </a:p>
        </p:txBody>
      </p:sp>
      <p:pic>
        <p:nvPicPr>
          <p:cNvPr descr="About | Langham Place" id="156" name="Google Shape;156;p3"/>
          <p:cNvPicPr preferRelativeResize="0"/>
          <p:nvPr/>
        </p:nvPicPr>
        <p:blipFill rotWithShape="1">
          <a:blip r:embed="rId8">
            <a:alphaModFix/>
          </a:blip>
          <a:srcRect b="21020" l="14061" r="17215" t="26140"/>
          <a:stretch/>
        </p:blipFill>
        <p:spPr>
          <a:xfrm>
            <a:off x="8094845" y="170700"/>
            <a:ext cx="1049154" cy="423511"/>
          </a:xfrm>
          <a:prstGeom prst="rect">
            <a:avLst/>
          </a:prstGeom>
          <a:noFill/>
          <a:ln>
            <a:noFill/>
          </a:ln>
        </p:spPr>
      </p:pic>
      <p:sp>
        <p:nvSpPr>
          <p:cNvPr id="157" name="Google Shape;157;p3"/>
          <p:cNvSpPr/>
          <p:nvPr/>
        </p:nvSpPr>
        <p:spPr>
          <a:xfrm>
            <a:off x="6501108" y="4352425"/>
            <a:ext cx="15357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KOL Campaign</a:t>
            </a:r>
            <a:endParaRPr b="0" i="0" sz="1000" u="none" cap="none" strike="noStrike">
              <a:solidFill>
                <a:srgbClr val="000000"/>
              </a:solidFill>
              <a:latin typeface="Georgia"/>
              <a:ea typeface="Georgia"/>
              <a:cs typeface="Georgia"/>
              <a:sym typeface="Georgia"/>
            </a:endParaRPr>
          </a:p>
        </p:txBody>
      </p:sp>
      <p:sp>
        <p:nvSpPr>
          <p:cNvPr id="158" name="Google Shape;158;p3"/>
          <p:cNvSpPr/>
          <p:nvPr/>
        </p:nvSpPr>
        <p:spPr>
          <a:xfrm>
            <a:off x="6507513" y="4557462"/>
            <a:ext cx="20322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Total Views</a:t>
            </a:r>
            <a:r>
              <a:rPr b="0" i="0" lang="zh-HK" sz="868" u="none" cap="none" strike="noStrike">
                <a:solidFill>
                  <a:srgbClr val="595959"/>
                </a:solidFill>
                <a:highlight>
                  <a:schemeClr val="lt1"/>
                </a:highlight>
                <a:latin typeface="Inter"/>
                <a:ea typeface="Inter"/>
                <a:cs typeface="Inter"/>
                <a:sym typeface="Inter"/>
              </a:rPr>
              <a:t>: </a:t>
            </a:r>
            <a:r>
              <a:rPr b="1" lang="zh-HK" sz="868">
                <a:solidFill>
                  <a:srgbClr val="0F7E99"/>
                </a:solidFill>
                <a:highlight>
                  <a:schemeClr val="lt1"/>
                </a:highlight>
                <a:latin typeface="Inter"/>
                <a:ea typeface="Inter"/>
                <a:cs typeface="Inter"/>
                <a:sym typeface="Inter"/>
              </a:rPr>
              <a:t>929</a:t>
            </a:r>
            <a:r>
              <a:rPr b="1" i="0" lang="zh-HK" sz="868" u="none" cap="none" strike="noStrike">
                <a:solidFill>
                  <a:srgbClr val="0F7E99"/>
                </a:solidFill>
                <a:highlight>
                  <a:schemeClr val="lt1"/>
                </a:highlight>
                <a:latin typeface="Inter"/>
                <a:ea typeface="Inter"/>
                <a:cs typeface="Inter"/>
                <a:sym typeface="Inter"/>
              </a:rPr>
              <a:t>,</a:t>
            </a:r>
            <a:r>
              <a:rPr b="1" lang="zh-HK" sz="868">
                <a:solidFill>
                  <a:srgbClr val="0F7E99"/>
                </a:solidFill>
                <a:highlight>
                  <a:schemeClr val="lt1"/>
                </a:highlight>
                <a:latin typeface="Inter"/>
                <a:ea typeface="Inter"/>
                <a:cs typeface="Inter"/>
                <a:sym typeface="Inter"/>
              </a:rPr>
              <a:t>382</a:t>
            </a:r>
            <a:r>
              <a:rPr b="0" i="0" lang="zh-HK" sz="868" u="none" cap="none" strike="noStrike">
                <a:solidFill>
                  <a:srgbClr val="595959"/>
                </a:solidFill>
                <a:latin typeface="Inter"/>
                <a:ea typeface="Inter"/>
                <a:cs typeface="Inter"/>
                <a:sym typeface="Inter"/>
              </a:rPr>
              <a:t>/1,800,000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Avg Engagment:</a:t>
            </a:r>
            <a:r>
              <a:rPr b="0" i="0" lang="zh-HK" sz="868" u="none" cap="none" strike="noStrike">
                <a:solidFill>
                  <a:srgbClr val="595959"/>
                </a:solidFill>
                <a:highlight>
                  <a:schemeClr val="lt1"/>
                </a:highlight>
                <a:latin typeface="Inter"/>
                <a:ea typeface="Inter"/>
                <a:cs typeface="Inter"/>
                <a:sym typeface="Inter"/>
              </a:rPr>
              <a:t> </a:t>
            </a:r>
            <a:r>
              <a:rPr b="1" lang="zh-HK" sz="868">
                <a:solidFill>
                  <a:srgbClr val="0F7E99"/>
                </a:solidFill>
                <a:highlight>
                  <a:schemeClr val="lt1"/>
                </a:highlight>
                <a:latin typeface="Inter"/>
                <a:ea typeface="Inter"/>
                <a:cs typeface="Inter"/>
                <a:sym typeface="Inter"/>
              </a:rPr>
              <a:t>5</a:t>
            </a:r>
            <a:r>
              <a:rPr b="1" i="0" lang="zh-HK" sz="868" u="none" cap="none" strike="noStrike">
                <a:solidFill>
                  <a:srgbClr val="0F7E99"/>
                </a:solidFill>
                <a:highlight>
                  <a:schemeClr val="lt1"/>
                </a:highlight>
                <a:latin typeface="Inter"/>
                <a:ea typeface="Inter"/>
                <a:cs typeface="Inter"/>
                <a:sym typeface="Inter"/>
              </a:rPr>
              <a:t>,</a:t>
            </a:r>
            <a:r>
              <a:rPr b="1" i="0" lang="zh-HK" sz="868" u="none" cap="none" strike="noStrike">
                <a:solidFill>
                  <a:srgbClr val="0F7E99"/>
                </a:solidFill>
                <a:highlight>
                  <a:schemeClr val="lt1"/>
                </a:highlight>
                <a:latin typeface="Inter"/>
                <a:ea typeface="Inter"/>
                <a:cs typeface="Inter"/>
                <a:sym typeface="Inter"/>
              </a:rPr>
              <a:t>76</a:t>
            </a:r>
            <a:r>
              <a:rPr b="1" lang="zh-HK" sz="868">
                <a:solidFill>
                  <a:srgbClr val="0F7E99"/>
                </a:solidFill>
                <a:highlight>
                  <a:schemeClr val="lt1"/>
                </a:highlight>
                <a:latin typeface="Inter"/>
                <a:ea typeface="Inter"/>
                <a:cs typeface="Inter"/>
                <a:sym typeface="Inter"/>
              </a:rPr>
              <a:t>7</a:t>
            </a:r>
            <a:r>
              <a:rPr b="0" i="0" lang="zh-HK" sz="868" u="none" cap="none" strike="noStrike">
                <a:solidFill>
                  <a:srgbClr val="595959"/>
                </a:solidFill>
                <a:highlight>
                  <a:schemeClr val="lt1"/>
                </a:highlight>
                <a:latin typeface="Inter"/>
                <a:ea typeface="Inter"/>
                <a:cs typeface="Inter"/>
                <a:sym typeface="Inter"/>
              </a:rPr>
              <a:t>/</a:t>
            </a:r>
            <a:r>
              <a:rPr b="0" i="0" lang="zh-HK" sz="868" u="none" cap="none" strike="noStrike">
                <a:solidFill>
                  <a:srgbClr val="595959"/>
                </a:solidFill>
                <a:latin typeface="Inter"/>
                <a:ea typeface="Inter"/>
                <a:cs typeface="Inter"/>
                <a:sym typeface="Inter"/>
              </a:rPr>
              <a:t>4,200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59" name="Google Shape;159;p3"/>
          <p:cNvSpPr/>
          <p:nvPr/>
        </p:nvSpPr>
        <p:spPr>
          <a:xfrm>
            <a:off x="6472213" y="3360606"/>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Channel</a:t>
            </a:r>
            <a:endParaRPr b="0" i="0" sz="1000" u="none" cap="none" strike="noStrike">
              <a:solidFill>
                <a:srgbClr val="000000"/>
              </a:solidFill>
              <a:latin typeface="Georgia"/>
              <a:ea typeface="Georgia"/>
              <a:cs typeface="Georgia"/>
              <a:sym typeface="Georgia"/>
            </a:endParaRPr>
          </a:p>
        </p:txBody>
      </p:sp>
      <p:sp>
        <p:nvSpPr>
          <p:cNvPr id="160" name="Google Shape;160;p3"/>
          <p:cNvSpPr/>
          <p:nvPr/>
        </p:nvSpPr>
        <p:spPr>
          <a:xfrm>
            <a:off x="6475936" y="3547100"/>
            <a:ext cx="22662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i="0" lang="zh-HK" sz="868" u="none" cap="none" strike="noStrike">
                <a:solidFill>
                  <a:srgbClr val="0F7E99"/>
                </a:solidFill>
                <a:latin typeface="Inter"/>
                <a:ea typeface="Inter"/>
                <a:cs typeface="Inter"/>
                <a:sym typeface="Inter"/>
              </a:rPr>
              <a:t>11,</a:t>
            </a:r>
            <a:r>
              <a:rPr b="1" lang="zh-HK" sz="868">
                <a:solidFill>
                  <a:srgbClr val="0F7E99"/>
                </a:solidFill>
                <a:latin typeface="Inter"/>
                <a:ea typeface="Inter"/>
                <a:cs typeface="Inter"/>
                <a:sym typeface="Inter"/>
              </a:rPr>
              <a:t>839</a:t>
            </a:r>
            <a:r>
              <a:rPr b="0" i="0" lang="zh-HK" sz="868" u="none" cap="none" strike="noStrike">
                <a:solidFill>
                  <a:srgbClr val="595959"/>
                </a:solidFill>
                <a:latin typeface="Inter"/>
                <a:ea typeface="Inter"/>
                <a:cs typeface="Inter"/>
                <a:sym typeface="Inter"/>
              </a:rPr>
              <a:t>/5,000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Yearly Views: </a:t>
            </a:r>
            <a:r>
              <a:rPr b="1" lang="zh-HK" sz="868">
                <a:solidFill>
                  <a:srgbClr val="0F7E99"/>
                </a:solidFill>
                <a:latin typeface="Inter"/>
                <a:ea typeface="Inter"/>
                <a:cs typeface="Inter"/>
                <a:sym typeface="Inter"/>
              </a:rPr>
              <a:t>71</a:t>
            </a:r>
            <a:r>
              <a:rPr b="1" i="0" lang="zh-HK" sz="868" u="none" cap="none" strike="noStrike">
                <a:solidFill>
                  <a:srgbClr val="0F7E99"/>
                </a:solidFill>
                <a:latin typeface="Inter"/>
                <a:ea typeface="Inter"/>
                <a:cs typeface="Inter"/>
                <a:sym typeface="Inter"/>
              </a:rPr>
              <a:t>,</a:t>
            </a:r>
            <a:r>
              <a:rPr b="1" lang="zh-HK" sz="868">
                <a:solidFill>
                  <a:srgbClr val="0F7E99"/>
                </a:solidFill>
                <a:latin typeface="Inter"/>
                <a:ea typeface="Inter"/>
                <a:cs typeface="Inter"/>
                <a:sym typeface="Inter"/>
              </a:rPr>
              <a:t>535</a:t>
            </a:r>
            <a:r>
              <a:rPr b="0" i="0" lang="zh-HK" sz="868" u="none" cap="none" strike="noStrike">
                <a:solidFill>
                  <a:srgbClr val="595959"/>
                </a:solidFill>
                <a:latin typeface="Inter"/>
                <a:ea typeface="Inter"/>
                <a:cs typeface="Inter"/>
                <a:sym typeface="Inter"/>
              </a:rPr>
              <a:t>/60,000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61" name="Google Shape;161;p3"/>
          <p:cNvSpPr/>
          <p:nvPr/>
        </p:nvSpPr>
        <p:spPr>
          <a:xfrm>
            <a:off x="6465021" y="2863924"/>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WeChat</a:t>
            </a:r>
            <a:endParaRPr b="0" i="0" sz="1000" u="none" cap="none" strike="noStrike">
              <a:solidFill>
                <a:srgbClr val="000000"/>
              </a:solidFill>
              <a:latin typeface="Georgia"/>
              <a:ea typeface="Georgia"/>
              <a:cs typeface="Georgia"/>
              <a:sym typeface="Georgia"/>
            </a:endParaRPr>
          </a:p>
        </p:txBody>
      </p:sp>
      <p:sp>
        <p:nvSpPr>
          <p:cNvPr id="162" name="Google Shape;162;p3"/>
          <p:cNvSpPr/>
          <p:nvPr/>
        </p:nvSpPr>
        <p:spPr>
          <a:xfrm>
            <a:off x="6494482" y="3034855"/>
            <a:ext cx="20583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Total Views: </a:t>
            </a:r>
            <a:r>
              <a:rPr b="1" i="0" lang="zh-HK" sz="868" u="none" cap="none" strike="noStrike">
                <a:solidFill>
                  <a:srgbClr val="0F7E99"/>
                </a:solidFill>
                <a:latin typeface="Inter"/>
                <a:ea typeface="Inter"/>
                <a:cs typeface="Inter"/>
                <a:sym typeface="Inter"/>
              </a:rPr>
              <a:t>8,0</a:t>
            </a:r>
            <a:r>
              <a:rPr b="1" lang="zh-HK" sz="868">
                <a:solidFill>
                  <a:srgbClr val="0F7E99"/>
                </a:solidFill>
                <a:latin typeface="Inter"/>
                <a:ea typeface="Inter"/>
                <a:cs typeface="Inter"/>
                <a:sym typeface="Inter"/>
              </a:rPr>
              <a:t>89</a:t>
            </a:r>
            <a:r>
              <a:rPr b="0" i="0" lang="zh-HK" sz="868" u="none" cap="none" strike="noStrike">
                <a:solidFill>
                  <a:srgbClr val="595959"/>
                </a:solidFill>
                <a:latin typeface="Inter"/>
                <a:ea typeface="Inter"/>
                <a:cs typeface="Inter"/>
                <a:sym typeface="Inter"/>
              </a:rPr>
              <a:t>/15,000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i="0" lang="zh-HK" sz="868" u="none" cap="none" strike="noStrike">
                <a:solidFill>
                  <a:srgbClr val="0F7E99"/>
                </a:solidFill>
                <a:latin typeface="Inter"/>
                <a:ea typeface="Inter"/>
                <a:cs typeface="Inter"/>
                <a:sym typeface="Inter"/>
              </a:rPr>
              <a:t>1,</a:t>
            </a:r>
            <a:r>
              <a:rPr b="1" lang="zh-HK" sz="868">
                <a:solidFill>
                  <a:srgbClr val="0F7E99"/>
                </a:solidFill>
                <a:latin typeface="Inter"/>
                <a:ea typeface="Inter"/>
                <a:cs typeface="Inter"/>
                <a:sym typeface="Inter"/>
              </a:rPr>
              <a:t>041</a:t>
            </a:r>
            <a:r>
              <a:rPr b="0" i="0" lang="zh-HK" sz="868" u="none" cap="none" strike="noStrike">
                <a:solidFill>
                  <a:srgbClr val="595959"/>
                </a:solidFill>
                <a:latin typeface="Inter"/>
                <a:ea typeface="Inter"/>
                <a:cs typeface="Inter"/>
                <a:sym typeface="Inter"/>
              </a:rPr>
              <a:t>/1,250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63" name="Google Shape;163;p3"/>
          <p:cNvSpPr/>
          <p:nvPr/>
        </p:nvSpPr>
        <p:spPr>
          <a:xfrm>
            <a:off x="6479031" y="3865329"/>
            <a:ext cx="1206900" cy="128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C7E99"/>
              </a:buClr>
              <a:buSzPts val="1250"/>
              <a:buFont typeface="Georgia"/>
              <a:buNone/>
            </a:pPr>
            <a:r>
              <a:rPr b="1" i="0" lang="zh-HK" sz="1000" u="none" cap="none" strike="noStrike">
                <a:solidFill>
                  <a:srgbClr val="0C7E99"/>
                </a:solidFill>
                <a:latin typeface="Georgia"/>
                <a:ea typeface="Georgia"/>
                <a:cs typeface="Georgia"/>
                <a:sym typeface="Georgia"/>
              </a:rPr>
              <a:t>Douyin</a:t>
            </a:r>
            <a:endParaRPr b="0" i="0" sz="1000" u="none" cap="none" strike="noStrike">
              <a:solidFill>
                <a:srgbClr val="000000"/>
              </a:solidFill>
              <a:latin typeface="Georgia"/>
              <a:ea typeface="Georgia"/>
              <a:cs typeface="Georgia"/>
              <a:sym typeface="Georgia"/>
            </a:endParaRPr>
          </a:p>
        </p:txBody>
      </p:sp>
      <p:sp>
        <p:nvSpPr>
          <p:cNvPr id="164" name="Google Shape;164;p3"/>
          <p:cNvSpPr/>
          <p:nvPr/>
        </p:nvSpPr>
        <p:spPr>
          <a:xfrm>
            <a:off x="6485014" y="4037095"/>
            <a:ext cx="19677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68"/>
              <a:buFont typeface="Arial"/>
              <a:buNone/>
            </a:pPr>
            <a:r>
              <a:rPr b="0" i="0" lang="zh-HK" sz="868" u="none" cap="none" strike="noStrike">
                <a:solidFill>
                  <a:srgbClr val="595959"/>
                </a:solidFill>
                <a:latin typeface="Inter"/>
                <a:ea typeface="Inter"/>
                <a:cs typeface="Inter"/>
                <a:sym typeface="Inter"/>
              </a:rPr>
              <a:t>Fans growth: </a:t>
            </a:r>
            <a:r>
              <a:rPr b="1" lang="zh-HK" sz="868">
                <a:solidFill>
                  <a:srgbClr val="0F7E99"/>
                </a:solidFill>
                <a:latin typeface="Inter"/>
                <a:ea typeface="Inter"/>
                <a:cs typeface="Inter"/>
                <a:sym typeface="Inter"/>
              </a:rPr>
              <a:t>1,121</a:t>
            </a:r>
            <a:r>
              <a:rPr b="0" i="0" lang="zh-HK" sz="868" u="none" cap="none" strike="noStrike">
                <a:solidFill>
                  <a:srgbClr val="595959"/>
                </a:solidFill>
                <a:latin typeface="Inter"/>
                <a:ea typeface="Inter"/>
                <a:cs typeface="Inter"/>
                <a:sym typeface="Inter"/>
              </a:rPr>
              <a:t>/</a:t>
            </a:r>
            <a:r>
              <a:rPr b="0" i="0" lang="zh-HK" sz="868" u="none" cap="none" strike="noStrike">
                <a:solidFill>
                  <a:srgbClr val="595959"/>
                </a:solidFill>
                <a:latin typeface="Inter"/>
                <a:ea typeface="Inter"/>
                <a:cs typeface="Inter"/>
                <a:sym typeface="Inter"/>
              </a:rPr>
              <a:t>1,500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rPr b="0" i="0" lang="zh-HK" sz="868" u="none" cap="none" strike="noStrike">
                <a:solidFill>
                  <a:srgbClr val="595959"/>
                </a:solidFill>
                <a:latin typeface="Inter"/>
                <a:ea typeface="Inter"/>
                <a:cs typeface="Inter"/>
                <a:sym typeface="Inter"/>
              </a:rPr>
              <a:t>Monthly Views: </a:t>
            </a:r>
            <a:r>
              <a:rPr b="1" lang="zh-HK" sz="868">
                <a:solidFill>
                  <a:srgbClr val="0F7E99"/>
                </a:solidFill>
                <a:latin typeface="Inter"/>
                <a:ea typeface="Inter"/>
                <a:cs typeface="Inter"/>
                <a:sym typeface="Inter"/>
              </a:rPr>
              <a:t>20</a:t>
            </a:r>
            <a:r>
              <a:rPr b="1" i="0" lang="zh-HK" sz="868" u="none" cap="none" strike="noStrike">
                <a:solidFill>
                  <a:srgbClr val="0F7E99"/>
                </a:solidFill>
                <a:latin typeface="Inter"/>
                <a:ea typeface="Inter"/>
                <a:cs typeface="Inter"/>
                <a:sym typeface="Inter"/>
              </a:rPr>
              <a:t>,08</a:t>
            </a:r>
            <a:r>
              <a:rPr b="1" lang="zh-HK" sz="868">
                <a:solidFill>
                  <a:srgbClr val="0F7E99"/>
                </a:solidFill>
                <a:latin typeface="Inter"/>
                <a:ea typeface="Inter"/>
                <a:cs typeface="Inter"/>
                <a:sym typeface="Inter"/>
              </a:rPr>
              <a:t>0</a:t>
            </a:r>
            <a:r>
              <a:rPr b="0" i="0" lang="zh-HK" sz="868" u="none" cap="none" strike="noStrike">
                <a:solidFill>
                  <a:srgbClr val="595959"/>
                </a:solidFill>
                <a:latin typeface="Inter"/>
                <a:ea typeface="Inter"/>
                <a:cs typeface="Inter"/>
                <a:sym typeface="Inter"/>
              </a:rPr>
              <a:t>/6,000</a:t>
            </a:r>
            <a:endParaRPr b="0" i="0" sz="868" u="none" cap="none" strike="noStrike">
              <a:solidFill>
                <a:srgbClr val="595959"/>
              </a:solidFill>
              <a:latin typeface="Inter"/>
              <a:ea typeface="Inter"/>
              <a:cs typeface="Inter"/>
              <a:sym typeface="Inter"/>
            </a:endParaRPr>
          </a:p>
          <a:p>
            <a:pPr indent="0" lvl="0" marL="0" marR="0" rtl="0" algn="l">
              <a:lnSpc>
                <a:spcPct val="100000"/>
              </a:lnSpc>
              <a:spcBef>
                <a:spcPts val="0"/>
              </a:spcBef>
              <a:spcAft>
                <a:spcPts val="0"/>
              </a:spcAft>
              <a:buClr>
                <a:srgbClr val="4C4C4C"/>
              </a:buClr>
              <a:buSzPts val="1060"/>
              <a:buFont typeface="Georgia"/>
              <a:buNone/>
            </a:pPr>
            <a:r>
              <a:t/>
            </a:r>
            <a:endParaRPr b="0" i="0" sz="868" u="none" cap="none" strike="noStrike">
              <a:solidFill>
                <a:srgbClr val="595959"/>
              </a:solidFill>
              <a:latin typeface="Inter"/>
              <a:ea typeface="Inter"/>
              <a:cs typeface="Inter"/>
              <a:sym typeface="Inter"/>
            </a:endParaRPr>
          </a:p>
        </p:txBody>
      </p:sp>
      <p:sp>
        <p:nvSpPr>
          <p:cNvPr id="165" name="Google Shape;165;p3"/>
          <p:cNvSpPr txBox="1"/>
          <p:nvPr/>
        </p:nvSpPr>
        <p:spPr>
          <a:xfrm>
            <a:off x="8343803" y="4406826"/>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highlight>
                  <a:schemeClr val="lt1"/>
                </a:highlight>
                <a:latin typeface="Inter"/>
                <a:ea typeface="Inter"/>
                <a:cs typeface="Inter"/>
                <a:sym typeface="Inter"/>
              </a:rPr>
              <a:t>51</a:t>
            </a:r>
            <a:r>
              <a:rPr b="1" i="0" lang="zh-HK" sz="868" u="none" cap="none" strike="noStrike">
                <a:solidFill>
                  <a:schemeClr val="dk1"/>
                </a:solidFill>
                <a:highlight>
                  <a:schemeClr val="lt1"/>
                </a:highlight>
                <a:latin typeface="Inter"/>
                <a:ea typeface="Inter"/>
                <a:cs typeface="Inter"/>
                <a:sym typeface="Inter"/>
              </a:rPr>
              <a:t>.</a:t>
            </a:r>
            <a:r>
              <a:rPr b="1" lang="zh-HK" sz="868">
                <a:solidFill>
                  <a:schemeClr val="dk1"/>
                </a:solidFill>
                <a:highlight>
                  <a:schemeClr val="lt1"/>
                </a:highlight>
                <a:latin typeface="Inter"/>
                <a:ea typeface="Inter"/>
                <a:cs typeface="Inter"/>
                <a:sym typeface="Inter"/>
              </a:rPr>
              <a:t>63</a:t>
            </a:r>
            <a:r>
              <a:rPr b="1" i="0" lang="zh-HK" sz="868" u="none" cap="none" strike="noStrike">
                <a:solidFill>
                  <a:schemeClr val="dk1"/>
                </a:solidFill>
                <a:highlight>
                  <a:schemeClr val="lt1"/>
                </a:highlight>
                <a:latin typeface="Inter"/>
                <a:ea typeface="Inter"/>
                <a:cs typeface="Inter"/>
                <a:sym typeface="Inter"/>
              </a:rPr>
              <a:t>%</a:t>
            </a:r>
            <a:endParaRPr b="1" i="0" sz="868" u="none" cap="none" strike="noStrike">
              <a:solidFill>
                <a:schemeClr val="dk1"/>
              </a:solidFill>
              <a:highlight>
                <a:schemeClr val="lt1"/>
              </a:highlight>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highlight>
                  <a:schemeClr val="lt1"/>
                </a:highlight>
                <a:latin typeface="Inter"/>
                <a:ea typeface="Inter"/>
                <a:cs typeface="Inter"/>
                <a:sym typeface="Inter"/>
              </a:rPr>
              <a:t>1</a:t>
            </a:r>
            <a:r>
              <a:rPr b="1" lang="zh-HK" sz="868">
                <a:solidFill>
                  <a:schemeClr val="dk1"/>
                </a:solidFill>
                <a:highlight>
                  <a:schemeClr val="lt1"/>
                </a:highlight>
                <a:latin typeface="Inter"/>
                <a:ea typeface="Inter"/>
                <a:cs typeface="Inter"/>
                <a:sym typeface="Inter"/>
              </a:rPr>
              <a:t>37</a:t>
            </a:r>
            <a:r>
              <a:rPr b="1" i="0" lang="zh-HK" sz="868" u="none" cap="none" strike="noStrike">
                <a:solidFill>
                  <a:schemeClr val="dk1"/>
                </a:solidFill>
                <a:highlight>
                  <a:schemeClr val="lt1"/>
                </a:highlight>
                <a:latin typeface="Inter"/>
                <a:ea typeface="Inter"/>
                <a:cs typeface="Inter"/>
                <a:sym typeface="Inter"/>
              </a:rPr>
              <a:t>.</a:t>
            </a:r>
            <a:r>
              <a:rPr b="1" lang="zh-HK" sz="868">
                <a:solidFill>
                  <a:schemeClr val="dk1"/>
                </a:solidFill>
                <a:highlight>
                  <a:schemeClr val="lt1"/>
                </a:highlight>
                <a:latin typeface="Inter"/>
                <a:ea typeface="Inter"/>
                <a:cs typeface="Inter"/>
                <a:sym typeface="Inter"/>
              </a:rPr>
              <a:t>31</a:t>
            </a:r>
            <a:r>
              <a:rPr b="1" i="0" lang="zh-HK" sz="868" u="none" cap="none" strike="noStrike">
                <a:solidFill>
                  <a:schemeClr val="dk1"/>
                </a:solidFill>
                <a:highlight>
                  <a:schemeClr val="lt1"/>
                </a:highlight>
                <a:latin typeface="Inter"/>
                <a:ea typeface="Inter"/>
                <a:cs typeface="Inter"/>
                <a:sym typeface="Inter"/>
              </a:rPr>
              <a:t>%</a:t>
            </a:r>
            <a:endParaRPr b="0" i="0" sz="1400" u="none" cap="none" strike="noStrike">
              <a:solidFill>
                <a:srgbClr val="000000"/>
              </a:solidFill>
              <a:highlight>
                <a:schemeClr val="lt1"/>
              </a:highlight>
              <a:latin typeface="Arial"/>
              <a:ea typeface="Arial"/>
              <a:cs typeface="Arial"/>
              <a:sym typeface="Arial"/>
            </a:endParaRPr>
          </a:p>
        </p:txBody>
      </p:sp>
      <p:sp>
        <p:nvSpPr>
          <p:cNvPr id="166" name="Google Shape;166;p3"/>
          <p:cNvSpPr txBox="1"/>
          <p:nvPr/>
        </p:nvSpPr>
        <p:spPr>
          <a:xfrm>
            <a:off x="8316571" y="2892038"/>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60</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59</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83</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28</a:t>
            </a:r>
            <a:r>
              <a:rPr b="1" i="0" lang="zh-HK" sz="868" u="none" cap="none" strike="noStrike">
                <a:solidFill>
                  <a:schemeClr val="dk1"/>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67" name="Google Shape;167;p3"/>
          <p:cNvSpPr txBox="1"/>
          <p:nvPr/>
        </p:nvSpPr>
        <p:spPr>
          <a:xfrm>
            <a:off x="8327517" y="3413971"/>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i="0" lang="zh-HK" sz="868" u="none" cap="none" strike="noStrike">
                <a:solidFill>
                  <a:schemeClr val="dk1"/>
                </a:solidFill>
                <a:latin typeface="Inter"/>
                <a:ea typeface="Inter"/>
                <a:cs typeface="Inter"/>
                <a:sym typeface="Inter"/>
              </a:rPr>
              <a:t>2</a:t>
            </a:r>
            <a:r>
              <a:rPr b="1" lang="zh-HK" sz="868">
                <a:solidFill>
                  <a:schemeClr val="dk1"/>
                </a:solidFill>
                <a:latin typeface="Inter"/>
                <a:ea typeface="Inter"/>
                <a:cs typeface="Inter"/>
                <a:sym typeface="Inter"/>
              </a:rPr>
              <a:t>36</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78</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119</a:t>
            </a:r>
            <a:r>
              <a:rPr b="1" i="0" lang="zh-HK" sz="868" u="none" cap="none" strike="noStrike">
                <a:solidFill>
                  <a:schemeClr val="dk1"/>
                </a:solidFill>
                <a:latin typeface="Inter"/>
                <a:ea typeface="Inter"/>
                <a:cs typeface="Inter"/>
                <a:sym typeface="Inter"/>
              </a:rPr>
              <a:t>.23%</a:t>
            </a:r>
            <a:endParaRPr b="0" i="0" sz="1400" u="none" cap="none" strike="noStrike">
              <a:solidFill>
                <a:srgbClr val="000000"/>
              </a:solidFill>
              <a:latin typeface="Arial"/>
              <a:ea typeface="Arial"/>
              <a:cs typeface="Arial"/>
              <a:sym typeface="Arial"/>
            </a:endParaRPr>
          </a:p>
        </p:txBody>
      </p:sp>
      <p:sp>
        <p:nvSpPr>
          <p:cNvPr id="168" name="Google Shape;168;p3"/>
          <p:cNvSpPr txBox="1"/>
          <p:nvPr/>
        </p:nvSpPr>
        <p:spPr>
          <a:xfrm>
            <a:off x="8336964" y="3906988"/>
            <a:ext cx="696000" cy="451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74</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73</a:t>
            </a:r>
            <a:r>
              <a:rPr b="1" i="0" lang="zh-HK" sz="868" u="none" cap="none" strike="noStrike">
                <a:solidFill>
                  <a:schemeClr val="dk1"/>
                </a:solidFill>
                <a:latin typeface="Inter"/>
                <a:ea typeface="Inter"/>
                <a:cs typeface="Inter"/>
                <a:sym typeface="Inter"/>
              </a:rPr>
              <a:t>%</a:t>
            </a:r>
            <a:endParaRPr b="1" i="0" sz="868"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868"/>
              <a:buFont typeface="Arial"/>
              <a:buNone/>
            </a:pPr>
            <a:r>
              <a:rPr b="1" lang="zh-HK" sz="868">
                <a:solidFill>
                  <a:schemeClr val="dk1"/>
                </a:solidFill>
                <a:latin typeface="Inter"/>
                <a:ea typeface="Inter"/>
                <a:cs typeface="Inter"/>
                <a:sym typeface="Inter"/>
              </a:rPr>
              <a:t>334</a:t>
            </a:r>
            <a:r>
              <a:rPr b="1" i="0" lang="zh-HK" sz="868" u="none" cap="none" strike="noStrike">
                <a:solidFill>
                  <a:schemeClr val="dk1"/>
                </a:solidFill>
                <a:latin typeface="Inter"/>
                <a:ea typeface="Inter"/>
                <a:cs typeface="Inter"/>
                <a:sym typeface="Inter"/>
              </a:rPr>
              <a:t>.</a:t>
            </a:r>
            <a:r>
              <a:rPr b="1" lang="zh-HK" sz="868">
                <a:solidFill>
                  <a:schemeClr val="dk1"/>
                </a:solidFill>
                <a:latin typeface="Inter"/>
                <a:ea typeface="Inter"/>
                <a:cs typeface="Inter"/>
                <a:sym typeface="Inter"/>
              </a:rPr>
              <a:t>67</a:t>
            </a:r>
            <a:r>
              <a:rPr b="1" i="0" lang="zh-HK" sz="868" u="none" cap="none" strike="noStrike">
                <a:solidFill>
                  <a:schemeClr val="dk1"/>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4"/>
          <p:cNvPicPr preferRelativeResize="0"/>
          <p:nvPr/>
        </p:nvPicPr>
        <p:blipFill>
          <a:blip r:embed="rId3">
            <a:alphaModFix/>
          </a:blip>
          <a:stretch>
            <a:fillRect/>
          </a:stretch>
        </p:blipFill>
        <p:spPr>
          <a:xfrm>
            <a:off x="459575" y="1972474"/>
            <a:ext cx="4407137" cy="930900"/>
          </a:xfrm>
          <a:prstGeom prst="rect">
            <a:avLst/>
          </a:prstGeom>
          <a:noFill/>
          <a:ln>
            <a:noFill/>
          </a:ln>
        </p:spPr>
      </p:pic>
      <p:pic>
        <p:nvPicPr>
          <p:cNvPr id="174" name="Google Shape;174;p4"/>
          <p:cNvPicPr preferRelativeResize="0"/>
          <p:nvPr/>
        </p:nvPicPr>
        <p:blipFill>
          <a:blip r:embed="rId4">
            <a:alphaModFix/>
          </a:blip>
          <a:stretch>
            <a:fillRect/>
          </a:stretch>
        </p:blipFill>
        <p:spPr>
          <a:xfrm>
            <a:off x="5243875" y="3708999"/>
            <a:ext cx="3767206" cy="1001025"/>
          </a:xfrm>
          <a:prstGeom prst="rect">
            <a:avLst/>
          </a:prstGeom>
          <a:noFill/>
          <a:ln>
            <a:noFill/>
          </a:ln>
        </p:spPr>
      </p:pic>
      <p:pic>
        <p:nvPicPr>
          <p:cNvPr id="175" name="Google Shape;175;p4"/>
          <p:cNvPicPr preferRelativeResize="0"/>
          <p:nvPr/>
        </p:nvPicPr>
        <p:blipFill>
          <a:blip r:embed="rId5">
            <a:alphaModFix/>
          </a:blip>
          <a:stretch>
            <a:fillRect/>
          </a:stretch>
        </p:blipFill>
        <p:spPr>
          <a:xfrm>
            <a:off x="5081646" y="2011758"/>
            <a:ext cx="3860124" cy="1080276"/>
          </a:xfrm>
          <a:prstGeom prst="rect">
            <a:avLst/>
          </a:prstGeom>
          <a:noFill/>
          <a:ln>
            <a:noFill/>
          </a:ln>
        </p:spPr>
      </p:pic>
      <p:pic>
        <p:nvPicPr>
          <p:cNvPr id="176" name="Google Shape;176;p4"/>
          <p:cNvPicPr preferRelativeResize="0"/>
          <p:nvPr/>
        </p:nvPicPr>
        <p:blipFill>
          <a:blip r:embed="rId6">
            <a:alphaModFix/>
          </a:blip>
          <a:stretch>
            <a:fillRect/>
          </a:stretch>
        </p:blipFill>
        <p:spPr>
          <a:xfrm>
            <a:off x="541128" y="3467761"/>
            <a:ext cx="4453201" cy="1175502"/>
          </a:xfrm>
          <a:prstGeom prst="rect">
            <a:avLst/>
          </a:prstGeom>
          <a:noFill/>
          <a:ln>
            <a:noFill/>
          </a:ln>
        </p:spPr>
      </p:pic>
      <p:sp>
        <p:nvSpPr>
          <p:cNvPr id="177" name="Google Shape;177;p4"/>
          <p:cNvSpPr txBox="1"/>
          <p:nvPr/>
        </p:nvSpPr>
        <p:spPr>
          <a:xfrm>
            <a:off x="371225" y="149094"/>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Fans Acquisition - Daily</a:t>
            </a:r>
            <a:endParaRPr b="1" i="0" sz="2000" u="none" cap="none" strike="noStrike">
              <a:solidFill>
                <a:schemeClr val="dk1"/>
              </a:solidFill>
              <a:latin typeface="Times New Roman"/>
              <a:ea typeface="Times New Roman"/>
              <a:cs typeface="Times New Roman"/>
              <a:sym typeface="Times New Roman"/>
            </a:endParaRPr>
          </a:p>
        </p:txBody>
      </p:sp>
      <p:pic>
        <p:nvPicPr>
          <p:cNvPr id="178" name="Google Shape;178;p4"/>
          <p:cNvPicPr preferRelativeResize="0"/>
          <p:nvPr/>
        </p:nvPicPr>
        <p:blipFill rotWithShape="1">
          <a:blip r:embed="rId7">
            <a:alphaModFix/>
          </a:blip>
          <a:srcRect b="0" l="0" r="0" t="0"/>
          <a:stretch/>
        </p:blipFill>
        <p:spPr>
          <a:xfrm>
            <a:off x="4997497" y="1709410"/>
            <a:ext cx="246380" cy="246400"/>
          </a:xfrm>
          <a:prstGeom prst="rect">
            <a:avLst/>
          </a:prstGeom>
          <a:noFill/>
          <a:ln>
            <a:noFill/>
          </a:ln>
        </p:spPr>
      </p:pic>
      <p:pic>
        <p:nvPicPr>
          <p:cNvPr id="179" name="Google Shape;179;p4"/>
          <p:cNvPicPr preferRelativeResize="0"/>
          <p:nvPr/>
        </p:nvPicPr>
        <p:blipFill rotWithShape="1">
          <a:blip r:embed="rId8">
            <a:alphaModFix/>
          </a:blip>
          <a:srcRect b="0" l="0" r="0" t="0"/>
          <a:stretch/>
        </p:blipFill>
        <p:spPr>
          <a:xfrm>
            <a:off x="223408" y="1738270"/>
            <a:ext cx="246375" cy="246348"/>
          </a:xfrm>
          <a:prstGeom prst="rect">
            <a:avLst/>
          </a:prstGeom>
          <a:noFill/>
          <a:ln>
            <a:noFill/>
          </a:ln>
        </p:spPr>
      </p:pic>
      <p:pic>
        <p:nvPicPr>
          <p:cNvPr id="180" name="Google Shape;180;p4"/>
          <p:cNvPicPr preferRelativeResize="0"/>
          <p:nvPr/>
        </p:nvPicPr>
        <p:blipFill rotWithShape="1">
          <a:blip r:embed="rId9">
            <a:alphaModFix/>
          </a:blip>
          <a:srcRect b="24253" l="33991" r="33991" t="24253"/>
          <a:stretch/>
        </p:blipFill>
        <p:spPr>
          <a:xfrm>
            <a:off x="241744" y="3401092"/>
            <a:ext cx="246375" cy="247583"/>
          </a:xfrm>
          <a:prstGeom prst="rect">
            <a:avLst/>
          </a:prstGeom>
          <a:noFill/>
          <a:ln>
            <a:noFill/>
          </a:ln>
        </p:spPr>
      </p:pic>
      <p:sp>
        <p:nvSpPr>
          <p:cNvPr id="181" name="Google Shape;181;p4"/>
          <p:cNvSpPr txBox="1"/>
          <p:nvPr/>
        </p:nvSpPr>
        <p:spPr>
          <a:xfrm>
            <a:off x="21459" y="596937"/>
            <a:ext cx="8838600" cy="930900"/>
          </a:xfrm>
          <a:prstGeom prst="rect">
            <a:avLst/>
          </a:prstGeom>
          <a:noFill/>
          <a:ln>
            <a:noFill/>
          </a:ln>
        </p:spPr>
        <p:txBody>
          <a:bodyPr anchorCtr="0" anchor="t" bIns="91425" lIns="91425" spcFirstLastPara="1" rIns="91425" wrap="square" tIns="91425">
            <a:noAutofit/>
          </a:bodyPr>
          <a:lstStyle/>
          <a:p>
            <a:pPr indent="-298450" lvl="0" marL="457200" marR="0" rtl="0" algn="just">
              <a:lnSpc>
                <a:spcPct val="115000"/>
              </a:lnSpc>
              <a:spcBef>
                <a:spcPts val="0"/>
              </a:spcBef>
              <a:spcAft>
                <a:spcPts val="0"/>
              </a:spcAft>
              <a:buClr>
                <a:schemeClr val="dk1"/>
              </a:buClr>
              <a:buSzPts val="1100"/>
              <a:buFont typeface="Times New Roman"/>
              <a:buChar char="●"/>
            </a:pPr>
            <a:r>
              <a:rPr i="0" lang="zh-HK" sz="1100" u="none" cap="none" strike="noStrike">
                <a:solidFill>
                  <a:srgbClr val="0F1115"/>
                </a:solidFill>
                <a:highlight>
                  <a:srgbClr val="FFFFFF"/>
                </a:highlight>
                <a:latin typeface="Times New Roman"/>
                <a:ea typeface="Times New Roman"/>
                <a:cs typeface="Times New Roman"/>
                <a:sym typeface="Times New Roman"/>
              </a:rPr>
              <a:t>In </a:t>
            </a:r>
            <a:r>
              <a:rPr lang="zh-HK" sz="1100">
                <a:solidFill>
                  <a:srgbClr val="0F1115"/>
                </a:solidFill>
                <a:highlight>
                  <a:srgbClr val="FFFFFF"/>
                </a:highlight>
                <a:latin typeface="Times New Roman"/>
                <a:ea typeface="Times New Roman"/>
                <a:cs typeface="Times New Roman"/>
                <a:sym typeface="Times New Roman"/>
              </a:rPr>
              <a:t>Aug,</a:t>
            </a:r>
            <a:r>
              <a:rPr b="1" lang="zh-HK" sz="1100">
                <a:solidFill>
                  <a:srgbClr val="0F1115"/>
                </a:solidFill>
                <a:highlight>
                  <a:srgbClr val="FFFFFF"/>
                </a:highlight>
                <a:latin typeface="Times New Roman"/>
                <a:ea typeface="Times New Roman"/>
                <a:cs typeface="Times New Roman"/>
                <a:sym typeface="Times New Roman"/>
              </a:rPr>
              <a:t> XHS</a:t>
            </a:r>
            <a:r>
              <a:rPr lang="zh-HK" sz="1100">
                <a:solidFill>
                  <a:srgbClr val="0F1115"/>
                </a:solidFill>
                <a:highlight>
                  <a:srgbClr val="FFFFFF"/>
                </a:highlight>
                <a:latin typeface="Times New Roman"/>
                <a:ea typeface="Times New Roman"/>
                <a:cs typeface="Times New Roman"/>
                <a:sym typeface="Times New Roman"/>
              </a:rPr>
              <a:t>'s fan growth was driven by the</a:t>
            </a:r>
            <a:r>
              <a:rPr b="1" lang="zh-HK" sz="1100">
                <a:solidFill>
                  <a:srgbClr val="0F1115"/>
                </a:solidFill>
                <a:highlight>
                  <a:srgbClr val="FFFFFF"/>
                </a:highlight>
                <a:latin typeface="Times New Roman"/>
                <a:ea typeface="Times New Roman"/>
                <a:cs typeface="Times New Roman"/>
                <a:sym typeface="Times New Roman"/>
              </a:rPr>
              <a:t> Chiikawa movie launch and lifestyle content</a:t>
            </a:r>
            <a:r>
              <a:rPr lang="zh-HK" sz="1100">
                <a:solidFill>
                  <a:srgbClr val="0F1115"/>
                </a:solidFill>
                <a:highlight>
                  <a:srgbClr val="FFFFFF"/>
                </a:highlight>
                <a:latin typeface="Times New Roman"/>
                <a:ea typeface="Times New Roman"/>
                <a:cs typeface="Times New Roman"/>
                <a:sym typeface="Times New Roman"/>
              </a:rPr>
              <a:t>, with multiple spikes recorded throughout the month. The </a:t>
            </a:r>
            <a:r>
              <a:rPr b="1" lang="zh-HK" sz="1100">
                <a:solidFill>
                  <a:srgbClr val="0F1115"/>
                </a:solidFill>
                <a:highlight>
                  <a:srgbClr val="FFFFFF"/>
                </a:highlight>
                <a:latin typeface="Times New Roman"/>
                <a:ea typeface="Times New Roman"/>
                <a:cs typeface="Times New Roman"/>
                <a:sym typeface="Times New Roman"/>
              </a:rPr>
              <a:t>highest single-day net growth (+99) on 9 Aug</a:t>
            </a:r>
            <a:r>
              <a:rPr lang="zh-HK" sz="1100">
                <a:solidFill>
                  <a:srgbClr val="0F1115"/>
                </a:solidFill>
                <a:highlight>
                  <a:srgbClr val="FFFFFF"/>
                </a:highlight>
                <a:latin typeface="Times New Roman"/>
                <a:ea typeface="Times New Roman"/>
                <a:cs typeface="Times New Roman"/>
                <a:sym typeface="Times New Roman"/>
              </a:rPr>
              <a:t>, reflecting sustained audience interest in </a:t>
            </a:r>
            <a:r>
              <a:rPr b="1" lang="zh-HK" sz="1100">
                <a:solidFill>
                  <a:srgbClr val="0F1115"/>
                </a:solidFill>
                <a:highlight>
                  <a:srgbClr val="FFFFFF"/>
                </a:highlight>
                <a:latin typeface="Times New Roman"/>
                <a:ea typeface="Times New Roman"/>
                <a:cs typeface="Times New Roman"/>
                <a:sym typeface="Times New Roman"/>
              </a:rPr>
              <a:t>Chiikawa-related </a:t>
            </a:r>
            <a:r>
              <a:rPr lang="zh-HK" sz="1100">
                <a:solidFill>
                  <a:srgbClr val="0F1115"/>
                </a:solidFill>
                <a:highlight>
                  <a:srgbClr val="FFFFFF"/>
                </a:highlight>
                <a:latin typeface="Times New Roman"/>
                <a:ea typeface="Times New Roman"/>
                <a:cs typeface="Times New Roman"/>
                <a:sym typeface="Times New Roman"/>
              </a:rPr>
              <a:t>content.</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b="1" lang="zh-HK" sz="1100">
                <a:solidFill>
                  <a:srgbClr val="0F1115"/>
                </a:solidFill>
                <a:highlight>
                  <a:srgbClr val="FFFFFF"/>
                </a:highlight>
                <a:latin typeface="Times New Roman"/>
                <a:ea typeface="Times New Roman"/>
                <a:cs typeface="Times New Roman"/>
                <a:sym typeface="Times New Roman"/>
              </a:rPr>
              <a:t>WeChat (+226) and Douyin (+250)</a:t>
            </a:r>
            <a:r>
              <a:rPr lang="zh-HK" sz="1100">
                <a:solidFill>
                  <a:srgbClr val="0F1115"/>
                </a:solidFill>
                <a:highlight>
                  <a:srgbClr val="FFFFFF"/>
                </a:highlight>
                <a:latin typeface="Times New Roman"/>
                <a:ea typeface="Times New Roman"/>
                <a:cs typeface="Times New Roman"/>
                <a:sym typeface="Times New Roman"/>
              </a:rPr>
              <a:t> both continued to see </a:t>
            </a:r>
            <a:r>
              <a:rPr b="1" lang="zh-HK" sz="1100">
                <a:solidFill>
                  <a:srgbClr val="0F1115"/>
                </a:solidFill>
                <a:highlight>
                  <a:srgbClr val="FFFFFF"/>
                </a:highlight>
                <a:latin typeface="Times New Roman"/>
                <a:ea typeface="Times New Roman"/>
                <a:cs typeface="Times New Roman"/>
                <a:sym typeface="Times New Roman"/>
              </a:rPr>
              <a:t>steady fan growth</a:t>
            </a:r>
            <a:r>
              <a:rPr lang="zh-HK" sz="1100">
                <a:solidFill>
                  <a:srgbClr val="0F1115"/>
                </a:solidFill>
                <a:highlight>
                  <a:srgbClr val="FFFFFF"/>
                </a:highlight>
                <a:latin typeface="Times New Roman"/>
                <a:ea typeface="Times New Roman"/>
                <a:cs typeface="Times New Roman"/>
                <a:sym typeface="Times New Roman"/>
              </a:rPr>
              <a:t>, with </a:t>
            </a:r>
            <a:r>
              <a:rPr b="1" lang="zh-HK" sz="1100">
                <a:solidFill>
                  <a:srgbClr val="0F1115"/>
                </a:solidFill>
                <a:highlight>
                  <a:srgbClr val="FFFFFF"/>
                </a:highlight>
                <a:latin typeface="Times New Roman"/>
                <a:ea typeface="Times New Roman"/>
                <a:cs typeface="Times New Roman"/>
                <a:sym typeface="Times New Roman"/>
              </a:rPr>
              <a:t>Douyin</a:t>
            </a:r>
            <a:r>
              <a:rPr lang="zh-HK" sz="1100">
                <a:solidFill>
                  <a:srgbClr val="0F1115"/>
                </a:solidFill>
                <a:highlight>
                  <a:srgbClr val="FFFFFF"/>
                </a:highlight>
                <a:latin typeface="Times New Roman"/>
                <a:ea typeface="Times New Roman"/>
                <a:cs typeface="Times New Roman"/>
                <a:sym typeface="Times New Roman"/>
              </a:rPr>
              <a:t> maintaining strong momentum fueled by </a:t>
            </a:r>
            <a:r>
              <a:rPr b="1" lang="zh-HK" sz="1100">
                <a:solidFill>
                  <a:srgbClr val="0F1115"/>
                </a:solidFill>
                <a:highlight>
                  <a:srgbClr val="FFFFFF"/>
                </a:highlight>
                <a:latin typeface="Times New Roman"/>
                <a:ea typeface="Times New Roman"/>
                <a:cs typeface="Times New Roman"/>
                <a:sym typeface="Times New Roman"/>
              </a:rPr>
              <a:t>food and lifestyle</a:t>
            </a:r>
            <a:r>
              <a:rPr lang="zh-HK" sz="1100">
                <a:solidFill>
                  <a:srgbClr val="0F1115"/>
                </a:solidFill>
                <a:highlight>
                  <a:srgbClr val="FFFFFF"/>
                </a:highlight>
                <a:latin typeface="Times New Roman"/>
                <a:ea typeface="Times New Roman"/>
                <a:cs typeface="Times New Roman"/>
                <a:sym typeface="Times New Roman"/>
              </a:rPr>
              <a:t> content, supported by ad strategy that combines engagement optimization with follower acquisition.</a:t>
            </a:r>
            <a:endParaRPr sz="1100">
              <a:solidFill>
                <a:srgbClr val="0F1115"/>
              </a:solidFill>
              <a:highlight>
                <a:srgbClr val="FFFFFF"/>
              </a:highlight>
              <a:latin typeface="Times New Roman"/>
              <a:ea typeface="Times New Roman"/>
              <a:cs typeface="Times New Roman"/>
              <a:sym typeface="Times New Roman"/>
            </a:endParaRPr>
          </a:p>
        </p:txBody>
      </p:sp>
      <p:sp>
        <p:nvSpPr>
          <p:cNvPr id="182" name="Google Shape;182;p4"/>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183" name="Google Shape;183;p4"/>
          <p:cNvPicPr preferRelativeResize="0"/>
          <p:nvPr/>
        </p:nvPicPr>
        <p:blipFill rotWithShape="1">
          <a:blip r:embed="rId10">
            <a:alphaModFix/>
          </a:blip>
          <a:srcRect b="21020" l="14063" r="17215" t="26140"/>
          <a:stretch/>
        </p:blipFill>
        <p:spPr>
          <a:xfrm>
            <a:off x="8094845" y="162433"/>
            <a:ext cx="1049155" cy="423511"/>
          </a:xfrm>
          <a:prstGeom prst="rect">
            <a:avLst/>
          </a:prstGeom>
          <a:noFill/>
          <a:ln>
            <a:noFill/>
          </a:ln>
        </p:spPr>
      </p:pic>
      <p:sp>
        <p:nvSpPr>
          <p:cNvPr id="184" name="Google Shape;184;p4"/>
          <p:cNvSpPr txBox="1"/>
          <p:nvPr/>
        </p:nvSpPr>
        <p:spPr>
          <a:xfrm>
            <a:off x="999313" y="1537902"/>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9</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99</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85" name="Google Shape;185;p4"/>
          <p:cNvSpPr txBox="1"/>
          <p:nvPr/>
        </p:nvSpPr>
        <p:spPr>
          <a:xfrm>
            <a:off x="2998400" y="1649202"/>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2</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79</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86" name="Google Shape;186;p4"/>
          <p:cNvSpPr txBox="1"/>
          <p:nvPr/>
        </p:nvSpPr>
        <p:spPr>
          <a:xfrm>
            <a:off x="5722614" y="179596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8</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17</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87" name="Google Shape;187;p4"/>
          <p:cNvSpPr txBox="1"/>
          <p:nvPr/>
        </p:nvSpPr>
        <p:spPr>
          <a:xfrm>
            <a:off x="5175139" y="3615583"/>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3</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88" name="Google Shape;188;p4"/>
          <p:cNvSpPr txBox="1"/>
          <p:nvPr/>
        </p:nvSpPr>
        <p:spPr>
          <a:xfrm>
            <a:off x="6090160" y="3429141"/>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11</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89" name="Google Shape;189;p4"/>
          <p:cNvSpPr txBox="1"/>
          <p:nvPr/>
        </p:nvSpPr>
        <p:spPr>
          <a:xfrm>
            <a:off x="1906038" y="1595703"/>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15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83</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0" name="Google Shape;190;p4"/>
          <p:cNvSpPr txBox="1"/>
          <p:nvPr/>
        </p:nvSpPr>
        <p:spPr>
          <a:xfrm>
            <a:off x="5060714" y="180911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22</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191" name="Google Shape;191;p4" title="a697a07488e44c8c8c06bebbaeb5ef46.png"/>
          <p:cNvPicPr preferRelativeResize="0"/>
          <p:nvPr/>
        </p:nvPicPr>
        <p:blipFill rotWithShape="1">
          <a:blip r:embed="rId11">
            <a:alphaModFix/>
          </a:blip>
          <a:srcRect b="0" l="278" r="268" t="0"/>
          <a:stretch/>
        </p:blipFill>
        <p:spPr>
          <a:xfrm>
            <a:off x="5024599" y="3372874"/>
            <a:ext cx="246375" cy="247732"/>
          </a:xfrm>
          <a:prstGeom prst="rect">
            <a:avLst/>
          </a:prstGeom>
          <a:noFill/>
          <a:ln>
            <a:noFill/>
          </a:ln>
        </p:spPr>
      </p:pic>
      <p:sp>
        <p:nvSpPr>
          <p:cNvPr id="192" name="Google Shape;192;p4"/>
          <p:cNvSpPr txBox="1"/>
          <p:nvPr/>
        </p:nvSpPr>
        <p:spPr>
          <a:xfrm>
            <a:off x="6467585" y="351701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13</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3" name="Google Shape;193;p4"/>
          <p:cNvSpPr txBox="1"/>
          <p:nvPr/>
        </p:nvSpPr>
        <p:spPr>
          <a:xfrm>
            <a:off x="7325135" y="3287684"/>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1</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4" name="Google Shape;194;p4"/>
          <p:cNvSpPr txBox="1"/>
          <p:nvPr/>
        </p:nvSpPr>
        <p:spPr>
          <a:xfrm>
            <a:off x="2943730" y="2948381"/>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2</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54</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5" name="Google Shape;195;p4"/>
          <p:cNvSpPr txBox="1"/>
          <p:nvPr/>
        </p:nvSpPr>
        <p:spPr>
          <a:xfrm>
            <a:off x="1616380" y="3080724"/>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1</a:t>
            </a:r>
            <a:r>
              <a:rPr b="1" lang="zh-HK" sz="800">
                <a:solidFill>
                  <a:schemeClr val="dk1"/>
                </a:solidFill>
                <a:latin typeface="Times New Roman"/>
                <a:ea typeface="Times New Roman"/>
                <a:cs typeface="Times New Roman"/>
                <a:sym typeface="Times New Roman"/>
              </a:rPr>
              <a:t>3</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44</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6" name="Google Shape;196;p4"/>
          <p:cNvSpPr txBox="1"/>
          <p:nvPr/>
        </p:nvSpPr>
        <p:spPr>
          <a:xfrm>
            <a:off x="3435393" y="3284494"/>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2</a:t>
            </a:r>
            <a:r>
              <a:rPr b="1" lang="zh-HK" sz="800">
                <a:solidFill>
                  <a:schemeClr val="dk1"/>
                </a:solidFill>
                <a:latin typeface="Times New Roman"/>
                <a:ea typeface="Times New Roman"/>
                <a:cs typeface="Times New Roman"/>
                <a:sym typeface="Times New Roman"/>
              </a:rPr>
              <a:t>5 -26</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59</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7" name="Google Shape;197;p4"/>
          <p:cNvSpPr txBox="1"/>
          <p:nvPr/>
        </p:nvSpPr>
        <p:spPr>
          <a:xfrm>
            <a:off x="6583989" y="1580965"/>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15</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24</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8" name="Google Shape;198;p4"/>
          <p:cNvSpPr txBox="1"/>
          <p:nvPr/>
        </p:nvSpPr>
        <p:spPr>
          <a:xfrm>
            <a:off x="7445364" y="1586336"/>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22</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23</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sp>
        <p:nvSpPr>
          <p:cNvPr id="199" name="Google Shape;199;p4"/>
          <p:cNvSpPr txBox="1"/>
          <p:nvPr/>
        </p:nvSpPr>
        <p:spPr>
          <a:xfrm>
            <a:off x="5557089" y="3401039"/>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6</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1</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200" name="Google Shape;200;p4" title="IMG_2411.JPG"/>
          <p:cNvPicPr preferRelativeResize="0"/>
          <p:nvPr/>
        </p:nvPicPr>
        <p:blipFill>
          <a:blip r:embed="rId12">
            <a:alphaModFix/>
          </a:blip>
          <a:stretch>
            <a:fillRect/>
          </a:stretch>
        </p:blipFill>
        <p:spPr>
          <a:xfrm>
            <a:off x="650675" y="1716900"/>
            <a:ext cx="368999" cy="491987"/>
          </a:xfrm>
          <a:prstGeom prst="rect">
            <a:avLst/>
          </a:prstGeom>
          <a:noFill/>
          <a:ln>
            <a:noFill/>
          </a:ln>
        </p:spPr>
      </p:pic>
      <p:pic>
        <p:nvPicPr>
          <p:cNvPr id="201" name="Google Shape;201;p4" title="IMG_2412.JPG"/>
          <p:cNvPicPr preferRelativeResize="0"/>
          <p:nvPr/>
        </p:nvPicPr>
        <p:blipFill>
          <a:blip r:embed="rId13">
            <a:alphaModFix/>
          </a:blip>
          <a:stretch>
            <a:fillRect/>
          </a:stretch>
        </p:blipFill>
        <p:spPr>
          <a:xfrm>
            <a:off x="999325" y="2251700"/>
            <a:ext cx="369000" cy="492198"/>
          </a:xfrm>
          <a:prstGeom prst="rect">
            <a:avLst/>
          </a:prstGeom>
          <a:noFill/>
          <a:ln>
            <a:noFill/>
          </a:ln>
        </p:spPr>
      </p:pic>
      <p:pic>
        <p:nvPicPr>
          <p:cNvPr id="202" name="Google Shape;202;p4" title="IMG_2413.JPG"/>
          <p:cNvPicPr preferRelativeResize="0"/>
          <p:nvPr/>
        </p:nvPicPr>
        <p:blipFill>
          <a:blip r:embed="rId14">
            <a:alphaModFix/>
          </a:blip>
          <a:stretch>
            <a:fillRect/>
          </a:stretch>
        </p:blipFill>
        <p:spPr>
          <a:xfrm>
            <a:off x="1549588" y="1775074"/>
            <a:ext cx="369007" cy="492600"/>
          </a:xfrm>
          <a:prstGeom prst="rect">
            <a:avLst/>
          </a:prstGeom>
          <a:noFill/>
          <a:ln>
            <a:noFill/>
          </a:ln>
        </p:spPr>
      </p:pic>
      <p:pic>
        <p:nvPicPr>
          <p:cNvPr id="203" name="Google Shape;203;p4" title="IMG_2414.JPG"/>
          <p:cNvPicPr preferRelativeResize="0"/>
          <p:nvPr/>
        </p:nvPicPr>
        <p:blipFill>
          <a:blip r:embed="rId15">
            <a:alphaModFix/>
          </a:blip>
          <a:stretch>
            <a:fillRect/>
          </a:stretch>
        </p:blipFill>
        <p:spPr>
          <a:xfrm>
            <a:off x="2803881" y="1588488"/>
            <a:ext cx="409625" cy="545926"/>
          </a:xfrm>
          <a:prstGeom prst="rect">
            <a:avLst/>
          </a:prstGeom>
          <a:noFill/>
          <a:ln>
            <a:noFill/>
          </a:ln>
        </p:spPr>
      </p:pic>
      <p:pic>
        <p:nvPicPr>
          <p:cNvPr id="204" name="Google Shape;204;p4" title="IMG_2415.JPG"/>
          <p:cNvPicPr preferRelativeResize="0"/>
          <p:nvPr/>
        </p:nvPicPr>
        <p:blipFill>
          <a:blip r:embed="rId16">
            <a:alphaModFix/>
          </a:blip>
          <a:stretch>
            <a:fillRect/>
          </a:stretch>
        </p:blipFill>
        <p:spPr>
          <a:xfrm>
            <a:off x="3937888" y="1528150"/>
            <a:ext cx="419375" cy="559632"/>
          </a:xfrm>
          <a:prstGeom prst="rect">
            <a:avLst/>
          </a:prstGeom>
          <a:noFill/>
          <a:ln>
            <a:noFill/>
          </a:ln>
        </p:spPr>
      </p:pic>
      <p:sp>
        <p:nvSpPr>
          <p:cNvPr id="205" name="Google Shape;205;p4"/>
          <p:cNvSpPr txBox="1"/>
          <p:nvPr/>
        </p:nvSpPr>
        <p:spPr>
          <a:xfrm>
            <a:off x="4144504" y="1860387"/>
            <a:ext cx="752100" cy="424500"/>
          </a:xfrm>
          <a:prstGeom prst="rect">
            <a:avLst/>
          </a:prstGeom>
          <a:noFill/>
          <a:ln>
            <a:noFill/>
          </a:ln>
        </p:spPr>
        <p:txBody>
          <a:bodyPr anchorCtr="0" anchor="t" bIns="88250" lIns="88250" spcFirstLastPara="1" rIns="88250" wrap="square" tIns="88250">
            <a:spAutoFit/>
          </a:bodyPr>
          <a:lstStyle/>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29</a:t>
            </a:r>
            <a:r>
              <a:rPr b="1" i="0" lang="zh-HK" sz="800" u="none" cap="none" strike="noStrike">
                <a:solidFill>
                  <a:schemeClr val="dk1"/>
                </a:solidFill>
                <a:latin typeface="Times New Roman"/>
                <a:ea typeface="Times New Roman"/>
                <a:cs typeface="Times New Roman"/>
                <a:sym typeface="Times New Roman"/>
              </a:rPr>
              <a:t> </a:t>
            </a:r>
            <a:r>
              <a:rPr b="1" lang="zh-HK" sz="800">
                <a:solidFill>
                  <a:schemeClr val="dk1"/>
                </a:solidFill>
                <a:latin typeface="Times New Roman"/>
                <a:ea typeface="Times New Roman"/>
                <a:cs typeface="Times New Roman"/>
                <a:sym typeface="Times New Roman"/>
              </a:rPr>
              <a:t>Aug</a:t>
            </a:r>
            <a:endParaRPr b="1" i="0" sz="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rPr b="1" i="0" lang="zh-HK" sz="800" u="none" cap="none" strike="noStrike">
                <a:solidFill>
                  <a:schemeClr val="dk1"/>
                </a:solidFill>
                <a:highlight>
                  <a:schemeClr val="lt1"/>
                </a:highlight>
                <a:latin typeface="Times New Roman"/>
                <a:ea typeface="Times New Roman"/>
                <a:cs typeface="Times New Roman"/>
                <a:sym typeface="Times New Roman"/>
              </a:rPr>
              <a:t>+ </a:t>
            </a:r>
            <a:r>
              <a:rPr b="1" lang="zh-HK" sz="800">
                <a:solidFill>
                  <a:schemeClr val="dk1"/>
                </a:solidFill>
                <a:highlight>
                  <a:schemeClr val="lt1"/>
                </a:highlight>
                <a:latin typeface="Times New Roman"/>
                <a:ea typeface="Times New Roman"/>
                <a:cs typeface="Times New Roman"/>
                <a:sym typeface="Times New Roman"/>
              </a:rPr>
              <a:t>67</a:t>
            </a:r>
            <a:endParaRPr b="1" i="0" sz="800" u="none" cap="none" strike="noStrike">
              <a:solidFill>
                <a:schemeClr val="dk1"/>
              </a:solidFill>
              <a:highlight>
                <a:schemeClr val="lt1"/>
              </a:highlight>
              <a:latin typeface="Times New Roman"/>
              <a:ea typeface="Times New Roman"/>
              <a:cs typeface="Times New Roman"/>
              <a:sym typeface="Times New Roman"/>
            </a:endParaRPr>
          </a:p>
        </p:txBody>
      </p:sp>
      <p:pic>
        <p:nvPicPr>
          <p:cNvPr id="206" name="Google Shape;206;p4" title="IMG_2412.JPG"/>
          <p:cNvPicPr preferRelativeResize="0"/>
          <p:nvPr/>
        </p:nvPicPr>
        <p:blipFill>
          <a:blip r:embed="rId13">
            <a:alphaModFix/>
          </a:blip>
          <a:stretch>
            <a:fillRect/>
          </a:stretch>
        </p:blipFill>
        <p:spPr>
          <a:xfrm>
            <a:off x="999325" y="3483175"/>
            <a:ext cx="369000" cy="492198"/>
          </a:xfrm>
          <a:prstGeom prst="rect">
            <a:avLst/>
          </a:prstGeom>
          <a:noFill/>
          <a:ln>
            <a:noFill/>
          </a:ln>
        </p:spPr>
      </p:pic>
      <p:pic>
        <p:nvPicPr>
          <p:cNvPr id="207" name="Google Shape;207;p4" title="IMG_2413.JPG"/>
          <p:cNvPicPr preferRelativeResize="0"/>
          <p:nvPr/>
        </p:nvPicPr>
        <p:blipFill>
          <a:blip r:embed="rId14">
            <a:alphaModFix/>
          </a:blip>
          <a:stretch>
            <a:fillRect/>
          </a:stretch>
        </p:blipFill>
        <p:spPr>
          <a:xfrm>
            <a:off x="1612313" y="3445853"/>
            <a:ext cx="369007" cy="492600"/>
          </a:xfrm>
          <a:prstGeom prst="rect">
            <a:avLst/>
          </a:prstGeom>
          <a:noFill/>
          <a:ln>
            <a:noFill/>
          </a:ln>
        </p:spPr>
      </p:pic>
      <p:pic>
        <p:nvPicPr>
          <p:cNvPr id="208" name="Google Shape;208;p4" title="IMG_2414.JPG"/>
          <p:cNvPicPr preferRelativeResize="0"/>
          <p:nvPr/>
        </p:nvPicPr>
        <p:blipFill>
          <a:blip r:embed="rId15">
            <a:alphaModFix/>
          </a:blip>
          <a:stretch>
            <a:fillRect/>
          </a:stretch>
        </p:blipFill>
        <p:spPr>
          <a:xfrm>
            <a:off x="2777077" y="3348013"/>
            <a:ext cx="409625" cy="545926"/>
          </a:xfrm>
          <a:prstGeom prst="rect">
            <a:avLst/>
          </a:prstGeom>
          <a:noFill/>
          <a:ln>
            <a:noFill/>
          </a:ln>
        </p:spPr>
      </p:pic>
      <p:pic>
        <p:nvPicPr>
          <p:cNvPr id="209" name="Google Shape;209;p4" title="IMG_2415.JPG"/>
          <p:cNvPicPr preferRelativeResize="0"/>
          <p:nvPr/>
        </p:nvPicPr>
        <p:blipFill>
          <a:blip r:embed="rId16">
            <a:alphaModFix/>
          </a:blip>
          <a:stretch>
            <a:fillRect/>
          </a:stretch>
        </p:blipFill>
        <p:spPr>
          <a:xfrm>
            <a:off x="4063413" y="3503550"/>
            <a:ext cx="419375" cy="559632"/>
          </a:xfrm>
          <a:prstGeom prst="rect">
            <a:avLst/>
          </a:prstGeom>
          <a:noFill/>
          <a:ln>
            <a:noFill/>
          </a:ln>
        </p:spPr>
      </p:pic>
      <p:pic>
        <p:nvPicPr>
          <p:cNvPr id="210" name="Google Shape;210;p4" title="IMG_2411.JPG"/>
          <p:cNvPicPr preferRelativeResize="0"/>
          <p:nvPr/>
        </p:nvPicPr>
        <p:blipFill>
          <a:blip r:embed="rId12">
            <a:alphaModFix/>
          </a:blip>
          <a:stretch>
            <a:fillRect/>
          </a:stretch>
        </p:blipFill>
        <p:spPr>
          <a:xfrm>
            <a:off x="5406475" y="3172684"/>
            <a:ext cx="368999" cy="491987"/>
          </a:xfrm>
          <a:prstGeom prst="rect">
            <a:avLst/>
          </a:prstGeom>
          <a:noFill/>
          <a:ln>
            <a:noFill/>
          </a:ln>
        </p:spPr>
      </p:pic>
      <p:pic>
        <p:nvPicPr>
          <p:cNvPr id="211" name="Google Shape;211;p4" title="IMG_2412.JPG"/>
          <p:cNvPicPr preferRelativeResize="0"/>
          <p:nvPr/>
        </p:nvPicPr>
        <p:blipFill>
          <a:blip r:embed="rId13">
            <a:alphaModFix/>
          </a:blip>
          <a:stretch>
            <a:fillRect/>
          </a:stretch>
        </p:blipFill>
        <p:spPr>
          <a:xfrm>
            <a:off x="6555952" y="3055835"/>
            <a:ext cx="369000" cy="492198"/>
          </a:xfrm>
          <a:prstGeom prst="rect">
            <a:avLst/>
          </a:prstGeom>
          <a:noFill/>
          <a:ln>
            <a:noFill/>
          </a:ln>
        </p:spPr>
      </p:pic>
      <p:pic>
        <p:nvPicPr>
          <p:cNvPr id="212" name="Google Shape;212;p4" title="IMG_2414.JPG"/>
          <p:cNvPicPr preferRelativeResize="0"/>
          <p:nvPr/>
        </p:nvPicPr>
        <p:blipFill>
          <a:blip r:embed="rId15">
            <a:alphaModFix/>
          </a:blip>
          <a:stretch>
            <a:fillRect/>
          </a:stretch>
        </p:blipFill>
        <p:spPr>
          <a:xfrm>
            <a:off x="7266420" y="3648125"/>
            <a:ext cx="409625" cy="545926"/>
          </a:xfrm>
          <a:prstGeom prst="rect">
            <a:avLst/>
          </a:prstGeom>
          <a:noFill/>
          <a:ln>
            <a:noFill/>
          </a:ln>
        </p:spPr>
      </p:pic>
      <p:pic>
        <p:nvPicPr>
          <p:cNvPr id="213" name="Google Shape;213;p4" title="IMG_2413.JPG"/>
          <p:cNvPicPr preferRelativeResize="0"/>
          <p:nvPr/>
        </p:nvPicPr>
        <p:blipFill>
          <a:blip r:embed="rId14">
            <a:alphaModFix/>
          </a:blip>
          <a:stretch>
            <a:fillRect/>
          </a:stretch>
        </p:blipFill>
        <p:spPr>
          <a:xfrm>
            <a:off x="6382938" y="1682290"/>
            <a:ext cx="369007" cy="492600"/>
          </a:xfrm>
          <a:prstGeom prst="rect">
            <a:avLst/>
          </a:prstGeom>
          <a:noFill/>
          <a:ln>
            <a:noFill/>
          </a:ln>
        </p:spPr>
      </p:pic>
      <p:pic>
        <p:nvPicPr>
          <p:cNvPr id="214" name="Google Shape;214;p4" title="IMG_2415.JPG"/>
          <p:cNvPicPr preferRelativeResize="0"/>
          <p:nvPr/>
        </p:nvPicPr>
        <p:blipFill>
          <a:blip r:embed="rId16">
            <a:alphaModFix/>
          </a:blip>
          <a:stretch>
            <a:fillRect/>
          </a:stretch>
        </p:blipFill>
        <p:spPr>
          <a:xfrm>
            <a:off x="8409725" y="1792812"/>
            <a:ext cx="419375" cy="55963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5"/>
          <p:cNvSpPr txBox="1"/>
          <p:nvPr/>
        </p:nvSpPr>
        <p:spPr>
          <a:xfrm>
            <a:off x="950850" y="254025"/>
            <a:ext cx="4521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XHS Content Performance </a:t>
            </a:r>
            <a:endParaRPr b="1" i="0" sz="2000" u="none" cap="none" strike="noStrike">
              <a:solidFill>
                <a:schemeClr val="dk1"/>
              </a:solidFill>
              <a:latin typeface="Times New Roman"/>
              <a:ea typeface="Times New Roman"/>
              <a:cs typeface="Times New Roman"/>
              <a:sym typeface="Times New Roman"/>
            </a:endParaRPr>
          </a:p>
        </p:txBody>
      </p:sp>
      <p:pic>
        <p:nvPicPr>
          <p:cNvPr id="220" name="Google Shape;220;p5"/>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221" name="Google Shape;221;p5"/>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222" name="Google Shape;222;p5"/>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69625" y="674016"/>
            <a:ext cx="9039000" cy="11538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1200"/>
              </a:spcBef>
              <a:spcAft>
                <a:spcPts val="0"/>
              </a:spcAft>
              <a:buSzPts val="1200"/>
              <a:buChar char="●"/>
            </a:pPr>
            <a:r>
              <a:rPr lang="zh-HK" sz="1200">
                <a:solidFill>
                  <a:srgbClr val="0F1115"/>
                </a:solidFill>
                <a:highlight>
                  <a:srgbClr val="FFFFFF"/>
                </a:highlight>
                <a:latin typeface="Times New Roman"/>
                <a:ea typeface="Times New Roman"/>
                <a:cs typeface="Times New Roman"/>
                <a:sym typeface="Times New Roman"/>
              </a:rPr>
              <a:t>In Aug, the </a:t>
            </a:r>
            <a:r>
              <a:rPr b="1" lang="zh-HK" sz="1200">
                <a:solidFill>
                  <a:srgbClr val="0F1115"/>
                </a:solidFill>
                <a:highlight>
                  <a:srgbClr val="FFFFFF"/>
                </a:highlight>
                <a:latin typeface="Times New Roman"/>
                <a:ea typeface="Times New Roman"/>
                <a:cs typeface="Times New Roman"/>
                <a:sym typeface="Times New Roman"/>
              </a:rPr>
              <a:t>Chiikawa movie guide</a:t>
            </a:r>
            <a:r>
              <a:rPr lang="zh-HK" sz="1200">
                <a:solidFill>
                  <a:srgbClr val="0F1115"/>
                </a:solidFill>
                <a:highlight>
                  <a:srgbClr val="FFFFFF"/>
                </a:highlight>
                <a:latin typeface="Times New Roman"/>
                <a:ea typeface="Times New Roman"/>
                <a:cs typeface="Times New Roman"/>
                <a:sym typeface="Times New Roman"/>
              </a:rPr>
              <a:t> was the month's </a:t>
            </a:r>
            <a:r>
              <a:rPr b="1" lang="zh-HK" sz="1200">
                <a:solidFill>
                  <a:srgbClr val="0F1115"/>
                </a:solidFill>
                <a:highlight>
                  <a:srgbClr val="FFFFFF"/>
                </a:highlight>
                <a:latin typeface="Times New Roman"/>
                <a:ea typeface="Times New Roman"/>
                <a:cs typeface="Times New Roman"/>
                <a:sym typeface="Times New Roman"/>
              </a:rPr>
              <a:t>top performer</a:t>
            </a:r>
            <a:r>
              <a:rPr lang="zh-HK" sz="1200">
                <a:solidFill>
                  <a:srgbClr val="0F1115"/>
                </a:solidFill>
                <a:highlight>
                  <a:srgbClr val="FFFFFF"/>
                </a:highlight>
                <a:latin typeface="Times New Roman"/>
                <a:ea typeface="Times New Roman"/>
                <a:cs typeface="Times New Roman"/>
                <a:sym typeface="Times New Roman"/>
              </a:rPr>
              <a:t>, recording the </a:t>
            </a:r>
            <a:r>
              <a:rPr b="1" lang="zh-HK" sz="1200">
                <a:solidFill>
                  <a:srgbClr val="0F1115"/>
                </a:solidFill>
                <a:highlight>
                  <a:srgbClr val="FFFFFF"/>
                </a:highlight>
                <a:latin typeface="Times New Roman"/>
                <a:ea typeface="Times New Roman"/>
                <a:cs typeface="Times New Roman"/>
                <a:sym typeface="Times New Roman"/>
              </a:rPr>
              <a:t>highest views and fan growth</a:t>
            </a:r>
            <a:r>
              <a:rPr lang="zh-HK" sz="1200">
                <a:solidFill>
                  <a:srgbClr val="0F1115"/>
                </a:solidFill>
                <a:highlight>
                  <a:srgbClr val="FFFFFF"/>
                </a:highlight>
                <a:latin typeface="Times New Roman"/>
                <a:ea typeface="Times New Roman"/>
                <a:cs typeface="Times New Roman"/>
                <a:sym typeface="Times New Roman"/>
              </a:rPr>
              <a:t>, along with notable engagement, reflecting strong demand for</a:t>
            </a:r>
            <a:r>
              <a:rPr b="1" lang="zh-HK" sz="1200">
                <a:solidFill>
                  <a:srgbClr val="0F1115"/>
                </a:solidFill>
                <a:highlight>
                  <a:srgbClr val="FFFFFF"/>
                </a:highlight>
                <a:latin typeface="Times New Roman"/>
                <a:ea typeface="Times New Roman"/>
                <a:cs typeface="Times New Roman"/>
                <a:sym typeface="Times New Roman"/>
              </a:rPr>
              <a:t> practical IP-related guides</a:t>
            </a:r>
            <a:r>
              <a:rPr lang="zh-HK" sz="1200">
                <a:solidFill>
                  <a:srgbClr val="0F1115"/>
                </a:solidFill>
                <a:highlight>
                  <a:srgbClr val="FFFFFF"/>
                </a:highlight>
                <a:latin typeface="Times New Roman"/>
                <a:ea typeface="Times New Roman"/>
                <a:cs typeface="Times New Roman"/>
                <a:sym typeface="Times New Roman"/>
              </a:rPr>
              <a:t>.</a:t>
            </a:r>
            <a:r>
              <a:rPr lang="zh-HK" sz="1200">
                <a:latin typeface="Times New Roman"/>
                <a:ea typeface="Times New Roman"/>
                <a:cs typeface="Times New Roman"/>
                <a:sym typeface="Times New Roman"/>
              </a:rPr>
              <a:t> </a:t>
            </a:r>
            <a:endParaRPr sz="1200">
              <a:solidFill>
                <a:srgbClr val="0F1115"/>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Font typeface="Times New Roman"/>
              <a:buChar char="●"/>
            </a:pPr>
            <a:r>
              <a:rPr b="1" lang="zh-HK" sz="1200">
                <a:solidFill>
                  <a:srgbClr val="0F1115"/>
                </a:solidFill>
                <a:highlight>
                  <a:srgbClr val="FFFFFF"/>
                </a:highlight>
                <a:latin typeface="Times New Roman"/>
                <a:ea typeface="Times New Roman"/>
                <a:cs typeface="Times New Roman"/>
                <a:sym typeface="Times New Roman"/>
              </a:rPr>
              <a:t>Back-to-school </a:t>
            </a:r>
            <a:r>
              <a:rPr lang="zh-HK" sz="1200">
                <a:solidFill>
                  <a:srgbClr val="0F1115"/>
                </a:solidFill>
                <a:highlight>
                  <a:srgbClr val="FFFFFF"/>
                </a:highlight>
                <a:latin typeface="Times New Roman"/>
                <a:ea typeface="Times New Roman"/>
                <a:cs typeface="Times New Roman"/>
                <a:sym typeface="Times New Roman"/>
              </a:rPr>
              <a:t>content recorded the</a:t>
            </a:r>
            <a:r>
              <a:rPr b="1" lang="zh-HK" sz="1200">
                <a:solidFill>
                  <a:srgbClr val="0F1115"/>
                </a:solidFill>
                <a:highlight>
                  <a:srgbClr val="FFFFFF"/>
                </a:highlight>
                <a:latin typeface="Times New Roman"/>
                <a:ea typeface="Times New Roman"/>
                <a:cs typeface="Times New Roman"/>
                <a:sym typeface="Times New Roman"/>
              </a:rPr>
              <a:t> highest engagement rate</a:t>
            </a:r>
            <a:r>
              <a:rPr lang="zh-HK" sz="1200">
                <a:solidFill>
                  <a:srgbClr val="0F1115"/>
                </a:solidFill>
                <a:highlight>
                  <a:srgbClr val="FFFFFF"/>
                </a:highlight>
                <a:latin typeface="Times New Roman"/>
                <a:ea typeface="Times New Roman"/>
                <a:cs typeface="Times New Roman"/>
                <a:sym typeface="Times New Roman"/>
              </a:rPr>
              <a:t> (19.03%), proving that content resonating with young audiences and mainland students, with strong </a:t>
            </a:r>
            <a:r>
              <a:rPr b="1" lang="zh-HK" sz="1200">
                <a:solidFill>
                  <a:srgbClr val="0F1115"/>
                </a:solidFill>
                <a:highlight>
                  <a:srgbClr val="FFFFFF"/>
                </a:highlight>
                <a:latin typeface="Times New Roman"/>
                <a:ea typeface="Times New Roman"/>
                <a:cs typeface="Times New Roman"/>
                <a:sym typeface="Times New Roman"/>
              </a:rPr>
              <a:t>种草</a:t>
            </a:r>
            <a:r>
              <a:rPr lang="zh-HK" sz="1200">
                <a:solidFill>
                  <a:srgbClr val="0F1115"/>
                </a:solidFill>
                <a:highlight>
                  <a:srgbClr val="FFFFFF"/>
                </a:highlight>
                <a:latin typeface="Times New Roman"/>
                <a:ea typeface="Times New Roman"/>
                <a:cs typeface="Times New Roman"/>
                <a:sym typeface="Times New Roman"/>
              </a:rPr>
              <a:t> appeal and practical offers, drives meaningful interactions.</a:t>
            </a:r>
            <a:endParaRPr sz="1200">
              <a:solidFill>
                <a:srgbClr val="0F1115"/>
              </a:solidFill>
              <a:highlight>
                <a:srgbClr val="FFFFFF"/>
              </a:highlight>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b="1" lang="zh-HK" sz="1200">
                <a:solidFill>
                  <a:srgbClr val="0F1115"/>
                </a:solidFill>
                <a:highlight>
                  <a:srgbClr val="FFFFFF"/>
                </a:highlight>
                <a:latin typeface="Times New Roman"/>
                <a:ea typeface="Times New Roman"/>
                <a:cs typeface="Times New Roman"/>
                <a:sym typeface="Times New Roman"/>
              </a:rPr>
              <a:t>Food and lifestyle</a:t>
            </a:r>
            <a:r>
              <a:rPr lang="zh-HK" sz="1200">
                <a:solidFill>
                  <a:srgbClr val="0F1115"/>
                </a:solidFill>
                <a:highlight>
                  <a:srgbClr val="FFFFFF"/>
                </a:highlight>
                <a:latin typeface="Times New Roman"/>
                <a:ea typeface="Times New Roman"/>
                <a:cs typeface="Times New Roman"/>
                <a:sym typeface="Times New Roman"/>
              </a:rPr>
              <a:t> content also delivered steady performance, reinforcing the appeal of</a:t>
            </a:r>
            <a:r>
              <a:rPr b="1" lang="zh-HK" sz="1200">
                <a:solidFill>
                  <a:srgbClr val="0F1115"/>
                </a:solidFill>
                <a:highlight>
                  <a:srgbClr val="FFFFFF"/>
                </a:highlight>
                <a:latin typeface="Times New Roman"/>
                <a:ea typeface="Times New Roman"/>
                <a:cs typeface="Times New Roman"/>
                <a:sym typeface="Times New Roman"/>
              </a:rPr>
              <a:t> affordable lifestyle</a:t>
            </a:r>
            <a:r>
              <a:rPr lang="zh-HK" sz="1200">
                <a:solidFill>
                  <a:srgbClr val="0F1115"/>
                </a:solidFill>
                <a:highlight>
                  <a:srgbClr val="FFFFFF"/>
                </a:highlight>
                <a:latin typeface="Times New Roman"/>
                <a:ea typeface="Times New Roman"/>
                <a:cs typeface="Times New Roman"/>
                <a:sym typeface="Times New Roman"/>
              </a:rPr>
              <a:t> content on XHS.</a:t>
            </a:r>
            <a:endParaRPr sz="1300">
              <a:solidFill>
                <a:srgbClr val="0F1115"/>
              </a:solidFill>
              <a:highlight>
                <a:srgbClr val="FFFFFF"/>
              </a:highlight>
              <a:latin typeface="Inter"/>
              <a:ea typeface="Inter"/>
              <a:cs typeface="Inter"/>
              <a:sym typeface="Inter"/>
            </a:endParaRPr>
          </a:p>
          <a:p>
            <a:pPr indent="0" lvl="0" marL="0" marR="0" rtl="0" algn="just">
              <a:lnSpc>
                <a:spcPct val="115000"/>
              </a:lnSpc>
              <a:spcBef>
                <a:spcPts val="1200"/>
              </a:spcBef>
              <a:spcAft>
                <a:spcPts val="0"/>
              </a:spcAft>
              <a:buClr>
                <a:srgbClr val="000000"/>
              </a:buClr>
              <a:buSzPts val="1150"/>
              <a:buFont typeface="Arial"/>
              <a:buNone/>
            </a:pPr>
            <a:r>
              <a:t/>
            </a:r>
            <a:endParaRPr b="0" i="0" sz="1150" u="none" cap="none" strike="noStrike">
              <a:solidFill>
                <a:schemeClr val="dk1"/>
              </a:solidFill>
              <a:highlight>
                <a:srgbClr val="FFFFFF"/>
              </a:highlight>
              <a:latin typeface="Times New Roman"/>
              <a:ea typeface="Times New Roman"/>
              <a:cs typeface="Times New Roman"/>
              <a:sym typeface="Times New Roman"/>
            </a:endParaRPr>
          </a:p>
        </p:txBody>
      </p:sp>
      <p:pic>
        <p:nvPicPr>
          <p:cNvPr descr="About | Langham Place" id="224" name="Google Shape;224;p5"/>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graphicFrame>
        <p:nvGraphicFramePr>
          <p:cNvPr id="225" name="Google Shape;225;p5"/>
          <p:cNvGraphicFramePr/>
          <p:nvPr/>
        </p:nvGraphicFramePr>
        <p:xfrm>
          <a:off x="188619" y="2071653"/>
          <a:ext cx="3000000" cy="3000000"/>
        </p:xfrm>
        <a:graphic>
          <a:graphicData uri="http://schemas.openxmlformats.org/drawingml/2006/table">
            <a:tbl>
              <a:tblPr>
                <a:noFill/>
                <a:tableStyleId>{CBF73CE5-E657-4C52-95DC-C96709342244}</a:tableStyleId>
              </a:tblPr>
              <a:tblGrid>
                <a:gridCol w="456050"/>
                <a:gridCol w="560975"/>
                <a:gridCol w="1286400"/>
                <a:gridCol w="594525"/>
                <a:gridCol w="540725"/>
                <a:gridCol w="585225"/>
                <a:gridCol w="550075"/>
                <a:gridCol w="448350"/>
                <a:gridCol w="719375"/>
                <a:gridCol w="737075"/>
                <a:gridCol w="652800"/>
              </a:tblGrid>
              <a:tr h="516825">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XHS</a:t>
                      </a:r>
                      <a:endParaRPr b="1" sz="10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Post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Publish Date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Subject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View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Like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Comment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Saved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Share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Total Engagement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Total Engagement Rate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1000" u="none" cap="none" strike="noStrike">
                          <a:latin typeface="Calibri"/>
                          <a:ea typeface="Calibri"/>
                          <a:cs typeface="Calibri"/>
                          <a:sym typeface="Calibri"/>
                        </a:rPr>
                        <a:t>Fans Increased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r>
              <a:tr h="2868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Aug 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HK" sz="900">
                          <a:latin typeface="Calibri"/>
                          <a:ea typeface="Calibri"/>
                          <a:cs typeface="Calibri"/>
                          <a:sym typeface="Calibri"/>
                        </a:rPr>
                        <a:t>人均150🍣在香港吃到了满意的漂亮饭！</a:t>
                      </a:r>
                      <a:endParaRPr sz="9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4,533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326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65</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61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456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10.06%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75700">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Aug 7</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HK" sz="900">
                          <a:latin typeface="Calibri"/>
                          <a:ea typeface="Calibri"/>
                          <a:cs typeface="Calibri"/>
                          <a:sym typeface="Calibri"/>
                        </a:rPr>
                        <a:t>60s教你来香港看chiikawa大电影 附路线</a:t>
                      </a:r>
                      <a:endParaRPr sz="9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10,869</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1,099</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222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242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1,594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14.67%</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78</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70075">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Aug 12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HK" sz="900">
                          <a:latin typeface="Calibri"/>
                          <a:ea typeface="Calibri"/>
                          <a:cs typeface="Calibri"/>
                          <a:sym typeface="Calibri"/>
                        </a:rPr>
                        <a:t>香港十几💰的美味！旺角记得多拿几个😭</a:t>
                      </a:r>
                      <a:endParaRPr sz="9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1,376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129</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51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37</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218</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15.84%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70075">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Aug 20</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HK" sz="900">
                          <a:latin typeface="Calibri"/>
                          <a:ea typeface="Calibri"/>
                          <a:cs typeface="Calibri"/>
                          <a:sym typeface="Calibri"/>
                        </a:rPr>
                        <a:t>30s看在香港花的zui满意的几笔💰！</a:t>
                      </a:r>
                      <a:endParaRPr sz="9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4,679</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233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69</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318</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6.80%</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70075">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5</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Aug 28</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zh-HK" sz="900">
                          <a:latin typeface="Calibri"/>
                          <a:ea typeface="Calibri"/>
                          <a:cs typeface="Calibri"/>
                          <a:sym typeface="Calibri"/>
                        </a:rPr>
                        <a:t>没人说的港硕开学潜规则😭少流太多泪❗️</a:t>
                      </a:r>
                      <a:endParaRPr sz="9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867</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107</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165</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19.03%</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6</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96525">
                <a:tc gridSpan="3">
                  <a:txBody>
                    <a:bodyPr/>
                    <a:lstStyle/>
                    <a:p>
                      <a:pPr indent="0" lvl="0" marL="0" rtl="0" algn="ctr">
                        <a:lnSpc>
                          <a:spcPct val="115000"/>
                        </a:lnSpc>
                        <a:spcBef>
                          <a:spcPts val="0"/>
                        </a:spcBef>
                        <a:spcAft>
                          <a:spcPts val="0"/>
                        </a:spcAft>
                        <a:buNone/>
                      </a:pPr>
                      <a:r>
                        <a:rPr b="1" lang="zh-HK" sz="1100">
                          <a:latin typeface="Calibri"/>
                          <a:ea typeface="Calibri"/>
                          <a:cs typeface="Calibri"/>
                          <a:sym typeface="Calibri"/>
                        </a:rPr>
                        <a:t>Aug Total</a:t>
                      </a:r>
                      <a:endParaRPr b="1"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hMerge="1"/>
                <a:tc hMerge="1"/>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22,324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1,894</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451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365</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2,751</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12.32%</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c>
                  <a:txBody>
                    <a:bodyPr/>
                    <a:lstStyle/>
                    <a:p>
                      <a:pPr indent="0" lvl="0" marL="0" rtl="0" algn="ctr">
                        <a:lnSpc>
                          <a:spcPct val="115000"/>
                        </a:lnSpc>
                        <a:spcBef>
                          <a:spcPts val="0"/>
                        </a:spcBef>
                        <a:spcAft>
                          <a:spcPts val="0"/>
                        </a:spcAft>
                        <a:buNone/>
                      </a:pPr>
                      <a:r>
                        <a:rPr lang="zh-HK" sz="1100">
                          <a:latin typeface="Calibri"/>
                          <a:ea typeface="Calibri"/>
                          <a:cs typeface="Calibri"/>
                          <a:sym typeface="Calibri"/>
                        </a:rPr>
                        <a:t>125</a:t>
                      </a:r>
                      <a:endParaRPr sz="1100">
                        <a:latin typeface="Calibri"/>
                        <a:ea typeface="Calibri"/>
                        <a:cs typeface="Calibri"/>
                        <a:sym typeface="Calibri"/>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4CCCC"/>
                    </a:solidFill>
                  </a:tcPr>
                </a:tc>
              </a:tr>
            </a:tbl>
          </a:graphicData>
        </a:graphic>
      </p:graphicFrame>
      <p:sp>
        <p:nvSpPr>
          <p:cNvPr id="226" name="Google Shape;226;p5"/>
          <p:cNvSpPr/>
          <p:nvPr/>
        </p:nvSpPr>
        <p:spPr>
          <a:xfrm>
            <a:off x="164017" y="2945634"/>
            <a:ext cx="7180800" cy="333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7" name="Google Shape;227;p5"/>
          <p:cNvPicPr preferRelativeResize="0"/>
          <p:nvPr/>
        </p:nvPicPr>
        <p:blipFill>
          <a:blip r:embed="rId5">
            <a:alphaModFix/>
          </a:blip>
          <a:stretch>
            <a:fillRect/>
          </a:stretch>
        </p:blipFill>
        <p:spPr>
          <a:xfrm>
            <a:off x="7397741" y="1953578"/>
            <a:ext cx="1635625" cy="273166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6"/>
          <p:cNvSpPr txBox="1"/>
          <p:nvPr/>
        </p:nvSpPr>
        <p:spPr>
          <a:xfrm>
            <a:off x="982002" y="312475"/>
            <a:ext cx="3256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XHS Boosting performance </a:t>
            </a:r>
            <a:endParaRPr b="1" i="0" sz="2000" u="none" cap="none" strike="noStrike">
              <a:solidFill>
                <a:schemeClr val="dk1"/>
              </a:solidFill>
              <a:latin typeface="Times New Roman"/>
              <a:ea typeface="Times New Roman"/>
              <a:cs typeface="Times New Roman"/>
              <a:sym typeface="Times New Roman"/>
            </a:endParaRPr>
          </a:p>
        </p:txBody>
      </p:sp>
      <p:pic>
        <p:nvPicPr>
          <p:cNvPr id="233" name="Google Shape;233;p6"/>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234" name="Google Shape;234;p6"/>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235" name="Google Shape;235;p6"/>
          <p:cNvSpPr txBox="1"/>
          <p:nvPr/>
        </p:nvSpPr>
        <p:spPr>
          <a:xfrm>
            <a:off x="240156" y="1358420"/>
            <a:ext cx="3723600" cy="346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050"/>
              <a:buFont typeface="Arial"/>
              <a:buNone/>
            </a:pPr>
            <a:r>
              <a:t/>
            </a:r>
            <a:endParaRPr b="1" i="0" sz="1050" u="none" cap="none" strike="noStrike">
              <a:solidFill>
                <a:srgbClr val="212121"/>
              </a:solidFill>
              <a:latin typeface="Times New Roman"/>
              <a:ea typeface="Times New Roman"/>
              <a:cs typeface="Times New Roman"/>
              <a:sym typeface="Times New Roman"/>
            </a:endParaRPr>
          </a:p>
        </p:txBody>
      </p:sp>
      <p:graphicFrame>
        <p:nvGraphicFramePr>
          <p:cNvPr id="236" name="Google Shape;236;p6"/>
          <p:cNvGraphicFramePr/>
          <p:nvPr/>
        </p:nvGraphicFramePr>
        <p:xfrm>
          <a:off x="137792" y="2666699"/>
          <a:ext cx="3000000" cy="3000000"/>
        </p:xfrm>
        <a:graphic>
          <a:graphicData uri="http://schemas.openxmlformats.org/drawingml/2006/table">
            <a:tbl>
              <a:tblPr>
                <a:noFill/>
                <a:tableStyleId>{CBF73CE5-E657-4C52-95DC-C96709342244}</a:tableStyleId>
              </a:tblPr>
              <a:tblGrid>
                <a:gridCol w="363550"/>
                <a:gridCol w="1696075"/>
                <a:gridCol w="382850"/>
                <a:gridCol w="481550"/>
                <a:gridCol w="476550"/>
                <a:gridCol w="447575"/>
                <a:gridCol w="353300"/>
                <a:gridCol w="469250"/>
                <a:gridCol w="396075"/>
                <a:gridCol w="321050"/>
                <a:gridCol w="371900"/>
                <a:gridCol w="455150"/>
              </a:tblGrid>
              <a:tr h="275475">
                <a:tc>
                  <a:txBody>
                    <a:bodyPr/>
                    <a:lstStyle/>
                    <a:p>
                      <a:pPr indent="0" lvl="0" marL="0" marR="0" rtl="0" algn="ctr">
                        <a:lnSpc>
                          <a:spcPct val="115000"/>
                        </a:lnSpc>
                        <a:spcBef>
                          <a:spcPts val="0"/>
                        </a:spcBef>
                        <a:spcAft>
                          <a:spcPts val="0"/>
                        </a:spcAft>
                        <a:buClr>
                          <a:srgbClr val="000000"/>
                        </a:buClr>
                        <a:buSzPts val="600"/>
                        <a:buFont typeface="Arial"/>
                        <a:buNone/>
                      </a:pPr>
                      <a:r>
                        <a:rPr b="1" lang="zh-HK" sz="600" u="none" cap="none" strike="noStrike">
                          <a:latin typeface="Calibri"/>
                          <a:ea typeface="Calibri"/>
                          <a:cs typeface="Calibri"/>
                          <a:sym typeface="Calibri"/>
                        </a:rPr>
                        <a:t>Category</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XHS Subject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Period</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Objectives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Cost￥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Impressions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Clicks</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Total</a:t>
                      </a:r>
                      <a:endParaRPr b="1" sz="6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Engagement</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CTR</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CPC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CPE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600" u="none" cap="none" strike="noStrike">
                          <a:latin typeface="Calibri"/>
                          <a:ea typeface="Calibri"/>
                          <a:cs typeface="Calibri"/>
                          <a:sym typeface="Calibri"/>
                        </a:rPr>
                        <a:t>CPM ¥</a:t>
                      </a:r>
                      <a:endParaRPr b="1" sz="6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FF00"/>
                    </a:solidFill>
                  </a:tcPr>
                </a:tc>
              </a:tr>
              <a:tr h="261800">
                <a:tc rowSpan="6">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t>聚光</a:t>
                      </a:r>
                      <a:endParaRPr sz="6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『香港避暑』旺角邂逅金庸的武侠世界</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8</a:t>
                      </a:r>
                      <a:r>
                        <a:rPr lang="zh-HK" sz="700" u="none" cap="none" strike="noStrike"/>
                        <a:t>/1</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¥148.74</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2,204</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168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zh-HK" sz="700"/>
                        <a:t>126 </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7.62%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¥0.89</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¥1.18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¥67.49</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2291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人均150🍣在香港吃到了满意的漂亮饭！</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8</a:t>
                      </a:r>
                      <a:r>
                        <a:rPr lang="zh-HK" sz="700" u="none" cap="none" strike="noStrike"/>
                        <a:t>/</a:t>
                      </a:r>
                      <a:r>
                        <a:rPr lang="zh-HK" sz="700"/>
                        <a:t>3</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¥453.42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3,829</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373</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412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9.74%</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¥1.22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¥1.10</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¥118.42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60s教你来香港看chiikawa大电影 附路线</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600"/>
                        <a:buFont typeface="Arial"/>
                        <a:buNone/>
                      </a:pPr>
                      <a:r>
                        <a:rPr lang="zh-HK" sz="700"/>
                        <a:t>8</a:t>
                      </a:r>
                      <a:r>
                        <a:rPr lang="zh-HK" sz="700" u="none" cap="none" strike="noStrike"/>
                        <a:t>/</a:t>
                      </a:r>
                      <a:r>
                        <a:rPr lang="zh-HK" sz="700"/>
                        <a:t>7</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¥435.29</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6,101</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548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496</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8.98%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¥0.79</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¥0.88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¥71.35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600"/>
                        <a:buFont typeface="Arial"/>
                        <a:buNone/>
                      </a:pPr>
                      <a:r>
                        <a:rPr lang="zh-HK" sz="700"/>
                        <a:t>香港十几💰的美味！旺角记得多拿几个</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8</a:t>
                      </a:r>
                      <a:r>
                        <a:rPr lang="zh-HK" sz="700" u="none" cap="none" strike="noStrike"/>
                        <a:t>/</a:t>
                      </a:r>
                      <a:r>
                        <a:rPr lang="zh-HK" sz="700"/>
                        <a:t>12</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¥303.48</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7,156</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610</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136</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8.52%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¥0.50</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¥2.23</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¥42.41</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261800">
                <a:tc vMerge="1"/>
                <a:tc>
                  <a:txBody>
                    <a:bodyPr/>
                    <a:lstStyle/>
                    <a:p>
                      <a:pPr indent="0" lvl="0" marL="0" marR="0" rtl="0" algn="l">
                        <a:lnSpc>
                          <a:spcPct val="115000"/>
                        </a:lnSpc>
                        <a:spcBef>
                          <a:spcPts val="0"/>
                        </a:spcBef>
                        <a:spcAft>
                          <a:spcPts val="0"/>
                        </a:spcAft>
                        <a:buClr>
                          <a:srgbClr val="000000"/>
                        </a:buClr>
                        <a:buSzPts val="600"/>
                        <a:buFont typeface="Arial"/>
                        <a:buNone/>
                      </a:pPr>
                      <a:r>
                        <a:rPr lang="zh-HK" sz="700"/>
                        <a:t>30s看在香港花的zui满意的几笔💰！</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600"/>
                        <a:buFont typeface="Arial"/>
                        <a:buNone/>
                      </a:pPr>
                      <a:r>
                        <a:rPr lang="zh-HK" sz="700"/>
                        <a:t>8</a:t>
                      </a:r>
                      <a:r>
                        <a:rPr lang="zh-HK" sz="700" u="none" cap="none" strike="noStrike"/>
                        <a:t>/</a:t>
                      </a:r>
                      <a:r>
                        <a:rPr lang="zh-HK" sz="700"/>
                        <a:t>20</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¥464.90</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4,041</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300</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305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7.42%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¥1.55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¥1.52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¥115.05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261800">
                <a:tc vMerge="1"/>
                <a:tc>
                  <a:txBody>
                    <a:bodyPr/>
                    <a:lstStyle/>
                    <a:p>
                      <a:pPr indent="0" lvl="0" marL="0" marR="0" rtl="0" algn="ctr">
                        <a:lnSpc>
                          <a:spcPct val="115000"/>
                        </a:lnSpc>
                        <a:spcBef>
                          <a:spcPts val="0"/>
                        </a:spcBef>
                        <a:spcAft>
                          <a:spcPts val="0"/>
                        </a:spcAft>
                        <a:buClr>
                          <a:srgbClr val="000000"/>
                        </a:buClr>
                        <a:buSzPts val="800"/>
                        <a:buFont typeface="Arial"/>
                        <a:buNone/>
                      </a:pPr>
                      <a:r>
                        <a:rPr lang="zh-HK" sz="700"/>
                        <a:t>没人说的港硕开学潜规则😭少流太多泪</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700"/>
                        <a:t>8</a:t>
                      </a:r>
                      <a:r>
                        <a:rPr lang="zh-HK" sz="700" u="none" cap="none" strike="noStrike"/>
                        <a:t>/</a:t>
                      </a:r>
                      <a:r>
                        <a:rPr lang="zh-HK" sz="700"/>
                        <a:t>29</a:t>
                      </a:r>
                      <a:endParaRPr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t>互动量</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¥206.81</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4,623</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335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57</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7.25%</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¥0.62</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¥3.63</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700"/>
                        <a:t>¥44.74</a:t>
                      </a:r>
                      <a:endParaRPr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315900">
                <a:tc gridSpan="4">
                  <a:txBody>
                    <a:bodyPr/>
                    <a:lstStyle/>
                    <a:p>
                      <a:pPr indent="0" lvl="0" marL="0" marR="0" rtl="0" algn="ctr">
                        <a:lnSpc>
                          <a:spcPct val="115000"/>
                        </a:lnSpc>
                        <a:spcBef>
                          <a:spcPts val="0"/>
                        </a:spcBef>
                        <a:spcAft>
                          <a:spcPts val="0"/>
                        </a:spcAft>
                        <a:buClr>
                          <a:srgbClr val="000000"/>
                        </a:buClr>
                        <a:buSzPts val="700"/>
                        <a:buFont typeface="Arial"/>
                        <a:buNone/>
                      </a:pPr>
                      <a:r>
                        <a:rPr b="1" lang="zh-HK" sz="700"/>
                        <a:t>Aug</a:t>
                      </a:r>
                      <a:r>
                        <a:rPr b="1" lang="zh-HK" sz="700" u="none" cap="none" strike="noStrike"/>
                        <a:t> Total</a:t>
                      </a:r>
                      <a:endParaRPr b="1" sz="700" u="none" cap="none" strike="noStrike"/>
                    </a:p>
                  </a:txBody>
                  <a:tcPr marT="19050" marB="19050" marR="28575" marL="28575" anchor="ctr">
                    <a:lnL cap="flat" cmpd="sng" w="95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hMerge="1"/>
                <a:tc hMerge="1"/>
                <a:tc hMerge="1"/>
                <a:tc>
                  <a:txBody>
                    <a:bodyPr/>
                    <a:lstStyle/>
                    <a:p>
                      <a:pPr indent="0" lvl="0" marL="0" rtl="0" algn="ctr">
                        <a:lnSpc>
                          <a:spcPct val="115000"/>
                        </a:lnSpc>
                        <a:spcBef>
                          <a:spcPts val="0"/>
                        </a:spcBef>
                        <a:spcAft>
                          <a:spcPts val="0"/>
                        </a:spcAft>
                        <a:buNone/>
                      </a:pPr>
                      <a:r>
                        <a:rPr b="1" lang="zh-HK" sz="700"/>
                        <a:t>¥2,012.64</a:t>
                      </a:r>
                      <a:endParaRPr b="1" sz="700"/>
                    </a:p>
                  </a:txBody>
                  <a:tcPr marT="19050" marB="19050" marR="28575" marL="28575" anchor="ctr">
                    <a:lnL cap="flat" cmpd="sng" w="7925">
                      <a:solidFill>
                        <a:srgbClr val="000000"/>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27,954</a:t>
                      </a:r>
                      <a:endParaRPr b="1" sz="7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2,334</a:t>
                      </a:r>
                      <a:endParaRPr b="1" sz="7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1,532</a:t>
                      </a:r>
                      <a:endParaRPr b="1" sz="700"/>
                    </a:p>
                  </a:txBody>
                  <a:tcPr marT="19050" marB="19050" marR="28575" marL="2857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8.35%</a:t>
                      </a:r>
                      <a:endParaRPr b="1"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¥0.86</a:t>
                      </a:r>
                      <a:endParaRPr b="1" sz="700"/>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¥1.31</a:t>
                      </a:r>
                      <a:endParaRPr b="1" sz="700"/>
                    </a:p>
                  </a:txBody>
                  <a:tcPr marT="19050" marB="19050" marR="28575" marL="28575" anchor="ctr">
                    <a:lnL cap="flat" cmpd="sng" w="7925">
                      <a:solidFill>
                        <a:srgbClr val="000000"/>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700"/>
                        <a:t>¥72</a:t>
                      </a:r>
                      <a:endParaRPr b="1" sz="700"/>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bl>
          </a:graphicData>
        </a:graphic>
      </p:graphicFrame>
      <p:sp>
        <p:nvSpPr>
          <p:cNvPr id="237" name="Google Shape;237;p6"/>
          <p:cNvSpPr txBox="1"/>
          <p:nvPr/>
        </p:nvSpPr>
        <p:spPr>
          <a:xfrm>
            <a:off x="-175650" y="772726"/>
            <a:ext cx="4094400" cy="17991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lang="zh-HK" sz="1200">
                <a:solidFill>
                  <a:srgbClr val="1C1C1C"/>
                </a:solidFill>
                <a:latin typeface="Times New Roman"/>
                <a:ea typeface="Times New Roman"/>
                <a:cs typeface="Times New Roman"/>
                <a:sym typeface="Times New Roman"/>
              </a:rPr>
              <a:t>August</a:t>
            </a:r>
            <a:r>
              <a:rPr b="1" i="0" lang="zh-HK" sz="1200" u="none" cap="none" strike="noStrike">
                <a:solidFill>
                  <a:srgbClr val="1C1C1C"/>
                </a:solidFill>
                <a:latin typeface="Times New Roman"/>
                <a:ea typeface="Times New Roman"/>
                <a:cs typeface="Times New Roman"/>
                <a:sym typeface="Times New Roman"/>
              </a:rPr>
              <a:t> XHS Boosting Performance:</a:t>
            </a:r>
            <a:endParaRPr i="0" sz="1200" u="none" cap="none" strike="noStrike">
              <a:solidFill>
                <a:srgbClr val="1C1C1C"/>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1C1C1C"/>
              </a:buClr>
              <a:buSzPts val="1200"/>
              <a:buFont typeface="Times New Roman"/>
              <a:buChar char="●"/>
            </a:pPr>
            <a:r>
              <a:rPr b="1" i="0" lang="zh-HK" sz="1200" u="none" cap="none" strike="noStrike">
                <a:solidFill>
                  <a:srgbClr val="1C1C1C"/>
                </a:solidFill>
                <a:latin typeface="Times New Roman"/>
                <a:ea typeface="Times New Roman"/>
                <a:cs typeface="Times New Roman"/>
                <a:sym typeface="Times New Roman"/>
              </a:rPr>
              <a:t>CPE: </a:t>
            </a:r>
            <a:r>
              <a:rPr lang="zh-HK" sz="1200">
                <a:solidFill>
                  <a:srgbClr val="0F1115"/>
                </a:solidFill>
                <a:latin typeface="Times New Roman"/>
                <a:ea typeface="Times New Roman"/>
                <a:cs typeface="Times New Roman"/>
                <a:sym typeface="Times New Roman"/>
              </a:rPr>
              <a:t>¥1.31, 13.2% lower vs Jul, 38.5% lower vs Aug 2025, and 50.9% lower vs 2025 avg, cost efficiency improved significantly.</a:t>
            </a:r>
            <a:endParaRPr b="1" i="0" sz="1200" u="none" cap="none" strike="noStrike">
              <a:solidFill>
                <a:srgbClr val="1C1C1C"/>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1C1C1C"/>
              </a:buClr>
              <a:buSzPts val="1200"/>
              <a:buFont typeface="Times New Roman"/>
              <a:buChar char="●"/>
            </a:pPr>
            <a:r>
              <a:rPr b="1" i="0" lang="zh-HK" sz="1200" u="none" cap="none" strike="noStrike">
                <a:solidFill>
                  <a:srgbClr val="1C1C1C"/>
                </a:solidFill>
                <a:latin typeface="Times New Roman"/>
                <a:ea typeface="Times New Roman"/>
                <a:cs typeface="Times New Roman"/>
                <a:sym typeface="Times New Roman"/>
              </a:rPr>
              <a:t>CPM:</a:t>
            </a:r>
            <a:r>
              <a:rPr i="0" lang="zh-HK" sz="1200" u="none" cap="none" strike="noStrike">
                <a:solidFill>
                  <a:srgbClr val="1C1C1C"/>
                </a:solidFill>
                <a:latin typeface="Times New Roman"/>
                <a:ea typeface="Times New Roman"/>
                <a:cs typeface="Times New Roman"/>
                <a:sym typeface="Times New Roman"/>
              </a:rPr>
              <a:t> </a:t>
            </a:r>
            <a:r>
              <a:rPr lang="zh-HK" sz="1200">
                <a:solidFill>
                  <a:srgbClr val="0F1115"/>
                </a:solidFill>
                <a:latin typeface="Times New Roman"/>
                <a:ea typeface="Times New Roman"/>
                <a:cs typeface="Times New Roman"/>
                <a:sym typeface="Times New Roman"/>
              </a:rPr>
              <a:t>¥72.00, 17.7% lower vs Jul and</a:t>
            </a:r>
            <a:r>
              <a:rPr lang="zh-HK" sz="1200">
                <a:solidFill>
                  <a:srgbClr val="0F1115"/>
                </a:solidFill>
                <a:latin typeface="Times New Roman"/>
                <a:ea typeface="Times New Roman"/>
                <a:cs typeface="Times New Roman"/>
                <a:sym typeface="Times New Roman"/>
                <a:extLst>
                  <a:ext uri="http://customooxmlschemas.google.com/">
                    <go:slidesCustomData xmlns:go="http://customooxmlschemas.google.com/" textRoundtripDataId="0"/>
                  </a:ext>
                </a:extLst>
              </a:rPr>
              <a:t> 13.0% lower vs Aug 2025, but up 15.6% vs 2025 avg.</a:t>
            </a:r>
            <a:endParaRPr i="0" sz="1200" u="none" cap="none" strike="noStrike">
              <a:solidFill>
                <a:srgbClr val="1C1C1C"/>
              </a:solidFill>
              <a:latin typeface="Times New Roman"/>
              <a:ea typeface="Times New Roman"/>
              <a:cs typeface="Times New Roman"/>
              <a:sym typeface="Times New Roman"/>
            </a:endParaRPr>
          </a:p>
          <a:p>
            <a:pPr indent="-304800" lvl="0" marL="457200" marR="0" rtl="0" algn="just">
              <a:lnSpc>
                <a:spcPct val="115000"/>
              </a:lnSpc>
              <a:spcBef>
                <a:spcPts val="0"/>
              </a:spcBef>
              <a:spcAft>
                <a:spcPts val="0"/>
              </a:spcAft>
              <a:buClr>
                <a:srgbClr val="1C1C1C"/>
              </a:buClr>
              <a:buSzPts val="1200"/>
              <a:buFont typeface="Times New Roman"/>
              <a:buChar char="●"/>
            </a:pPr>
            <a:r>
              <a:rPr b="1" i="0" lang="zh-HK" sz="1200" u="none" cap="none" strike="noStrike">
                <a:solidFill>
                  <a:srgbClr val="1C1C1C"/>
                </a:solidFill>
                <a:latin typeface="Times New Roman"/>
                <a:ea typeface="Times New Roman"/>
                <a:cs typeface="Times New Roman"/>
                <a:sym typeface="Times New Roman"/>
              </a:rPr>
              <a:t>CTR:</a:t>
            </a:r>
            <a:r>
              <a:rPr i="0" lang="zh-HK" sz="1200" u="none" cap="none" strike="noStrike">
                <a:solidFill>
                  <a:srgbClr val="1C1C1C"/>
                </a:solidFill>
                <a:latin typeface="Times New Roman"/>
                <a:ea typeface="Times New Roman"/>
                <a:cs typeface="Times New Roman"/>
                <a:sym typeface="Times New Roman"/>
              </a:rPr>
              <a:t> </a:t>
            </a:r>
            <a:r>
              <a:rPr lang="zh-HK" sz="1200">
                <a:solidFill>
                  <a:srgbClr val="0F1115"/>
                </a:solidFill>
                <a:latin typeface="Times New Roman"/>
                <a:ea typeface="Times New Roman"/>
                <a:cs typeface="Times New Roman"/>
                <a:sym typeface="Times New Roman"/>
              </a:rPr>
              <a:t>8.53%, 14.8% lower vs Jul, 9.5% lower vs Aug 2025, and 1.0% lower vs 2025 avg.</a:t>
            </a:r>
            <a:endParaRPr i="0" sz="1200" u="none" cap="none" strike="noStrike">
              <a:solidFill>
                <a:srgbClr val="1C1C1C"/>
              </a:solidFill>
              <a:latin typeface="Times New Roman"/>
              <a:ea typeface="Times New Roman"/>
              <a:cs typeface="Times New Roman"/>
              <a:sym typeface="Times New Roman"/>
            </a:endParaRPr>
          </a:p>
        </p:txBody>
      </p:sp>
      <p:sp>
        <p:nvSpPr>
          <p:cNvPr id="238" name="Google Shape;238;p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39" name="Google Shape;239;p6"/>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graphicFrame>
        <p:nvGraphicFramePr>
          <p:cNvPr id="240" name="Google Shape;240;p6"/>
          <p:cNvGraphicFramePr/>
          <p:nvPr/>
        </p:nvGraphicFramePr>
        <p:xfrm>
          <a:off x="3958631" y="892200"/>
          <a:ext cx="3000000" cy="3000000"/>
        </p:xfrm>
        <a:graphic>
          <a:graphicData uri="http://schemas.openxmlformats.org/drawingml/2006/table">
            <a:tbl>
              <a:tblPr>
                <a:noFill/>
                <a:tableStyleId>{CBF73CE5-E657-4C52-95DC-C96709342244}</a:tableStyleId>
              </a:tblPr>
              <a:tblGrid>
                <a:gridCol w="390550"/>
                <a:gridCol w="351900"/>
                <a:gridCol w="357675"/>
                <a:gridCol w="334650"/>
                <a:gridCol w="387650"/>
                <a:gridCol w="413050"/>
                <a:gridCol w="381450"/>
                <a:gridCol w="403425"/>
                <a:gridCol w="377225"/>
                <a:gridCol w="482825"/>
                <a:gridCol w="619475"/>
                <a:gridCol w="562250"/>
              </a:tblGrid>
              <a:tr h="311125">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Metric</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Jan</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Feb</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Mar</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Apr</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800" u="none" cap="none" strike="noStrike">
                          <a:latin typeface="Calibri"/>
                          <a:ea typeface="Calibri"/>
                          <a:cs typeface="Calibri"/>
                          <a:sym typeface="Calibri"/>
                        </a:rPr>
                        <a:t>May</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800" u="none" cap="none" strike="noStrike">
                          <a:latin typeface="Calibri"/>
                          <a:ea typeface="Calibri"/>
                          <a:cs typeface="Calibri"/>
                          <a:sym typeface="Calibri"/>
                        </a:rPr>
                        <a:t>Jun</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800" u="none" cap="none" strike="noStrike">
                          <a:latin typeface="Calibri"/>
                          <a:ea typeface="Calibri"/>
                          <a:cs typeface="Calibri"/>
                          <a:sym typeface="Calibri"/>
                        </a:rPr>
                        <a:t>Jul</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None/>
                      </a:pPr>
                      <a:r>
                        <a:rPr b="1" lang="zh-HK" sz="800">
                          <a:latin typeface="Calibri"/>
                          <a:ea typeface="Calibri"/>
                          <a:cs typeface="Calibri"/>
                          <a:sym typeface="Calibri"/>
                        </a:rPr>
                        <a:t>Aug</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i="0" lang="zh-HK" sz="800" u="none" cap="none" strike="noStrike">
                          <a:solidFill>
                            <a:srgbClr val="000000"/>
                          </a:solidFill>
                          <a:latin typeface="Calibri"/>
                          <a:ea typeface="Calibri"/>
                          <a:cs typeface="Calibri"/>
                          <a:sym typeface="Calibri"/>
                        </a:rPr>
                        <a:t>vs </a:t>
                      </a:r>
                      <a:r>
                        <a:rPr b="1" lang="zh-HK" sz="800" u="none" cap="none" strike="noStrike">
                          <a:latin typeface="Calibri"/>
                          <a:ea typeface="Calibri"/>
                          <a:cs typeface="Calibri"/>
                          <a:sym typeface="Calibri"/>
                        </a:rPr>
                        <a:t> </a:t>
                      </a:r>
                      <a:br>
                        <a:rPr b="1" lang="zh-HK" sz="800" u="none" cap="none" strike="noStrike">
                          <a:latin typeface="Calibri"/>
                          <a:ea typeface="Calibri"/>
                          <a:cs typeface="Calibri"/>
                          <a:sym typeface="Calibri"/>
                        </a:rPr>
                      </a:br>
                      <a:r>
                        <a:rPr b="1" lang="zh-HK" sz="800" u="none" cap="none" strike="noStrike">
                          <a:latin typeface="Calibri"/>
                          <a:ea typeface="Calibri"/>
                          <a:cs typeface="Calibri"/>
                          <a:sym typeface="Calibri"/>
                        </a:rPr>
                        <a:t>J</a:t>
                      </a:r>
                      <a:r>
                        <a:rPr b="1" lang="zh-HK" sz="800">
                          <a:latin typeface="Calibri"/>
                          <a:ea typeface="Calibri"/>
                          <a:cs typeface="Calibri"/>
                          <a:sym typeface="Calibri"/>
                        </a:rPr>
                        <a:t>ul</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i="0" lang="zh-HK" sz="800" u="none" cap="none" strike="noStrike">
                          <a:solidFill>
                            <a:srgbClr val="000000"/>
                          </a:solidFill>
                          <a:latin typeface="Calibri"/>
                          <a:ea typeface="Calibri"/>
                          <a:cs typeface="Calibri"/>
                          <a:sym typeface="Calibri"/>
                        </a:rPr>
                        <a:t>vs </a:t>
                      </a:r>
                      <a:br>
                        <a:rPr b="1" i="0" lang="zh-HK" sz="800" u="none" cap="none" strike="noStrike">
                          <a:solidFill>
                            <a:srgbClr val="000000"/>
                          </a:solidFill>
                          <a:latin typeface="Calibri"/>
                          <a:ea typeface="Calibri"/>
                          <a:cs typeface="Calibri"/>
                          <a:sym typeface="Calibri"/>
                        </a:rPr>
                      </a:br>
                      <a:r>
                        <a:rPr b="1" lang="zh-HK" sz="800">
                          <a:latin typeface="Calibri"/>
                          <a:ea typeface="Calibri"/>
                          <a:cs typeface="Calibri"/>
                          <a:sym typeface="Calibri"/>
                        </a:rPr>
                        <a:t>Aug</a:t>
                      </a:r>
                      <a:r>
                        <a:rPr b="1" i="0" lang="zh-HK" sz="800" u="none" cap="none" strike="noStrike">
                          <a:solidFill>
                            <a:srgbClr val="000000"/>
                          </a:solidFill>
                          <a:latin typeface="Calibri"/>
                          <a:ea typeface="Calibri"/>
                          <a:cs typeface="Calibri"/>
                          <a:sym typeface="Calibri"/>
                        </a:rPr>
                        <a:t>  </a:t>
                      </a:r>
                      <a:r>
                        <a:rPr b="1" lang="zh-HK" sz="800">
                          <a:latin typeface="Calibri"/>
                          <a:ea typeface="Calibri"/>
                          <a:cs typeface="Calibri"/>
                          <a:sym typeface="Calibri"/>
                        </a:rPr>
                        <a:t>20</a:t>
                      </a:r>
                      <a:r>
                        <a:rPr b="1" i="0" lang="zh-HK" sz="800" u="none" cap="none" strike="noStrike">
                          <a:solidFill>
                            <a:srgbClr val="000000"/>
                          </a:solidFill>
                          <a:latin typeface="Calibri"/>
                          <a:ea typeface="Calibri"/>
                          <a:cs typeface="Calibri"/>
                          <a:sym typeface="Calibri"/>
                        </a:rPr>
                        <a:t>25</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b="1" lang="zh-HK" sz="800">
                          <a:latin typeface="Calibri"/>
                          <a:ea typeface="Calibri"/>
                          <a:cs typeface="Calibri"/>
                          <a:sym typeface="Calibri"/>
                        </a:rPr>
                        <a:t>vs</a:t>
                      </a:r>
                      <a:br>
                        <a:rPr b="1" lang="zh-HK" sz="800">
                          <a:latin typeface="Calibri"/>
                          <a:ea typeface="Calibri"/>
                          <a:cs typeface="Calibri"/>
                          <a:sym typeface="Calibri"/>
                        </a:rPr>
                      </a:br>
                      <a:r>
                        <a:rPr b="1" lang="zh-HK" sz="800" u="none" cap="none" strike="noStrike">
                          <a:latin typeface="Calibri"/>
                          <a:ea typeface="Calibri"/>
                          <a:cs typeface="Calibri"/>
                          <a:sym typeface="Calibri"/>
                        </a:rPr>
                        <a:t>2025 Avg</a:t>
                      </a:r>
                      <a:endParaRPr b="1"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EFACF"/>
                    </a:solidFill>
                  </a:tcPr>
                </a:tc>
              </a:tr>
              <a:tr h="429150">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CPE ¥</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¥1.98</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¥2.67</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¥0.83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¥0.94</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¥2.79</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¥1.31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¥1.51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Clr>
                          <a:srgbClr val="000000"/>
                        </a:buClr>
                        <a:buSzPts val="900"/>
                        <a:buFont typeface="Arial"/>
                        <a:buNone/>
                      </a:pPr>
                      <a:r>
                        <a:rPr lang="zh-HK" sz="800">
                          <a:latin typeface="Calibri"/>
                          <a:ea typeface="Calibri"/>
                          <a:cs typeface="Calibri"/>
                          <a:sym typeface="Calibri"/>
                        </a:rPr>
                        <a:t>¥1.31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a:solidFill>
                            <a:srgbClr val="0F1115"/>
                          </a:solidFill>
                          <a:latin typeface="Calibri"/>
                          <a:ea typeface="Calibri"/>
                          <a:cs typeface="Calibri"/>
                          <a:sym typeface="Calibri"/>
                        </a:rPr>
                        <a:t>↓ 13.2%</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rgbClr val="000000"/>
                        </a:buClr>
                        <a:buSzPts val="900"/>
                        <a:buFont typeface="Arial"/>
                        <a:buNone/>
                      </a:pPr>
                      <a:r>
                        <a:rPr lang="zh-HK" sz="800">
                          <a:latin typeface="Calibri"/>
                          <a:ea typeface="Calibri"/>
                          <a:cs typeface="Calibri"/>
                          <a:sym typeface="Calibri"/>
                        </a:rPr>
                        <a:t>¥2.13</a:t>
                      </a:r>
                      <a:br>
                        <a:rPr lang="zh-HK" sz="800">
                          <a:latin typeface="Calibri"/>
                          <a:ea typeface="Calibri"/>
                          <a:cs typeface="Calibri"/>
                          <a:sym typeface="Calibri"/>
                        </a:rPr>
                      </a:br>
                      <a:r>
                        <a:rPr lang="zh-HK" sz="800">
                          <a:solidFill>
                            <a:srgbClr val="0F1115"/>
                          </a:solidFill>
                          <a:latin typeface="Calibri"/>
                          <a:ea typeface="Calibri"/>
                          <a:cs typeface="Calibri"/>
                          <a:sym typeface="Calibri"/>
                        </a:rPr>
                        <a:t>(↓ 38.5%)</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¥2.67</a:t>
                      </a:r>
                      <a:br>
                        <a:rPr lang="zh-HK" sz="800" u="none" cap="none" strike="noStrike">
                          <a:latin typeface="Calibri"/>
                          <a:ea typeface="Calibri"/>
                          <a:cs typeface="Calibri"/>
                          <a:sym typeface="Calibri"/>
                        </a:rPr>
                      </a:br>
                      <a:r>
                        <a:rPr lang="zh-HK" sz="800">
                          <a:solidFill>
                            <a:srgbClr val="0F1115"/>
                          </a:solidFill>
                          <a:latin typeface="Calibri"/>
                          <a:ea typeface="Calibri"/>
                          <a:cs typeface="Calibri"/>
                          <a:sym typeface="Calibri"/>
                        </a:rPr>
                        <a:t>(↓ 50.9%)</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96150">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CPM ¥</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¥37.8</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¥86.5</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¥74.9</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¥67.7</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¥56.8</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¥79</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¥87.5</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Clr>
                          <a:srgbClr val="000000"/>
                        </a:buClr>
                        <a:buSzPts val="700"/>
                        <a:buFont typeface="Arial"/>
                        <a:buNone/>
                      </a:pPr>
                      <a:r>
                        <a:rPr lang="zh-HK" sz="800">
                          <a:latin typeface="Calibri"/>
                          <a:ea typeface="Calibri"/>
                          <a:cs typeface="Calibri"/>
                          <a:sym typeface="Calibri"/>
                        </a:rPr>
                        <a:t>¥72</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 </a:t>
                      </a:r>
                      <a:r>
                        <a:rPr lang="zh-HK" sz="800">
                          <a:solidFill>
                            <a:srgbClr val="0F1115"/>
                          </a:solidFill>
                          <a:latin typeface="Calibri"/>
                          <a:ea typeface="Calibri"/>
                          <a:cs typeface="Calibri"/>
                          <a:sym typeface="Calibri"/>
                        </a:rPr>
                        <a:t>↓ 17.7%</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Clr>
                          <a:srgbClr val="000000"/>
                        </a:buClr>
                        <a:buSzPts val="700"/>
                        <a:buFont typeface="Arial"/>
                        <a:buNone/>
                      </a:pPr>
                      <a:r>
                        <a:rPr lang="zh-HK" sz="800">
                          <a:latin typeface="Calibri"/>
                          <a:ea typeface="Calibri"/>
                          <a:cs typeface="Calibri"/>
                          <a:sym typeface="Calibri"/>
                        </a:rPr>
                        <a:t>¥82.75</a:t>
                      </a:r>
                      <a:br>
                        <a:rPr lang="zh-HK" sz="800">
                          <a:latin typeface="Calibri"/>
                          <a:ea typeface="Calibri"/>
                          <a:cs typeface="Calibri"/>
                          <a:sym typeface="Calibri"/>
                        </a:rPr>
                      </a:br>
                      <a:r>
                        <a:rPr lang="zh-HK" sz="800">
                          <a:solidFill>
                            <a:srgbClr val="0F1115"/>
                          </a:solidFill>
                          <a:latin typeface="Calibri"/>
                          <a:ea typeface="Calibri"/>
                          <a:cs typeface="Calibri"/>
                          <a:sym typeface="Calibri"/>
                        </a:rPr>
                        <a:t>(↓ 13.0%)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¥62.3</a:t>
                      </a:r>
                      <a:br>
                        <a:rPr lang="zh-HK" sz="800" u="none" cap="none" strike="noStrike">
                          <a:latin typeface="Calibri"/>
                          <a:ea typeface="Calibri"/>
                          <a:cs typeface="Calibri"/>
                          <a:sym typeface="Calibri"/>
                        </a:rPr>
                      </a:br>
                      <a:r>
                        <a:rPr lang="zh-HK" sz="800">
                          <a:solidFill>
                            <a:srgbClr val="0F1115"/>
                          </a:solidFill>
                          <a:latin typeface="Calibri"/>
                          <a:ea typeface="Calibri"/>
                          <a:cs typeface="Calibri"/>
                          <a:sym typeface="Calibri"/>
                        </a:rPr>
                        <a:t>(↑ 15.6%)</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r>
              <a:tr h="396150">
                <a:tc>
                  <a:txBody>
                    <a:bodyPr/>
                    <a:lstStyle/>
                    <a:p>
                      <a:pPr indent="0" lvl="0" marL="0" marR="0" rtl="0" algn="ctr">
                        <a:lnSpc>
                          <a:spcPct val="115000"/>
                        </a:lnSpc>
                        <a:spcBef>
                          <a:spcPts val="0"/>
                        </a:spcBef>
                        <a:spcAft>
                          <a:spcPts val="0"/>
                        </a:spcAft>
                        <a:buClr>
                          <a:srgbClr val="000000"/>
                        </a:buClr>
                        <a:buSzPts val="700"/>
                        <a:buFont typeface="Arial"/>
                        <a:buNone/>
                      </a:pPr>
                      <a:r>
                        <a:rPr b="1" lang="zh-HK" sz="800" u="none" cap="none" strike="noStrike">
                          <a:latin typeface="Calibri"/>
                          <a:ea typeface="Calibri"/>
                          <a:cs typeface="Calibri"/>
                          <a:sym typeface="Calibri"/>
                        </a:rPr>
                        <a:t>CTR</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13.4%</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8.43%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11.2%</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10.8%</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10.1%</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0"/>
                        </a:buClr>
                        <a:buSzPts val="700"/>
                        <a:buFont typeface="Arial"/>
                        <a:buNone/>
                      </a:pPr>
                      <a:r>
                        <a:rPr lang="zh-HK" sz="800" u="none" cap="none" strike="noStrike">
                          <a:latin typeface="Calibri"/>
                          <a:ea typeface="Calibri"/>
                          <a:cs typeface="Calibri"/>
                          <a:sym typeface="Calibri"/>
                        </a:rPr>
                        <a:t>10%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None/>
                      </a:pPr>
                      <a:r>
                        <a:rPr lang="zh-HK" sz="800">
                          <a:latin typeface="Calibri"/>
                          <a:ea typeface="Calibri"/>
                          <a:cs typeface="Calibri"/>
                          <a:sym typeface="Calibri"/>
                        </a:rPr>
                        <a:t>8.53%</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 </a:t>
                      </a:r>
                      <a:r>
                        <a:rPr lang="zh-HK" sz="800">
                          <a:solidFill>
                            <a:srgbClr val="0F1115"/>
                          </a:solidFill>
                          <a:latin typeface="Calibri"/>
                          <a:ea typeface="Calibri"/>
                          <a:cs typeface="Calibri"/>
                          <a:sym typeface="Calibri"/>
                        </a:rPr>
                        <a:t>↓14.8%</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800">
                          <a:latin typeface="Calibri"/>
                          <a:ea typeface="Calibri"/>
                          <a:cs typeface="Calibri"/>
                          <a:sym typeface="Calibri"/>
                        </a:rPr>
                        <a:t>9.43%</a:t>
                      </a:r>
                      <a:br>
                        <a:rPr lang="zh-HK" sz="800">
                          <a:latin typeface="Calibri"/>
                          <a:ea typeface="Calibri"/>
                          <a:cs typeface="Calibri"/>
                          <a:sym typeface="Calibri"/>
                        </a:rPr>
                      </a:br>
                      <a:r>
                        <a:rPr lang="zh-HK" sz="800">
                          <a:solidFill>
                            <a:srgbClr val="0F1115"/>
                          </a:solidFill>
                          <a:latin typeface="Calibri"/>
                          <a:ea typeface="Calibri"/>
                          <a:cs typeface="Calibri"/>
                          <a:sym typeface="Calibri"/>
                        </a:rPr>
                        <a:t>(↓ 9.5%)</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800" u="none" cap="none" strike="noStrike">
                          <a:latin typeface="Calibri"/>
                          <a:ea typeface="Calibri"/>
                          <a:cs typeface="Calibri"/>
                          <a:sym typeface="Calibri"/>
                        </a:rPr>
                        <a:t>8.62%</a:t>
                      </a:r>
                      <a:br>
                        <a:rPr lang="zh-HK" sz="800" u="none" cap="none" strike="noStrike">
                          <a:latin typeface="Calibri"/>
                          <a:ea typeface="Calibri"/>
                          <a:cs typeface="Calibri"/>
                          <a:sym typeface="Calibri"/>
                        </a:rPr>
                      </a:br>
                      <a:r>
                        <a:rPr lang="zh-HK" sz="800">
                          <a:solidFill>
                            <a:srgbClr val="0F1115"/>
                          </a:solidFill>
                          <a:latin typeface="Calibri"/>
                          <a:ea typeface="Calibri"/>
                          <a:cs typeface="Calibri"/>
                          <a:sym typeface="Calibri"/>
                        </a:rPr>
                        <a:t>(↓ 1.0%)</a:t>
                      </a:r>
                      <a:endParaRPr sz="8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241" name="Google Shape;241;p6"/>
          <p:cNvSpPr txBox="1"/>
          <p:nvPr/>
        </p:nvSpPr>
        <p:spPr>
          <a:xfrm>
            <a:off x="54760" y="4913051"/>
            <a:ext cx="36336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zh-HK" sz="800" u="none" cap="none" strike="noStrike">
                <a:solidFill>
                  <a:schemeClr val="dk2"/>
                </a:solidFill>
                <a:latin typeface="Times New Roman"/>
                <a:ea typeface="Times New Roman"/>
                <a:cs typeface="Times New Roman"/>
                <a:sym typeface="Times New Roman"/>
              </a:rPr>
              <a:t>Exchange rate: 1HKD = 0.87RMB</a:t>
            </a:r>
            <a:endParaRPr b="1" i="0" sz="800" u="none" cap="none" strike="noStrike">
              <a:solidFill>
                <a:schemeClr val="dk2"/>
              </a:solidFill>
              <a:latin typeface="Times New Roman"/>
              <a:ea typeface="Times New Roman"/>
              <a:cs typeface="Times New Roman"/>
              <a:sym typeface="Times New Roman"/>
            </a:endParaRPr>
          </a:p>
        </p:txBody>
      </p:sp>
      <p:pic>
        <p:nvPicPr>
          <p:cNvPr id="242" name="Google Shape;242;p6"/>
          <p:cNvPicPr preferRelativeResize="0"/>
          <p:nvPr/>
        </p:nvPicPr>
        <p:blipFill>
          <a:blip r:embed="rId5">
            <a:alphaModFix/>
          </a:blip>
          <a:stretch>
            <a:fillRect/>
          </a:stretch>
        </p:blipFill>
        <p:spPr>
          <a:xfrm>
            <a:off x="6434684" y="2675082"/>
            <a:ext cx="1298150" cy="2168041"/>
          </a:xfrm>
          <a:prstGeom prst="rect">
            <a:avLst/>
          </a:prstGeom>
          <a:noFill/>
          <a:ln>
            <a:noFill/>
          </a:ln>
        </p:spPr>
      </p:pic>
      <p:pic>
        <p:nvPicPr>
          <p:cNvPr id="243" name="Google Shape;243;p6"/>
          <p:cNvPicPr preferRelativeResize="0"/>
          <p:nvPr/>
        </p:nvPicPr>
        <p:blipFill>
          <a:blip r:embed="rId6">
            <a:alphaModFix/>
          </a:blip>
          <a:stretch>
            <a:fillRect/>
          </a:stretch>
        </p:blipFill>
        <p:spPr>
          <a:xfrm>
            <a:off x="7761919" y="2658175"/>
            <a:ext cx="1298150" cy="2201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7"/>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Fans Group Recap</a:t>
            </a:r>
            <a:endParaRPr b="1" i="0" sz="2000" u="none" cap="none" strike="noStrike">
              <a:solidFill>
                <a:srgbClr val="000000"/>
              </a:solidFill>
              <a:latin typeface="Arial"/>
              <a:ea typeface="Arial"/>
              <a:cs typeface="Arial"/>
              <a:sym typeface="Arial"/>
            </a:endParaRPr>
          </a:p>
        </p:txBody>
      </p:sp>
      <p:pic>
        <p:nvPicPr>
          <p:cNvPr id="249" name="Google Shape;249;p7"/>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250" name="Google Shape;250;p7"/>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251" name="Google Shape;251;p7"/>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52" name="Google Shape;252;p7"/>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253" name="Google Shape;253;p7"/>
          <p:cNvSpPr/>
          <p:nvPr/>
        </p:nvSpPr>
        <p:spPr>
          <a:xfrm>
            <a:off x="498050" y="850600"/>
            <a:ext cx="3144900" cy="1472100"/>
          </a:xfrm>
          <a:prstGeom prst="roundRect">
            <a:avLst>
              <a:gd fmla="val 6667" name="adj"/>
            </a:avLst>
          </a:prstGeom>
          <a:solidFill>
            <a:srgbClr val="D9E97A"/>
          </a:solidFill>
          <a:ln cap="flat" cmpd="sng" w="12075">
            <a:solidFill>
              <a:srgbClr val="C6D55E"/>
            </a:solidFill>
            <a:prstDash val="solid"/>
            <a:round/>
            <a:headEnd len="sm" w="sm" type="none"/>
            <a:tailEnd len="sm" w="sm" type="none"/>
          </a:ln>
          <a:effectLst>
            <a:outerShdw blurRad="18199" rotWithShape="0" algn="bl" dir="2700000" dist="12133">
              <a:srgbClr val="000000">
                <a:alpha val="12157"/>
              </a:srgbClr>
            </a:outerShdw>
          </a:effectLst>
        </p:spPr>
        <p:txBody>
          <a:bodyPr anchorCtr="0" anchor="ctr" bIns="87300" lIns="87300" spcFirstLastPara="1" rIns="87300" wrap="square" tIns="87300">
            <a:noAutofit/>
          </a:bodyPr>
          <a:lstStyle/>
          <a:p>
            <a:pPr indent="0" lvl="0" marL="0" marR="0" rtl="0" algn="l">
              <a:lnSpc>
                <a:spcPct val="100000"/>
              </a:lnSpc>
              <a:spcBef>
                <a:spcPts val="0"/>
              </a:spcBef>
              <a:spcAft>
                <a:spcPts val="0"/>
              </a:spcAft>
              <a:buClr>
                <a:srgbClr val="000000"/>
              </a:buClr>
              <a:buSzPts val="1937"/>
              <a:buFont typeface="Arial"/>
              <a:buNone/>
            </a:pPr>
            <a:r>
              <a:t/>
            </a:r>
            <a:endParaRPr b="0" i="0" sz="1937" u="none" cap="none" strike="noStrike">
              <a:solidFill>
                <a:srgbClr val="000000"/>
              </a:solidFill>
              <a:latin typeface="Times New Roman"/>
              <a:ea typeface="Times New Roman"/>
              <a:cs typeface="Times New Roman"/>
              <a:sym typeface="Times New Roman"/>
            </a:endParaRPr>
          </a:p>
        </p:txBody>
      </p:sp>
      <p:sp>
        <p:nvSpPr>
          <p:cNvPr id="254" name="Google Shape;254;p7"/>
          <p:cNvSpPr/>
          <p:nvPr/>
        </p:nvSpPr>
        <p:spPr>
          <a:xfrm>
            <a:off x="727054" y="860488"/>
            <a:ext cx="1965000" cy="19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1146"/>
              <a:buFont typeface="Arial"/>
              <a:buNone/>
            </a:pPr>
            <a:r>
              <a:rPr b="1" i="0" lang="zh-HK" sz="1276" u="none" cap="none" strike="noStrike">
                <a:solidFill>
                  <a:srgbClr val="222222"/>
                </a:solidFill>
                <a:latin typeface="Times New Roman"/>
                <a:ea typeface="Times New Roman"/>
                <a:cs typeface="Times New Roman"/>
                <a:sym typeface="Times New Roman"/>
              </a:rPr>
              <a:t>Community Snapshot</a:t>
            </a:r>
            <a:endParaRPr b="0" i="0" sz="1276" u="none" cap="none" strike="noStrike">
              <a:solidFill>
                <a:srgbClr val="000000"/>
              </a:solidFill>
              <a:latin typeface="Times New Roman"/>
              <a:ea typeface="Times New Roman"/>
              <a:cs typeface="Times New Roman"/>
              <a:sym typeface="Times New Roman"/>
            </a:endParaRPr>
          </a:p>
        </p:txBody>
      </p:sp>
      <p:sp>
        <p:nvSpPr>
          <p:cNvPr id="255" name="Google Shape;255;p7"/>
          <p:cNvSpPr/>
          <p:nvPr/>
        </p:nvSpPr>
        <p:spPr>
          <a:xfrm>
            <a:off x="573375" y="901875"/>
            <a:ext cx="2979900" cy="1544700"/>
          </a:xfrm>
          <a:prstGeom prst="rect">
            <a:avLst/>
          </a:prstGeom>
          <a:noFill/>
          <a:ln>
            <a:noFill/>
          </a:ln>
        </p:spPr>
        <p:txBody>
          <a:bodyPr anchorCtr="0" anchor="ctr" bIns="0" lIns="0" spcFirstLastPara="1" rIns="0" wrap="square" tIns="0">
            <a:noAutofit/>
          </a:bodyPr>
          <a:lstStyle/>
          <a:p>
            <a:pPr indent="-149911" lvl="0" marL="145593" marR="0" rtl="0" algn="l">
              <a:lnSpc>
                <a:spcPct val="100000"/>
              </a:lnSpc>
              <a:spcBef>
                <a:spcPts val="0"/>
              </a:spcBef>
              <a:spcAft>
                <a:spcPts val="0"/>
              </a:spcAft>
              <a:buClr>
                <a:srgbClr val="222222"/>
              </a:buClr>
              <a:buSzPts val="1200"/>
              <a:buFont typeface="Times New Roman"/>
              <a:buChar char="•"/>
            </a:pPr>
            <a:r>
              <a:rPr b="1" lang="zh-HK" sz="1200">
                <a:solidFill>
                  <a:srgbClr val="222222"/>
                </a:solidFill>
                <a:latin typeface="Times New Roman"/>
                <a:ea typeface="Times New Roman"/>
                <a:cs typeface="Times New Roman"/>
                <a:sym typeface="Times New Roman"/>
              </a:rPr>
              <a:t>Aug</a:t>
            </a:r>
            <a:r>
              <a:rPr b="1" i="0" lang="zh-HK" sz="1200" u="none" cap="none" strike="noStrike">
                <a:solidFill>
                  <a:srgbClr val="222222"/>
                </a:solidFill>
                <a:latin typeface="Times New Roman"/>
                <a:ea typeface="Times New Roman"/>
                <a:cs typeface="Times New Roman"/>
                <a:sym typeface="Times New Roman"/>
              </a:rPr>
              <a:t>: 4</a:t>
            </a:r>
            <a:r>
              <a:rPr b="1" lang="zh-HK" sz="1200">
                <a:solidFill>
                  <a:srgbClr val="222222"/>
                </a:solidFill>
                <a:latin typeface="Times New Roman"/>
                <a:ea typeface="Times New Roman"/>
                <a:cs typeface="Times New Roman"/>
                <a:sym typeface="Times New Roman"/>
              </a:rPr>
              <a:t>2</a:t>
            </a:r>
            <a:r>
              <a:rPr b="1" i="0" lang="zh-HK" sz="1200" u="none" cap="none" strike="noStrike">
                <a:solidFill>
                  <a:srgbClr val="222222"/>
                </a:solidFill>
                <a:latin typeface="Times New Roman"/>
                <a:ea typeface="Times New Roman"/>
                <a:cs typeface="Times New Roman"/>
                <a:sym typeface="Times New Roman"/>
              </a:rPr>
              <a:t>1 members </a:t>
            </a:r>
            <a:endParaRPr sz="1200">
              <a:solidFill>
                <a:srgbClr val="222222"/>
              </a:solidFill>
              <a:latin typeface="Times New Roman"/>
              <a:ea typeface="Times New Roman"/>
              <a:cs typeface="Times New Roman"/>
              <a:sym typeface="Times New Roman"/>
            </a:endParaRPr>
          </a:p>
          <a:p>
            <a:pPr indent="-149911" lvl="0" marL="145593" marR="0" rtl="0" algn="l">
              <a:lnSpc>
                <a:spcPct val="100000"/>
              </a:lnSpc>
              <a:spcBef>
                <a:spcPts val="0"/>
              </a:spcBef>
              <a:spcAft>
                <a:spcPts val="0"/>
              </a:spcAft>
              <a:buClr>
                <a:srgbClr val="222222"/>
              </a:buClr>
              <a:buSzPts val="1200"/>
              <a:buFont typeface="Times New Roman"/>
              <a:buChar char="•"/>
            </a:pPr>
            <a:r>
              <a:rPr lang="zh-HK" sz="1200">
                <a:solidFill>
                  <a:srgbClr val="0F1115"/>
                </a:solidFill>
                <a:latin typeface="Times New Roman"/>
                <a:ea typeface="Times New Roman"/>
                <a:cs typeface="Times New Roman"/>
                <a:sym typeface="Times New Roman"/>
              </a:rPr>
              <a:t>IP campaign continued to drive engagement within the group</a:t>
            </a:r>
            <a:endParaRPr sz="1200">
              <a:solidFill>
                <a:srgbClr val="0F1115"/>
              </a:solidFill>
              <a:latin typeface="Times New Roman"/>
              <a:ea typeface="Times New Roman"/>
              <a:cs typeface="Times New Roman"/>
              <a:sym typeface="Times New Roman"/>
            </a:endParaRPr>
          </a:p>
          <a:p>
            <a:pPr indent="-149911" lvl="0" marL="145593" marR="0" rtl="0" algn="l">
              <a:lnSpc>
                <a:spcPct val="100000"/>
              </a:lnSpc>
              <a:spcBef>
                <a:spcPts val="0"/>
              </a:spcBef>
              <a:spcAft>
                <a:spcPts val="0"/>
              </a:spcAft>
              <a:buClr>
                <a:srgbClr val="222222"/>
              </a:buClr>
              <a:buSzPts val="1200"/>
              <a:buFont typeface="Times New Roman"/>
              <a:buChar char="•"/>
            </a:pPr>
            <a:r>
              <a:rPr lang="zh-HK" sz="1200">
                <a:solidFill>
                  <a:srgbClr val="0F1115"/>
                </a:solidFill>
                <a:latin typeface="Times New Roman"/>
                <a:ea typeface="Times New Roman"/>
                <a:cs typeface="Times New Roman"/>
                <a:sym typeface="Times New Roman"/>
              </a:rPr>
              <a:t>Always-on updates maintained</a:t>
            </a:r>
            <a:endParaRPr sz="1200">
              <a:solidFill>
                <a:srgbClr val="0F1115"/>
              </a:solidFill>
              <a:latin typeface="Times New Roman"/>
              <a:ea typeface="Times New Roman"/>
              <a:cs typeface="Times New Roman"/>
              <a:sym typeface="Times New Roman"/>
            </a:endParaRPr>
          </a:p>
          <a:p>
            <a:pPr indent="-149911" lvl="0" marL="145593" marR="0" rtl="0" algn="l">
              <a:lnSpc>
                <a:spcPct val="100000"/>
              </a:lnSpc>
              <a:spcBef>
                <a:spcPts val="0"/>
              </a:spcBef>
              <a:spcAft>
                <a:spcPts val="0"/>
              </a:spcAft>
              <a:buClr>
                <a:srgbClr val="222222"/>
              </a:buClr>
              <a:buSzPts val="1200"/>
              <a:buFont typeface="Times New Roman"/>
              <a:buChar char="•"/>
            </a:pPr>
            <a:r>
              <a:rPr lang="zh-HK" sz="1200">
                <a:solidFill>
                  <a:srgbClr val="0F1115"/>
                </a:solidFill>
                <a:latin typeface="Times New Roman"/>
                <a:ea typeface="Times New Roman"/>
                <a:cs typeface="Times New Roman"/>
                <a:sym typeface="Times New Roman"/>
              </a:rPr>
              <a:t>Regular new product launches and tenant news shared with members</a:t>
            </a:r>
            <a:endParaRPr sz="1232">
              <a:solidFill>
                <a:srgbClr val="222222"/>
              </a:solidFill>
              <a:latin typeface="Times New Roman"/>
              <a:ea typeface="Times New Roman"/>
              <a:cs typeface="Times New Roman"/>
              <a:sym typeface="Times New Roman"/>
            </a:endParaRPr>
          </a:p>
        </p:txBody>
      </p:sp>
      <p:sp>
        <p:nvSpPr>
          <p:cNvPr id="256" name="Google Shape;256;p7"/>
          <p:cNvSpPr/>
          <p:nvPr/>
        </p:nvSpPr>
        <p:spPr>
          <a:xfrm>
            <a:off x="501362" y="2446465"/>
            <a:ext cx="2029200" cy="189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962"/>
              <a:buFont typeface="Arial"/>
              <a:buNone/>
            </a:pPr>
            <a:r>
              <a:rPr b="1" i="0" lang="zh-HK" sz="1062" u="none" cap="none" strike="noStrike">
                <a:solidFill>
                  <a:srgbClr val="222222"/>
                </a:solidFill>
                <a:latin typeface="Times New Roman"/>
                <a:ea typeface="Times New Roman"/>
                <a:cs typeface="Times New Roman"/>
                <a:sym typeface="Times New Roman"/>
              </a:rPr>
              <a:t>This Month's Key Actions</a:t>
            </a:r>
            <a:endParaRPr b="0" i="0" sz="1062" u="none" cap="none" strike="noStrike">
              <a:solidFill>
                <a:srgbClr val="000000"/>
              </a:solidFill>
              <a:latin typeface="Times New Roman"/>
              <a:ea typeface="Times New Roman"/>
              <a:cs typeface="Times New Roman"/>
              <a:sym typeface="Times New Roman"/>
            </a:endParaRPr>
          </a:p>
        </p:txBody>
      </p:sp>
      <p:sp>
        <p:nvSpPr>
          <p:cNvPr id="257" name="Google Shape;257;p7"/>
          <p:cNvSpPr/>
          <p:nvPr/>
        </p:nvSpPr>
        <p:spPr>
          <a:xfrm>
            <a:off x="501362" y="2658663"/>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58" name="Google Shape;258;p7"/>
          <p:cNvSpPr/>
          <p:nvPr/>
        </p:nvSpPr>
        <p:spPr>
          <a:xfrm>
            <a:off x="623109" y="2839943"/>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59" name="Google Shape;259;p7"/>
          <p:cNvSpPr/>
          <p:nvPr/>
        </p:nvSpPr>
        <p:spPr>
          <a:xfrm>
            <a:off x="683982" y="2955205"/>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01</a:t>
            </a:r>
            <a:endParaRPr b="0" i="0" sz="914" u="none" cap="none" strike="noStrike">
              <a:solidFill>
                <a:srgbClr val="000000"/>
              </a:solidFill>
              <a:latin typeface="Times New Roman"/>
              <a:ea typeface="Times New Roman"/>
              <a:cs typeface="Times New Roman"/>
              <a:sym typeface="Times New Roman"/>
            </a:endParaRPr>
          </a:p>
        </p:txBody>
      </p:sp>
      <p:sp>
        <p:nvSpPr>
          <p:cNvPr id="260" name="Google Shape;260;p7"/>
          <p:cNvSpPr/>
          <p:nvPr/>
        </p:nvSpPr>
        <p:spPr>
          <a:xfrm>
            <a:off x="1089805" y="2692597"/>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zh-HK" sz="950" u="none" cap="none" strike="noStrike">
                <a:solidFill>
                  <a:srgbClr val="000000"/>
                </a:solidFill>
                <a:latin typeface="Times New Roman"/>
                <a:ea typeface="Times New Roman"/>
                <a:cs typeface="Times New Roman"/>
                <a:sym typeface="Times New Roman"/>
              </a:rPr>
              <a:t>Real-time product inquiry support</a:t>
            </a:r>
            <a:endParaRPr b="1" i="0" sz="950" u="none" cap="none" strike="noStrike">
              <a:solidFill>
                <a:srgbClr val="000000"/>
              </a:solidFill>
              <a:latin typeface="Times New Roman"/>
              <a:ea typeface="Times New Roman"/>
              <a:cs typeface="Times New Roman"/>
              <a:sym typeface="Times New Roman"/>
            </a:endParaRPr>
          </a:p>
        </p:txBody>
      </p:sp>
      <p:sp>
        <p:nvSpPr>
          <p:cNvPr id="261" name="Google Shape;261;p7"/>
          <p:cNvSpPr/>
          <p:nvPr/>
        </p:nvSpPr>
        <p:spPr>
          <a:xfrm>
            <a:off x="1089805" y="3067705"/>
            <a:ext cx="23337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zh-HK" sz="800" u="none" cap="none" strike="noStrike">
                <a:solidFill>
                  <a:srgbClr val="000000"/>
                </a:solidFill>
                <a:latin typeface="Times New Roman"/>
                <a:ea typeface="Times New Roman"/>
                <a:cs typeface="Times New Roman"/>
                <a:sym typeface="Times New Roman"/>
              </a:rPr>
              <a:t>Provided real-time responses to member inquiries, including pricing, recommendations, and discounts, turning the group into a responsive customer  channel.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00"/>
              <a:buFont typeface="Arial"/>
              <a:buNone/>
            </a:pPr>
            <a:br>
              <a:rPr b="0" i="0" lang="zh-HK" sz="900" u="none" cap="none" strike="noStrike">
                <a:solidFill>
                  <a:srgbClr val="000000"/>
                </a:solidFill>
                <a:latin typeface="Arial"/>
                <a:ea typeface="Arial"/>
                <a:cs typeface="Arial"/>
                <a:sym typeface="Arial"/>
              </a:rPr>
            </a:br>
            <a:endParaRPr b="0" i="0" sz="803" u="none" cap="none" strike="noStrike">
              <a:solidFill>
                <a:schemeClr val="dk2"/>
              </a:solidFill>
              <a:latin typeface="Times New Roman"/>
              <a:ea typeface="Times New Roman"/>
              <a:cs typeface="Times New Roman"/>
              <a:sym typeface="Times New Roman"/>
            </a:endParaRPr>
          </a:p>
        </p:txBody>
      </p:sp>
      <p:sp>
        <p:nvSpPr>
          <p:cNvPr id="262" name="Google Shape;262;p7"/>
          <p:cNvSpPr/>
          <p:nvPr/>
        </p:nvSpPr>
        <p:spPr>
          <a:xfrm>
            <a:off x="501362" y="3401054"/>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63" name="Google Shape;263;p7"/>
          <p:cNvSpPr/>
          <p:nvPr/>
        </p:nvSpPr>
        <p:spPr>
          <a:xfrm>
            <a:off x="623109" y="3558519"/>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64" name="Google Shape;264;p7"/>
          <p:cNvSpPr/>
          <p:nvPr/>
        </p:nvSpPr>
        <p:spPr>
          <a:xfrm>
            <a:off x="683982" y="3673781"/>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02</a:t>
            </a:r>
            <a:endParaRPr b="0" i="0" sz="914" u="none" cap="none" strike="noStrike">
              <a:solidFill>
                <a:srgbClr val="000000"/>
              </a:solidFill>
              <a:latin typeface="Times New Roman"/>
              <a:ea typeface="Times New Roman"/>
              <a:cs typeface="Times New Roman"/>
              <a:sym typeface="Times New Roman"/>
            </a:endParaRPr>
          </a:p>
        </p:txBody>
      </p:sp>
      <p:sp>
        <p:nvSpPr>
          <p:cNvPr id="265" name="Google Shape;265;p7"/>
          <p:cNvSpPr/>
          <p:nvPr/>
        </p:nvSpPr>
        <p:spPr>
          <a:xfrm>
            <a:off x="1089532" y="3471420"/>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851"/>
              <a:buFont typeface="Arial"/>
              <a:buNone/>
            </a:pPr>
            <a:r>
              <a:rPr b="1" i="0" lang="zh-HK" sz="951" u="none" cap="none" strike="noStrike">
                <a:solidFill>
                  <a:srgbClr val="222222"/>
                </a:solidFill>
                <a:latin typeface="Times New Roman"/>
                <a:ea typeface="Times New Roman"/>
                <a:cs typeface="Times New Roman"/>
                <a:sym typeface="Times New Roman"/>
              </a:rPr>
              <a:t>Note-to-group conversion</a:t>
            </a:r>
            <a:endParaRPr b="0" i="0" sz="951" u="none" cap="none" strike="noStrike">
              <a:solidFill>
                <a:srgbClr val="000000"/>
              </a:solidFill>
              <a:latin typeface="Times New Roman"/>
              <a:ea typeface="Times New Roman"/>
              <a:cs typeface="Times New Roman"/>
              <a:sym typeface="Times New Roman"/>
            </a:endParaRPr>
          </a:p>
        </p:txBody>
      </p:sp>
      <p:sp>
        <p:nvSpPr>
          <p:cNvPr id="266" name="Google Shape;266;p7"/>
          <p:cNvSpPr/>
          <p:nvPr/>
        </p:nvSpPr>
        <p:spPr>
          <a:xfrm>
            <a:off x="1089800" y="3692644"/>
            <a:ext cx="24294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66666"/>
              </a:buClr>
              <a:buSzPts val="703"/>
              <a:buFont typeface="Arial"/>
              <a:buNone/>
            </a:pPr>
            <a:r>
              <a:rPr b="0" i="0" lang="zh-HK" sz="800" u="none" cap="none" strike="noStrike">
                <a:solidFill>
                  <a:srgbClr val="0F1115"/>
                </a:solidFill>
                <a:highlight>
                  <a:srgbClr val="FFFFFF"/>
                </a:highlight>
                <a:latin typeface="Times New Roman"/>
                <a:ea typeface="Times New Roman"/>
                <a:cs typeface="Times New Roman"/>
                <a:sym typeface="Times New Roman"/>
              </a:rPr>
              <a:t>Maintained ongoing engagement with fans via the group, sharing campaign updates and exclusive news to sustain event buzz and keep the community actively connected.</a:t>
            </a:r>
            <a:r>
              <a:rPr b="0" i="0" lang="zh-HK" sz="800" u="none" cap="none" strike="noStrike">
                <a:solidFill>
                  <a:srgbClr val="000000"/>
                </a:solidFill>
                <a:latin typeface="Times New Roman"/>
                <a:ea typeface="Times New Roman"/>
                <a:cs typeface="Times New Roman"/>
                <a:sym typeface="Times New Roman"/>
              </a:rPr>
              <a:t> </a:t>
            </a:r>
            <a:endParaRPr b="0" i="0" sz="800" u="none" cap="none" strike="noStrike">
              <a:solidFill>
                <a:srgbClr val="1C1C1C"/>
              </a:solidFill>
              <a:latin typeface="Times New Roman"/>
              <a:ea typeface="Times New Roman"/>
              <a:cs typeface="Times New Roman"/>
              <a:sym typeface="Times New Roman"/>
            </a:endParaRPr>
          </a:p>
        </p:txBody>
      </p:sp>
      <p:sp>
        <p:nvSpPr>
          <p:cNvPr id="267" name="Google Shape;267;p7"/>
          <p:cNvSpPr/>
          <p:nvPr/>
        </p:nvSpPr>
        <p:spPr>
          <a:xfrm>
            <a:off x="501362" y="4143443"/>
            <a:ext cx="3144900" cy="649500"/>
          </a:xfrm>
          <a:prstGeom prst="roundRect">
            <a:avLst>
              <a:gd fmla="val 4167" name="adj"/>
            </a:avLst>
          </a:prstGeom>
          <a:solidFill>
            <a:srgbClr val="FFFFFF"/>
          </a:solidFill>
          <a:ln cap="flat" cmpd="sng" w="9525">
            <a:solidFill>
              <a:srgbClr val="E4E4E4"/>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68" name="Google Shape;268;p7"/>
          <p:cNvSpPr/>
          <p:nvPr/>
        </p:nvSpPr>
        <p:spPr>
          <a:xfrm>
            <a:off x="623109" y="4289003"/>
            <a:ext cx="351600" cy="351600"/>
          </a:xfrm>
          <a:prstGeom prst="roundRect">
            <a:avLst>
              <a:gd fmla="val 11538" name="adj"/>
            </a:avLst>
          </a:prstGeom>
          <a:solidFill>
            <a:srgbClr val="FDE8F0"/>
          </a:solidFill>
          <a:ln cap="flat" cmpd="sng" w="9525">
            <a:solidFill>
              <a:srgbClr val="EC1C6B"/>
            </a:solidFill>
            <a:prstDash val="solid"/>
            <a:round/>
            <a:headEnd len="sm" w="sm" type="none"/>
            <a:tailEnd len="sm" w="sm" type="none"/>
          </a:ln>
        </p:spPr>
        <p:txBody>
          <a:bodyPr anchorCtr="0" anchor="ctr" bIns="67600" lIns="67600" spcFirstLastPara="1" rIns="67600" wrap="square" tIns="67600">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Times New Roman"/>
              <a:ea typeface="Times New Roman"/>
              <a:cs typeface="Times New Roman"/>
              <a:sym typeface="Times New Roman"/>
            </a:endParaRPr>
          </a:p>
        </p:txBody>
      </p:sp>
      <p:sp>
        <p:nvSpPr>
          <p:cNvPr id="269" name="Google Shape;269;p7"/>
          <p:cNvSpPr/>
          <p:nvPr/>
        </p:nvSpPr>
        <p:spPr>
          <a:xfrm>
            <a:off x="683982" y="4404265"/>
            <a:ext cx="236700" cy="101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EC1C6B"/>
              </a:buClr>
              <a:buSzPts val="814"/>
              <a:buFont typeface="Arial"/>
              <a:buNone/>
            </a:pPr>
            <a:r>
              <a:rPr b="1" i="0" lang="zh-HK" sz="914" u="none" cap="none" strike="noStrike">
                <a:solidFill>
                  <a:srgbClr val="EC1C6B"/>
                </a:solidFill>
                <a:latin typeface="Times New Roman"/>
                <a:ea typeface="Times New Roman"/>
                <a:cs typeface="Times New Roman"/>
                <a:sym typeface="Times New Roman"/>
              </a:rPr>
              <a:t>03</a:t>
            </a:r>
            <a:endParaRPr b="0" i="0" sz="914" u="none" cap="none" strike="noStrike">
              <a:solidFill>
                <a:srgbClr val="000000"/>
              </a:solidFill>
              <a:latin typeface="Times New Roman"/>
              <a:ea typeface="Times New Roman"/>
              <a:cs typeface="Times New Roman"/>
              <a:sym typeface="Times New Roman"/>
            </a:endParaRPr>
          </a:p>
        </p:txBody>
      </p:sp>
      <p:sp>
        <p:nvSpPr>
          <p:cNvPr id="270" name="Google Shape;270;p7"/>
          <p:cNvSpPr/>
          <p:nvPr/>
        </p:nvSpPr>
        <p:spPr>
          <a:xfrm>
            <a:off x="1096456" y="4229988"/>
            <a:ext cx="1961400" cy="121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22222"/>
              </a:buClr>
              <a:buSzPts val="851"/>
              <a:buFont typeface="Arial"/>
              <a:buNone/>
            </a:pPr>
            <a:r>
              <a:rPr b="1" i="0" lang="zh-HK" sz="951" u="none" cap="none" strike="noStrike">
                <a:solidFill>
                  <a:srgbClr val="222222"/>
                </a:solidFill>
                <a:latin typeface="Times New Roman"/>
                <a:ea typeface="Times New Roman"/>
                <a:cs typeface="Times New Roman"/>
                <a:sym typeface="Times New Roman"/>
              </a:rPr>
              <a:t>Always-on content update</a:t>
            </a:r>
            <a:endParaRPr b="0" i="0" sz="951" u="none" cap="none" strike="noStrike">
              <a:solidFill>
                <a:srgbClr val="000000"/>
              </a:solidFill>
              <a:latin typeface="Times New Roman"/>
              <a:ea typeface="Times New Roman"/>
              <a:cs typeface="Times New Roman"/>
              <a:sym typeface="Times New Roman"/>
            </a:endParaRPr>
          </a:p>
        </p:txBody>
      </p:sp>
      <p:sp>
        <p:nvSpPr>
          <p:cNvPr id="271" name="Google Shape;271;p7"/>
          <p:cNvSpPr/>
          <p:nvPr/>
        </p:nvSpPr>
        <p:spPr>
          <a:xfrm>
            <a:off x="1089800" y="4415169"/>
            <a:ext cx="24852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zh-HK" sz="800" u="none" cap="none" strike="noStrike">
                <a:solidFill>
                  <a:srgbClr val="000000"/>
                </a:solidFill>
                <a:latin typeface="Times New Roman"/>
                <a:ea typeface="Times New Roman"/>
                <a:cs typeface="Times New Roman"/>
                <a:sym typeface="Times New Roman"/>
              </a:rPr>
              <a:t>Continued sharing regular Langham Place updates, including new store launches, fashion, and campaign newss.</a:t>
            </a:r>
            <a:endParaRPr b="0" i="0" sz="800" u="none" cap="none" strike="noStrike">
              <a:solidFill>
                <a:srgbClr val="000000"/>
              </a:solidFill>
              <a:latin typeface="Times New Roman"/>
              <a:ea typeface="Times New Roman"/>
              <a:cs typeface="Times New Roman"/>
              <a:sym typeface="Times New Roman"/>
            </a:endParaRPr>
          </a:p>
        </p:txBody>
      </p:sp>
      <p:sp>
        <p:nvSpPr>
          <p:cNvPr id="272" name="Google Shape;272;p7"/>
          <p:cNvSpPr/>
          <p:nvPr/>
        </p:nvSpPr>
        <p:spPr>
          <a:xfrm>
            <a:off x="3887782" y="1508268"/>
            <a:ext cx="1488000" cy="168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222222"/>
              </a:buClr>
              <a:buSzPts val="962"/>
              <a:buFont typeface="Arial"/>
              <a:buNone/>
            </a:pPr>
            <a:r>
              <a:rPr b="1" i="0" lang="zh-HK" sz="962" u="none" cap="none" strike="noStrike">
                <a:solidFill>
                  <a:srgbClr val="222222"/>
                </a:solidFill>
                <a:latin typeface="Times New Roman"/>
                <a:ea typeface="Times New Roman"/>
                <a:cs typeface="Times New Roman"/>
                <a:sym typeface="Times New Roman"/>
              </a:rPr>
              <a:t>Screenshot Highlights</a:t>
            </a:r>
            <a:endParaRPr b="0" i="0" sz="962" u="none" cap="none" strike="noStrike">
              <a:solidFill>
                <a:srgbClr val="000000"/>
              </a:solidFill>
              <a:latin typeface="Times New Roman"/>
              <a:ea typeface="Times New Roman"/>
              <a:cs typeface="Times New Roman"/>
              <a:sym typeface="Times New Roman"/>
            </a:endParaRPr>
          </a:p>
        </p:txBody>
      </p:sp>
      <p:pic>
        <p:nvPicPr>
          <p:cNvPr id="273" name="Google Shape;273;p7"/>
          <p:cNvPicPr preferRelativeResize="0"/>
          <p:nvPr/>
        </p:nvPicPr>
        <p:blipFill>
          <a:blip r:embed="rId5">
            <a:alphaModFix/>
          </a:blip>
          <a:stretch>
            <a:fillRect/>
          </a:stretch>
        </p:blipFill>
        <p:spPr>
          <a:xfrm>
            <a:off x="3791175" y="1909200"/>
            <a:ext cx="1620324" cy="2807450"/>
          </a:xfrm>
          <a:prstGeom prst="rect">
            <a:avLst/>
          </a:prstGeom>
          <a:noFill/>
          <a:ln>
            <a:noFill/>
          </a:ln>
        </p:spPr>
      </p:pic>
      <p:pic>
        <p:nvPicPr>
          <p:cNvPr id="274" name="Google Shape;274;p7"/>
          <p:cNvPicPr preferRelativeResize="0"/>
          <p:nvPr/>
        </p:nvPicPr>
        <p:blipFill rotWithShape="1">
          <a:blip r:embed="rId6">
            <a:alphaModFix/>
          </a:blip>
          <a:srcRect b="0" l="0" r="15002" t="0"/>
          <a:stretch/>
        </p:blipFill>
        <p:spPr>
          <a:xfrm>
            <a:off x="5490476" y="1913018"/>
            <a:ext cx="1695558" cy="2807451"/>
          </a:xfrm>
          <a:prstGeom prst="rect">
            <a:avLst/>
          </a:prstGeom>
          <a:noFill/>
          <a:ln>
            <a:noFill/>
          </a:ln>
        </p:spPr>
      </p:pic>
      <p:pic>
        <p:nvPicPr>
          <p:cNvPr id="275" name="Google Shape;275;p7"/>
          <p:cNvPicPr preferRelativeResize="0"/>
          <p:nvPr/>
        </p:nvPicPr>
        <p:blipFill rotWithShape="1">
          <a:blip r:embed="rId7">
            <a:alphaModFix/>
          </a:blip>
          <a:srcRect b="0" l="0" r="14045" t="0"/>
          <a:stretch/>
        </p:blipFill>
        <p:spPr>
          <a:xfrm>
            <a:off x="7260175" y="1906150"/>
            <a:ext cx="1444596" cy="2807450"/>
          </a:xfrm>
          <a:prstGeom prst="rect">
            <a:avLst/>
          </a:prstGeom>
          <a:noFill/>
          <a:ln>
            <a:noFill/>
          </a:ln>
        </p:spPr>
      </p:pic>
      <p:sp>
        <p:nvSpPr>
          <p:cNvPr id="276" name="Google Shape;276;p7"/>
          <p:cNvSpPr txBox="1"/>
          <p:nvPr/>
        </p:nvSpPr>
        <p:spPr>
          <a:xfrm>
            <a:off x="5488816" y="1420269"/>
            <a:ext cx="17418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SzPts val="950"/>
              <a:buFont typeface="Arial"/>
              <a:buNone/>
            </a:pPr>
            <a:r>
              <a:rPr b="1" lang="zh-HK" sz="950">
                <a:solidFill>
                  <a:schemeClr val="dk2"/>
                </a:solidFill>
                <a:latin typeface="Times New Roman"/>
                <a:ea typeface="Times New Roman"/>
                <a:cs typeface="Times New Roman"/>
                <a:sym typeface="Times New Roman"/>
              </a:rPr>
              <a:t>Strengthen group-to-UGC conversion</a:t>
            </a:r>
            <a:endParaRPr sz="950"/>
          </a:p>
        </p:txBody>
      </p:sp>
      <p:sp>
        <p:nvSpPr>
          <p:cNvPr id="277" name="Google Shape;277;p7"/>
          <p:cNvSpPr txBox="1"/>
          <p:nvPr/>
        </p:nvSpPr>
        <p:spPr>
          <a:xfrm>
            <a:off x="7117461" y="1434055"/>
            <a:ext cx="1741800" cy="477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zh-HK" sz="950">
                <a:solidFill>
                  <a:schemeClr val="dk2"/>
                </a:solidFill>
                <a:latin typeface="Times New Roman"/>
                <a:ea typeface="Times New Roman"/>
                <a:cs typeface="Times New Roman"/>
                <a:sym typeface="Times New Roman"/>
              </a:rPr>
              <a:t>Expand always-on </a:t>
            </a:r>
            <a:br>
              <a:rPr b="1" lang="zh-HK" sz="950">
                <a:solidFill>
                  <a:schemeClr val="dk2"/>
                </a:solidFill>
                <a:latin typeface="Times New Roman"/>
                <a:ea typeface="Times New Roman"/>
                <a:cs typeface="Times New Roman"/>
                <a:sym typeface="Times New Roman"/>
              </a:rPr>
            </a:br>
            <a:r>
              <a:rPr b="1" lang="zh-HK" sz="950">
                <a:solidFill>
                  <a:schemeClr val="dk2"/>
                </a:solidFill>
                <a:latin typeface="Times New Roman"/>
                <a:ea typeface="Times New Roman"/>
                <a:cs typeface="Times New Roman"/>
                <a:sym typeface="Times New Roman"/>
              </a:rPr>
              <a:t>content variety</a:t>
            </a:r>
            <a:endParaRPr sz="950">
              <a:solidFill>
                <a:schemeClr val="dk2"/>
              </a:solidFill>
              <a:latin typeface="Times New Roman"/>
              <a:ea typeface="Times New Roman"/>
              <a:cs typeface="Times New Roman"/>
              <a:sym typeface="Times New Roman"/>
            </a:endParaRPr>
          </a:p>
        </p:txBody>
      </p:sp>
      <p:sp>
        <p:nvSpPr>
          <p:cNvPr id="278" name="Google Shape;278;p7"/>
          <p:cNvSpPr txBox="1"/>
          <p:nvPr/>
        </p:nvSpPr>
        <p:spPr>
          <a:xfrm>
            <a:off x="3626356" y="524594"/>
            <a:ext cx="5055000" cy="8619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Membership slightly declined in Aug (431→421), mainly due to no fan group activities in the past two months, resulting in natural member churn.</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With the new semester starting in Sep and many mainland students arriving, we suggest running a giveaway or offline event to attract new members.</a:t>
            </a:r>
            <a:endParaRPr sz="1100">
              <a:solidFill>
                <a:srgbClr val="0F1115"/>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8"/>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WeChat Performance Summary</a:t>
            </a:r>
            <a:endParaRPr b="1" i="0" sz="2000" u="none" cap="none" strike="noStrike">
              <a:solidFill>
                <a:srgbClr val="000000"/>
              </a:solidFill>
              <a:latin typeface="Times New Roman"/>
              <a:ea typeface="Times New Roman"/>
              <a:cs typeface="Times New Roman"/>
              <a:sym typeface="Times New Roman"/>
            </a:endParaRPr>
          </a:p>
        </p:txBody>
      </p:sp>
      <p:sp>
        <p:nvSpPr>
          <p:cNvPr id="284" name="Google Shape;284;p8"/>
          <p:cNvSpPr txBox="1"/>
          <p:nvPr/>
        </p:nvSpPr>
        <p:spPr>
          <a:xfrm>
            <a:off x="4395788" y="4811868"/>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285" name="Google Shape;285;p8"/>
          <p:cNvSpPr txBox="1"/>
          <p:nvPr/>
        </p:nvSpPr>
        <p:spPr>
          <a:xfrm>
            <a:off x="-22409" y="706494"/>
            <a:ext cx="9054300" cy="1483500"/>
          </a:xfrm>
          <a:prstGeom prst="rect">
            <a:avLst/>
          </a:prstGeom>
          <a:noFill/>
          <a:ln>
            <a:noFill/>
          </a:ln>
        </p:spPr>
        <p:txBody>
          <a:bodyPr anchorCtr="0" anchor="t" bIns="91425" lIns="91425" spcFirstLastPara="1" rIns="91425" wrap="square" tIns="91425">
            <a:spAutoFit/>
          </a:bodyPr>
          <a:lstStyle/>
          <a:p>
            <a:pPr indent="-307975" lvl="0" marL="457200" marR="0" rtl="0" algn="l">
              <a:lnSpc>
                <a:spcPct val="115000"/>
              </a:lnSpc>
              <a:spcBef>
                <a:spcPts val="1200"/>
              </a:spcBef>
              <a:spcAft>
                <a:spcPts val="0"/>
              </a:spcAft>
              <a:buSzPts val="1250"/>
              <a:buChar char="●"/>
            </a:pPr>
            <a:r>
              <a:rPr i="0" lang="zh-HK" sz="1250" u="none" cap="none" strike="noStrike">
                <a:solidFill>
                  <a:srgbClr val="0F1115"/>
                </a:solidFill>
                <a:highlight>
                  <a:srgbClr val="FFFFFF"/>
                </a:highlight>
                <a:latin typeface="Times New Roman"/>
                <a:ea typeface="Times New Roman"/>
                <a:cs typeface="Times New Roman"/>
                <a:sym typeface="Times New Roman"/>
              </a:rPr>
              <a:t>We published </a:t>
            </a:r>
            <a:r>
              <a:rPr b="1" lang="zh-HK" sz="1250">
                <a:solidFill>
                  <a:srgbClr val="0F1115"/>
                </a:solidFill>
                <a:highlight>
                  <a:srgbClr val="FFFFFF"/>
                </a:highlight>
                <a:latin typeface="Times New Roman"/>
                <a:ea typeface="Times New Roman"/>
                <a:cs typeface="Times New Roman"/>
                <a:sym typeface="Times New Roman"/>
              </a:rPr>
              <a:t>3</a:t>
            </a:r>
            <a:r>
              <a:rPr b="1" i="0" lang="zh-HK" sz="1250" u="none" cap="none" strike="noStrike">
                <a:solidFill>
                  <a:srgbClr val="0F1115"/>
                </a:solidFill>
                <a:highlight>
                  <a:srgbClr val="FFFFFF"/>
                </a:highlight>
                <a:latin typeface="Times New Roman"/>
                <a:ea typeface="Times New Roman"/>
                <a:cs typeface="Times New Roman"/>
                <a:sym typeface="Times New Roman"/>
              </a:rPr>
              <a:t> WeChat posts</a:t>
            </a:r>
            <a:r>
              <a:rPr i="0" lang="zh-HK" sz="1250" u="none" cap="none" strike="noStrike">
                <a:solidFill>
                  <a:srgbClr val="0F1115"/>
                </a:solidFill>
                <a:highlight>
                  <a:srgbClr val="FFFFFF"/>
                </a:highlight>
                <a:latin typeface="Times New Roman"/>
                <a:ea typeface="Times New Roman"/>
                <a:cs typeface="Times New Roman"/>
                <a:sym typeface="Times New Roman"/>
              </a:rPr>
              <a:t> in </a:t>
            </a:r>
            <a:r>
              <a:rPr lang="zh-HK" sz="1250">
                <a:solidFill>
                  <a:srgbClr val="0F1115"/>
                </a:solidFill>
                <a:highlight>
                  <a:srgbClr val="FFFFFF"/>
                </a:highlight>
                <a:latin typeface="Times New Roman"/>
                <a:ea typeface="Times New Roman"/>
                <a:cs typeface="Times New Roman"/>
                <a:sym typeface="Times New Roman"/>
              </a:rPr>
              <a:t>Aug</a:t>
            </a:r>
            <a:r>
              <a:rPr i="0" lang="zh-HK" sz="1250" u="none" cap="none" strike="noStrike">
                <a:solidFill>
                  <a:srgbClr val="0F1115"/>
                </a:solidFill>
                <a:highlight>
                  <a:srgbClr val="FFFFFF"/>
                </a:highlight>
                <a:latin typeface="Times New Roman"/>
                <a:ea typeface="Times New Roman"/>
                <a:cs typeface="Times New Roman"/>
                <a:sym typeface="Times New Roman"/>
              </a:rPr>
              <a:t>. </a:t>
            </a:r>
            <a:r>
              <a:rPr b="1" lang="zh-HK" sz="1250">
                <a:solidFill>
                  <a:srgbClr val="0F1115"/>
                </a:solidFill>
                <a:highlight>
                  <a:srgbClr val="FFFFFF"/>
                </a:highlight>
                <a:latin typeface="Times New Roman"/>
                <a:ea typeface="Times New Roman"/>
                <a:cs typeface="Times New Roman"/>
                <a:sym typeface="Times New Roman"/>
              </a:rPr>
              <a:t>Chiikawa long article</a:t>
            </a:r>
            <a:r>
              <a:rPr lang="zh-HK" sz="1250">
                <a:solidFill>
                  <a:srgbClr val="0F1115"/>
                </a:solidFill>
                <a:highlight>
                  <a:srgbClr val="FFFFFF"/>
                </a:highlight>
                <a:latin typeface="Times New Roman"/>
                <a:ea typeface="Times New Roman"/>
                <a:cs typeface="Times New Roman"/>
                <a:sym typeface="Times New Roman"/>
              </a:rPr>
              <a:t> drove the </a:t>
            </a:r>
            <a:r>
              <a:rPr b="1" lang="zh-HK" sz="1250">
                <a:solidFill>
                  <a:srgbClr val="0F1115"/>
                </a:solidFill>
                <a:highlight>
                  <a:srgbClr val="FFFFFF"/>
                </a:highlight>
                <a:latin typeface="Times New Roman"/>
                <a:ea typeface="Times New Roman"/>
                <a:cs typeface="Times New Roman"/>
                <a:sym typeface="Times New Roman"/>
              </a:rPr>
              <a:t>highest views and engagement rate</a:t>
            </a:r>
            <a:r>
              <a:rPr lang="zh-HK" sz="1250">
                <a:solidFill>
                  <a:srgbClr val="0F1115"/>
                </a:solidFill>
                <a:highlight>
                  <a:srgbClr val="FFFFFF"/>
                </a:highlight>
                <a:latin typeface="Times New Roman"/>
                <a:ea typeface="Times New Roman"/>
                <a:cs typeface="Times New Roman"/>
                <a:sym typeface="Times New Roman"/>
              </a:rPr>
              <a:t>. </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SzPts val="1250"/>
              <a:buChar char="●"/>
            </a:pPr>
            <a:r>
              <a:rPr lang="zh-HK" sz="1250">
                <a:solidFill>
                  <a:srgbClr val="0F1115"/>
                </a:solidFill>
                <a:highlight>
                  <a:srgbClr val="FFFFFF"/>
                </a:highlight>
                <a:latin typeface="Times New Roman"/>
                <a:ea typeface="Times New Roman"/>
                <a:cs typeface="Times New Roman"/>
                <a:sym typeface="Times New Roman"/>
              </a:rPr>
              <a:t>This month's </a:t>
            </a:r>
            <a:r>
              <a:rPr b="1" lang="zh-HK" sz="1250">
                <a:solidFill>
                  <a:srgbClr val="0F1115"/>
                </a:solidFill>
                <a:highlight>
                  <a:srgbClr val="FFFFFF"/>
                </a:highlight>
                <a:latin typeface="Times New Roman"/>
                <a:ea typeface="Times New Roman"/>
                <a:cs typeface="Times New Roman"/>
                <a:sym typeface="Times New Roman"/>
              </a:rPr>
              <a:t>food post</a:t>
            </a:r>
            <a:r>
              <a:rPr lang="zh-HK" sz="1250">
                <a:solidFill>
                  <a:srgbClr val="0F1115"/>
                </a:solidFill>
                <a:highlight>
                  <a:srgbClr val="FFFFFF"/>
                </a:highlight>
                <a:latin typeface="Times New Roman"/>
                <a:ea typeface="Times New Roman"/>
                <a:cs typeface="Times New Roman"/>
                <a:sym typeface="Times New Roman"/>
              </a:rPr>
              <a:t> engagement rate (5.05%) </a:t>
            </a:r>
            <a:r>
              <a:rPr b="1" lang="zh-HK" sz="1250">
                <a:solidFill>
                  <a:srgbClr val="0F1115"/>
                </a:solidFill>
                <a:highlight>
                  <a:srgbClr val="FFFFFF"/>
                </a:highlight>
                <a:latin typeface="Times New Roman"/>
                <a:ea typeface="Times New Roman"/>
                <a:cs typeface="Times New Roman"/>
                <a:sym typeface="Times New Roman"/>
              </a:rPr>
              <a:t>outperformed </a:t>
            </a:r>
            <a:r>
              <a:rPr lang="zh-HK" sz="1250">
                <a:solidFill>
                  <a:srgbClr val="0F1115"/>
                </a:solidFill>
                <a:highlight>
                  <a:srgbClr val="FFFFFF"/>
                </a:highlight>
                <a:latin typeface="Times New Roman"/>
                <a:ea typeface="Times New Roman"/>
                <a:cs typeface="Times New Roman"/>
                <a:sym typeface="Times New Roman"/>
              </a:rPr>
              <a:t>the lifestyle content (accessory) from the previous two months, indicating strong growth potential </a:t>
            </a:r>
            <a:r>
              <a:rPr b="1" lang="zh-HK" sz="1250">
                <a:solidFill>
                  <a:srgbClr val="0F1115"/>
                </a:solidFill>
                <a:highlight>
                  <a:srgbClr val="FFFFFF"/>
                </a:highlight>
                <a:latin typeface="Times New Roman"/>
                <a:ea typeface="Times New Roman"/>
                <a:cs typeface="Times New Roman"/>
                <a:sym typeface="Times New Roman"/>
              </a:rPr>
              <a:t>for food content</a:t>
            </a:r>
            <a:r>
              <a:rPr lang="zh-HK" sz="1250">
                <a:solidFill>
                  <a:srgbClr val="0F1115"/>
                </a:solidFill>
                <a:highlight>
                  <a:srgbClr val="FFFFFF"/>
                </a:highlight>
                <a:latin typeface="Times New Roman"/>
                <a:ea typeface="Times New Roman"/>
                <a:cs typeface="Times New Roman"/>
                <a:sym typeface="Times New Roman"/>
              </a:rPr>
              <a:t> on WeChat.</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SzPts val="1250"/>
              <a:buFont typeface="Times New Roman"/>
              <a:buChar char="●"/>
            </a:pPr>
            <a:r>
              <a:rPr b="1" lang="zh-HK" sz="1250">
                <a:solidFill>
                  <a:srgbClr val="0F1115"/>
                </a:solidFill>
                <a:highlight>
                  <a:srgbClr val="FFFFFF"/>
                </a:highlight>
                <a:latin typeface="Times New Roman"/>
                <a:ea typeface="Times New Roman"/>
                <a:cs typeface="Times New Roman"/>
                <a:sym typeface="Times New Roman"/>
              </a:rPr>
              <a:t>Aug vs Jul:</a:t>
            </a:r>
            <a:r>
              <a:rPr lang="zh-HK" sz="1250">
                <a:solidFill>
                  <a:srgbClr val="0F1115"/>
                </a:solidFill>
                <a:highlight>
                  <a:srgbClr val="FFFFFF"/>
                </a:highlight>
                <a:latin typeface="Times New Roman"/>
                <a:ea typeface="Times New Roman"/>
                <a:cs typeface="Times New Roman"/>
                <a:sym typeface="Times New Roman"/>
              </a:rPr>
              <a:t> Views slightly dropped (1,138→1,041), but engagement rate jumped from 3.78% to 12.49% , driven by Chiikawa IP.</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Clr>
                <a:srgbClr val="1C1C1C"/>
              </a:buClr>
              <a:buSzPts val="1250"/>
              <a:buFont typeface="Times New Roman"/>
              <a:buChar char="●"/>
            </a:pPr>
            <a:r>
              <a:rPr b="1" lang="zh-HK" sz="1250">
                <a:solidFill>
                  <a:srgbClr val="1C1C1C"/>
                </a:solidFill>
                <a:highlight>
                  <a:srgbClr val="FFFFFF"/>
                </a:highlight>
                <a:latin typeface="Times New Roman"/>
                <a:ea typeface="Times New Roman"/>
                <a:cs typeface="Times New Roman"/>
                <a:sym typeface="Times New Roman"/>
              </a:rPr>
              <a:t>Long article review: </a:t>
            </a:r>
            <a:r>
              <a:rPr lang="zh-HK" sz="1250">
                <a:solidFill>
                  <a:srgbClr val="1C1C1C"/>
                </a:solidFill>
                <a:highlight>
                  <a:srgbClr val="FFFFFF"/>
                </a:highlight>
                <a:latin typeface="Times New Roman"/>
                <a:ea typeface="Times New Roman"/>
                <a:cs typeface="Times New Roman"/>
                <a:sym typeface="Times New Roman"/>
              </a:rPr>
              <a:t>Aside from top IPs, long article underperformed regular posts in recent months, reflecting limited audience appetite for long content. We recommend reserving long article only for top IPs and allocating the quota to regular posts.</a:t>
            </a:r>
            <a:endParaRPr sz="1250">
              <a:solidFill>
                <a:srgbClr val="1C1C1C"/>
              </a:solidFill>
              <a:highlight>
                <a:srgbClr val="FFFFFF"/>
              </a:highlight>
              <a:latin typeface="Times New Roman"/>
              <a:ea typeface="Times New Roman"/>
              <a:cs typeface="Times New Roman"/>
              <a:sym typeface="Times New Roman"/>
            </a:endParaRPr>
          </a:p>
        </p:txBody>
      </p:sp>
      <p:sp>
        <p:nvSpPr>
          <p:cNvPr id="286" name="Google Shape;286;p8"/>
          <p:cNvSpPr/>
          <p:nvPr/>
        </p:nvSpPr>
        <p:spPr>
          <a:xfrm>
            <a:off x="395027" y="359057"/>
            <a:ext cx="42900" cy="282600"/>
          </a:xfrm>
          <a:prstGeom prst="rect">
            <a:avLst/>
          </a:prstGeom>
          <a:solidFill>
            <a:srgbClr val="38761D"/>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287" name="Google Shape;287;p8"/>
          <p:cNvPicPr preferRelativeResize="0"/>
          <p:nvPr/>
        </p:nvPicPr>
        <p:blipFill rotWithShape="1">
          <a:blip r:embed="rId3">
            <a:alphaModFix/>
          </a:blip>
          <a:srcRect b="0" l="0" r="0" t="0"/>
          <a:stretch/>
        </p:blipFill>
        <p:spPr>
          <a:xfrm>
            <a:off x="542600" y="306900"/>
            <a:ext cx="363000" cy="363000"/>
          </a:xfrm>
          <a:prstGeom prst="rect">
            <a:avLst/>
          </a:prstGeom>
          <a:noFill/>
          <a:ln>
            <a:noFill/>
          </a:ln>
        </p:spPr>
      </p:pic>
      <p:graphicFrame>
        <p:nvGraphicFramePr>
          <p:cNvPr id="288" name="Google Shape;288;p8"/>
          <p:cNvGraphicFramePr/>
          <p:nvPr/>
        </p:nvGraphicFramePr>
        <p:xfrm>
          <a:off x="161232" y="2554010"/>
          <a:ext cx="3000000" cy="3000000"/>
        </p:xfrm>
        <a:graphic>
          <a:graphicData uri="http://schemas.openxmlformats.org/drawingml/2006/table">
            <a:tbl>
              <a:tblPr>
                <a:noFill/>
                <a:tableStyleId>{CBF73CE5-E657-4C52-95DC-C96709342244}</a:tableStyleId>
              </a:tblPr>
              <a:tblGrid>
                <a:gridCol w="474750"/>
                <a:gridCol w="474750"/>
                <a:gridCol w="1074150"/>
                <a:gridCol w="477075"/>
                <a:gridCol w="469650"/>
                <a:gridCol w="564225"/>
                <a:gridCol w="423800"/>
                <a:gridCol w="428125"/>
                <a:gridCol w="748225"/>
                <a:gridCol w="680275"/>
              </a:tblGrid>
              <a:tr h="267350">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Wechat</a:t>
                      </a:r>
                      <a:endParaRPr b="1" sz="900" u="none" cap="none" strike="noStrike">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Post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Date </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Subject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Mark</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B6D7A8"/>
                    </a:solidFill>
                  </a:tcPr>
                </a:tc>
              </a:tr>
              <a:tr h="463000">
                <a:tc>
                  <a:txBody>
                    <a:bodyPr/>
                    <a:lstStyle/>
                    <a:p>
                      <a:pPr indent="0" lvl="0" marL="0" marR="0" rtl="0" algn="ctr">
                        <a:lnSpc>
                          <a:spcPct val="115000"/>
                        </a:lnSpc>
                        <a:spcBef>
                          <a:spcPts val="0"/>
                        </a:spcBef>
                        <a:spcAft>
                          <a:spcPts val="0"/>
                        </a:spcAft>
                        <a:buClr>
                          <a:srgbClr val="000000"/>
                        </a:buClr>
                        <a:buSzPts val="1100"/>
                        <a:buFont typeface="Arial"/>
                        <a:buNone/>
                      </a:pPr>
                      <a:r>
                        <a:rPr lang="zh-HK" sz="900" u="none" cap="none" strike="noStrike">
                          <a:latin typeface="Calibri"/>
                          <a:ea typeface="Calibri"/>
                          <a:cs typeface="Calibri"/>
                          <a:sym typeface="Calibri"/>
                        </a:rPr>
                        <a:t>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Aug</a:t>
                      </a:r>
                      <a:r>
                        <a:rPr lang="zh-HK" sz="1000" u="none" cap="none" strike="noStrike"/>
                        <a:t> 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zh-HK" sz="900">
                          <a:solidFill>
                            <a:srgbClr val="333333"/>
                          </a:solidFill>
                        </a:rPr>
                        <a:t>集合登岛！CHIIKAWA人鱼岛空降朗豪坊</a:t>
                      </a:r>
                      <a:endParaRPr sz="900" u="none" cap="none" strike="noStrike">
                        <a:solidFill>
                          <a:srgbClr val="333333"/>
                        </a:solidFill>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rtl="0" algn="ctr">
                        <a:lnSpc>
                          <a:spcPct val="115000"/>
                        </a:lnSpc>
                        <a:spcBef>
                          <a:spcPts val="0"/>
                        </a:spcBef>
                        <a:spcAft>
                          <a:spcPts val="0"/>
                        </a:spcAft>
                        <a:buNone/>
                      </a:pPr>
                      <a:r>
                        <a:rPr lang="zh-HK" sz="1000"/>
                        <a:t>471</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48</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47</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105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22.29%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3000">
                <a:tc>
                  <a:txBody>
                    <a:bodyPr/>
                    <a:lstStyle/>
                    <a:p>
                      <a:pPr indent="0" lvl="0" marL="0" marR="0" rtl="0" algn="ctr">
                        <a:lnSpc>
                          <a:spcPct val="115000"/>
                        </a:lnSpc>
                        <a:spcBef>
                          <a:spcPts val="0"/>
                        </a:spcBef>
                        <a:spcAft>
                          <a:spcPts val="0"/>
                        </a:spcAft>
                        <a:buClr>
                          <a:srgbClr val="000000"/>
                        </a:buClr>
                        <a:buSzPts val="1100"/>
                        <a:buFont typeface="Arial"/>
                        <a:buNone/>
                      </a:pPr>
                      <a:r>
                        <a:rPr lang="zh-HK" sz="900" u="none" cap="none" strike="noStrike">
                          <a:latin typeface="Calibri"/>
                          <a:ea typeface="Calibri"/>
                          <a:cs typeface="Calibri"/>
                          <a:sym typeface="Calibri"/>
                        </a:rPr>
                        <a:t>2</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Aug 12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zh-HK" sz="900"/>
                        <a:t>香港十几💰的美味！旺角记得多拿几个😭</a:t>
                      </a:r>
                      <a:endParaRPr sz="9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376</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11</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5.05%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3000">
                <a:tc>
                  <a:txBody>
                    <a:bodyPr/>
                    <a:lstStyle/>
                    <a:p>
                      <a:pPr indent="0" lvl="0" marL="0" marR="0" rtl="0" algn="ctr">
                        <a:lnSpc>
                          <a:spcPct val="115000"/>
                        </a:lnSpc>
                        <a:spcBef>
                          <a:spcPts val="0"/>
                        </a:spcBef>
                        <a:spcAft>
                          <a:spcPts val="0"/>
                        </a:spcAft>
                        <a:buNone/>
                      </a:pPr>
                      <a:r>
                        <a:rPr lang="zh-HK" sz="900">
                          <a:latin typeface="Calibri"/>
                          <a:ea typeface="Calibri"/>
                          <a:cs typeface="Calibri"/>
                          <a:sym typeface="Calibri"/>
                        </a:rPr>
                        <a:t>3</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Aug 28</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None/>
                      </a:pPr>
                      <a:r>
                        <a:rPr lang="zh-HK" sz="900"/>
                        <a:t>没人说的港硕开学潜规则😭少流太多泪❗️</a:t>
                      </a:r>
                      <a:endParaRPr sz="9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194</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6</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None/>
                      </a:pPr>
                      <a:r>
                        <a:rPr lang="zh-HK" sz="1000"/>
                        <a:t>3.09%</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70550">
                <a:tc gridSpan="3">
                  <a:txBody>
                    <a:bodyPr/>
                    <a:lstStyle/>
                    <a:p>
                      <a:pPr indent="0" lvl="0" marL="0" marR="0" rtl="0" algn="ctr">
                        <a:lnSpc>
                          <a:spcPct val="115000"/>
                        </a:lnSpc>
                        <a:spcBef>
                          <a:spcPts val="0"/>
                        </a:spcBef>
                        <a:spcAft>
                          <a:spcPts val="0"/>
                        </a:spcAft>
                        <a:buClr>
                          <a:srgbClr val="000000"/>
                        </a:buClr>
                        <a:buSzPts val="900"/>
                        <a:buFont typeface="Arial"/>
                        <a:buNone/>
                      </a:pPr>
                      <a:r>
                        <a:rPr b="1" lang="zh-HK" sz="1000"/>
                        <a:t>Aug</a:t>
                      </a:r>
                      <a:r>
                        <a:rPr b="1" lang="zh-HK" sz="1000" u="none" cap="none" strike="noStrike"/>
                        <a:t> Total</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hMerge="1"/>
                <a:tc hMerge="1"/>
                <a:tc>
                  <a:txBody>
                    <a:bodyPr/>
                    <a:lstStyle/>
                    <a:p>
                      <a:pPr indent="0" lvl="0" marL="0" rtl="0" algn="ctr">
                        <a:lnSpc>
                          <a:spcPct val="115000"/>
                        </a:lnSpc>
                        <a:spcBef>
                          <a:spcPts val="0"/>
                        </a:spcBef>
                        <a:spcAft>
                          <a:spcPts val="0"/>
                        </a:spcAft>
                        <a:buNone/>
                      </a:pPr>
                      <a:r>
                        <a:rPr b="1" lang="zh-HK" sz="1000"/>
                        <a:t>1,041</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15</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0</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54</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61</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130</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c>
                  <a:txBody>
                    <a:bodyPr/>
                    <a:lstStyle/>
                    <a:p>
                      <a:pPr indent="0" lvl="0" marL="0" rtl="0" algn="ctr">
                        <a:lnSpc>
                          <a:spcPct val="115000"/>
                        </a:lnSpc>
                        <a:spcBef>
                          <a:spcPts val="0"/>
                        </a:spcBef>
                        <a:spcAft>
                          <a:spcPts val="0"/>
                        </a:spcAft>
                        <a:buNone/>
                      </a:pPr>
                      <a:r>
                        <a:rPr b="1" lang="zh-HK" sz="1000"/>
                        <a:t>12.49%</a:t>
                      </a:r>
                      <a:endParaRPr b="1"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EAD3"/>
                    </a:solidFill>
                  </a:tcPr>
                </a:tc>
              </a:tr>
            </a:tbl>
          </a:graphicData>
        </a:graphic>
      </p:graphicFrame>
      <p:sp>
        <p:nvSpPr>
          <p:cNvPr id="289" name="Google Shape;289;p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290" name="Google Shape;290;p8"/>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sp>
        <p:nvSpPr>
          <p:cNvPr id="291" name="Google Shape;291;p8"/>
          <p:cNvSpPr/>
          <p:nvPr/>
        </p:nvSpPr>
        <p:spPr>
          <a:xfrm>
            <a:off x="142885" y="2866403"/>
            <a:ext cx="5815200" cy="492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8"/>
          <p:cNvPicPr preferRelativeResize="0"/>
          <p:nvPr/>
        </p:nvPicPr>
        <p:blipFill>
          <a:blip r:embed="rId5">
            <a:alphaModFix/>
          </a:blip>
          <a:stretch>
            <a:fillRect/>
          </a:stretch>
        </p:blipFill>
        <p:spPr>
          <a:xfrm>
            <a:off x="6117250" y="2484450"/>
            <a:ext cx="1509824" cy="2169501"/>
          </a:xfrm>
          <a:prstGeom prst="rect">
            <a:avLst/>
          </a:prstGeom>
          <a:noFill/>
          <a:ln>
            <a:noFill/>
          </a:ln>
        </p:spPr>
      </p:pic>
      <p:pic>
        <p:nvPicPr>
          <p:cNvPr id="293" name="Google Shape;293;p8"/>
          <p:cNvPicPr preferRelativeResize="0"/>
          <p:nvPr/>
        </p:nvPicPr>
        <p:blipFill>
          <a:blip r:embed="rId6">
            <a:alphaModFix/>
          </a:blip>
          <a:stretch>
            <a:fillRect/>
          </a:stretch>
        </p:blipFill>
        <p:spPr>
          <a:xfrm>
            <a:off x="7786250" y="2462050"/>
            <a:ext cx="1183255" cy="21694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9"/>
          <p:cNvSpPr txBox="1"/>
          <p:nvPr/>
        </p:nvSpPr>
        <p:spPr>
          <a:xfrm>
            <a:off x="4395788" y="4743288"/>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299" name="Google Shape;299;p9"/>
          <p:cNvSpPr txBox="1"/>
          <p:nvPr/>
        </p:nvSpPr>
        <p:spPr>
          <a:xfrm>
            <a:off x="60950" y="883241"/>
            <a:ext cx="8657100" cy="1262100"/>
          </a:xfrm>
          <a:prstGeom prst="rect">
            <a:avLst/>
          </a:prstGeom>
          <a:noFill/>
          <a:ln>
            <a:noFill/>
          </a:ln>
        </p:spPr>
        <p:txBody>
          <a:bodyPr anchorCtr="0" anchor="t" bIns="91425" lIns="91425" spcFirstLastPara="1" rIns="91425" wrap="square" tIns="91425">
            <a:spAutoFit/>
          </a:bodyPr>
          <a:lstStyle/>
          <a:p>
            <a:pPr indent="-307975" lvl="0" marL="457200" marR="0" rtl="0" algn="l">
              <a:lnSpc>
                <a:spcPct val="115000"/>
              </a:lnSpc>
              <a:spcBef>
                <a:spcPts val="1200"/>
              </a:spcBef>
              <a:spcAft>
                <a:spcPts val="0"/>
              </a:spcAft>
              <a:buSzPts val="1250"/>
              <a:buChar char="●"/>
            </a:pPr>
            <a:r>
              <a:rPr i="0" lang="zh-HK" sz="1250" u="none" cap="none" strike="noStrike">
                <a:solidFill>
                  <a:srgbClr val="0F1115"/>
                </a:solidFill>
                <a:highlight>
                  <a:srgbClr val="FFFFFF"/>
                </a:highlight>
                <a:latin typeface="Times New Roman"/>
                <a:ea typeface="Times New Roman"/>
                <a:cs typeface="Times New Roman"/>
                <a:sym typeface="Times New Roman"/>
              </a:rPr>
              <a:t>We released </a:t>
            </a:r>
            <a:r>
              <a:rPr b="1" lang="zh-HK" sz="1250">
                <a:solidFill>
                  <a:srgbClr val="0F1115"/>
                </a:solidFill>
                <a:highlight>
                  <a:srgbClr val="FFFFFF"/>
                </a:highlight>
                <a:latin typeface="Times New Roman"/>
                <a:ea typeface="Times New Roman"/>
                <a:cs typeface="Times New Roman"/>
                <a:sym typeface="Times New Roman"/>
              </a:rPr>
              <a:t>3</a:t>
            </a:r>
            <a:r>
              <a:rPr b="1" i="0" lang="zh-HK" sz="1250" u="none" cap="none" strike="noStrike">
                <a:solidFill>
                  <a:srgbClr val="0F1115"/>
                </a:solidFill>
                <a:highlight>
                  <a:srgbClr val="FFFFFF"/>
                </a:highlight>
                <a:latin typeface="Times New Roman"/>
                <a:ea typeface="Times New Roman"/>
                <a:cs typeface="Times New Roman"/>
                <a:sym typeface="Times New Roman"/>
              </a:rPr>
              <a:t> videos</a:t>
            </a:r>
            <a:r>
              <a:rPr i="0" lang="zh-HK" sz="1250" u="none" cap="none" strike="noStrike">
                <a:solidFill>
                  <a:srgbClr val="0F1115"/>
                </a:solidFill>
                <a:highlight>
                  <a:srgbClr val="FFFFFF"/>
                </a:highlight>
                <a:latin typeface="Times New Roman"/>
                <a:ea typeface="Times New Roman"/>
                <a:cs typeface="Times New Roman"/>
                <a:sym typeface="Times New Roman"/>
              </a:rPr>
              <a:t> on Channel in </a:t>
            </a:r>
            <a:r>
              <a:rPr lang="zh-HK" sz="1250">
                <a:solidFill>
                  <a:srgbClr val="0F1115"/>
                </a:solidFill>
                <a:highlight>
                  <a:srgbClr val="FFFFFF"/>
                </a:highlight>
                <a:latin typeface="Times New Roman"/>
                <a:ea typeface="Times New Roman"/>
                <a:cs typeface="Times New Roman"/>
                <a:sym typeface="Times New Roman"/>
              </a:rPr>
              <a:t>Aug</a:t>
            </a:r>
            <a:r>
              <a:rPr i="0" lang="zh-HK" sz="1250" u="none" cap="none" strike="noStrike">
                <a:solidFill>
                  <a:srgbClr val="0F1115"/>
                </a:solidFill>
                <a:highlight>
                  <a:srgbClr val="FFFFFF"/>
                </a:highlight>
                <a:latin typeface="Times New Roman"/>
                <a:ea typeface="Times New Roman"/>
                <a:cs typeface="Times New Roman"/>
                <a:sym typeface="Times New Roman"/>
              </a:rPr>
              <a:t>.</a:t>
            </a:r>
            <a:r>
              <a:rPr lang="zh-HK" sz="1250">
                <a:solidFill>
                  <a:srgbClr val="0F1115"/>
                </a:solidFill>
                <a:highlight>
                  <a:srgbClr val="FFFFFF"/>
                </a:highlight>
                <a:latin typeface="Times New Roman"/>
                <a:ea typeface="Times New Roman"/>
                <a:cs typeface="Times New Roman"/>
                <a:sym typeface="Times New Roman"/>
              </a:rPr>
              <a:t> </a:t>
            </a:r>
            <a:r>
              <a:rPr b="1" lang="zh-HK" sz="1250">
                <a:solidFill>
                  <a:srgbClr val="0F1115"/>
                </a:solidFill>
                <a:highlight>
                  <a:srgbClr val="FFFFFF"/>
                </a:highlight>
                <a:latin typeface="Times New Roman"/>
                <a:ea typeface="Times New Roman"/>
                <a:cs typeface="Times New Roman"/>
                <a:sym typeface="Times New Roman"/>
              </a:rPr>
              <a:t>Food content drove higher views</a:t>
            </a:r>
            <a:r>
              <a:rPr lang="zh-HK" sz="1250">
                <a:solidFill>
                  <a:srgbClr val="0F1115"/>
                </a:solidFill>
                <a:highlight>
                  <a:srgbClr val="FFFFFF"/>
                </a:highlight>
                <a:latin typeface="Times New Roman"/>
                <a:ea typeface="Times New Roman"/>
                <a:cs typeface="Times New Roman"/>
                <a:sym typeface="Times New Roman"/>
              </a:rPr>
              <a:t>, but </a:t>
            </a:r>
            <a:r>
              <a:rPr b="1" lang="zh-HK" sz="1250">
                <a:solidFill>
                  <a:srgbClr val="0F1115"/>
                </a:solidFill>
                <a:highlight>
                  <a:srgbClr val="FFFFFF"/>
                </a:highlight>
                <a:latin typeface="Times New Roman"/>
                <a:ea typeface="Times New Roman"/>
                <a:cs typeface="Times New Roman"/>
                <a:sym typeface="Times New Roman"/>
              </a:rPr>
              <a:t>Chiikawa movie guide delivered the highest engagement rate</a:t>
            </a:r>
            <a:r>
              <a:rPr lang="zh-HK" sz="1250">
                <a:solidFill>
                  <a:srgbClr val="0F1115"/>
                </a:solidFill>
                <a:highlight>
                  <a:srgbClr val="FFFFFF"/>
                </a:highlight>
                <a:latin typeface="Times New Roman"/>
                <a:ea typeface="Times New Roman"/>
                <a:cs typeface="Times New Roman"/>
                <a:sym typeface="Times New Roman"/>
              </a:rPr>
              <a:t>, insicating that IP content on Channel can drives more interaction.</a:t>
            </a:r>
            <a:r>
              <a:rPr i="0" lang="zh-HK" sz="1250" u="none" cap="none" strike="noStrike">
                <a:solidFill>
                  <a:srgbClr val="0F1115"/>
                </a:solidFill>
                <a:highlight>
                  <a:srgbClr val="FFFFFF"/>
                </a:highlight>
                <a:latin typeface="Times New Roman"/>
                <a:ea typeface="Times New Roman"/>
                <a:cs typeface="Times New Roman"/>
                <a:sym typeface="Times New Roman"/>
              </a:rPr>
              <a:t> </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SzPts val="1250"/>
              <a:buFont typeface="Times New Roman"/>
              <a:buChar char="●"/>
            </a:pPr>
            <a:r>
              <a:rPr b="1" lang="zh-HK" sz="1250">
                <a:solidFill>
                  <a:srgbClr val="0F1115"/>
                </a:solidFill>
                <a:highlight>
                  <a:srgbClr val="FFFFFF"/>
                </a:highlight>
                <a:latin typeface="Times New Roman"/>
                <a:ea typeface="Times New Roman"/>
                <a:cs typeface="Times New Roman"/>
                <a:sym typeface="Times New Roman"/>
              </a:rPr>
              <a:t>Aug vs Jul:</a:t>
            </a:r>
            <a:r>
              <a:rPr lang="zh-HK" sz="1250">
                <a:solidFill>
                  <a:srgbClr val="0F1115"/>
                </a:solidFill>
                <a:highlight>
                  <a:srgbClr val="FFFFFF"/>
                </a:highlight>
                <a:latin typeface="Times New Roman"/>
                <a:ea typeface="Times New Roman"/>
                <a:cs typeface="Times New Roman"/>
                <a:sym typeface="Times New Roman"/>
              </a:rPr>
              <a:t> Views s</a:t>
            </a:r>
            <a:r>
              <a:rPr b="1" lang="zh-HK" sz="1250">
                <a:solidFill>
                  <a:srgbClr val="0F1115"/>
                </a:solidFill>
                <a:highlight>
                  <a:srgbClr val="FFFFFF"/>
                </a:highlight>
                <a:latin typeface="Times New Roman"/>
                <a:ea typeface="Times New Roman"/>
                <a:cs typeface="Times New Roman"/>
                <a:sym typeface="Times New Roman"/>
              </a:rPr>
              <a:t>lightly increased</a:t>
            </a:r>
            <a:r>
              <a:rPr lang="zh-HK" sz="1250">
                <a:solidFill>
                  <a:srgbClr val="0F1115"/>
                </a:solidFill>
                <a:highlight>
                  <a:srgbClr val="FFFFFF"/>
                </a:highlight>
                <a:latin typeface="Times New Roman"/>
                <a:ea typeface="Times New Roman"/>
                <a:cs typeface="Times New Roman"/>
                <a:sym typeface="Times New Roman"/>
              </a:rPr>
              <a:t> (+6.5%), but engagement rate </a:t>
            </a:r>
            <a:r>
              <a:rPr b="1" lang="zh-HK" sz="1250">
                <a:solidFill>
                  <a:srgbClr val="0F1115"/>
                </a:solidFill>
                <a:highlight>
                  <a:srgbClr val="FFFFFF"/>
                </a:highlight>
                <a:latin typeface="Times New Roman"/>
                <a:ea typeface="Times New Roman"/>
                <a:cs typeface="Times New Roman"/>
                <a:sym typeface="Times New Roman"/>
              </a:rPr>
              <a:t>slightly declined </a:t>
            </a:r>
            <a:r>
              <a:rPr lang="zh-HK" sz="1250">
                <a:solidFill>
                  <a:srgbClr val="0F1115"/>
                </a:solidFill>
                <a:highlight>
                  <a:srgbClr val="FFFFFF"/>
                </a:highlight>
                <a:latin typeface="Times New Roman"/>
                <a:ea typeface="Times New Roman"/>
                <a:cs typeface="Times New Roman"/>
                <a:sym typeface="Times New Roman"/>
              </a:rPr>
              <a:t>(0.63% →0.51%).</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SzPts val="1250"/>
              <a:buFont typeface="Times New Roman"/>
              <a:buChar char="●"/>
            </a:pPr>
            <a:r>
              <a:rPr lang="zh-HK" sz="1250">
                <a:solidFill>
                  <a:srgbClr val="0F1115"/>
                </a:solidFill>
                <a:highlight>
                  <a:srgbClr val="FFFFFF"/>
                </a:highlight>
                <a:latin typeface="Times New Roman"/>
                <a:ea typeface="Times New Roman"/>
                <a:cs typeface="Times New Roman"/>
                <a:sym typeface="Times New Roman"/>
              </a:rPr>
              <a:t>Both months featured </a:t>
            </a:r>
            <a:r>
              <a:rPr b="1" lang="zh-HK" sz="1250">
                <a:solidFill>
                  <a:srgbClr val="0F1115"/>
                </a:solidFill>
                <a:highlight>
                  <a:srgbClr val="FFFFFF"/>
                </a:highlight>
                <a:latin typeface="Times New Roman"/>
                <a:ea typeface="Times New Roman"/>
                <a:cs typeface="Times New Roman"/>
                <a:sym typeface="Times New Roman"/>
              </a:rPr>
              <a:t>Chiikawa</a:t>
            </a:r>
            <a:r>
              <a:rPr lang="zh-HK" sz="1250">
                <a:solidFill>
                  <a:srgbClr val="0F1115"/>
                </a:solidFill>
                <a:highlight>
                  <a:srgbClr val="FFFFFF"/>
                </a:highlight>
                <a:latin typeface="Times New Roman"/>
                <a:ea typeface="Times New Roman"/>
                <a:cs typeface="Times New Roman"/>
                <a:sym typeface="Times New Roman"/>
              </a:rPr>
              <a:t> content, but Jul's「活動預熱」「現場突發」 drove </a:t>
            </a:r>
            <a:r>
              <a:rPr b="1" lang="zh-HK" sz="1250">
                <a:solidFill>
                  <a:srgbClr val="0F1115"/>
                </a:solidFill>
                <a:highlight>
                  <a:srgbClr val="FFFFFF"/>
                </a:highlight>
                <a:latin typeface="Times New Roman"/>
                <a:ea typeface="Times New Roman"/>
                <a:cs typeface="Times New Roman"/>
                <a:sym typeface="Times New Roman"/>
              </a:rPr>
              <a:t>stronger interaction</a:t>
            </a:r>
            <a:r>
              <a:rPr lang="zh-HK" sz="1250">
                <a:solidFill>
                  <a:srgbClr val="0F1115"/>
                </a:solidFill>
                <a:highlight>
                  <a:srgbClr val="FFFFFF"/>
                </a:highlight>
                <a:latin typeface="Times New Roman"/>
                <a:ea typeface="Times New Roman"/>
                <a:cs typeface="Times New Roman"/>
                <a:sym typeface="Times New Roman"/>
              </a:rPr>
              <a:t>, reflecting that </a:t>
            </a:r>
            <a:r>
              <a:rPr b="1" lang="zh-HK" sz="1250">
                <a:solidFill>
                  <a:srgbClr val="0F1115"/>
                </a:solidFill>
                <a:highlight>
                  <a:srgbClr val="FFFFFF"/>
                </a:highlight>
                <a:latin typeface="Times New Roman"/>
                <a:ea typeface="Times New Roman"/>
                <a:cs typeface="Times New Roman"/>
                <a:sym typeface="Times New Roman"/>
              </a:rPr>
              <a:t>event-driven</a:t>
            </a:r>
            <a:r>
              <a:rPr lang="zh-HK" sz="1250">
                <a:solidFill>
                  <a:srgbClr val="0F1115"/>
                </a:solidFill>
                <a:highlight>
                  <a:srgbClr val="FFFFFF"/>
                </a:highlight>
                <a:latin typeface="Times New Roman"/>
                <a:ea typeface="Times New Roman"/>
                <a:cs typeface="Times New Roman"/>
                <a:sym typeface="Times New Roman"/>
              </a:rPr>
              <a:t> content has greater engagement potential on Channel.</a:t>
            </a:r>
            <a:endParaRPr sz="1250">
              <a:solidFill>
                <a:srgbClr val="0F1115"/>
              </a:solidFill>
              <a:highlight>
                <a:srgbClr val="FFFFFF"/>
              </a:highlight>
              <a:latin typeface="Times New Roman"/>
              <a:ea typeface="Times New Roman"/>
              <a:cs typeface="Times New Roman"/>
              <a:sym typeface="Times New Roman"/>
            </a:endParaRPr>
          </a:p>
        </p:txBody>
      </p:sp>
      <p:graphicFrame>
        <p:nvGraphicFramePr>
          <p:cNvPr id="300" name="Google Shape;300;p9"/>
          <p:cNvGraphicFramePr/>
          <p:nvPr/>
        </p:nvGraphicFramePr>
        <p:xfrm>
          <a:off x="394891" y="2546927"/>
          <a:ext cx="3000000" cy="3000000"/>
        </p:xfrm>
        <a:graphic>
          <a:graphicData uri="http://schemas.openxmlformats.org/drawingml/2006/table">
            <a:tbl>
              <a:tblPr>
                <a:noFill/>
                <a:tableStyleId>{CBF73CE5-E657-4C52-95DC-C96709342244}</a:tableStyleId>
              </a:tblPr>
              <a:tblGrid>
                <a:gridCol w="451300"/>
                <a:gridCol w="565100"/>
                <a:gridCol w="1259000"/>
                <a:gridCol w="466575"/>
                <a:gridCol w="763900"/>
                <a:gridCol w="628975"/>
                <a:gridCol w="418300"/>
                <a:gridCol w="435975"/>
                <a:gridCol w="850950"/>
                <a:gridCol w="773675"/>
              </a:tblGrid>
              <a:tr h="272000">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Post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Date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000"/>
                        <a:buFont typeface="Arial"/>
                        <a:buNone/>
                      </a:pPr>
                      <a:r>
                        <a:rPr b="1" lang="zh-HK" sz="900" u="none" cap="none" strike="noStrike">
                          <a:latin typeface="Calibri"/>
                          <a:ea typeface="Calibri"/>
                          <a:cs typeface="Calibri"/>
                          <a:sym typeface="Calibri"/>
                        </a:rPr>
                        <a:t>Subject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Recommend</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900" u="none" cap="none" strike="noStrike">
                          <a:latin typeface="Calibri"/>
                          <a:ea typeface="Calibri"/>
                          <a:cs typeface="Calibri"/>
                          <a:sym typeface="Calibri"/>
                        </a:rPr>
                        <a:t>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r h="344175">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1</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Aug</a:t>
                      </a:r>
                      <a:r>
                        <a:rPr lang="zh-HK" sz="1000" u="none" cap="none" strike="noStrike"/>
                        <a:t> </a:t>
                      </a:r>
                      <a:r>
                        <a:rPr lang="zh-HK" sz="1000"/>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800"/>
                        <a:buFont typeface="Arial"/>
                        <a:buNone/>
                      </a:pPr>
                      <a:r>
                        <a:rPr lang="zh-HK" sz="800"/>
                        <a:t>人均150🍣在香港吃到了满意的漂亮饭！</a:t>
                      </a:r>
                      <a:endParaRPr sz="14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4,333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2</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0.21%</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65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2</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Aug</a:t>
                      </a:r>
                      <a:r>
                        <a:rPr lang="zh-HK" sz="1000" u="none" cap="none" strike="noStrike"/>
                        <a:t> 7</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60s教你来香港看chiikawa大电影 附路线❗️</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3,839</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12</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23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41</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1.07%</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53650">
                <a:tc>
                  <a:txBody>
                    <a:bodyPr/>
                    <a:lstStyle/>
                    <a:p>
                      <a:pPr indent="0" lvl="0" marL="0" marR="0" rtl="0" algn="ctr">
                        <a:lnSpc>
                          <a:spcPct val="115000"/>
                        </a:lnSpc>
                        <a:spcBef>
                          <a:spcPts val="0"/>
                        </a:spcBef>
                        <a:spcAft>
                          <a:spcPts val="0"/>
                        </a:spcAft>
                        <a:buClr>
                          <a:srgbClr val="000000"/>
                        </a:buClr>
                        <a:buSzPts val="1000"/>
                        <a:buFont typeface="Arial"/>
                        <a:buNone/>
                      </a:pPr>
                      <a:r>
                        <a:rPr lang="zh-HK" sz="1000" u="none" cap="none" strike="noStrike"/>
                        <a:t>3</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000"/>
                        <a:buFont typeface="Arial"/>
                        <a:buNone/>
                      </a:pPr>
                      <a:r>
                        <a:rPr lang="zh-HK" sz="1000"/>
                        <a:t>Aug</a:t>
                      </a:r>
                      <a:r>
                        <a:rPr lang="zh-HK" sz="1000" u="none" cap="none" strike="noStrike"/>
                        <a:t> </a:t>
                      </a:r>
                      <a:r>
                        <a:rPr lang="zh-HK" sz="1000"/>
                        <a:t>20</a:t>
                      </a:r>
                      <a:endParaRPr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800"/>
                        <a:t>30s看在香港花的zui满意的几笔💰</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3,667</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14</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8</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3</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25</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1000"/>
                        <a:t>0.68%</a:t>
                      </a:r>
                      <a:endParaRPr sz="10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20325">
                <a:tc gridSpan="3">
                  <a:txBody>
                    <a:bodyPr/>
                    <a:lstStyle/>
                    <a:p>
                      <a:pPr indent="0" lvl="0" marL="0" marR="0" rtl="0" algn="ctr">
                        <a:lnSpc>
                          <a:spcPct val="115000"/>
                        </a:lnSpc>
                        <a:spcBef>
                          <a:spcPts val="0"/>
                        </a:spcBef>
                        <a:spcAft>
                          <a:spcPts val="0"/>
                        </a:spcAft>
                        <a:buClr>
                          <a:srgbClr val="000000"/>
                        </a:buClr>
                        <a:buSzPts val="1000"/>
                        <a:buFont typeface="Arial"/>
                        <a:buNone/>
                      </a:pPr>
                      <a:r>
                        <a:rPr b="1" lang="zh-HK" sz="1000"/>
                        <a:t>Aug</a:t>
                      </a:r>
                      <a:r>
                        <a:rPr b="1" lang="zh-HK" sz="1000" u="none" cap="none" strike="noStrike"/>
                        <a:t> Total</a:t>
                      </a:r>
                      <a:endParaRPr b="1" sz="10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hMerge="1"/>
                <a:tc hMerge="1"/>
                <a:tc>
                  <a:txBody>
                    <a:bodyPr/>
                    <a:lstStyle/>
                    <a:p>
                      <a:pPr indent="0" lvl="0" marL="0" rtl="0" algn="ctr">
                        <a:lnSpc>
                          <a:spcPct val="115000"/>
                        </a:lnSpc>
                        <a:spcBef>
                          <a:spcPts val="0"/>
                        </a:spcBef>
                        <a:spcAft>
                          <a:spcPts val="0"/>
                        </a:spcAft>
                        <a:buNone/>
                      </a:pPr>
                      <a:r>
                        <a:rPr b="1" lang="zh-HK" sz="1000"/>
                        <a:t>11,839</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19</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3</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24</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29</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75</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b="1" lang="zh-HK" sz="1000"/>
                        <a:t>0.63%</a:t>
                      </a:r>
                      <a:endParaRPr b="1" sz="1000"/>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E599"/>
                    </a:solidFill>
                  </a:tcPr>
                </a:tc>
              </a:tr>
            </a:tbl>
          </a:graphicData>
        </a:graphic>
      </p:graphicFrame>
      <p:pic>
        <p:nvPicPr>
          <p:cNvPr id="301" name="Google Shape;301;p9" title="a697a07488e44c8c8c06bebbaeb5ef46.png"/>
          <p:cNvPicPr preferRelativeResize="0"/>
          <p:nvPr/>
        </p:nvPicPr>
        <p:blipFill rotWithShape="1">
          <a:blip r:embed="rId3">
            <a:alphaModFix/>
          </a:blip>
          <a:srcRect b="0" l="278" r="269" t="0"/>
          <a:stretch/>
        </p:blipFill>
        <p:spPr>
          <a:xfrm>
            <a:off x="565025" y="301850"/>
            <a:ext cx="394818" cy="397000"/>
          </a:xfrm>
          <a:prstGeom prst="rect">
            <a:avLst/>
          </a:prstGeom>
          <a:noFill/>
          <a:ln>
            <a:noFill/>
          </a:ln>
        </p:spPr>
      </p:pic>
      <p:sp>
        <p:nvSpPr>
          <p:cNvPr id="302" name="Google Shape;302;p9"/>
          <p:cNvSpPr/>
          <p:nvPr/>
        </p:nvSpPr>
        <p:spPr>
          <a:xfrm>
            <a:off x="471690" y="359057"/>
            <a:ext cx="42900" cy="282600"/>
          </a:xfrm>
          <a:prstGeom prst="rect">
            <a:avLst/>
          </a:prstGeom>
          <a:solidFill>
            <a:srgbClr val="FFAB4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icrosoft YaHei"/>
              <a:ea typeface="Microsoft YaHei"/>
              <a:cs typeface="Microsoft YaHei"/>
              <a:sym typeface="Microsoft YaHei"/>
            </a:endParaRPr>
          </a:p>
        </p:txBody>
      </p:sp>
      <p:sp>
        <p:nvSpPr>
          <p:cNvPr id="303" name="Google Shape;303;p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04" name="Google Shape;304;p9"/>
          <p:cNvPicPr preferRelativeResize="0"/>
          <p:nvPr/>
        </p:nvPicPr>
        <p:blipFill rotWithShape="1">
          <a:blip r:embed="rId4">
            <a:alphaModFix/>
          </a:blip>
          <a:srcRect b="21020" l="14061" r="17215" t="26140"/>
          <a:stretch/>
        </p:blipFill>
        <p:spPr>
          <a:xfrm>
            <a:off x="8094845" y="162433"/>
            <a:ext cx="1049154" cy="423511"/>
          </a:xfrm>
          <a:prstGeom prst="rect">
            <a:avLst/>
          </a:prstGeom>
          <a:noFill/>
          <a:ln>
            <a:noFill/>
          </a:ln>
        </p:spPr>
      </p:pic>
      <p:sp>
        <p:nvSpPr>
          <p:cNvPr id="305" name="Google Shape;305;p9"/>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Channel Performance Summary</a:t>
            </a:r>
            <a:endParaRPr b="1" i="0" sz="2000" u="none" cap="none" strike="noStrike">
              <a:solidFill>
                <a:srgbClr val="000000"/>
              </a:solidFill>
              <a:latin typeface="Times New Roman"/>
              <a:ea typeface="Times New Roman"/>
              <a:cs typeface="Times New Roman"/>
              <a:sym typeface="Times New Roman"/>
            </a:endParaRPr>
          </a:p>
        </p:txBody>
      </p:sp>
      <p:sp>
        <p:nvSpPr>
          <p:cNvPr id="306" name="Google Shape;306;p9"/>
          <p:cNvSpPr/>
          <p:nvPr/>
        </p:nvSpPr>
        <p:spPr>
          <a:xfrm>
            <a:off x="394875" y="2879900"/>
            <a:ext cx="6613800" cy="344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7" name="Google Shape;307;p9"/>
          <p:cNvPicPr preferRelativeResize="0"/>
          <p:nvPr/>
        </p:nvPicPr>
        <p:blipFill rotWithShape="1">
          <a:blip r:embed="rId5">
            <a:alphaModFix/>
          </a:blip>
          <a:srcRect b="7785" l="0" r="0" t="4940"/>
          <a:stretch/>
        </p:blipFill>
        <p:spPr>
          <a:xfrm>
            <a:off x="7228960" y="1987607"/>
            <a:ext cx="1433175" cy="27108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3e72db23f1e_0_36"/>
          <p:cNvSpPr txBox="1"/>
          <p:nvPr/>
        </p:nvSpPr>
        <p:spPr>
          <a:xfrm>
            <a:off x="4395788" y="4835319"/>
            <a:ext cx="4674300" cy="2925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700"/>
              <a:buFont typeface="Arial"/>
              <a:buNone/>
            </a:pPr>
            <a:r>
              <a:rPr b="0" i="0" lang="zh-HK" sz="700" u="none" cap="none" strike="noStrike">
                <a:solidFill>
                  <a:srgbClr val="000000"/>
                </a:solidFill>
                <a:latin typeface="Microsoft YaHei"/>
                <a:ea typeface="Microsoft YaHei"/>
                <a:cs typeface="Microsoft YaHei"/>
                <a:sym typeface="Microsoft YaHei"/>
              </a:rPr>
              <a:t>*ENGAGEMENT = MARK + COMMENTS + LIKES + SHARES</a:t>
            </a:r>
            <a:endParaRPr b="0" i="0" sz="700" u="none" cap="none" strike="noStrike">
              <a:solidFill>
                <a:srgbClr val="000000"/>
              </a:solidFill>
              <a:latin typeface="Microsoft YaHei"/>
              <a:ea typeface="Microsoft YaHei"/>
              <a:cs typeface="Microsoft YaHei"/>
              <a:sym typeface="Microsoft YaHei"/>
            </a:endParaRPr>
          </a:p>
        </p:txBody>
      </p:sp>
      <p:sp>
        <p:nvSpPr>
          <p:cNvPr id="313" name="Google Shape;313;g3e72db23f1e_0_36"/>
          <p:cNvSpPr txBox="1"/>
          <p:nvPr/>
        </p:nvSpPr>
        <p:spPr>
          <a:xfrm>
            <a:off x="17601" y="822650"/>
            <a:ext cx="9009900" cy="1041000"/>
          </a:xfrm>
          <a:prstGeom prst="rect">
            <a:avLst/>
          </a:prstGeom>
          <a:noFill/>
          <a:ln>
            <a:noFill/>
          </a:ln>
        </p:spPr>
        <p:txBody>
          <a:bodyPr anchorCtr="0" anchor="t" bIns="91425" lIns="91425" spcFirstLastPara="1" rIns="91425" wrap="square" tIns="91425">
            <a:spAutoFit/>
          </a:bodyPr>
          <a:lstStyle/>
          <a:p>
            <a:pPr indent="-307975" lvl="0" marL="457200" marR="0" rtl="0" algn="l">
              <a:lnSpc>
                <a:spcPct val="115000"/>
              </a:lnSpc>
              <a:spcBef>
                <a:spcPts val="1200"/>
              </a:spcBef>
              <a:spcAft>
                <a:spcPts val="0"/>
              </a:spcAft>
              <a:buSzPts val="1250"/>
              <a:buChar char="●"/>
            </a:pPr>
            <a:r>
              <a:rPr i="0" lang="zh-HK" sz="1250" u="none" cap="none" strike="noStrike">
                <a:solidFill>
                  <a:srgbClr val="0F1115"/>
                </a:solidFill>
                <a:highlight>
                  <a:srgbClr val="FFFFFF"/>
                </a:highlight>
                <a:latin typeface="Times New Roman"/>
                <a:ea typeface="Times New Roman"/>
                <a:cs typeface="Times New Roman"/>
                <a:sym typeface="Times New Roman"/>
              </a:rPr>
              <a:t>In </a:t>
            </a:r>
            <a:r>
              <a:rPr lang="zh-HK" sz="1250">
                <a:solidFill>
                  <a:srgbClr val="0F1115"/>
                </a:solidFill>
                <a:highlight>
                  <a:srgbClr val="FFFFFF"/>
                </a:highlight>
                <a:latin typeface="Times New Roman"/>
                <a:ea typeface="Times New Roman"/>
                <a:cs typeface="Times New Roman"/>
                <a:sym typeface="Times New Roman"/>
              </a:rPr>
              <a:t>Aug</a:t>
            </a:r>
            <a:r>
              <a:rPr i="0" lang="zh-HK" sz="1250" u="none" cap="none" strike="noStrike">
                <a:solidFill>
                  <a:srgbClr val="0F1115"/>
                </a:solidFill>
                <a:highlight>
                  <a:srgbClr val="FFFFFF"/>
                </a:highlight>
                <a:latin typeface="Times New Roman"/>
                <a:ea typeface="Times New Roman"/>
                <a:cs typeface="Times New Roman"/>
                <a:sym typeface="Times New Roman"/>
              </a:rPr>
              <a:t>, </a:t>
            </a:r>
            <a:r>
              <a:rPr lang="zh-HK" sz="1250">
                <a:solidFill>
                  <a:srgbClr val="0F1115"/>
                </a:solidFill>
                <a:highlight>
                  <a:srgbClr val="FFFFFF"/>
                </a:highlight>
                <a:latin typeface="Times New Roman"/>
                <a:ea typeface="Times New Roman"/>
                <a:cs typeface="Times New Roman"/>
                <a:sym typeface="Times New Roman"/>
              </a:rPr>
              <a:t>we boosted 5 videos for RMB 253.2, generating 9,484 views and 15 engagements. </a:t>
            </a:r>
            <a:endParaRPr sz="1250">
              <a:solidFill>
                <a:srgbClr val="0F1115"/>
              </a:solidFill>
              <a:highlight>
                <a:srgbClr val="FFFFFF"/>
              </a:highlight>
              <a:latin typeface="Times New Roman"/>
              <a:ea typeface="Times New Roman"/>
              <a:cs typeface="Times New Roman"/>
              <a:sym typeface="Times New Roman"/>
            </a:endParaRPr>
          </a:p>
          <a:p>
            <a:pPr indent="-307975" lvl="0" marL="457200" marR="0" rtl="0" algn="l">
              <a:lnSpc>
                <a:spcPct val="115000"/>
              </a:lnSpc>
              <a:spcBef>
                <a:spcPts val="0"/>
              </a:spcBef>
              <a:spcAft>
                <a:spcPts val="0"/>
              </a:spcAft>
              <a:buSzPts val="1250"/>
              <a:buFont typeface="Times New Roman"/>
              <a:buChar char="●"/>
            </a:pPr>
            <a:r>
              <a:rPr lang="zh-HK" sz="1250">
                <a:solidFill>
                  <a:srgbClr val="0F1115"/>
                </a:solidFill>
                <a:highlight>
                  <a:srgbClr val="FFFFFF"/>
                </a:highlight>
                <a:latin typeface="Times New Roman"/>
                <a:ea typeface="Times New Roman"/>
                <a:cs typeface="Times New Roman"/>
                <a:sym typeface="Times New Roman"/>
              </a:rPr>
              <a:t>Food content performed the highest views (4,033), the other lifestyle content </a:t>
            </a:r>
            <a:r>
              <a:rPr lang="zh-HK" sz="1250">
                <a:solidFill>
                  <a:srgbClr val="0F1115"/>
                </a:solidFill>
                <a:highlight>
                  <a:srgbClr val="FFFFFF"/>
                </a:highlight>
                <a:latin typeface="Times New Roman"/>
                <a:ea typeface="Times New Roman"/>
                <a:cs typeface="Times New Roman"/>
                <a:sym typeface="Times New Roman"/>
              </a:rPr>
              <a:t>"</a:t>
            </a:r>
            <a:r>
              <a:rPr lang="zh-HK" sz="1250">
                <a:solidFill>
                  <a:srgbClr val="0F1115"/>
                </a:solidFill>
                <a:highlight>
                  <a:srgbClr val="FFFFFF"/>
                </a:highlight>
                <a:latin typeface="Times New Roman"/>
                <a:ea typeface="Times New Roman"/>
                <a:cs typeface="Times New Roman"/>
                <a:sym typeface="Times New Roman"/>
              </a:rPr>
              <a:t>30s在香港" shopping content delivered highest engagement (10) with two boosting.</a:t>
            </a:r>
            <a:endParaRPr sz="1250">
              <a:solidFill>
                <a:srgbClr val="0F1115"/>
              </a:solidFill>
              <a:highlight>
                <a:srgbClr val="FFFFFF"/>
              </a:highlight>
              <a:latin typeface="Times New Roman"/>
              <a:ea typeface="Times New Roman"/>
              <a:cs typeface="Times New Roman"/>
              <a:sym typeface="Times New Roman"/>
            </a:endParaRPr>
          </a:p>
          <a:p>
            <a:pPr indent="-307975" lvl="0" marL="457200" rtl="0" algn="l">
              <a:lnSpc>
                <a:spcPct val="115000"/>
              </a:lnSpc>
              <a:spcBef>
                <a:spcPts val="0"/>
              </a:spcBef>
              <a:spcAft>
                <a:spcPts val="0"/>
              </a:spcAft>
              <a:buClr>
                <a:srgbClr val="0F1115"/>
              </a:buClr>
              <a:buSzPts val="1250"/>
              <a:buFont typeface="Times New Roman"/>
              <a:buChar char="●"/>
            </a:pPr>
            <a:r>
              <a:rPr b="1" lang="zh-HK" sz="1250">
                <a:solidFill>
                  <a:srgbClr val="0F1115"/>
                </a:solidFill>
                <a:highlight>
                  <a:srgbClr val="FFFFFF"/>
                </a:highlight>
                <a:latin typeface="Times New Roman"/>
                <a:ea typeface="Times New Roman"/>
                <a:cs typeface="Times New Roman"/>
                <a:sym typeface="Times New Roman"/>
              </a:rPr>
              <a:t>Aug vs Jul: </a:t>
            </a:r>
            <a:r>
              <a:rPr lang="zh-HK" sz="1250">
                <a:solidFill>
                  <a:srgbClr val="0F1115"/>
                </a:solidFill>
                <a:highlight>
                  <a:srgbClr val="FFFFFF"/>
                </a:highlight>
                <a:latin typeface="Times New Roman"/>
                <a:ea typeface="Times New Roman"/>
                <a:cs typeface="Times New Roman"/>
                <a:sym typeface="Times New Roman"/>
              </a:rPr>
              <a:t>Views slightly down (10,172→9,484) with similar spend, indicating stable boosting efficiency for lifestyle content.</a:t>
            </a:r>
            <a:endParaRPr sz="1250">
              <a:solidFill>
                <a:srgbClr val="0F1115"/>
              </a:solidFill>
              <a:highlight>
                <a:srgbClr val="FFFFFF"/>
              </a:highlight>
              <a:latin typeface="Times New Roman"/>
              <a:ea typeface="Times New Roman"/>
              <a:cs typeface="Times New Roman"/>
              <a:sym typeface="Times New Roman"/>
            </a:endParaRPr>
          </a:p>
        </p:txBody>
      </p:sp>
      <p:pic>
        <p:nvPicPr>
          <p:cNvPr id="314" name="Google Shape;314;g3e72db23f1e_0_36" title="a697a07488e44c8c8c06bebbaeb5ef46.png"/>
          <p:cNvPicPr preferRelativeResize="0"/>
          <p:nvPr/>
        </p:nvPicPr>
        <p:blipFill rotWithShape="1">
          <a:blip r:embed="rId3">
            <a:alphaModFix/>
          </a:blip>
          <a:srcRect b="0" l="278" r="269" t="0"/>
          <a:stretch/>
        </p:blipFill>
        <p:spPr>
          <a:xfrm>
            <a:off x="565025" y="301850"/>
            <a:ext cx="394818" cy="397000"/>
          </a:xfrm>
          <a:prstGeom prst="rect">
            <a:avLst/>
          </a:prstGeom>
          <a:noFill/>
          <a:ln>
            <a:noFill/>
          </a:ln>
        </p:spPr>
      </p:pic>
      <p:sp>
        <p:nvSpPr>
          <p:cNvPr id="315" name="Google Shape;315;g3e72db23f1e_0_36"/>
          <p:cNvSpPr/>
          <p:nvPr/>
        </p:nvSpPr>
        <p:spPr>
          <a:xfrm>
            <a:off x="471690" y="359057"/>
            <a:ext cx="42900" cy="282600"/>
          </a:xfrm>
          <a:prstGeom prst="rect">
            <a:avLst/>
          </a:prstGeom>
          <a:solidFill>
            <a:srgbClr val="FFAB4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icrosoft YaHei"/>
              <a:ea typeface="Microsoft YaHei"/>
              <a:cs typeface="Microsoft YaHei"/>
              <a:sym typeface="Microsoft YaHei"/>
            </a:endParaRPr>
          </a:p>
        </p:txBody>
      </p:sp>
      <p:sp>
        <p:nvSpPr>
          <p:cNvPr id="316" name="Google Shape;316;g3e72db23f1e_0_3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17" name="Google Shape;317;g3e72db23f1e_0_36"/>
          <p:cNvPicPr preferRelativeResize="0"/>
          <p:nvPr/>
        </p:nvPicPr>
        <p:blipFill rotWithShape="1">
          <a:blip r:embed="rId4">
            <a:alphaModFix/>
          </a:blip>
          <a:srcRect b="21020" l="14061" r="17215" t="26140"/>
          <a:stretch/>
        </p:blipFill>
        <p:spPr>
          <a:xfrm>
            <a:off x="8094845" y="162433"/>
            <a:ext cx="1049154" cy="423511"/>
          </a:xfrm>
          <a:prstGeom prst="rect">
            <a:avLst/>
          </a:prstGeom>
          <a:noFill/>
          <a:ln>
            <a:noFill/>
          </a:ln>
        </p:spPr>
      </p:pic>
      <p:sp>
        <p:nvSpPr>
          <p:cNvPr id="318" name="Google Shape;318;g3e72db23f1e_0_36"/>
          <p:cNvSpPr txBox="1"/>
          <p:nvPr/>
        </p:nvSpPr>
        <p:spPr>
          <a:xfrm>
            <a:off x="1010275" y="254050"/>
            <a:ext cx="4972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Channel Boosting Performance </a:t>
            </a:r>
            <a:endParaRPr b="1" i="0" sz="2000" u="none" cap="none" strike="noStrike">
              <a:solidFill>
                <a:srgbClr val="000000"/>
              </a:solidFill>
              <a:latin typeface="Times New Roman"/>
              <a:ea typeface="Times New Roman"/>
              <a:cs typeface="Times New Roman"/>
              <a:sym typeface="Times New Roman"/>
            </a:endParaRPr>
          </a:p>
        </p:txBody>
      </p:sp>
      <p:graphicFrame>
        <p:nvGraphicFramePr>
          <p:cNvPr id="319" name="Google Shape;319;g3e72db23f1e_0_36"/>
          <p:cNvGraphicFramePr/>
          <p:nvPr/>
        </p:nvGraphicFramePr>
        <p:xfrm>
          <a:off x="168300" y="2472832"/>
          <a:ext cx="3000000" cy="3000000"/>
        </p:xfrm>
        <a:graphic>
          <a:graphicData uri="http://schemas.openxmlformats.org/drawingml/2006/table">
            <a:tbl>
              <a:tblPr>
                <a:noFill/>
                <a:tableStyleId>{CBF73CE5-E657-4C52-95DC-C96709342244}</a:tableStyleId>
              </a:tblPr>
              <a:tblGrid>
                <a:gridCol w="1178125"/>
                <a:gridCol w="598900"/>
                <a:gridCol w="801975"/>
                <a:gridCol w="538875"/>
                <a:gridCol w="532325"/>
                <a:gridCol w="498900"/>
                <a:gridCol w="779300"/>
                <a:gridCol w="606150"/>
                <a:gridCol w="466725"/>
                <a:gridCol w="474100"/>
                <a:gridCol w="813625"/>
              </a:tblGrid>
              <a:tr h="312175">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Subject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Period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Objectives</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Cost￥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View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Likes</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Recommend</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Comment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Share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Follow</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000" u="none" cap="none" strike="noStrike">
                          <a:latin typeface="Calibri"/>
                          <a:ea typeface="Calibri"/>
                          <a:cs typeface="Calibri"/>
                          <a:sym typeface="Calibri"/>
                        </a:rPr>
                        <a:t>Engagement</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312175">
                <a:tc>
                  <a:txBody>
                    <a:bodyPr/>
                    <a:lstStyle/>
                    <a:p>
                      <a:pPr indent="0" lvl="0" marL="0" marR="0" rtl="0" algn="l">
                        <a:lnSpc>
                          <a:spcPct val="115000"/>
                        </a:lnSpc>
                        <a:spcBef>
                          <a:spcPts val="0"/>
                        </a:spcBef>
                        <a:spcAft>
                          <a:spcPts val="0"/>
                        </a:spcAft>
                        <a:buClr>
                          <a:srgbClr val="000000"/>
                        </a:buClr>
                        <a:buSzPts val="800"/>
                        <a:buFont typeface="Arial"/>
                        <a:buNone/>
                      </a:pPr>
                      <a:r>
                        <a:rPr lang="zh-HK" sz="800"/>
                        <a:t>人均150🍣在香港吃到了满意的漂亮饭！</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8</a:t>
                      </a:r>
                      <a:r>
                        <a:rPr lang="zh-HK" sz="900" u="none" cap="none" strike="noStrike">
                          <a:latin typeface="Calibri"/>
                          <a:ea typeface="Calibri"/>
                          <a:cs typeface="Calibri"/>
                          <a:sym typeface="Calibri"/>
                        </a:rPr>
                        <a:t>/1</a:t>
                      </a:r>
                      <a:r>
                        <a:rPr lang="zh-HK" sz="900">
                          <a:latin typeface="Calibri"/>
                          <a:ea typeface="Calibri"/>
                          <a:cs typeface="Calibri"/>
                          <a:sym typeface="Calibri"/>
                        </a:rPr>
                        <a:t>2</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t>Impressions</a:t>
                      </a:r>
                      <a:endParaRPr sz="9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latin typeface="Calibri"/>
                          <a:ea typeface="Calibri"/>
                          <a:cs typeface="Calibri"/>
                          <a:sym typeface="Calibri"/>
                        </a:rPr>
                        <a:t>￥50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4033</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3</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l">
                        <a:lnSpc>
                          <a:spcPct val="115000"/>
                        </a:lnSpc>
                        <a:spcBef>
                          <a:spcPts val="0"/>
                        </a:spcBef>
                        <a:spcAft>
                          <a:spcPts val="0"/>
                        </a:spcAft>
                        <a:buClr>
                          <a:srgbClr val="000000"/>
                        </a:buClr>
                        <a:buSzPts val="800"/>
                        <a:buFont typeface="Arial"/>
                        <a:buNone/>
                      </a:pPr>
                      <a:r>
                        <a:rPr lang="zh-HK" sz="800"/>
                        <a:t>60s教你来香港看chiikawa大电影 附路线</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8</a:t>
                      </a:r>
                      <a:r>
                        <a:rPr lang="zh-HK" sz="900" u="none" cap="none" strike="noStrike">
                          <a:latin typeface="Calibri"/>
                          <a:ea typeface="Calibri"/>
                          <a:cs typeface="Calibri"/>
                          <a:sym typeface="Calibri"/>
                        </a:rPr>
                        <a:t>/1</a:t>
                      </a:r>
                      <a:r>
                        <a:rPr lang="zh-HK" sz="900">
                          <a:latin typeface="Calibri"/>
                          <a:ea typeface="Calibri"/>
                          <a:cs typeface="Calibri"/>
                          <a:sym typeface="Calibri"/>
                        </a:rPr>
                        <a:t>3</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t>Impressions</a:t>
                      </a:r>
                      <a:endParaRPr sz="9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latin typeface="Calibri"/>
                          <a:ea typeface="Calibri"/>
                          <a:cs typeface="Calibri"/>
                          <a:sym typeface="Calibri"/>
                        </a:rPr>
                        <a:t>￥50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1456</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rtl="0" algn="l">
                        <a:spcBef>
                          <a:spcPts val="0"/>
                        </a:spcBef>
                        <a:spcAft>
                          <a:spcPts val="0"/>
                        </a:spcAft>
                        <a:buNone/>
                      </a:pPr>
                      <a:r>
                        <a:rPr lang="zh-HK" sz="800"/>
                        <a:t>60s教你来香港看chiikawa大电影 附路线</a:t>
                      </a:r>
                      <a:endParaRPr sz="8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8</a:t>
                      </a:r>
                      <a:r>
                        <a:rPr lang="zh-HK" sz="900" u="none" cap="none" strike="noStrike">
                          <a:latin typeface="Calibri"/>
                          <a:ea typeface="Calibri"/>
                          <a:cs typeface="Calibri"/>
                          <a:sym typeface="Calibri"/>
                        </a:rPr>
                        <a:t>/1</a:t>
                      </a:r>
                      <a:r>
                        <a:rPr lang="zh-HK" sz="900">
                          <a:latin typeface="Calibri"/>
                          <a:ea typeface="Calibri"/>
                          <a:cs typeface="Calibri"/>
                          <a:sym typeface="Calibri"/>
                        </a:rPr>
                        <a:t>3</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t>Impressions</a:t>
                      </a:r>
                      <a:endParaRPr sz="9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latin typeface="Calibri"/>
                          <a:ea typeface="Calibri"/>
                          <a:cs typeface="Calibri"/>
                          <a:sym typeface="Calibri"/>
                        </a:rPr>
                        <a:t>￥50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1948</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2</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2</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rtl="0" algn="l">
                        <a:spcBef>
                          <a:spcPts val="0"/>
                        </a:spcBef>
                        <a:spcAft>
                          <a:spcPts val="0"/>
                        </a:spcAft>
                        <a:buNone/>
                      </a:pPr>
                      <a:r>
                        <a:rPr lang="zh-HK" sz="800"/>
                        <a:t>30s看在香港花的zui满意的几笔💰</a:t>
                      </a:r>
                      <a:endParaRPr sz="8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8</a:t>
                      </a:r>
                      <a:r>
                        <a:rPr lang="zh-HK" sz="900" u="none" cap="none" strike="noStrike">
                          <a:latin typeface="Calibri"/>
                          <a:ea typeface="Calibri"/>
                          <a:cs typeface="Calibri"/>
                          <a:sym typeface="Calibri"/>
                        </a:rPr>
                        <a:t>/</a:t>
                      </a:r>
                      <a:r>
                        <a:rPr lang="zh-HK" sz="900">
                          <a:latin typeface="Calibri"/>
                          <a:ea typeface="Calibri"/>
                          <a:cs typeface="Calibri"/>
                          <a:sym typeface="Calibri"/>
                        </a:rPr>
                        <a:t>31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t>Impressions</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latin typeface="Calibri"/>
                          <a:ea typeface="Calibri"/>
                          <a:cs typeface="Calibri"/>
                          <a:sym typeface="Calibri"/>
                        </a:rPr>
                        <a:t>￥5</a:t>
                      </a:r>
                      <a:r>
                        <a:rPr lang="zh-HK" sz="900">
                          <a:latin typeface="Calibri"/>
                          <a:ea typeface="Calibri"/>
                          <a:cs typeface="Calibri"/>
                          <a:sym typeface="Calibri"/>
                        </a:rPr>
                        <a:t>1.6</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1813</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2</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8</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2175">
                <a:tc>
                  <a:txBody>
                    <a:bodyPr/>
                    <a:lstStyle/>
                    <a:p>
                      <a:pPr indent="0" lvl="0" marL="0" marR="0" rtl="0" algn="l">
                        <a:lnSpc>
                          <a:spcPct val="115000"/>
                        </a:lnSpc>
                        <a:spcBef>
                          <a:spcPts val="0"/>
                        </a:spcBef>
                        <a:spcAft>
                          <a:spcPts val="0"/>
                        </a:spcAft>
                        <a:buClr>
                          <a:srgbClr val="000000"/>
                        </a:buClr>
                        <a:buSzPts val="800"/>
                        <a:buFont typeface="Arial"/>
                        <a:buNone/>
                      </a:pPr>
                      <a:r>
                        <a:rPr lang="zh-HK" sz="800"/>
                        <a:t>30s看在香港花的zui满意的几笔💰</a:t>
                      </a:r>
                      <a:endParaRPr sz="8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0</a:t>
                      </a:r>
                      <a:r>
                        <a:rPr lang="zh-HK" sz="900">
                          <a:latin typeface="Calibri"/>
                          <a:ea typeface="Calibri"/>
                          <a:cs typeface="Calibri"/>
                          <a:sym typeface="Calibri"/>
                        </a:rPr>
                        <a:t>8</a:t>
                      </a:r>
                      <a:r>
                        <a:rPr lang="zh-HK" sz="900" u="none" cap="none" strike="noStrike">
                          <a:latin typeface="Calibri"/>
                          <a:ea typeface="Calibri"/>
                          <a:cs typeface="Calibri"/>
                          <a:sym typeface="Calibri"/>
                        </a:rPr>
                        <a:t>/</a:t>
                      </a:r>
                      <a:r>
                        <a:rPr lang="zh-HK" sz="900">
                          <a:latin typeface="Calibri"/>
                          <a:ea typeface="Calibri"/>
                          <a:cs typeface="Calibri"/>
                          <a:sym typeface="Calibri"/>
                        </a:rPr>
                        <a:t>31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t>Impressions</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800"/>
                        <a:buFont typeface="Arial"/>
                        <a:buNone/>
                      </a:pPr>
                      <a:r>
                        <a:rPr lang="zh-HK" sz="900" u="none" cap="none" strike="noStrike">
                          <a:latin typeface="Calibri"/>
                          <a:ea typeface="Calibri"/>
                          <a:cs typeface="Calibri"/>
                          <a:sym typeface="Calibri"/>
                        </a:rPr>
                        <a:t>￥5</a:t>
                      </a:r>
                      <a:r>
                        <a:rPr lang="zh-HK" sz="900">
                          <a:latin typeface="Calibri"/>
                          <a:ea typeface="Calibri"/>
                          <a:cs typeface="Calibri"/>
                          <a:sym typeface="Calibri"/>
                        </a:rPr>
                        <a:t>1.6</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234</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zh-HK" sz="900"/>
                        <a:t>10</a:t>
                      </a:r>
                      <a:endParaRPr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4175">
                <a:tc gridSpan="3">
                  <a:txBody>
                    <a:bodyPr/>
                    <a:lstStyle/>
                    <a:p>
                      <a:pPr indent="0" lvl="0" marL="0" marR="0" rtl="0" algn="ctr">
                        <a:lnSpc>
                          <a:spcPct val="115000"/>
                        </a:lnSpc>
                        <a:spcBef>
                          <a:spcPts val="0"/>
                        </a:spcBef>
                        <a:spcAft>
                          <a:spcPts val="0"/>
                        </a:spcAft>
                        <a:buClr>
                          <a:srgbClr val="000000"/>
                        </a:buClr>
                        <a:buSzPts val="1100"/>
                        <a:buFont typeface="Arial"/>
                        <a:buNone/>
                      </a:pPr>
                      <a:r>
                        <a:rPr b="1" lang="zh-HK" sz="900"/>
                        <a:t>Aug</a:t>
                      </a:r>
                      <a:r>
                        <a:rPr b="1" lang="zh-HK" sz="900" u="none" cap="none" strike="noStrike"/>
                        <a:t> Total</a:t>
                      </a:r>
                      <a:endParaRPr b="1" sz="900" u="none" cap="none" strike="noStrike"/>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hMerge="1"/>
                <a:tc hMerge="1"/>
                <a:tc>
                  <a:txBody>
                    <a:bodyPr/>
                    <a:lstStyle/>
                    <a:p>
                      <a:pPr indent="0" lvl="0" marL="0" rtl="0" algn="ctr">
                        <a:lnSpc>
                          <a:spcPct val="115000"/>
                        </a:lnSpc>
                        <a:spcBef>
                          <a:spcPts val="0"/>
                        </a:spcBef>
                        <a:spcAft>
                          <a:spcPts val="0"/>
                        </a:spcAft>
                        <a:buNone/>
                      </a:pPr>
                      <a:r>
                        <a:rPr b="1" lang="zh-HK" sz="900"/>
                        <a:t>￥253.2</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9,484</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15</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9</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0</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1</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0</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zh-HK" sz="900"/>
                        <a:t>25</a:t>
                      </a:r>
                      <a:endParaRPr b="1" sz="900"/>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2CC"/>
                    </a:solidFill>
                  </a:tcPr>
                </a:tc>
              </a:tr>
            </a:tbl>
          </a:graphicData>
        </a:graphic>
      </p:graphicFrame>
      <p:sp>
        <p:nvSpPr>
          <p:cNvPr id="320" name="Google Shape;320;g3e72db23f1e_0_36"/>
          <p:cNvSpPr/>
          <p:nvPr/>
        </p:nvSpPr>
        <p:spPr>
          <a:xfrm>
            <a:off x="168300" y="2781276"/>
            <a:ext cx="7289100" cy="3108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21" name="Google Shape;321;g3e72db23f1e_0_36"/>
          <p:cNvPicPr preferRelativeResize="0"/>
          <p:nvPr/>
        </p:nvPicPr>
        <p:blipFill rotWithShape="1">
          <a:blip r:embed="rId5">
            <a:alphaModFix/>
          </a:blip>
          <a:srcRect b="7785" l="0" r="0" t="4940"/>
          <a:stretch/>
        </p:blipFill>
        <p:spPr>
          <a:xfrm>
            <a:off x="7587510" y="2172572"/>
            <a:ext cx="1382150" cy="261435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10" title="图表"/>
          <p:cNvPicPr preferRelativeResize="0"/>
          <p:nvPr/>
        </p:nvPicPr>
        <p:blipFill>
          <a:blip r:embed="rId3">
            <a:alphaModFix/>
          </a:blip>
          <a:stretch>
            <a:fillRect/>
          </a:stretch>
        </p:blipFill>
        <p:spPr>
          <a:xfrm>
            <a:off x="5633619" y="333042"/>
            <a:ext cx="3229074" cy="1996650"/>
          </a:xfrm>
          <a:prstGeom prst="rect">
            <a:avLst/>
          </a:prstGeom>
          <a:noFill/>
          <a:ln>
            <a:noFill/>
          </a:ln>
        </p:spPr>
      </p:pic>
      <p:sp>
        <p:nvSpPr>
          <p:cNvPr id="327" name="Google Shape;327;p10"/>
          <p:cNvSpPr/>
          <p:nvPr/>
        </p:nvSpPr>
        <p:spPr>
          <a:xfrm>
            <a:off x="3990100" y="4713800"/>
            <a:ext cx="1203000" cy="423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urce Code Pro"/>
              <a:ea typeface="Source Code Pro"/>
              <a:cs typeface="Source Code Pro"/>
              <a:sym typeface="Source Code Pro"/>
            </a:endParaRPr>
          </a:p>
        </p:txBody>
      </p:sp>
      <p:sp>
        <p:nvSpPr>
          <p:cNvPr id="328" name="Google Shape;328;p10"/>
          <p:cNvSpPr/>
          <p:nvPr/>
        </p:nvSpPr>
        <p:spPr>
          <a:xfrm>
            <a:off x="395027" y="359057"/>
            <a:ext cx="42900" cy="282600"/>
          </a:xfrm>
          <a:prstGeom prst="rect">
            <a:avLst/>
          </a:prstGeom>
          <a:solidFill>
            <a:schemeClr val="dk1"/>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pic>
        <p:nvPicPr>
          <p:cNvPr id="329" name="Google Shape;329;p10"/>
          <p:cNvPicPr preferRelativeResize="0"/>
          <p:nvPr/>
        </p:nvPicPr>
        <p:blipFill rotWithShape="1">
          <a:blip r:embed="rId4">
            <a:alphaModFix/>
          </a:blip>
          <a:srcRect b="21815" l="32543" r="32537" t="22001"/>
          <a:stretch/>
        </p:blipFill>
        <p:spPr>
          <a:xfrm>
            <a:off x="496975" y="314600"/>
            <a:ext cx="394818" cy="396999"/>
          </a:xfrm>
          <a:prstGeom prst="rect">
            <a:avLst/>
          </a:prstGeom>
          <a:noFill/>
          <a:ln>
            <a:noFill/>
          </a:ln>
        </p:spPr>
      </p:pic>
      <p:sp>
        <p:nvSpPr>
          <p:cNvPr id="330" name="Google Shape;330;p10"/>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31" name="Google Shape;331;p10"/>
          <p:cNvPicPr preferRelativeResize="0"/>
          <p:nvPr/>
        </p:nvPicPr>
        <p:blipFill rotWithShape="1">
          <a:blip r:embed="rId5">
            <a:alphaModFix/>
          </a:blip>
          <a:srcRect b="21020" l="14063" r="17215" t="26140"/>
          <a:stretch/>
        </p:blipFill>
        <p:spPr>
          <a:xfrm>
            <a:off x="8094845" y="162433"/>
            <a:ext cx="1049155" cy="423511"/>
          </a:xfrm>
          <a:prstGeom prst="rect">
            <a:avLst/>
          </a:prstGeom>
          <a:noFill/>
          <a:ln>
            <a:noFill/>
          </a:ln>
        </p:spPr>
      </p:pic>
      <p:sp>
        <p:nvSpPr>
          <p:cNvPr id="332" name="Google Shape;332;p10"/>
          <p:cNvSpPr txBox="1"/>
          <p:nvPr/>
        </p:nvSpPr>
        <p:spPr>
          <a:xfrm>
            <a:off x="6741" y="913592"/>
            <a:ext cx="5718900" cy="1425600"/>
          </a:xfrm>
          <a:prstGeom prst="rect">
            <a:avLst/>
          </a:prstGeom>
          <a:noFill/>
          <a:ln>
            <a:noFill/>
          </a:ln>
        </p:spPr>
        <p:txBody>
          <a:bodyPr anchorCtr="0" anchor="t" bIns="25700" lIns="51425" spcFirstLastPara="1" rIns="51425" wrap="square" tIns="25700">
            <a:spAutoFit/>
          </a:bodyPr>
          <a:lstStyle/>
          <a:p>
            <a:pPr indent="-295275" lvl="0" marL="457200" marR="0" rtl="0" algn="l">
              <a:lnSpc>
                <a:spcPct val="150000"/>
              </a:lnSpc>
              <a:spcBef>
                <a:spcPts val="1200"/>
              </a:spcBef>
              <a:spcAft>
                <a:spcPts val="0"/>
              </a:spcAft>
              <a:buClr>
                <a:srgbClr val="0F1115"/>
              </a:buClr>
              <a:buSzPts val="1050"/>
              <a:buFont typeface="Times New Roman"/>
              <a:buChar char="●"/>
            </a:pPr>
            <a:r>
              <a:rPr b="1" lang="zh-HK" sz="1050">
                <a:solidFill>
                  <a:srgbClr val="0F1115"/>
                </a:solidFill>
                <a:highlight>
                  <a:srgbClr val="FFFFFF"/>
                </a:highlight>
                <a:latin typeface="Times New Roman"/>
                <a:ea typeface="Times New Roman"/>
                <a:cs typeface="Times New Roman"/>
                <a:sym typeface="Times New Roman"/>
              </a:rPr>
              <a:t>4 videos</a:t>
            </a:r>
            <a:r>
              <a:rPr lang="zh-HK" sz="1050">
                <a:solidFill>
                  <a:srgbClr val="0F1115"/>
                </a:solidFill>
                <a:highlight>
                  <a:srgbClr val="FFFFFF"/>
                </a:highlight>
                <a:latin typeface="Times New Roman"/>
                <a:ea typeface="Times New Roman"/>
                <a:cs typeface="Times New Roman"/>
                <a:sym typeface="Times New Roman"/>
              </a:rPr>
              <a:t> published in Aug. </a:t>
            </a:r>
            <a:r>
              <a:rPr b="1" lang="zh-HK" sz="1050">
                <a:solidFill>
                  <a:srgbClr val="0F1115"/>
                </a:solidFill>
                <a:highlight>
                  <a:srgbClr val="FFFFFF"/>
                </a:highlight>
                <a:latin typeface="Times New Roman"/>
                <a:ea typeface="Times New Roman"/>
                <a:cs typeface="Times New Roman"/>
                <a:sym typeface="Times New Roman"/>
              </a:rPr>
              <a:t>"人均150漂亮飯" </a:t>
            </a:r>
            <a:r>
              <a:rPr lang="zh-HK" sz="1050">
                <a:solidFill>
                  <a:srgbClr val="0F1115"/>
                </a:solidFill>
                <a:highlight>
                  <a:srgbClr val="FFFFFF"/>
                </a:highlight>
                <a:latin typeface="Times New Roman"/>
                <a:ea typeface="Times New Roman"/>
                <a:cs typeface="Times New Roman"/>
                <a:sym typeface="Times New Roman"/>
              </a:rPr>
              <a:t>recorded the </a:t>
            </a:r>
            <a:r>
              <a:rPr b="1" lang="zh-HK" sz="1050">
                <a:solidFill>
                  <a:srgbClr val="0F1115"/>
                </a:solidFill>
                <a:highlight>
                  <a:srgbClr val="FFFFFF"/>
                </a:highlight>
                <a:latin typeface="Times New Roman"/>
                <a:ea typeface="Times New Roman"/>
                <a:cs typeface="Times New Roman"/>
                <a:sym typeface="Times New Roman"/>
              </a:rPr>
              <a:t>highest views</a:t>
            </a:r>
            <a:r>
              <a:rPr lang="zh-HK" sz="1050">
                <a:solidFill>
                  <a:srgbClr val="0F1115"/>
                </a:solidFill>
                <a:highlight>
                  <a:srgbClr val="FFFFFF"/>
                </a:highlight>
                <a:latin typeface="Times New Roman"/>
                <a:ea typeface="Times New Roman"/>
                <a:cs typeface="Times New Roman"/>
                <a:sym typeface="Times New Roman"/>
              </a:rPr>
              <a:t> (8,949). </a:t>
            </a:r>
            <a:br>
              <a:rPr lang="zh-HK" sz="1050">
                <a:solidFill>
                  <a:srgbClr val="0F1115"/>
                </a:solidFill>
                <a:highlight>
                  <a:srgbClr val="FFFFFF"/>
                </a:highlight>
                <a:latin typeface="Times New Roman"/>
                <a:ea typeface="Times New Roman"/>
                <a:cs typeface="Times New Roman"/>
                <a:sym typeface="Times New Roman"/>
              </a:rPr>
            </a:br>
            <a:r>
              <a:rPr b="1" lang="zh-HK" sz="1050">
                <a:solidFill>
                  <a:srgbClr val="0F1115"/>
                </a:solidFill>
                <a:highlight>
                  <a:srgbClr val="FFFFFF"/>
                </a:highlight>
                <a:latin typeface="Times New Roman"/>
                <a:ea typeface="Times New Roman"/>
                <a:cs typeface="Times New Roman"/>
                <a:sym typeface="Times New Roman"/>
              </a:rPr>
              <a:t>"香港十幾$的美味" </a:t>
            </a:r>
            <a:r>
              <a:rPr lang="zh-HK" sz="1050">
                <a:solidFill>
                  <a:srgbClr val="0F1115"/>
                </a:solidFill>
                <a:highlight>
                  <a:srgbClr val="FFFFFF"/>
                </a:highlight>
                <a:latin typeface="Times New Roman"/>
                <a:ea typeface="Times New Roman"/>
                <a:cs typeface="Times New Roman"/>
                <a:sym typeface="Times New Roman"/>
              </a:rPr>
              <a:t>delivered the </a:t>
            </a:r>
            <a:r>
              <a:rPr b="1" lang="zh-HK" sz="1050">
                <a:solidFill>
                  <a:srgbClr val="0F1115"/>
                </a:solidFill>
                <a:highlight>
                  <a:srgbClr val="FFFFFF"/>
                </a:highlight>
                <a:latin typeface="Times New Roman"/>
                <a:ea typeface="Times New Roman"/>
                <a:cs typeface="Times New Roman"/>
                <a:sym typeface="Times New Roman"/>
              </a:rPr>
              <a:t>highest engagement </a:t>
            </a:r>
            <a:r>
              <a:rPr lang="zh-HK" sz="1050">
                <a:solidFill>
                  <a:srgbClr val="0F1115"/>
                </a:solidFill>
                <a:highlight>
                  <a:srgbClr val="FFFFFF"/>
                </a:highlight>
                <a:latin typeface="Times New Roman"/>
                <a:ea typeface="Times New Roman"/>
                <a:cs typeface="Times New Roman"/>
                <a:sym typeface="Times New Roman"/>
              </a:rPr>
              <a:t>(507) and </a:t>
            </a:r>
            <a:r>
              <a:rPr b="1" lang="zh-HK" sz="1050">
                <a:solidFill>
                  <a:srgbClr val="0F1115"/>
                </a:solidFill>
                <a:highlight>
                  <a:srgbClr val="FFFFFF"/>
                </a:highlight>
                <a:latin typeface="Times New Roman"/>
                <a:ea typeface="Times New Roman"/>
                <a:cs typeface="Times New Roman"/>
                <a:sym typeface="Times New Roman"/>
              </a:rPr>
              <a:t>engagement rate</a:t>
            </a:r>
            <a:r>
              <a:rPr lang="zh-HK" sz="1050">
                <a:solidFill>
                  <a:srgbClr val="0F1115"/>
                </a:solidFill>
                <a:highlight>
                  <a:srgbClr val="FFFFFF"/>
                </a:highlight>
                <a:latin typeface="Times New Roman"/>
                <a:ea typeface="Times New Roman"/>
                <a:cs typeface="Times New Roman"/>
                <a:sym typeface="Times New Roman"/>
              </a:rPr>
              <a:t> (7.73%).</a:t>
            </a:r>
            <a:endParaRPr sz="1050">
              <a:solidFill>
                <a:srgbClr val="0F1115"/>
              </a:solidFill>
              <a:highlight>
                <a:srgbClr val="FFFFFF"/>
              </a:highlight>
              <a:latin typeface="Times New Roman"/>
              <a:ea typeface="Times New Roman"/>
              <a:cs typeface="Times New Roman"/>
              <a:sym typeface="Times New Roman"/>
            </a:endParaRPr>
          </a:p>
          <a:p>
            <a:pPr indent="-295275" lvl="0" marL="457200" marR="0" rtl="0" algn="l">
              <a:lnSpc>
                <a:spcPct val="150000"/>
              </a:lnSpc>
              <a:spcBef>
                <a:spcPts val="0"/>
              </a:spcBef>
              <a:spcAft>
                <a:spcPts val="0"/>
              </a:spcAft>
              <a:buClr>
                <a:srgbClr val="0F1115"/>
              </a:buClr>
              <a:buSzPts val="1050"/>
              <a:buFont typeface="Times New Roman"/>
              <a:buChar char="●"/>
            </a:pPr>
            <a:r>
              <a:rPr b="1" lang="zh-HK" sz="1050">
                <a:solidFill>
                  <a:srgbClr val="1155CC"/>
                </a:solidFill>
                <a:highlight>
                  <a:srgbClr val="FFFFFF"/>
                </a:highlight>
                <a:latin typeface="Times New Roman"/>
                <a:ea typeface="Times New Roman"/>
                <a:cs typeface="Times New Roman"/>
                <a:sym typeface="Times New Roman"/>
              </a:rPr>
              <a:t>Boosting highlights: </a:t>
            </a:r>
            <a:r>
              <a:rPr b="1" lang="zh-HK" sz="1050">
                <a:solidFill>
                  <a:srgbClr val="0F1115"/>
                </a:solidFill>
                <a:highlight>
                  <a:srgbClr val="FFFFFF"/>
                </a:highlight>
                <a:latin typeface="Times New Roman"/>
                <a:ea typeface="Times New Roman"/>
                <a:cs typeface="Times New Roman"/>
                <a:sym typeface="Times New Roman"/>
              </a:rPr>
              <a:t>"30s在香港" </a:t>
            </a:r>
            <a:r>
              <a:rPr lang="zh-HK" sz="1050">
                <a:solidFill>
                  <a:srgbClr val="0F1115"/>
                </a:solidFill>
                <a:highlight>
                  <a:srgbClr val="FFFFFF"/>
                </a:highlight>
                <a:latin typeface="Times New Roman"/>
                <a:ea typeface="Times New Roman"/>
                <a:cs typeface="Times New Roman"/>
                <a:sym typeface="Times New Roman"/>
              </a:rPr>
              <a:t>shopping content led in </a:t>
            </a:r>
            <a:r>
              <a:rPr b="1" lang="zh-HK" sz="1050">
                <a:solidFill>
                  <a:srgbClr val="0F1115"/>
                </a:solidFill>
                <a:highlight>
                  <a:srgbClr val="FFFFFF"/>
                </a:highlight>
                <a:latin typeface="Times New Roman"/>
                <a:ea typeface="Times New Roman"/>
                <a:cs typeface="Times New Roman"/>
                <a:sym typeface="Times New Roman"/>
              </a:rPr>
              <a:t>impressions and follower growth</a:t>
            </a:r>
            <a:r>
              <a:rPr lang="zh-HK" sz="1050">
                <a:solidFill>
                  <a:srgbClr val="0F1115"/>
                </a:solidFill>
                <a:highlight>
                  <a:srgbClr val="FFFFFF"/>
                </a:highlight>
                <a:latin typeface="Times New Roman"/>
                <a:ea typeface="Times New Roman"/>
                <a:cs typeface="Times New Roman"/>
                <a:sym typeface="Times New Roman"/>
              </a:rPr>
              <a:t>;</a:t>
            </a:r>
            <a:r>
              <a:rPr b="1" lang="zh-HK" sz="1050">
                <a:solidFill>
                  <a:srgbClr val="0F1115"/>
                </a:solidFill>
                <a:highlight>
                  <a:srgbClr val="FFFFFF"/>
                </a:highlight>
                <a:latin typeface="Times New Roman"/>
                <a:ea typeface="Times New Roman"/>
                <a:cs typeface="Times New Roman"/>
                <a:sym typeface="Times New Roman"/>
              </a:rPr>
              <a:t>"</a:t>
            </a:r>
            <a:r>
              <a:rPr lang="zh-HK" sz="1050">
                <a:solidFill>
                  <a:srgbClr val="0F1115"/>
                </a:solidFill>
                <a:highlight>
                  <a:srgbClr val="FFFFFF"/>
                </a:highlight>
                <a:latin typeface="Times New Roman"/>
                <a:ea typeface="Times New Roman"/>
                <a:cs typeface="Times New Roman"/>
                <a:sym typeface="Times New Roman"/>
              </a:rPr>
              <a:t>人</a:t>
            </a:r>
            <a:r>
              <a:rPr b="1" lang="zh-HK" sz="1050">
                <a:solidFill>
                  <a:srgbClr val="0F1115"/>
                </a:solidFill>
                <a:highlight>
                  <a:srgbClr val="FFFFFF"/>
                </a:highlight>
                <a:latin typeface="Times New Roman"/>
                <a:ea typeface="Times New Roman"/>
                <a:cs typeface="Times New Roman"/>
                <a:sym typeface="Times New Roman"/>
              </a:rPr>
              <a:t>均150漂亮飯" </a:t>
            </a:r>
            <a:r>
              <a:rPr lang="zh-HK" sz="1050">
                <a:solidFill>
                  <a:srgbClr val="0F1115"/>
                </a:solidFill>
                <a:highlight>
                  <a:srgbClr val="FFFFFF"/>
                </a:highlight>
                <a:latin typeface="Times New Roman"/>
                <a:ea typeface="Times New Roman"/>
                <a:cs typeface="Times New Roman"/>
                <a:sym typeface="Times New Roman"/>
              </a:rPr>
              <a:t>led in</a:t>
            </a:r>
            <a:r>
              <a:rPr b="1" lang="zh-HK" sz="1050">
                <a:solidFill>
                  <a:srgbClr val="0F1115"/>
                </a:solidFill>
                <a:highlight>
                  <a:srgbClr val="FFFFFF"/>
                </a:highlight>
                <a:latin typeface="Times New Roman"/>
                <a:ea typeface="Times New Roman"/>
                <a:cs typeface="Times New Roman"/>
                <a:sym typeface="Times New Roman"/>
              </a:rPr>
              <a:t> engagement.</a:t>
            </a:r>
            <a:r>
              <a:rPr lang="zh-HK" sz="1050">
                <a:solidFill>
                  <a:srgbClr val="0F1115"/>
                </a:solidFill>
                <a:highlight>
                  <a:srgbClr val="FFFFFF"/>
                </a:highlight>
                <a:latin typeface="Times New Roman"/>
                <a:ea typeface="Times New Roman"/>
                <a:cs typeface="Times New Roman"/>
                <a:sym typeface="Times New Roman"/>
              </a:rPr>
              <a:t> </a:t>
            </a:r>
            <a:endParaRPr sz="1050">
              <a:solidFill>
                <a:srgbClr val="0F1115"/>
              </a:solidFill>
              <a:highlight>
                <a:srgbClr val="FFFFFF"/>
              </a:highlight>
              <a:latin typeface="Times New Roman"/>
              <a:ea typeface="Times New Roman"/>
              <a:cs typeface="Times New Roman"/>
              <a:sym typeface="Times New Roman"/>
            </a:endParaRPr>
          </a:p>
          <a:p>
            <a:pPr indent="-295275" lvl="0" marL="457200" marR="0" rtl="0" algn="l">
              <a:lnSpc>
                <a:spcPct val="150000"/>
              </a:lnSpc>
              <a:spcBef>
                <a:spcPts val="0"/>
              </a:spcBef>
              <a:spcAft>
                <a:spcPts val="0"/>
              </a:spcAft>
              <a:buClr>
                <a:srgbClr val="0F1115"/>
              </a:buClr>
              <a:buSzPts val="1050"/>
              <a:buFont typeface="Times New Roman"/>
              <a:buChar char="●"/>
            </a:pPr>
            <a:r>
              <a:rPr b="1" lang="zh-HK" sz="1050">
                <a:solidFill>
                  <a:srgbClr val="0F1115"/>
                </a:solidFill>
                <a:highlight>
                  <a:srgbClr val="FFFFFF"/>
                </a:highlight>
                <a:latin typeface="Times New Roman"/>
                <a:ea typeface="Times New Roman"/>
                <a:cs typeface="Times New Roman"/>
                <a:sym typeface="Times New Roman"/>
              </a:rPr>
              <a:t>Aug </a:t>
            </a:r>
            <a:r>
              <a:rPr b="1" lang="zh-HK" sz="1050">
                <a:solidFill>
                  <a:srgbClr val="0F1115"/>
                </a:solidFill>
                <a:highlight>
                  <a:srgbClr val="FFFFFF"/>
                </a:highlight>
                <a:latin typeface="Times New Roman"/>
                <a:ea typeface="Times New Roman"/>
                <a:cs typeface="Times New Roman"/>
                <a:sym typeface="Times New Roman"/>
              </a:rPr>
              <a:t>CPE at ¥0.81</a:t>
            </a:r>
            <a:r>
              <a:rPr lang="zh-HK" sz="1050">
                <a:solidFill>
                  <a:srgbClr val="0F1115"/>
                </a:solidFill>
                <a:highlight>
                  <a:srgbClr val="FFFFFF"/>
                </a:highlight>
                <a:latin typeface="Times New Roman"/>
                <a:ea typeface="Times New Roman"/>
                <a:cs typeface="Times New Roman"/>
                <a:sym typeface="Times New Roman"/>
              </a:rPr>
              <a:t>, slightly up from Jul (¥0.77) and</a:t>
            </a:r>
            <a:r>
              <a:rPr b="1" lang="zh-HK" sz="1050">
                <a:solidFill>
                  <a:srgbClr val="0F1115"/>
                </a:solidFill>
                <a:highlight>
                  <a:srgbClr val="FFFFFF"/>
                </a:highlight>
                <a:latin typeface="Times New Roman"/>
                <a:ea typeface="Times New Roman"/>
                <a:cs typeface="Times New Roman"/>
                <a:sym typeface="Times New Roman"/>
              </a:rPr>
              <a:t> </a:t>
            </a:r>
            <a:r>
              <a:rPr lang="zh-HK" sz="1050">
                <a:solidFill>
                  <a:srgbClr val="0F1115"/>
                </a:solidFill>
                <a:highlight>
                  <a:srgbClr val="FFFFFF"/>
                </a:highlight>
                <a:latin typeface="Times New Roman"/>
                <a:ea typeface="Times New Roman"/>
                <a:cs typeface="Times New Roman"/>
                <a:sym typeface="Times New Roman"/>
              </a:rPr>
              <a:t>2025 benchmark (¥0.65), strategy continues to deliver cost-effective results.</a:t>
            </a:r>
            <a:endParaRPr b="0" i="0" sz="1050" u="none" cap="none" strike="noStrike">
              <a:solidFill>
                <a:schemeClr val="dk1"/>
              </a:solidFill>
              <a:latin typeface="Times New Roman"/>
              <a:ea typeface="Times New Roman"/>
              <a:cs typeface="Times New Roman"/>
              <a:sym typeface="Times New Roman"/>
            </a:endParaRPr>
          </a:p>
        </p:txBody>
      </p:sp>
      <p:sp>
        <p:nvSpPr>
          <p:cNvPr id="333" name="Google Shape;333;p10"/>
          <p:cNvSpPr txBox="1"/>
          <p:nvPr/>
        </p:nvSpPr>
        <p:spPr>
          <a:xfrm>
            <a:off x="882769" y="259280"/>
            <a:ext cx="7611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Douyin Performance Summary </a:t>
            </a:r>
            <a:endParaRPr b="1" i="0" sz="2000" u="none" cap="none" strike="noStrike">
              <a:solidFill>
                <a:schemeClr val="dk1"/>
              </a:solidFill>
              <a:latin typeface="Times New Roman"/>
              <a:ea typeface="Times New Roman"/>
              <a:cs typeface="Times New Roman"/>
              <a:sym typeface="Times New Roman"/>
            </a:endParaRPr>
          </a:p>
        </p:txBody>
      </p:sp>
      <p:sp>
        <p:nvSpPr>
          <p:cNvPr id="334" name="Google Shape;334;p10"/>
          <p:cNvSpPr txBox="1"/>
          <p:nvPr/>
        </p:nvSpPr>
        <p:spPr>
          <a:xfrm>
            <a:off x="7730050" y="1884081"/>
            <a:ext cx="13092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700"/>
              <a:buFont typeface="Arial"/>
              <a:buNone/>
            </a:pPr>
            <a:r>
              <a:rPr b="0" i="0" lang="zh-HK" sz="700" u="none" cap="none" strike="noStrike">
                <a:solidFill>
                  <a:schemeClr val="dk2"/>
                </a:solidFill>
                <a:latin typeface="Source Code Pro"/>
                <a:ea typeface="Source Code Pro"/>
                <a:cs typeface="Source Code Pro"/>
                <a:sym typeface="Source Code Pro"/>
              </a:rPr>
              <a:t>2025 Benchmark </a:t>
            </a:r>
            <a:r>
              <a:rPr b="0" i="0" lang="zh-HK" sz="700" u="none" cap="none" strike="noStrike">
                <a:solidFill>
                  <a:srgbClr val="0F1115"/>
                </a:solidFill>
                <a:highlight>
                  <a:schemeClr val="lt1"/>
                </a:highlight>
                <a:latin typeface="Inter"/>
                <a:ea typeface="Inter"/>
                <a:cs typeface="Inter"/>
                <a:sym typeface="Inter"/>
              </a:rPr>
              <a:t>¥</a:t>
            </a:r>
            <a:r>
              <a:rPr b="0" i="0" lang="zh-HK" sz="700" u="none" cap="none" strike="noStrike">
                <a:solidFill>
                  <a:schemeClr val="dk2"/>
                </a:solidFill>
                <a:latin typeface="Source Code Pro"/>
                <a:ea typeface="Source Code Pro"/>
                <a:cs typeface="Source Code Pro"/>
                <a:sym typeface="Source Code Pro"/>
              </a:rPr>
              <a:t>0.65</a:t>
            </a:r>
            <a:endParaRPr b="0" i="0" sz="700" u="none" cap="none" strike="noStrike">
              <a:solidFill>
                <a:schemeClr val="dk2"/>
              </a:solidFill>
              <a:latin typeface="Source Code Pro"/>
              <a:ea typeface="Source Code Pro"/>
              <a:cs typeface="Source Code Pro"/>
              <a:sym typeface="Source Code Pro"/>
            </a:endParaRPr>
          </a:p>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2"/>
              </a:solidFill>
              <a:latin typeface="Source Code Pro"/>
              <a:ea typeface="Source Code Pro"/>
              <a:cs typeface="Source Code Pro"/>
              <a:sym typeface="Source Code Pro"/>
            </a:endParaRPr>
          </a:p>
        </p:txBody>
      </p:sp>
      <p:sp>
        <p:nvSpPr>
          <p:cNvPr id="335" name="Google Shape;335;p10"/>
          <p:cNvSpPr/>
          <p:nvPr/>
        </p:nvSpPr>
        <p:spPr>
          <a:xfrm>
            <a:off x="8519019" y="1307708"/>
            <a:ext cx="140700" cy="210300"/>
          </a:xfrm>
          <a:prstGeom prst="down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Source Code Pro"/>
              <a:ea typeface="Source Code Pro"/>
              <a:cs typeface="Source Code Pro"/>
              <a:sym typeface="Source Code Pro"/>
            </a:endParaRPr>
          </a:p>
        </p:txBody>
      </p:sp>
      <p:sp>
        <p:nvSpPr>
          <p:cNvPr id="336" name="Google Shape;336;p10"/>
          <p:cNvSpPr txBox="1"/>
          <p:nvPr/>
        </p:nvSpPr>
        <p:spPr>
          <a:xfrm>
            <a:off x="6097032" y="2141391"/>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Jan</a:t>
            </a:r>
            <a:endParaRPr b="0" i="0" sz="600" u="none" cap="none" strike="noStrike">
              <a:solidFill>
                <a:schemeClr val="dk2"/>
              </a:solidFill>
              <a:latin typeface="Source Code Pro"/>
              <a:ea typeface="Source Code Pro"/>
              <a:cs typeface="Source Code Pro"/>
              <a:sym typeface="Source Code Pro"/>
            </a:endParaRPr>
          </a:p>
        </p:txBody>
      </p:sp>
      <p:sp>
        <p:nvSpPr>
          <p:cNvPr id="337" name="Google Shape;337;p10"/>
          <p:cNvSpPr txBox="1"/>
          <p:nvPr/>
        </p:nvSpPr>
        <p:spPr>
          <a:xfrm>
            <a:off x="6433775" y="2162255"/>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Feb</a:t>
            </a:r>
            <a:endParaRPr b="0" i="0" sz="600" u="none" cap="none" strike="noStrike">
              <a:solidFill>
                <a:schemeClr val="dk2"/>
              </a:solidFill>
              <a:latin typeface="Source Code Pro"/>
              <a:ea typeface="Source Code Pro"/>
              <a:cs typeface="Source Code Pro"/>
              <a:sym typeface="Source Code Pro"/>
            </a:endParaRPr>
          </a:p>
        </p:txBody>
      </p:sp>
      <p:sp>
        <p:nvSpPr>
          <p:cNvPr id="338" name="Google Shape;338;p10"/>
          <p:cNvSpPr txBox="1"/>
          <p:nvPr/>
        </p:nvSpPr>
        <p:spPr>
          <a:xfrm>
            <a:off x="6775659" y="2151979"/>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Mar</a:t>
            </a:r>
            <a:endParaRPr b="0" i="0" sz="600" u="none" cap="none" strike="noStrike">
              <a:solidFill>
                <a:schemeClr val="dk2"/>
              </a:solidFill>
              <a:latin typeface="Source Code Pro"/>
              <a:ea typeface="Source Code Pro"/>
              <a:cs typeface="Source Code Pro"/>
              <a:sym typeface="Source Code Pro"/>
            </a:endParaRPr>
          </a:p>
        </p:txBody>
      </p:sp>
      <p:sp>
        <p:nvSpPr>
          <p:cNvPr id="339" name="Google Shape;339;p10"/>
          <p:cNvSpPr txBox="1"/>
          <p:nvPr/>
        </p:nvSpPr>
        <p:spPr>
          <a:xfrm>
            <a:off x="7116720" y="2151979"/>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Apr</a:t>
            </a:r>
            <a:endParaRPr b="0" i="0" sz="600" u="none" cap="none" strike="noStrike">
              <a:solidFill>
                <a:schemeClr val="dk2"/>
              </a:solidFill>
              <a:latin typeface="Source Code Pro"/>
              <a:ea typeface="Source Code Pro"/>
              <a:cs typeface="Source Code Pro"/>
              <a:sym typeface="Source Code Pro"/>
            </a:endParaRPr>
          </a:p>
        </p:txBody>
      </p:sp>
      <p:sp>
        <p:nvSpPr>
          <p:cNvPr id="340" name="Google Shape;340;p10"/>
          <p:cNvSpPr txBox="1"/>
          <p:nvPr/>
        </p:nvSpPr>
        <p:spPr>
          <a:xfrm>
            <a:off x="7438242" y="2158518"/>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May</a:t>
            </a:r>
            <a:endParaRPr b="0" i="0" sz="600" u="none" cap="none" strike="noStrike">
              <a:solidFill>
                <a:schemeClr val="dk2"/>
              </a:solidFill>
              <a:latin typeface="Source Code Pro"/>
              <a:ea typeface="Source Code Pro"/>
              <a:cs typeface="Source Code Pro"/>
              <a:sym typeface="Source Code Pro"/>
            </a:endParaRPr>
          </a:p>
        </p:txBody>
      </p:sp>
      <p:sp>
        <p:nvSpPr>
          <p:cNvPr id="341" name="Google Shape;341;p10"/>
          <p:cNvSpPr txBox="1"/>
          <p:nvPr/>
        </p:nvSpPr>
        <p:spPr>
          <a:xfrm>
            <a:off x="7747079" y="2169117"/>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Jun</a:t>
            </a:r>
            <a:endParaRPr b="0" i="0" sz="600" u="none" cap="none" strike="noStrike">
              <a:solidFill>
                <a:schemeClr val="dk2"/>
              </a:solidFill>
              <a:latin typeface="Source Code Pro"/>
              <a:ea typeface="Source Code Pro"/>
              <a:cs typeface="Source Code Pro"/>
              <a:sym typeface="Source Code Pro"/>
            </a:endParaRPr>
          </a:p>
        </p:txBody>
      </p:sp>
      <p:graphicFrame>
        <p:nvGraphicFramePr>
          <p:cNvPr id="342" name="Google Shape;342;p10"/>
          <p:cNvGraphicFramePr/>
          <p:nvPr/>
        </p:nvGraphicFramePr>
        <p:xfrm>
          <a:off x="395019" y="3985346"/>
          <a:ext cx="3000000" cy="3000000"/>
        </p:xfrm>
        <a:graphic>
          <a:graphicData uri="http://schemas.openxmlformats.org/drawingml/2006/table">
            <a:tbl>
              <a:tblPr>
                <a:noFill/>
                <a:tableStyleId>{CBF73CE5-E657-4C52-95DC-C96709342244}</a:tableStyleId>
              </a:tblPr>
              <a:tblGrid>
                <a:gridCol w="791175"/>
                <a:gridCol w="618675"/>
                <a:gridCol w="835525"/>
                <a:gridCol w="479300"/>
                <a:gridCol w="683250"/>
                <a:gridCol w="504025"/>
                <a:gridCol w="799050"/>
                <a:gridCol w="879950"/>
                <a:gridCol w="987625"/>
              </a:tblGrid>
              <a:tr h="275300">
                <a:tc gridSpan="2" rowSpan="2">
                  <a:txBody>
                    <a:bodyPr/>
                    <a:lstStyle/>
                    <a:p>
                      <a:pPr indent="0" lvl="0" marL="0" marR="0" rtl="0" algn="ctr">
                        <a:lnSpc>
                          <a:spcPct val="115000"/>
                        </a:lnSpc>
                        <a:spcBef>
                          <a:spcPts val="0"/>
                        </a:spcBef>
                        <a:spcAft>
                          <a:spcPts val="0"/>
                        </a:spcAft>
                        <a:buClr>
                          <a:srgbClr val="000000"/>
                        </a:buClr>
                        <a:buSzPts val="1200"/>
                        <a:buFont typeface="Arial"/>
                        <a:buNone/>
                      </a:pPr>
                      <a:r>
                        <a:rPr b="1" lang="zh-HK" sz="1000" u="none" cap="none" strike="noStrike">
                          <a:latin typeface="Calibri"/>
                          <a:ea typeface="Calibri"/>
                          <a:cs typeface="Calibri"/>
                          <a:sym typeface="Calibri"/>
                        </a:rPr>
                        <a:t>Overall Performance</a:t>
                      </a:r>
                      <a:endParaRPr b="1" sz="10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rowSpan="2" hMerge="1"/>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View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chemeClr val="dk1"/>
                        </a:buClr>
                        <a:buSzPts val="1100"/>
                        <a:buFont typeface="Arial"/>
                        <a:buNone/>
                      </a:pPr>
                      <a:r>
                        <a:rPr b="1" lang="zh-HK" sz="900" u="none" cap="none" strike="noStrike">
                          <a:solidFill>
                            <a:srgbClr val="1C1C1C"/>
                          </a:solidFill>
                          <a:latin typeface="Calibri"/>
                          <a:ea typeface="Calibri"/>
                          <a:cs typeface="Calibri"/>
                          <a:sym typeface="Calibri"/>
                        </a:rPr>
                        <a:t>Like</a:t>
                      </a:r>
                      <a:endParaRPr b="1" sz="900" u="none" cap="none" strike="noStrike">
                        <a:solidFill>
                          <a:srgbClr val="1C1C1C"/>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Saved</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Total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c>
                  <a:txBody>
                    <a:bodyPr/>
                    <a:lstStyle/>
                    <a:p>
                      <a:pPr indent="0" lvl="0" marL="0" marR="0" rtl="0" algn="ctr">
                        <a:lnSpc>
                          <a:spcPct val="115000"/>
                        </a:lnSpc>
                        <a:spcBef>
                          <a:spcPts val="0"/>
                        </a:spcBef>
                        <a:spcAft>
                          <a:spcPts val="0"/>
                        </a:spcAft>
                        <a:buClr>
                          <a:srgbClr val="000000"/>
                        </a:buClr>
                        <a:buSzPts val="1200"/>
                        <a:buFont typeface="Arial"/>
                        <a:buNone/>
                      </a:pPr>
                      <a:r>
                        <a:rPr b="1" lang="zh-HK" sz="900" u="none" cap="none" strike="noStrike">
                          <a:latin typeface="Calibri"/>
                          <a:ea typeface="Calibri"/>
                          <a:cs typeface="Calibri"/>
                          <a:sym typeface="Calibri"/>
                        </a:rPr>
                        <a:t>Total Engagement Rate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9D9"/>
                    </a:solidFill>
                  </a:tcPr>
                </a:tc>
              </a:tr>
              <a:tr h="144900">
                <a:tc gridSpan="2" vMerge="1"/>
                <a:tc hMerge="1" vMerge="1"/>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20</a:t>
                      </a:r>
                      <a:r>
                        <a:rPr lang="zh-HK" sz="900" u="none" cap="none" strike="noStrike">
                          <a:latin typeface="Calibri"/>
                          <a:ea typeface="Calibri"/>
                          <a:cs typeface="Calibri"/>
                          <a:sym typeface="Calibri"/>
                        </a:rPr>
                        <a:t>,08</a:t>
                      </a:r>
                      <a:r>
                        <a:rPr lang="zh-HK" sz="900">
                          <a:latin typeface="Calibri"/>
                          <a:ea typeface="Calibri"/>
                          <a:cs typeface="Calibri"/>
                          <a:sym typeface="Calibri"/>
                        </a:rPr>
                        <a:t>0</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687</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5</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28</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121</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841</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4.19</a:t>
                      </a:r>
                      <a:r>
                        <a:rPr lang="zh-HK" sz="900" u="none" cap="none" strike="noStrike">
                          <a:latin typeface="Calibri"/>
                          <a:ea typeface="Calibri"/>
                          <a:cs typeface="Calibri"/>
                          <a:sym typeface="Calibri"/>
                        </a:rPr>
                        <a:t>%</a:t>
                      </a:r>
                      <a:endParaRPr sz="9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275300">
                <a:tc rowSpan="2">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Boosting</a:t>
                      </a:r>
                      <a:endParaRPr b="1" sz="9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Performance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Cost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Impressions</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Like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Comment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Share</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Follow</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Total </a:t>
                      </a:r>
                      <a:endParaRPr b="1" sz="900" u="none" cap="none" strike="noStrike">
                        <a:latin typeface="Calibri"/>
                        <a:ea typeface="Calibri"/>
                        <a:cs typeface="Calibri"/>
                        <a:sym typeface="Calibri"/>
                      </a:endParaRPr>
                    </a:p>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latin typeface="Calibri"/>
                          <a:ea typeface="Calibri"/>
                          <a:cs typeface="Calibri"/>
                          <a:sym typeface="Calibri"/>
                        </a:rPr>
                        <a:t>CPE (Cost Per Engagement)</a:t>
                      </a:r>
                      <a:endParaRPr b="1"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D966"/>
                    </a:solidFill>
                  </a:tcPr>
                </a:tc>
              </a:tr>
              <a:tr h="144900">
                <a:tc vMerge="1"/>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solidFill>
                            <a:srgbClr val="1C1C1C"/>
                          </a:solidFill>
                          <a:latin typeface="Calibri"/>
                          <a:ea typeface="Calibri"/>
                          <a:cs typeface="Calibri"/>
                          <a:sym typeface="Calibri"/>
                        </a:rPr>
                        <a:t>￥1,</a:t>
                      </a:r>
                      <a:r>
                        <a:rPr b="1" lang="zh-HK" sz="900">
                          <a:solidFill>
                            <a:srgbClr val="1C1C1C"/>
                          </a:solidFill>
                          <a:latin typeface="Calibri"/>
                          <a:ea typeface="Calibri"/>
                          <a:cs typeface="Calibri"/>
                          <a:sym typeface="Calibri"/>
                        </a:rPr>
                        <a:t>130</a:t>
                      </a:r>
                      <a:endParaRPr sz="900" u="none" cap="none" strike="noStrike">
                        <a:solidFill>
                          <a:srgbClr val="1C1C1C"/>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30</a:t>
                      </a:r>
                      <a:r>
                        <a:rPr lang="zh-HK" sz="900" u="none" cap="none" strike="noStrike">
                          <a:latin typeface="Calibri"/>
                          <a:ea typeface="Calibri"/>
                          <a:cs typeface="Calibri"/>
                          <a:sym typeface="Calibri"/>
                        </a:rPr>
                        <a:t>,</a:t>
                      </a:r>
                      <a:r>
                        <a:rPr lang="zh-HK" sz="900">
                          <a:latin typeface="Calibri"/>
                          <a:ea typeface="Calibri"/>
                          <a:cs typeface="Calibri"/>
                          <a:sym typeface="Calibri"/>
                        </a:rPr>
                        <a:t>510</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u="none" cap="none" strike="noStrike">
                          <a:latin typeface="Calibri"/>
                          <a:ea typeface="Calibri"/>
                          <a:cs typeface="Calibri"/>
                          <a:sym typeface="Calibri"/>
                        </a:rPr>
                        <a:t>1</a:t>
                      </a:r>
                      <a:r>
                        <a:rPr lang="zh-HK" sz="900">
                          <a:latin typeface="Calibri"/>
                          <a:ea typeface="Calibri"/>
                          <a:cs typeface="Calibri"/>
                          <a:sym typeface="Calibri"/>
                        </a:rPr>
                        <a:t>,146</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15</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25</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258</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900"/>
                        <a:buFont typeface="Arial"/>
                        <a:buNone/>
                      </a:pPr>
                      <a:r>
                        <a:rPr lang="zh-HK" sz="900">
                          <a:latin typeface="Calibri"/>
                          <a:ea typeface="Calibri"/>
                          <a:cs typeface="Calibri"/>
                          <a:sym typeface="Calibri"/>
                        </a:rPr>
                        <a:t>1,401</a:t>
                      </a:r>
                      <a:endParaRPr sz="900" u="none" cap="none" strike="noStrike">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zh-HK" sz="900" u="none" cap="none" strike="noStrike">
                          <a:solidFill>
                            <a:srgbClr val="1C1C1C"/>
                          </a:solidFill>
                          <a:latin typeface="Calibri"/>
                          <a:ea typeface="Calibri"/>
                          <a:cs typeface="Calibri"/>
                          <a:sym typeface="Calibri"/>
                        </a:rPr>
                        <a:t>￥</a:t>
                      </a:r>
                      <a:r>
                        <a:rPr lang="zh-HK" sz="900" u="none" cap="none" strike="noStrike">
                          <a:solidFill>
                            <a:srgbClr val="212121"/>
                          </a:solidFill>
                          <a:latin typeface="Calibri"/>
                          <a:ea typeface="Calibri"/>
                          <a:cs typeface="Calibri"/>
                          <a:sym typeface="Calibri"/>
                        </a:rPr>
                        <a:t>0</a:t>
                      </a:r>
                      <a:r>
                        <a:rPr b="0" lang="zh-HK" sz="900" u="none" cap="none" strike="noStrike">
                          <a:solidFill>
                            <a:srgbClr val="212121"/>
                          </a:solidFill>
                          <a:latin typeface="Calibri"/>
                          <a:ea typeface="Calibri"/>
                          <a:cs typeface="Calibri"/>
                          <a:sym typeface="Calibri"/>
                        </a:rPr>
                        <a:t>.</a:t>
                      </a:r>
                      <a:r>
                        <a:rPr lang="zh-HK" sz="900">
                          <a:solidFill>
                            <a:srgbClr val="212121"/>
                          </a:solidFill>
                          <a:latin typeface="Calibri"/>
                          <a:ea typeface="Calibri"/>
                          <a:cs typeface="Calibri"/>
                          <a:sym typeface="Calibri"/>
                        </a:rPr>
                        <a:t>81</a:t>
                      </a:r>
                      <a:endParaRPr b="0" sz="900" u="none" cap="none" strike="noStrike">
                        <a:solidFill>
                          <a:srgbClr val="212121"/>
                        </a:solidFill>
                        <a:latin typeface="Calibri"/>
                        <a:ea typeface="Calibri"/>
                        <a:cs typeface="Calibri"/>
                        <a:sym typeface="Calibri"/>
                      </a:endParaRPr>
                    </a:p>
                  </a:txBody>
                  <a:tcPr marT="19050" marB="19050" marR="28575" marL="2857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343" name="Google Shape;343;p10"/>
          <p:cNvSpPr txBox="1"/>
          <p:nvPr/>
        </p:nvSpPr>
        <p:spPr>
          <a:xfrm>
            <a:off x="8093755" y="2169096"/>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zh-HK" sz="600" u="none" cap="none" strike="noStrike">
                <a:solidFill>
                  <a:schemeClr val="dk2"/>
                </a:solidFill>
                <a:latin typeface="Source Code Pro"/>
                <a:ea typeface="Source Code Pro"/>
                <a:cs typeface="Source Code Pro"/>
                <a:sym typeface="Source Code Pro"/>
              </a:rPr>
              <a:t>Jul</a:t>
            </a:r>
            <a:endParaRPr b="0" i="0" sz="600" u="none" cap="none" strike="noStrike">
              <a:solidFill>
                <a:schemeClr val="dk2"/>
              </a:solidFill>
              <a:latin typeface="Source Code Pro"/>
              <a:ea typeface="Source Code Pro"/>
              <a:cs typeface="Source Code Pro"/>
              <a:sym typeface="Source Code Pro"/>
            </a:endParaRPr>
          </a:p>
        </p:txBody>
      </p:sp>
      <p:pic>
        <p:nvPicPr>
          <p:cNvPr id="344" name="Google Shape;344;p10"/>
          <p:cNvPicPr preferRelativeResize="0"/>
          <p:nvPr/>
        </p:nvPicPr>
        <p:blipFill>
          <a:blip r:embed="rId6">
            <a:alphaModFix/>
          </a:blip>
          <a:stretch>
            <a:fillRect/>
          </a:stretch>
        </p:blipFill>
        <p:spPr>
          <a:xfrm>
            <a:off x="176075" y="2513100"/>
            <a:ext cx="7427162" cy="1426425"/>
          </a:xfrm>
          <a:prstGeom prst="rect">
            <a:avLst/>
          </a:prstGeom>
          <a:noFill/>
          <a:ln>
            <a:noFill/>
          </a:ln>
        </p:spPr>
      </p:pic>
      <p:sp>
        <p:nvSpPr>
          <p:cNvPr id="345" name="Google Shape;345;p10"/>
          <p:cNvSpPr/>
          <p:nvPr/>
        </p:nvSpPr>
        <p:spPr>
          <a:xfrm>
            <a:off x="5923225" y="2508683"/>
            <a:ext cx="1104000" cy="1426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0"/>
          <p:cNvSpPr txBox="1"/>
          <p:nvPr/>
        </p:nvSpPr>
        <p:spPr>
          <a:xfrm>
            <a:off x="8447238" y="2173329"/>
            <a:ext cx="394800" cy="21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lang="zh-HK" sz="600">
                <a:solidFill>
                  <a:schemeClr val="dk2"/>
                </a:solidFill>
                <a:latin typeface="Source Code Pro"/>
                <a:ea typeface="Source Code Pro"/>
                <a:cs typeface="Source Code Pro"/>
                <a:sym typeface="Source Code Pro"/>
              </a:rPr>
              <a:t>Aug</a:t>
            </a:r>
            <a:endParaRPr b="0" i="0" sz="600" u="none" cap="none" strike="noStrike">
              <a:solidFill>
                <a:schemeClr val="dk2"/>
              </a:solidFill>
              <a:latin typeface="Source Code Pro"/>
              <a:ea typeface="Source Code Pro"/>
              <a:cs typeface="Source Code Pro"/>
              <a:sym typeface="Source Code Pro"/>
            </a:endParaRPr>
          </a:p>
        </p:txBody>
      </p:sp>
      <p:pic>
        <p:nvPicPr>
          <p:cNvPr id="347" name="Google Shape;347;p10"/>
          <p:cNvPicPr preferRelativeResize="0"/>
          <p:nvPr/>
        </p:nvPicPr>
        <p:blipFill>
          <a:blip r:embed="rId7">
            <a:alphaModFix/>
          </a:blip>
          <a:stretch>
            <a:fillRect/>
          </a:stretch>
        </p:blipFill>
        <p:spPr>
          <a:xfrm>
            <a:off x="7827212" y="2514576"/>
            <a:ext cx="927864" cy="1235548"/>
          </a:xfrm>
          <a:prstGeom prst="rect">
            <a:avLst/>
          </a:prstGeom>
          <a:noFill/>
          <a:ln>
            <a:noFill/>
          </a:ln>
        </p:spPr>
      </p:pic>
      <p:pic>
        <p:nvPicPr>
          <p:cNvPr id="348" name="Google Shape;348;p10"/>
          <p:cNvPicPr preferRelativeResize="0"/>
          <p:nvPr/>
        </p:nvPicPr>
        <p:blipFill>
          <a:blip r:embed="rId8">
            <a:alphaModFix/>
          </a:blip>
          <a:stretch>
            <a:fillRect/>
          </a:stretch>
        </p:blipFill>
        <p:spPr>
          <a:xfrm>
            <a:off x="7827213" y="3836821"/>
            <a:ext cx="927877" cy="12088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pic>
        <p:nvPicPr>
          <p:cNvPr id="353" name="Google Shape;353;p11" title="Chart"/>
          <p:cNvPicPr preferRelativeResize="0"/>
          <p:nvPr/>
        </p:nvPicPr>
        <p:blipFill>
          <a:blip r:embed="rId3">
            <a:alphaModFix/>
          </a:blip>
          <a:stretch>
            <a:fillRect/>
          </a:stretch>
        </p:blipFill>
        <p:spPr>
          <a:xfrm>
            <a:off x="4811650" y="1793875"/>
            <a:ext cx="4107949" cy="2535886"/>
          </a:xfrm>
          <a:prstGeom prst="rect">
            <a:avLst/>
          </a:prstGeom>
          <a:noFill/>
          <a:ln>
            <a:noFill/>
          </a:ln>
        </p:spPr>
      </p:pic>
      <p:pic>
        <p:nvPicPr>
          <p:cNvPr id="354" name="Google Shape;354;p11" title="Chart"/>
          <p:cNvPicPr preferRelativeResize="0"/>
          <p:nvPr/>
        </p:nvPicPr>
        <p:blipFill>
          <a:blip r:embed="rId4">
            <a:alphaModFix/>
          </a:blip>
          <a:stretch>
            <a:fillRect/>
          </a:stretch>
        </p:blipFill>
        <p:spPr>
          <a:xfrm>
            <a:off x="248700" y="1793875"/>
            <a:ext cx="4254258" cy="2626225"/>
          </a:xfrm>
          <a:prstGeom prst="rect">
            <a:avLst/>
          </a:prstGeom>
          <a:noFill/>
          <a:ln>
            <a:noFill/>
          </a:ln>
        </p:spPr>
      </p:pic>
      <p:sp>
        <p:nvSpPr>
          <p:cNvPr id="355" name="Google Shape;355;p11"/>
          <p:cNvSpPr txBox="1"/>
          <p:nvPr/>
        </p:nvSpPr>
        <p:spPr>
          <a:xfrm>
            <a:off x="950850" y="256375"/>
            <a:ext cx="6267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Fan Base</a:t>
            </a:r>
            <a:endParaRPr b="1" i="0" sz="2000" u="none" cap="none" strike="noStrike">
              <a:solidFill>
                <a:schemeClr val="dk1"/>
              </a:solidFill>
              <a:latin typeface="Times New Roman"/>
              <a:ea typeface="Times New Roman"/>
              <a:cs typeface="Times New Roman"/>
              <a:sym typeface="Times New Roman"/>
            </a:endParaRPr>
          </a:p>
        </p:txBody>
      </p:sp>
      <p:pic>
        <p:nvPicPr>
          <p:cNvPr id="356" name="Google Shape;356;p11"/>
          <p:cNvPicPr preferRelativeResize="0"/>
          <p:nvPr/>
        </p:nvPicPr>
        <p:blipFill rotWithShape="1">
          <a:blip r:embed="rId5">
            <a:alphaModFix/>
          </a:blip>
          <a:srcRect b="0" l="0" r="0" t="0"/>
          <a:stretch/>
        </p:blipFill>
        <p:spPr>
          <a:xfrm>
            <a:off x="501350" y="307312"/>
            <a:ext cx="386075" cy="386075"/>
          </a:xfrm>
          <a:prstGeom prst="rect">
            <a:avLst/>
          </a:prstGeom>
          <a:noFill/>
          <a:ln>
            <a:noFill/>
          </a:ln>
        </p:spPr>
      </p:pic>
      <p:sp>
        <p:nvSpPr>
          <p:cNvPr id="357" name="Google Shape;357;p11"/>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58" name="Google Shape;358;p11"/>
          <p:cNvSpPr txBox="1"/>
          <p:nvPr/>
        </p:nvSpPr>
        <p:spPr>
          <a:xfrm>
            <a:off x="437925" y="4769521"/>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Source: </a:t>
            </a:r>
            <a:r>
              <a:rPr b="0" i="0" lang="zh-HK" sz="1100" u="sng" cap="none" strike="noStrike">
                <a:solidFill>
                  <a:schemeClr val="dk2"/>
                </a:solidFill>
                <a:latin typeface="Times New Roman"/>
                <a:ea typeface="Times New Roman"/>
                <a:cs typeface="Times New Roman"/>
                <a:sym typeface="Times New Roman"/>
                <a:hlinkClick r:id="rId6">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chemeClr val="dk2"/>
              </a:solidFill>
              <a:latin typeface="Arial"/>
              <a:ea typeface="Arial"/>
              <a:cs typeface="Arial"/>
              <a:sym typeface="Arial"/>
            </a:endParaRPr>
          </a:p>
        </p:txBody>
      </p:sp>
      <p:sp>
        <p:nvSpPr>
          <p:cNvPr id="359" name="Google Shape;359;p11"/>
          <p:cNvSpPr txBox="1"/>
          <p:nvPr/>
        </p:nvSpPr>
        <p:spPr>
          <a:xfrm>
            <a:off x="248709" y="953187"/>
            <a:ext cx="8670900" cy="679200"/>
          </a:xfrm>
          <a:prstGeom prst="rect">
            <a:avLst/>
          </a:prstGeom>
          <a:noFill/>
          <a:ln>
            <a:noFill/>
          </a:ln>
        </p:spPr>
        <p:txBody>
          <a:bodyPr anchorCtr="0" anchor="t" bIns="25700" lIns="51425" spcFirstLastPara="1" rIns="51425" wrap="square" tIns="25700">
            <a:spAutoFit/>
          </a:bodyPr>
          <a:lstStyle/>
          <a:p>
            <a:pPr indent="-307975" lvl="0" marL="457200" marR="0" rtl="0" algn="l">
              <a:lnSpc>
                <a:spcPct val="115000"/>
              </a:lnSpc>
              <a:spcBef>
                <a:spcPts val="0"/>
              </a:spcBef>
              <a:spcAft>
                <a:spcPts val="0"/>
              </a:spcAft>
              <a:buClr>
                <a:srgbClr val="0F1115"/>
              </a:buClr>
              <a:buSzPts val="1250"/>
              <a:buFont typeface="Times New Roman"/>
              <a:buChar char="●"/>
            </a:pPr>
            <a:r>
              <a:rPr lang="zh-HK" sz="1250">
                <a:solidFill>
                  <a:srgbClr val="0F1115"/>
                </a:solidFill>
                <a:latin typeface="Times New Roman"/>
                <a:ea typeface="Times New Roman"/>
                <a:cs typeface="Times New Roman"/>
                <a:sym typeface="Times New Roman"/>
              </a:rPr>
              <a:t>By the end of Aug 2026, </a:t>
            </a:r>
            <a:r>
              <a:rPr b="1" lang="zh-HK" sz="1250">
                <a:solidFill>
                  <a:srgbClr val="0F1115"/>
                </a:solidFill>
                <a:latin typeface="Times New Roman"/>
                <a:ea typeface="Times New Roman"/>
                <a:cs typeface="Times New Roman"/>
                <a:sym typeface="Times New Roman"/>
              </a:rPr>
              <a:t>Langham Place ranked No.6 </a:t>
            </a:r>
            <a:r>
              <a:rPr lang="zh-HK" sz="1250">
                <a:solidFill>
                  <a:srgbClr val="0F1115"/>
                </a:solidFill>
                <a:latin typeface="Times New Roman"/>
                <a:ea typeface="Times New Roman"/>
                <a:cs typeface="Times New Roman"/>
                <a:sym typeface="Times New Roman"/>
              </a:rPr>
              <a:t>position for </a:t>
            </a:r>
            <a:r>
              <a:rPr b="1" lang="zh-HK" sz="1250">
                <a:solidFill>
                  <a:srgbClr val="0F1115"/>
                </a:solidFill>
                <a:latin typeface="Times New Roman"/>
                <a:ea typeface="Times New Roman"/>
                <a:cs typeface="Times New Roman"/>
                <a:sym typeface="Times New Roman"/>
              </a:rPr>
              <a:t>total fans number.</a:t>
            </a:r>
            <a:endParaRPr b="1" sz="1250">
              <a:solidFill>
                <a:srgbClr val="0F1115"/>
              </a:solidFill>
              <a:latin typeface="Times New Roman"/>
              <a:ea typeface="Times New Roman"/>
              <a:cs typeface="Times New Roman"/>
              <a:sym typeface="Times New Roman"/>
            </a:endParaRPr>
          </a:p>
          <a:p>
            <a:pPr indent="-307975" lvl="0" marL="457200" marR="0" rtl="0" algn="l">
              <a:lnSpc>
                <a:spcPct val="115000"/>
              </a:lnSpc>
              <a:spcBef>
                <a:spcPts val="0"/>
              </a:spcBef>
              <a:spcAft>
                <a:spcPts val="0"/>
              </a:spcAft>
              <a:buClr>
                <a:srgbClr val="0F1115"/>
              </a:buClr>
              <a:buSzPts val="1250"/>
              <a:buFont typeface="Times New Roman"/>
              <a:buChar char="●"/>
            </a:pPr>
            <a:r>
              <a:rPr b="1" lang="zh-HK" sz="1250">
                <a:solidFill>
                  <a:srgbClr val="0F1115"/>
                </a:solidFill>
                <a:latin typeface="Times New Roman"/>
                <a:ea typeface="Times New Roman"/>
                <a:cs typeface="Times New Roman"/>
                <a:sym typeface="Times New Roman"/>
              </a:rPr>
              <a:t>Ranked No.5 </a:t>
            </a:r>
            <a:r>
              <a:rPr lang="zh-HK" sz="1250">
                <a:solidFill>
                  <a:srgbClr val="0F1115"/>
                </a:solidFill>
                <a:latin typeface="Times New Roman"/>
                <a:ea typeface="Times New Roman"/>
                <a:cs typeface="Times New Roman"/>
                <a:sym typeface="Times New Roman"/>
              </a:rPr>
              <a:t>for monthly </a:t>
            </a:r>
            <a:r>
              <a:rPr b="1" lang="zh-HK" sz="1250">
                <a:solidFill>
                  <a:srgbClr val="0F1115"/>
                </a:solidFill>
                <a:latin typeface="Times New Roman"/>
                <a:ea typeface="Times New Roman"/>
                <a:cs typeface="Times New Roman"/>
                <a:sym typeface="Times New Roman"/>
              </a:rPr>
              <a:t>fans growth</a:t>
            </a:r>
            <a:r>
              <a:rPr lang="zh-HK" sz="1250">
                <a:solidFill>
                  <a:srgbClr val="0F1115"/>
                </a:solidFill>
                <a:latin typeface="Times New Roman"/>
                <a:ea typeface="Times New Roman"/>
                <a:cs typeface="Times New Roman"/>
                <a:sym typeface="Times New Roman"/>
              </a:rPr>
              <a:t> across shopping malls, maintaining solid performance on social media.</a:t>
            </a:r>
            <a:endParaRPr b="0" i="0" sz="1250" u="none" cap="none" strike="noStrike">
              <a:solidFill>
                <a:srgbClr val="212121"/>
              </a:solidFill>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60" name="Google Shape;360;p11"/>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61" name="Google Shape;361;p11"/>
          <p:cNvPicPr preferRelativeResize="0"/>
          <p:nvPr/>
        </p:nvPicPr>
        <p:blipFill rotWithShape="1">
          <a:blip r:embed="rId7">
            <a:alphaModFix/>
          </a:blip>
          <a:srcRect b="21020" l="14063" r="17215" t="26140"/>
          <a:stretch/>
        </p:blipFill>
        <p:spPr>
          <a:xfrm>
            <a:off x="8094845" y="162433"/>
            <a:ext cx="1049155" cy="423511"/>
          </a:xfrm>
          <a:prstGeom prst="rect">
            <a:avLst/>
          </a:prstGeom>
          <a:noFill/>
          <a:ln>
            <a:noFill/>
          </a:ln>
        </p:spPr>
      </p:pic>
      <p:sp>
        <p:nvSpPr>
          <p:cNvPr id="362" name="Google Shape;362;p11"/>
          <p:cNvSpPr/>
          <p:nvPr/>
        </p:nvSpPr>
        <p:spPr>
          <a:xfrm>
            <a:off x="5045559" y="2832913"/>
            <a:ext cx="35913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p11"/>
          <p:cNvSpPr txBox="1"/>
          <p:nvPr/>
        </p:nvSpPr>
        <p:spPr>
          <a:xfrm>
            <a:off x="6924675" y="47537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.31</a:t>
            </a:r>
            <a:endParaRPr b="0" i="0" sz="1400" u="none" cap="none" strike="noStrike">
              <a:solidFill>
                <a:srgbClr val="000000"/>
              </a:solidFill>
              <a:latin typeface="Arial"/>
              <a:ea typeface="Arial"/>
              <a:cs typeface="Arial"/>
              <a:sym typeface="Arial"/>
            </a:endParaRPr>
          </a:p>
        </p:txBody>
      </p:sp>
      <p:sp>
        <p:nvSpPr>
          <p:cNvPr id="364" name="Google Shape;364;p11"/>
          <p:cNvSpPr/>
          <p:nvPr/>
        </p:nvSpPr>
        <p:spPr>
          <a:xfrm>
            <a:off x="310359" y="3037839"/>
            <a:ext cx="3241800" cy="2103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id="369" name="Google Shape;369;p12" title="Chart"/>
          <p:cNvPicPr preferRelativeResize="0"/>
          <p:nvPr/>
        </p:nvPicPr>
        <p:blipFill>
          <a:blip r:embed="rId3">
            <a:alphaModFix/>
          </a:blip>
          <a:stretch>
            <a:fillRect/>
          </a:stretch>
        </p:blipFill>
        <p:spPr>
          <a:xfrm>
            <a:off x="335975" y="1926175"/>
            <a:ext cx="8337377" cy="3033851"/>
          </a:xfrm>
          <a:prstGeom prst="rect">
            <a:avLst/>
          </a:prstGeom>
          <a:noFill/>
          <a:ln>
            <a:noFill/>
          </a:ln>
        </p:spPr>
      </p:pic>
      <p:sp>
        <p:nvSpPr>
          <p:cNvPr id="370" name="Google Shape;370;p12"/>
          <p:cNvSpPr txBox="1"/>
          <p:nvPr/>
        </p:nvSpPr>
        <p:spPr>
          <a:xfrm>
            <a:off x="-34650" y="794695"/>
            <a:ext cx="9099000" cy="1575900"/>
          </a:xfrm>
          <a:prstGeom prst="rect">
            <a:avLst/>
          </a:prstGeom>
          <a:noFill/>
          <a:ln>
            <a:noFill/>
          </a:ln>
        </p:spPr>
        <p:txBody>
          <a:bodyPr anchorCtr="0" anchor="t" bIns="25700" lIns="51425" spcFirstLastPara="1" rIns="51425" wrap="square" tIns="25700">
            <a:spAutoFit/>
          </a:bodyPr>
          <a:lstStyle/>
          <a:p>
            <a:pPr indent="-301625" lvl="0" marL="457200" marR="0" rtl="0" algn="l">
              <a:lnSpc>
                <a:spcPct val="150000"/>
              </a:lnSpc>
              <a:spcBef>
                <a:spcPts val="0"/>
              </a:spcBef>
              <a:spcAft>
                <a:spcPts val="0"/>
              </a:spcAft>
              <a:buClr>
                <a:srgbClr val="000000"/>
              </a:buClr>
              <a:buSzPts val="1150"/>
              <a:buFont typeface="Times New Roman"/>
              <a:buChar char="●"/>
            </a:pPr>
            <a:r>
              <a:rPr lang="zh-HK" sz="1150">
                <a:solidFill>
                  <a:srgbClr val="0F1115"/>
                </a:solidFill>
                <a:latin typeface="Times New Roman"/>
                <a:ea typeface="Times New Roman"/>
                <a:cs typeface="Times New Roman"/>
                <a:sym typeface="Times New Roman"/>
              </a:rPr>
              <a:t>In Aug, </a:t>
            </a:r>
            <a:r>
              <a:rPr b="1" lang="zh-HK" sz="1150">
                <a:solidFill>
                  <a:srgbClr val="0F1115"/>
                </a:solidFill>
                <a:latin typeface="Times New Roman"/>
                <a:ea typeface="Times New Roman"/>
                <a:cs typeface="Times New Roman"/>
                <a:sym typeface="Times New Roman"/>
              </a:rPr>
              <a:t>Harbour City</a:t>
            </a:r>
            <a:r>
              <a:rPr lang="zh-HK" sz="1150">
                <a:solidFill>
                  <a:srgbClr val="0F1115"/>
                </a:solidFill>
                <a:latin typeface="Times New Roman"/>
                <a:ea typeface="Times New Roman"/>
                <a:cs typeface="Times New Roman"/>
                <a:sym typeface="Times New Roman"/>
              </a:rPr>
              <a:t> led in post volume with </a:t>
            </a:r>
            <a:r>
              <a:rPr b="1" lang="zh-HK" sz="1150">
                <a:solidFill>
                  <a:srgbClr val="0F1115"/>
                </a:solidFill>
                <a:latin typeface="Times New Roman"/>
                <a:ea typeface="Times New Roman"/>
                <a:cs typeface="Times New Roman"/>
                <a:sym typeface="Times New Roman"/>
              </a:rPr>
              <a:t>31</a:t>
            </a:r>
            <a:r>
              <a:rPr lang="zh-HK" sz="1150">
                <a:solidFill>
                  <a:srgbClr val="0F1115"/>
                </a:solidFill>
                <a:latin typeface="Times New Roman"/>
                <a:ea typeface="Times New Roman"/>
                <a:cs typeface="Times New Roman"/>
                <a:sym typeface="Times New Roman"/>
              </a:rPr>
              <a:t> posts, followed by </a:t>
            </a:r>
            <a:r>
              <a:rPr b="1" lang="zh-HK" sz="1150">
                <a:solidFill>
                  <a:srgbClr val="0F1115"/>
                </a:solidFill>
                <a:latin typeface="Times New Roman"/>
                <a:ea typeface="Times New Roman"/>
                <a:cs typeface="Times New Roman"/>
                <a:sym typeface="Times New Roman"/>
              </a:rPr>
              <a:t>New Town Plaza</a:t>
            </a:r>
            <a:r>
              <a:rPr lang="zh-HK" sz="1150">
                <a:solidFill>
                  <a:srgbClr val="0F1115"/>
                </a:solidFill>
                <a:latin typeface="Times New Roman"/>
                <a:ea typeface="Times New Roman"/>
                <a:cs typeface="Times New Roman"/>
                <a:sym typeface="Times New Roman"/>
              </a:rPr>
              <a:t> (</a:t>
            </a:r>
            <a:r>
              <a:rPr b="1" lang="zh-HK" sz="1150">
                <a:solidFill>
                  <a:srgbClr val="0F1115"/>
                </a:solidFill>
                <a:latin typeface="Times New Roman"/>
                <a:ea typeface="Times New Roman"/>
                <a:cs typeface="Times New Roman"/>
                <a:sym typeface="Times New Roman"/>
              </a:rPr>
              <a:t>29</a:t>
            </a:r>
            <a:r>
              <a:rPr lang="zh-HK" sz="1150">
                <a:solidFill>
                  <a:srgbClr val="0F1115"/>
                </a:solidFill>
                <a:latin typeface="Times New Roman"/>
                <a:ea typeface="Times New Roman"/>
                <a:cs typeface="Times New Roman"/>
                <a:sym typeface="Times New Roman"/>
              </a:rPr>
              <a:t>) and </a:t>
            </a:r>
            <a:r>
              <a:rPr b="1" lang="zh-HK" sz="1150">
                <a:solidFill>
                  <a:srgbClr val="0F1115"/>
                </a:solidFill>
                <a:latin typeface="Times New Roman"/>
                <a:ea typeface="Times New Roman"/>
                <a:cs typeface="Times New Roman"/>
                <a:sym typeface="Times New Roman"/>
              </a:rPr>
              <a:t>YOHO</a:t>
            </a:r>
            <a:r>
              <a:rPr lang="zh-HK" sz="1150">
                <a:solidFill>
                  <a:srgbClr val="0F1115"/>
                </a:solidFill>
                <a:latin typeface="Times New Roman"/>
                <a:ea typeface="Times New Roman"/>
                <a:cs typeface="Times New Roman"/>
                <a:sym typeface="Times New Roman"/>
              </a:rPr>
              <a:t> (</a:t>
            </a:r>
            <a:r>
              <a:rPr b="1" lang="zh-HK" sz="1150">
                <a:solidFill>
                  <a:srgbClr val="0F1115"/>
                </a:solidFill>
                <a:latin typeface="Times New Roman"/>
                <a:ea typeface="Times New Roman"/>
                <a:cs typeface="Times New Roman"/>
                <a:sym typeface="Times New Roman"/>
              </a:rPr>
              <a:t>19</a:t>
            </a:r>
            <a:r>
              <a:rPr lang="zh-HK" sz="1150">
                <a:solidFill>
                  <a:srgbClr val="0F1115"/>
                </a:solidFill>
                <a:latin typeface="Times New Roman"/>
                <a:ea typeface="Times New Roman"/>
                <a:cs typeface="Times New Roman"/>
                <a:sym typeface="Times New Roman"/>
              </a:rPr>
              <a:t>).</a:t>
            </a:r>
            <a:endParaRPr b="0" i="0" sz="1150" u="none" cap="none" strike="noStrike">
              <a:solidFill>
                <a:srgbClr val="0F1115"/>
              </a:solidFill>
              <a:latin typeface="Times New Roman"/>
              <a:ea typeface="Times New Roman"/>
              <a:cs typeface="Times New Roman"/>
              <a:sym typeface="Times New Roman"/>
            </a:endParaRPr>
          </a:p>
          <a:p>
            <a:pPr indent="-301625" lvl="0" marL="457200" marR="0" rtl="0" algn="l">
              <a:lnSpc>
                <a:spcPct val="150000"/>
              </a:lnSpc>
              <a:spcBef>
                <a:spcPts val="0"/>
              </a:spcBef>
              <a:spcAft>
                <a:spcPts val="0"/>
              </a:spcAft>
              <a:buClr>
                <a:srgbClr val="000000"/>
              </a:buClr>
              <a:buSzPts val="1150"/>
              <a:buFont typeface="Times New Roman"/>
              <a:buChar char="●"/>
            </a:pPr>
            <a:r>
              <a:rPr b="1" lang="zh-HK" sz="1150">
                <a:solidFill>
                  <a:srgbClr val="0F1115"/>
                </a:solidFill>
                <a:latin typeface="Times New Roman"/>
                <a:ea typeface="Times New Roman"/>
                <a:cs typeface="Times New Roman"/>
                <a:sym typeface="Times New Roman"/>
              </a:rPr>
              <a:t>MOKO </a:t>
            </a:r>
            <a:r>
              <a:rPr lang="zh-HK" sz="1150">
                <a:solidFill>
                  <a:srgbClr val="0F1115"/>
                </a:solidFill>
                <a:latin typeface="Times New Roman"/>
                <a:ea typeface="Times New Roman"/>
                <a:cs typeface="Times New Roman"/>
                <a:sym typeface="Times New Roman"/>
              </a:rPr>
              <a:t>recorded the</a:t>
            </a:r>
            <a:r>
              <a:rPr b="1" lang="zh-HK" sz="1150">
                <a:solidFill>
                  <a:srgbClr val="0F1115"/>
                </a:solidFill>
                <a:latin typeface="Times New Roman"/>
                <a:ea typeface="Times New Roman"/>
                <a:cs typeface="Times New Roman"/>
                <a:sym typeface="Times New Roman"/>
              </a:rPr>
              <a:t> highest average views (27,513), f</a:t>
            </a:r>
            <a:r>
              <a:rPr lang="zh-HK" sz="1150">
                <a:solidFill>
                  <a:srgbClr val="0F1115"/>
                </a:solidFill>
                <a:latin typeface="Times New Roman"/>
                <a:ea typeface="Times New Roman"/>
                <a:cs typeface="Times New Roman"/>
                <a:sym typeface="Times New Roman"/>
              </a:rPr>
              <a:t>ollowed by </a:t>
            </a:r>
            <a:r>
              <a:rPr b="1" lang="zh-HK" sz="1150">
                <a:solidFill>
                  <a:srgbClr val="0F1115"/>
                </a:solidFill>
                <a:latin typeface="Times New Roman"/>
                <a:ea typeface="Times New Roman"/>
                <a:cs typeface="Times New Roman"/>
                <a:sym typeface="Times New Roman"/>
              </a:rPr>
              <a:t>YOHO (9,219).</a:t>
            </a:r>
            <a:r>
              <a:rPr b="0" i="0" lang="zh-HK" sz="1150" u="none" cap="none" strike="noStrike">
                <a:solidFill>
                  <a:srgbClr val="000000"/>
                </a:solidFill>
                <a:latin typeface="Times New Roman"/>
                <a:ea typeface="Times New Roman"/>
                <a:cs typeface="Times New Roman"/>
                <a:sym typeface="Times New Roman"/>
              </a:rPr>
              <a:t> </a:t>
            </a:r>
            <a:endParaRPr b="0" i="0" sz="1150" u="none" cap="none" strike="noStrike">
              <a:solidFill>
                <a:srgbClr val="000000"/>
              </a:solidFill>
              <a:latin typeface="Times New Roman"/>
              <a:ea typeface="Times New Roman"/>
              <a:cs typeface="Times New Roman"/>
              <a:sym typeface="Times New Roman"/>
            </a:endParaRPr>
          </a:p>
          <a:p>
            <a:pPr indent="-301625" lvl="0" marL="457200" marR="0" rtl="0" algn="l">
              <a:lnSpc>
                <a:spcPct val="150000"/>
              </a:lnSpc>
              <a:spcBef>
                <a:spcPts val="0"/>
              </a:spcBef>
              <a:spcAft>
                <a:spcPts val="0"/>
              </a:spcAft>
              <a:buClr>
                <a:srgbClr val="000000"/>
              </a:buClr>
              <a:buSzPts val="1150"/>
              <a:buFont typeface="Times New Roman"/>
              <a:buChar char="●"/>
            </a:pPr>
            <a:r>
              <a:rPr b="1" lang="zh-HK" sz="1150">
                <a:solidFill>
                  <a:srgbClr val="0F1115"/>
                </a:solidFill>
                <a:latin typeface="Times New Roman"/>
                <a:ea typeface="Times New Roman"/>
                <a:cs typeface="Times New Roman"/>
                <a:sym typeface="Times New Roman"/>
              </a:rPr>
              <a:t>Langham Place </a:t>
            </a:r>
            <a:r>
              <a:rPr lang="zh-HK" sz="1150">
                <a:solidFill>
                  <a:srgbClr val="0F1115"/>
                </a:solidFill>
                <a:latin typeface="Times New Roman"/>
                <a:ea typeface="Times New Roman"/>
                <a:cs typeface="Times New Roman"/>
                <a:sym typeface="Times New Roman"/>
              </a:rPr>
              <a:t>ranked </a:t>
            </a:r>
            <a:r>
              <a:rPr b="1" lang="zh-HK" sz="1150">
                <a:solidFill>
                  <a:srgbClr val="0F1115"/>
                </a:solidFill>
                <a:latin typeface="Times New Roman"/>
                <a:ea typeface="Times New Roman"/>
                <a:cs typeface="Times New Roman"/>
                <a:sym typeface="Times New Roman"/>
              </a:rPr>
              <a:t>forth</a:t>
            </a:r>
            <a:r>
              <a:rPr lang="zh-HK" sz="1150">
                <a:solidFill>
                  <a:srgbClr val="0F1115"/>
                </a:solidFill>
                <a:latin typeface="Times New Roman"/>
                <a:ea typeface="Times New Roman"/>
                <a:cs typeface="Times New Roman"/>
                <a:sym typeface="Times New Roman"/>
              </a:rPr>
              <a:t> </a:t>
            </a:r>
            <a:r>
              <a:rPr b="1" lang="zh-HK" sz="1150">
                <a:solidFill>
                  <a:srgbClr val="0F1115"/>
                </a:solidFill>
                <a:latin typeface="Times New Roman"/>
                <a:ea typeface="Times New Roman"/>
                <a:cs typeface="Times New Roman"/>
                <a:sym typeface="Times New Roman"/>
              </a:rPr>
              <a:t>in average views </a:t>
            </a:r>
            <a:r>
              <a:rPr lang="zh-HK" sz="1150">
                <a:solidFill>
                  <a:srgbClr val="0F1115"/>
                </a:solidFill>
                <a:latin typeface="Times New Roman"/>
                <a:ea typeface="Times New Roman"/>
                <a:cs typeface="Times New Roman"/>
                <a:sym typeface="Times New Roman"/>
              </a:rPr>
              <a:t>and took </a:t>
            </a:r>
            <a:r>
              <a:rPr b="1" lang="zh-HK" sz="1150">
                <a:solidFill>
                  <a:srgbClr val="0F1115"/>
                </a:solidFill>
                <a:latin typeface="Times New Roman"/>
                <a:ea typeface="Times New Roman"/>
                <a:cs typeface="Times New Roman"/>
                <a:sym typeface="Times New Roman"/>
              </a:rPr>
              <a:t>second‑place</a:t>
            </a:r>
            <a:r>
              <a:rPr lang="zh-HK" sz="1150">
                <a:solidFill>
                  <a:srgbClr val="0F1115"/>
                </a:solidFill>
                <a:latin typeface="Times New Roman"/>
                <a:ea typeface="Times New Roman"/>
                <a:cs typeface="Times New Roman"/>
                <a:sym typeface="Times New Roman"/>
              </a:rPr>
              <a:t> </a:t>
            </a:r>
            <a:r>
              <a:rPr b="1" lang="zh-HK" sz="1150">
                <a:solidFill>
                  <a:srgbClr val="0F1115"/>
                </a:solidFill>
                <a:latin typeface="Times New Roman"/>
                <a:ea typeface="Times New Roman"/>
                <a:cs typeface="Times New Roman"/>
                <a:sym typeface="Times New Roman"/>
              </a:rPr>
              <a:t>in engagement rate at 12.32%, </a:t>
            </a:r>
            <a:r>
              <a:rPr lang="zh-HK" sz="1150">
                <a:solidFill>
                  <a:srgbClr val="0F1115"/>
                </a:solidFill>
                <a:latin typeface="Times New Roman"/>
                <a:ea typeface="Times New Roman"/>
                <a:cs typeface="Times New Roman"/>
                <a:sym typeface="Times New Roman"/>
              </a:rPr>
              <a:t>significantly outperforming many peers with higher posting frequency. Our content trategy continues to foster strong audience interaction and resonance.</a:t>
            </a:r>
            <a:endParaRPr b="0" i="0" sz="1150" u="none" cap="none" strike="noStrike">
              <a:solidFill>
                <a:srgbClr val="0F1115"/>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0F1115"/>
              </a:solidFill>
              <a:highlight>
                <a:srgbClr val="FFFFFF"/>
              </a:highlight>
              <a:latin typeface="Inter"/>
              <a:ea typeface="Inter"/>
              <a:cs typeface="Inter"/>
              <a:sym typeface="Inter"/>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Times New Roman"/>
              <a:ea typeface="Times New Roman"/>
              <a:cs typeface="Times New Roman"/>
              <a:sym typeface="Times New Roman"/>
            </a:endParaRPr>
          </a:p>
        </p:txBody>
      </p:sp>
      <p:sp>
        <p:nvSpPr>
          <p:cNvPr id="371" name="Google Shape;371;p12"/>
          <p:cNvSpPr txBox="1"/>
          <p:nvPr/>
        </p:nvSpPr>
        <p:spPr>
          <a:xfrm>
            <a:off x="950850" y="256375"/>
            <a:ext cx="6267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Competitors Analysis- Brand Account Content   </a:t>
            </a:r>
            <a:endParaRPr b="1" i="0" sz="2000" u="none" cap="none" strike="noStrike">
              <a:solidFill>
                <a:schemeClr val="dk1"/>
              </a:solidFill>
              <a:latin typeface="Times New Roman"/>
              <a:ea typeface="Times New Roman"/>
              <a:cs typeface="Times New Roman"/>
              <a:sym typeface="Times New Roman"/>
            </a:endParaRPr>
          </a:p>
        </p:txBody>
      </p:sp>
      <p:pic>
        <p:nvPicPr>
          <p:cNvPr id="372" name="Google Shape;372;p12"/>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373" name="Google Shape;373;p12"/>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74" name="Google Shape;374;p1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75" name="Google Shape;375;p12"/>
          <p:cNvPicPr preferRelativeResize="0"/>
          <p:nvPr/>
        </p:nvPicPr>
        <p:blipFill rotWithShape="1">
          <a:blip r:embed="rId5">
            <a:alphaModFix/>
          </a:blip>
          <a:srcRect b="21020" l="14063" r="17215" t="26140"/>
          <a:stretch/>
        </p:blipFill>
        <p:spPr>
          <a:xfrm>
            <a:off x="8094845" y="162433"/>
            <a:ext cx="1049155" cy="423511"/>
          </a:xfrm>
          <a:prstGeom prst="rect">
            <a:avLst/>
          </a:prstGeom>
          <a:noFill/>
          <a:ln>
            <a:noFill/>
          </a:ln>
        </p:spPr>
      </p:pic>
      <p:sp>
        <p:nvSpPr>
          <p:cNvPr id="376" name="Google Shape;376;p12"/>
          <p:cNvSpPr txBox="1"/>
          <p:nvPr/>
        </p:nvSpPr>
        <p:spPr>
          <a:xfrm>
            <a:off x="437925" y="4769521"/>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Source: </a:t>
            </a:r>
            <a:r>
              <a:rPr b="0" i="0" lang="zh-HK" sz="1100" u="sng" cap="none" strike="noStrike">
                <a:solidFill>
                  <a:schemeClr val="dk2"/>
                </a:solidFill>
                <a:latin typeface="Times New Roman"/>
                <a:ea typeface="Times New Roman"/>
                <a:cs typeface="Times New Roman"/>
                <a:sym typeface="Times New Roman"/>
                <a:hlinkClick r:id="rId6">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chemeClr val="dk2"/>
              </a:solidFill>
              <a:latin typeface="Arial"/>
              <a:ea typeface="Arial"/>
              <a:cs typeface="Arial"/>
              <a:sym typeface="Arial"/>
            </a:endParaRPr>
          </a:p>
        </p:txBody>
      </p:sp>
      <p:sp>
        <p:nvSpPr>
          <p:cNvPr id="377" name="Google Shape;377;p12"/>
          <p:cNvSpPr/>
          <p:nvPr/>
        </p:nvSpPr>
        <p:spPr>
          <a:xfrm>
            <a:off x="6340177" y="4285114"/>
            <a:ext cx="167700" cy="282600"/>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sng" cap="none" strike="noStrike">
              <a:solidFill>
                <a:schemeClr val="dk1"/>
              </a:solidFill>
              <a:latin typeface="Source Code Pro"/>
              <a:ea typeface="Source Code Pro"/>
              <a:cs typeface="Source Code Pro"/>
              <a:sym typeface="Source Code Pro"/>
            </a:endParaRPr>
          </a:p>
        </p:txBody>
      </p:sp>
      <p:sp>
        <p:nvSpPr>
          <p:cNvPr id="378" name="Google Shape;378;p12"/>
          <p:cNvSpPr txBox="1"/>
          <p:nvPr/>
        </p:nvSpPr>
        <p:spPr>
          <a:xfrm>
            <a:off x="6957050" y="47537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.31</a:t>
            </a:r>
            <a:endParaRPr b="0" i="0" sz="1400" u="none" cap="none" strike="noStrike">
              <a:solidFill>
                <a:srgbClr val="000000"/>
              </a:solidFill>
              <a:latin typeface="Arial"/>
              <a:ea typeface="Arial"/>
              <a:cs typeface="Arial"/>
              <a:sym typeface="Arial"/>
            </a:endParaRPr>
          </a:p>
        </p:txBody>
      </p:sp>
      <p:sp>
        <p:nvSpPr>
          <p:cNvPr id="379" name="Google Shape;379;p12"/>
          <p:cNvSpPr/>
          <p:nvPr/>
        </p:nvSpPr>
        <p:spPr>
          <a:xfrm rot="10793850">
            <a:off x="6216997" y="2621646"/>
            <a:ext cx="167700" cy="282301"/>
          </a:xfrm>
          <a:prstGeom prst="up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sng" cap="none" strike="noStrike">
              <a:solidFill>
                <a:schemeClr val="dk1"/>
              </a:solidFill>
              <a:latin typeface="Source Code Pro"/>
              <a:ea typeface="Source Code Pro"/>
              <a:cs typeface="Source Code Pro"/>
              <a:sym typeface="Source Code Pr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pic>
        <p:nvPicPr>
          <p:cNvPr id="384" name="Google Shape;384;p13" title="Chart"/>
          <p:cNvPicPr preferRelativeResize="0"/>
          <p:nvPr/>
        </p:nvPicPr>
        <p:blipFill>
          <a:blip r:embed="rId3">
            <a:alphaModFix/>
          </a:blip>
          <a:stretch>
            <a:fillRect/>
          </a:stretch>
        </p:blipFill>
        <p:spPr>
          <a:xfrm>
            <a:off x="150400" y="2074508"/>
            <a:ext cx="4551209" cy="2742925"/>
          </a:xfrm>
          <a:prstGeom prst="rect">
            <a:avLst/>
          </a:prstGeom>
          <a:noFill/>
          <a:ln>
            <a:noFill/>
          </a:ln>
        </p:spPr>
      </p:pic>
      <p:sp>
        <p:nvSpPr>
          <p:cNvPr id="385" name="Google Shape;385;p13"/>
          <p:cNvSpPr txBox="1"/>
          <p:nvPr/>
        </p:nvSpPr>
        <p:spPr>
          <a:xfrm>
            <a:off x="860125" y="254075"/>
            <a:ext cx="578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Competitor Organic Traffic Analysis - UGC</a:t>
            </a:r>
            <a:endParaRPr b="1" i="0" sz="2000" u="none" cap="none" strike="noStrike">
              <a:solidFill>
                <a:schemeClr val="dk1"/>
              </a:solidFill>
              <a:latin typeface="Times New Roman"/>
              <a:ea typeface="Times New Roman"/>
              <a:cs typeface="Times New Roman"/>
              <a:sym typeface="Times New Roman"/>
            </a:endParaRPr>
          </a:p>
        </p:txBody>
      </p:sp>
      <p:pic>
        <p:nvPicPr>
          <p:cNvPr id="386" name="Google Shape;386;p13"/>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387" name="Google Shape;387;p13"/>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388" name="Google Shape;388;p13"/>
          <p:cNvSpPr txBox="1"/>
          <p:nvPr/>
        </p:nvSpPr>
        <p:spPr>
          <a:xfrm>
            <a:off x="5283650" y="4821000"/>
            <a:ext cx="45885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  Source: </a:t>
            </a:r>
            <a:r>
              <a:rPr b="0" i="0" lang="zh-HK" sz="1100" u="sng" cap="none" strike="noStrike">
                <a:solidFill>
                  <a:schemeClr val="dk2"/>
                </a:solidFill>
                <a:latin typeface="Times New Roman"/>
                <a:ea typeface="Times New Roman"/>
                <a:cs typeface="Times New Roman"/>
                <a:sym typeface="Times New Roman"/>
                <a:hlinkClick r:id="rId5">
                  <a:extLst>
                    <a:ext uri="{A12FA001-AC4F-418D-AE19-62706E023703}">
                      <ahyp:hlinkClr val="tx"/>
                    </a:ext>
                  </a:extLst>
                </a:hlinkClick>
              </a:rPr>
              <a:t>https://www.huitun.com/</a:t>
            </a:r>
            <a:endParaRPr b="0" i="0" sz="11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
        <p:nvSpPr>
          <p:cNvPr id="389" name="Google Shape;389;p13"/>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390" name="Google Shape;390;p13"/>
          <p:cNvPicPr preferRelativeResize="0"/>
          <p:nvPr/>
        </p:nvPicPr>
        <p:blipFill rotWithShape="1">
          <a:blip r:embed="rId6">
            <a:alphaModFix/>
          </a:blip>
          <a:srcRect b="21020" l="14063" r="17215" t="26140"/>
          <a:stretch/>
        </p:blipFill>
        <p:spPr>
          <a:xfrm>
            <a:off x="8094845" y="162433"/>
            <a:ext cx="1049155" cy="423511"/>
          </a:xfrm>
          <a:prstGeom prst="rect">
            <a:avLst/>
          </a:prstGeom>
          <a:noFill/>
          <a:ln>
            <a:noFill/>
          </a:ln>
        </p:spPr>
      </p:pic>
      <p:sp>
        <p:nvSpPr>
          <p:cNvPr id="391" name="Google Shape;391;p13"/>
          <p:cNvSpPr txBox="1"/>
          <p:nvPr/>
        </p:nvSpPr>
        <p:spPr>
          <a:xfrm>
            <a:off x="213900" y="813006"/>
            <a:ext cx="8760600" cy="1290900"/>
          </a:xfrm>
          <a:prstGeom prst="rect">
            <a:avLst/>
          </a:prstGeom>
          <a:noFill/>
          <a:ln>
            <a:noFill/>
          </a:ln>
        </p:spPr>
        <p:txBody>
          <a:bodyPr anchorCtr="0" anchor="t" bIns="25700" lIns="51425" spcFirstLastPara="1" rIns="51425" wrap="square" tIns="25700">
            <a:spAutoFit/>
          </a:bodyPr>
          <a:lstStyle/>
          <a:p>
            <a:pPr indent="-301625" lvl="0" marL="457200" marR="0" rtl="0" algn="l">
              <a:lnSpc>
                <a:spcPct val="150000"/>
              </a:lnSpc>
              <a:spcBef>
                <a:spcPts val="0"/>
              </a:spcBef>
              <a:spcAft>
                <a:spcPts val="0"/>
              </a:spcAft>
              <a:buClr>
                <a:srgbClr val="0F1115"/>
              </a:buClr>
              <a:buSzPts val="1150"/>
              <a:buFont typeface="Times New Roman"/>
              <a:buChar char="●"/>
            </a:pPr>
            <a:r>
              <a:rPr lang="zh-HK" sz="1150">
                <a:latin typeface="Times New Roman"/>
                <a:ea typeface="Times New Roman"/>
                <a:cs typeface="Times New Roman"/>
                <a:sym typeface="Times New Roman"/>
              </a:rPr>
              <a:t>In Aug, there were </a:t>
            </a:r>
            <a:r>
              <a:rPr b="1" lang="zh-HK" sz="1150">
                <a:latin typeface="Times New Roman"/>
                <a:ea typeface="Times New Roman"/>
                <a:cs typeface="Times New Roman"/>
                <a:sym typeface="Times New Roman"/>
              </a:rPr>
              <a:t>1,598</a:t>
            </a:r>
            <a:r>
              <a:rPr lang="zh-HK" sz="1150">
                <a:latin typeface="Times New Roman"/>
                <a:ea typeface="Times New Roman"/>
                <a:cs typeface="Times New Roman"/>
                <a:sym typeface="Times New Roman"/>
              </a:rPr>
              <a:t> posts mentioning </a:t>
            </a:r>
            <a:r>
              <a:rPr b="1" lang="zh-HK" sz="1150">
                <a:latin typeface="Times New Roman"/>
                <a:ea typeface="Times New Roman"/>
                <a:cs typeface="Times New Roman"/>
                <a:sym typeface="Times New Roman"/>
              </a:rPr>
              <a:t>Langham Place</a:t>
            </a:r>
            <a:r>
              <a:rPr lang="zh-HK" sz="1150">
                <a:latin typeface="Times New Roman"/>
                <a:ea typeface="Times New Roman"/>
                <a:cs typeface="Times New Roman"/>
                <a:sym typeface="Times New Roman"/>
              </a:rPr>
              <a:t>, generating </a:t>
            </a:r>
            <a:r>
              <a:rPr b="1" lang="zh-HK" sz="1150">
                <a:latin typeface="Times New Roman"/>
                <a:ea typeface="Times New Roman"/>
                <a:cs typeface="Times New Roman"/>
                <a:sym typeface="Times New Roman"/>
              </a:rPr>
              <a:t>142K</a:t>
            </a:r>
            <a:r>
              <a:rPr lang="zh-HK" sz="1150">
                <a:latin typeface="Times New Roman"/>
                <a:ea typeface="Times New Roman"/>
                <a:cs typeface="Times New Roman"/>
                <a:sym typeface="Times New Roman"/>
              </a:rPr>
              <a:t> organic engagements. </a:t>
            </a:r>
            <a:endParaRPr sz="1150">
              <a:latin typeface="Times New Roman"/>
              <a:ea typeface="Times New Roman"/>
              <a:cs typeface="Times New Roman"/>
              <a:sym typeface="Times New Roman"/>
            </a:endParaRPr>
          </a:p>
          <a:p>
            <a:pPr indent="-301625" lvl="0" marL="457200" marR="0" rtl="0" algn="l">
              <a:lnSpc>
                <a:spcPct val="150000"/>
              </a:lnSpc>
              <a:spcBef>
                <a:spcPts val="0"/>
              </a:spcBef>
              <a:spcAft>
                <a:spcPts val="0"/>
              </a:spcAft>
              <a:buClr>
                <a:srgbClr val="0F1115"/>
              </a:buClr>
              <a:buSzPts val="1150"/>
              <a:buFont typeface="Times New Roman"/>
              <a:buChar char="●"/>
            </a:pPr>
            <a:r>
              <a:rPr lang="zh-HK" sz="1150">
                <a:solidFill>
                  <a:srgbClr val="0F1115"/>
                </a:solidFill>
                <a:highlight>
                  <a:srgbClr val="FFFFFF"/>
                </a:highlight>
                <a:latin typeface="Times New Roman"/>
                <a:ea typeface="Times New Roman"/>
                <a:cs typeface="Times New Roman"/>
                <a:sym typeface="Times New Roman"/>
              </a:rPr>
              <a:t>Compared to Jul, </a:t>
            </a:r>
            <a:r>
              <a:rPr b="1" lang="zh-HK" sz="1150">
                <a:solidFill>
                  <a:srgbClr val="0F1115"/>
                </a:solidFill>
                <a:highlight>
                  <a:srgbClr val="FFFFFF"/>
                </a:highlight>
                <a:latin typeface="Times New Roman"/>
                <a:ea typeface="Times New Roman"/>
                <a:cs typeface="Times New Roman"/>
                <a:sym typeface="Times New Roman"/>
              </a:rPr>
              <a:t>mention pos</a:t>
            </a:r>
            <a:r>
              <a:rPr lang="zh-HK" sz="1150">
                <a:solidFill>
                  <a:srgbClr val="0F1115"/>
                </a:solidFill>
                <a:highlight>
                  <a:srgbClr val="FFFFFF"/>
                </a:highlight>
                <a:latin typeface="Times New Roman"/>
                <a:ea typeface="Times New Roman"/>
                <a:cs typeface="Times New Roman"/>
                <a:sym typeface="Times New Roman"/>
              </a:rPr>
              <a:t>t volume </a:t>
            </a:r>
            <a:r>
              <a:rPr b="1" lang="zh-HK" sz="1150">
                <a:solidFill>
                  <a:srgbClr val="0F1115"/>
                </a:solidFill>
                <a:highlight>
                  <a:srgbClr val="FFFFFF"/>
                </a:highlight>
                <a:latin typeface="Times New Roman"/>
                <a:ea typeface="Times New Roman"/>
                <a:cs typeface="Times New Roman"/>
                <a:sym typeface="Times New Roman"/>
              </a:rPr>
              <a:t>grew 12.7%</a:t>
            </a:r>
            <a:r>
              <a:rPr lang="zh-HK" sz="1150">
                <a:solidFill>
                  <a:srgbClr val="0F1115"/>
                </a:solidFill>
                <a:highlight>
                  <a:srgbClr val="FFFFFF"/>
                </a:highlight>
                <a:latin typeface="Times New Roman"/>
                <a:ea typeface="Times New Roman"/>
                <a:cs typeface="Times New Roman"/>
                <a:sym typeface="Times New Roman"/>
              </a:rPr>
              <a:t> (1,418→1,598) and </a:t>
            </a:r>
            <a:r>
              <a:rPr b="1" lang="zh-HK" sz="1150">
                <a:solidFill>
                  <a:srgbClr val="0F1115"/>
                </a:solidFill>
                <a:highlight>
                  <a:srgbClr val="FFFFFF"/>
                </a:highlight>
                <a:latin typeface="Times New Roman"/>
                <a:ea typeface="Times New Roman"/>
                <a:cs typeface="Times New Roman"/>
                <a:sym typeface="Times New Roman"/>
              </a:rPr>
              <a:t>organic engagements increased 20.3% </a:t>
            </a:r>
            <a:r>
              <a:rPr lang="zh-HK" sz="1150">
                <a:solidFill>
                  <a:srgbClr val="0F1115"/>
                </a:solidFill>
                <a:highlight>
                  <a:srgbClr val="FFFFFF"/>
                </a:highlight>
                <a:latin typeface="Times New Roman"/>
                <a:ea typeface="Times New Roman"/>
                <a:cs typeface="Times New Roman"/>
                <a:sym typeface="Times New Roman"/>
              </a:rPr>
              <a:t>(118K→142K), reflecting sustained audience-driven momentum.</a:t>
            </a:r>
            <a:endParaRPr sz="1150">
              <a:latin typeface="Times New Roman"/>
              <a:ea typeface="Times New Roman"/>
              <a:cs typeface="Times New Roman"/>
              <a:sym typeface="Times New Roman"/>
            </a:endParaRPr>
          </a:p>
          <a:p>
            <a:pPr indent="-301625" lvl="0" marL="457200" marR="0" rtl="0" algn="l">
              <a:lnSpc>
                <a:spcPct val="150000"/>
              </a:lnSpc>
              <a:spcBef>
                <a:spcPts val="0"/>
              </a:spcBef>
              <a:spcAft>
                <a:spcPts val="0"/>
              </a:spcAft>
              <a:buClr>
                <a:srgbClr val="0F1115"/>
              </a:buClr>
              <a:buSzPts val="1150"/>
              <a:buFont typeface="Times New Roman"/>
              <a:buChar char="●"/>
            </a:pPr>
            <a:r>
              <a:rPr lang="zh-HK" sz="1150">
                <a:solidFill>
                  <a:srgbClr val="0F1115"/>
                </a:solidFill>
                <a:highlight>
                  <a:srgbClr val="FFFFFF"/>
                </a:highlight>
                <a:latin typeface="Times New Roman"/>
                <a:ea typeface="Times New Roman"/>
                <a:cs typeface="Times New Roman"/>
                <a:sym typeface="Times New Roman"/>
              </a:rPr>
              <a:t>Among competitors, Langham Place ranked </a:t>
            </a:r>
            <a:r>
              <a:rPr b="1" lang="zh-HK" sz="1150">
                <a:solidFill>
                  <a:srgbClr val="0F1115"/>
                </a:solidFill>
                <a:highlight>
                  <a:srgbClr val="FFFFFF"/>
                </a:highlight>
                <a:latin typeface="Times New Roman"/>
                <a:ea typeface="Times New Roman"/>
                <a:cs typeface="Times New Roman"/>
                <a:sym typeface="Times New Roman"/>
              </a:rPr>
              <a:t>third in post volume</a:t>
            </a:r>
            <a:r>
              <a:rPr lang="zh-HK" sz="1150">
                <a:solidFill>
                  <a:srgbClr val="0F1115"/>
                </a:solidFill>
                <a:highlight>
                  <a:srgbClr val="FFFFFF"/>
                </a:highlight>
                <a:latin typeface="Times New Roman"/>
                <a:ea typeface="Times New Roman"/>
                <a:cs typeface="Times New Roman"/>
                <a:sym typeface="Times New Roman"/>
              </a:rPr>
              <a:t> </a:t>
            </a:r>
            <a:r>
              <a:rPr b="1" lang="zh-HK" sz="1150">
                <a:solidFill>
                  <a:srgbClr val="0F1115"/>
                </a:solidFill>
                <a:highlight>
                  <a:srgbClr val="FFFFFF"/>
                </a:highlight>
                <a:latin typeface="Times New Roman"/>
                <a:ea typeface="Times New Roman"/>
                <a:cs typeface="Times New Roman"/>
                <a:sym typeface="Times New Roman"/>
              </a:rPr>
              <a:t>but second in organic engagements</a:t>
            </a:r>
            <a:r>
              <a:rPr lang="zh-HK" sz="1150">
                <a:solidFill>
                  <a:srgbClr val="0F1115"/>
                </a:solidFill>
                <a:highlight>
                  <a:srgbClr val="FFFFFF"/>
                </a:highlight>
                <a:latin typeface="Times New Roman"/>
                <a:ea typeface="Times New Roman"/>
                <a:cs typeface="Times New Roman"/>
                <a:sym typeface="Times New Roman"/>
              </a:rPr>
              <a:t>, consistently outperforming its posting position.</a:t>
            </a:r>
            <a:endParaRPr sz="1150">
              <a:latin typeface="Times New Roman"/>
              <a:ea typeface="Times New Roman"/>
              <a:cs typeface="Times New Roman"/>
              <a:sym typeface="Times New Roman"/>
            </a:endParaRPr>
          </a:p>
        </p:txBody>
      </p:sp>
      <p:sp>
        <p:nvSpPr>
          <p:cNvPr id="392" name="Google Shape;392;p13"/>
          <p:cNvSpPr txBox="1"/>
          <p:nvPr/>
        </p:nvSpPr>
        <p:spPr>
          <a:xfrm>
            <a:off x="133350" y="47328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zh-HK" sz="1100" u="none" cap="none" strike="noStrike">
                <a:solidFill>
                  <a:schemeClr val="dk2"/>
                </a:solidFill>
                <a:latin typeface="Times New Roman"/>
                <a:ea typeface="Times New Roman"/>
                <a:cs typeface="Times New Roman"/>
                <a:sym typeface="Times New Roman"/>
              </a:rPr>
              <a:t>Data range: 2026.</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.1 - </a:t>
            </a:r>
            <a:r>
              <a:rPr lang="zh-HK" sz="1100">
                <a:solidFill>
                  <a:schemeClr val="dk2"/>
                </a:solidFill>
                <a:latin typeface="Times New Roman"/>
                <a:ea typeface="Times New Roman"/>
                <a:cs typeface="Times New Roman"/>
                <a:sym typeface="Times New Roman"/>
              </a:rPr>
              <a:t>8</a:t>
            </a:r>
            <a:r>
              <a:rPr b="0" i="0" lang="zh-HK" sz="1100" u="none" cap="none" strike="noStrike">
                <a:solidFill>
                  <a:schemeClr val="dk2"/>
                </a:solidFill>
                <a:latin typeface="Times New Roman"/>
                <a:ea typeface="Times New Roman"/>
                <a:cs typeface="Times New Roman"/>
                <a:sym typeface="Times New Roman"/>
              </a:rPr>
              <a:t>.31  </a:t>
            </a:r>
            <a:endParaRPr b="0" i="0" sz="1400" u="none" cap="none" strike="noStrike">
              <a:solidFill>
                <a:srgbClr val="000000"/>
              </a:solidFill>
              <a:latin typeface="Arial"/>
              <a:ea typeface="Arial"/>
              <a:cs typeface="Arial"/>
              <a:sym typeface="Arial"/>
            </a:endParaRPr>
          </a:p>
        </p:txBody>
      </p:sp>
      <p:sp>
        <p:nvSpPr>
          <p:cNvPr id="393" name="Google Shape;393;p13"/>
          <p:cNvSpPr/>
          <p:nvPr/>
        </p:nvSpPr>
        <p:spPr>
          <a:xfrm>
            <a:off x="308250" y="2653619"/>
            <a:ext cx="3864600" cy="17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94" name="Google Shape;394;p13" title="Chart"/>
          <p:cNvPicPr preferRelativeResize="0"/>
          <p:nvPr/>
        </p:nvPicPr>
        <p:blipFill>
          <a:blip r:embed="rId7">
            <a:alphaModFix/>
          </a:blip>
          <a:stretch>
            <a:fillRect/>
          </a:stretch>
        </p:blipFill>
        <p:spPr>
          <a:xfrm>
            <a:off x="4573675" y="2081575"/>
            <a:ext cx="4443327" cy="2742932"/>
          </a:xfrm>
          <a:prstGeom prst="rect">
            <a:avLst/>
          </a:prstGeom>
          <a:noFill/>
          <a:ln>
            <a:noFill/>
          </a:ln>
        </p:spPr>
      </p:pic>
      <p:sp>
        <p:nvSpPr>
          <p:cNvPr id="395" name="Google Shape;395;p13"/>
          <p:cNvSpPr/>
          <p:nvPr/>
        </p:nvSpPr>
        <p:spPr>
          <a:xfrm>
            <a:off x="4744506" y="2833282"/>
            <a:ext cx="3645600" cy="1731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g3e0a25aff75_0_6"/>
          <p:cNvSpPr txBox="1"/>
          <p:nvPr/>
        </p:nvSpPr>
        <p:spPr>
          <a:xfrm>
            <a:off x="860125" y="254075"/>
            <a:ext cx="5782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rgbClr val="E91C63"/>
                </a:solidFill>
                <a:latin typeface="Times New Roman"/>
                <a:ea typeface="Times New Roman"/>
                <a:cs typeface="Times New Roman"/>
                <a:sym typeface="Times New Roman"/>
              </a:rPr>
              <a:t>Dianping </a:t>
            </a:r>
            <a:r>
              <a:rPr b="1" lang="zh-HK" sz="2000">
                <a:solidFill>
                  <a:srgbClr val="E91C63"/>
                </a:solidFill>
                <a:latin typeface="Times New Roman"/>
                <a:ea typeface="Times New Roman"/>
                <a:cs typeface="Times New Roman"/>
                <a:sym typeface="Times New Roman"/>
              </a:rPr>
              <a:t>August</a:t>
            </a:r>
            <a:r>
              <a:rPr b="1" i="0" lang="zh-HK" sz="2000" u="none" cap="none" strike="noStrike">
                <a:solidFill>
                  <a:srgbClr val="E91C63"/>
                </a:solidFill>
                <a:latin typeface="Times New Roman"/>
                <a:ea typeface="Times New Roman"/>
                <a:cs typeface="Times New Roman"/>
                <a:sym typeface="Times New Roman"/>
              </a:rPr>
              <a:t> Report  </a:t>
            </a:r>
            <a:endParaRPr b="1" i="0" sz="2000" u="none" cap="none" strike="noStrike">
              <a:solidFill>
                <a:srgbClr val="E91C63"/>
              </a:solidFill>
              <a:latin typeface="Times New Roman"/>
              <a:ea typeface="Times New Roman"/>
              <a:cs typeface="Times New Roman"/>
              <a:sym typeface="Times New Roman"/>
            </a:endParaRPr>
          </a:p>
        </p:txBody>
      </p:sp>
      <p:sp>
        <p:nvSpPr>
          <p:cNvPr id="401" name="Google Shape;401;g3e0a25aff75_0_6"/>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402" name="Google Shape;402;g3e0a25aff75_0_6"/>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03" name="Google Shape;403;g3e0a25aff75_0_6"/>
          <p:cNvPicPr preferRelativeResize="0"/>
          <p:nvPr/>
        </p:nvPicPr>
        <p:blipFill rotWithShape="1">
          <a:blip r:embed="rId3">
            <a:alphaModFix/>
          </a:blip>
          <a:srcRect b="21020" l="14061" r="17215" t="26140"/>
          <a:stretch/>
        </p:blipFill>
        <p:spPr>
          <a:xfrm>
            <a:off x="8094845" y="162433"/>
            <a:ext cx="1049154" cy="423511"/>
          </a:xfrm>
          <a:prstGeom prst="rect">
            <a:avLst/>
          </a:prstGeom>
          <a:noFill/>
          <a:ln>
            <a:noFill/>
          </a:ln>
        </p:spPr>
      </p:pic>
      <p:sp>
        <p:nvSpPr>
          <p:cNvPr id="404" name="Google Shape;404;g3e0a25aff75_0_6"/>
          <p:cNvSpPr txBox="1"/>
          <p:nvPr/>
        </p:nvSpPr>
        <p:spPr>
          <a:xfrm>
            <a:off x="213900" y="951343"/>
            <a:ext cx="8760600" cy="873900"/>
          </a:xfrm>
          <a:prstGeom prst="rect">
            <a:avLst/>
          </a:prstGeom>
          <a:noFill/>
          <a:ln>
            <a:noFill/>
          </a:ln>
        </p:spPr>
        <p:txBody>
          <a:bodyPr anchorCtr="0" anchor="t" bIns="25700" lIns="51425" spcFirstLastPara="1" rIns="51425" wrap="square" tIns="25700">
            <a:spAutoFit/>
          </a:bodyPr>
          <a:lstStyle/>
          <a:p>
            <a:pPr indent="-304800" lvl="0" marL="457200" marR="0" rtl="0" algn="l">
              <a:lnSpc>
                <a:spcPct val="115000"/>
              </a:lnSpc>
              <a:spcBef>
                <a:spcPts val="1200"/>
              </a:spcBef>
              <a:spcAft>
                <a:spcPts val="0"/>
              </a:spcAft>
              <a:buSzPts val="1200"/>
              <a:buChar char="●"/>
            </a:pPr>
            <a:r>
              <a:rPr i="0" lang="zh-HK" sz="1200" u="none" cap="none" strike="noStrike">
                <a:solidFill>
                  <a:srgbClr val="0F1115"/>
                </a:solidFill>
                <a:highlight>
                  <a:srgbClr val="FFFFFF"/>
                </a:highlight>
                <a:latin typeface="Times New Roman"/>
                <a:ea typeface="Times New Roman"/>
                <a:cs typeface="Times New Roman"/>
                <a:sym typeface="Times New Roman"/>
              </a:rPr>
              <a:t>In </a:t>
            </a:r>
            <a:r>
              <a:rPr lang="zh-HK" sz="1200">
                <a:solidFill>
                  <a:srgbClr val="0F1115"/>
                </a:solidFill>
                <a:highlight>
                  <a:srgbClr val="FFFFFF"/>
                </a:highlight>
                <a:latin typeface="Times New Roman"/>
                <a:ea typeface="Times New Roman"/>
                <a:cs typeface="Times New Roman"/>
                <a:sym typeface="Times New Roman"/>
              </a:rPr>
              <a:t>Aug</a:t>
            </a:r>
            <a:r>
              <a:rPr i="0" lang="zh-HK" sz="1200" u="none" cap="none" strike="noStrike">
                <a:solidFill>
                  <a:srgbClr val="0F1115"/>
                </a:solidFill>
                <a:highlight>
                  <a:srgbClr val="FFFFFF"/>
                </a:highlight>
                <a:latin typeface="Times New Roman"/>
                <a:ea typeface="Times New Roman"/>
                <a:cs typeface="Times New Roman"/>
                <a:sym typeface="Times New Roman"/>
              </a:rPr>
              <a:t>, Dianping recorded </a:t>
            </a:r>
            <a:r>
              <a:rPr b="1" i="0" lang="zh-HK" sz="1200" u="none" cap="none" strike="noStrike">
                <a:solidFill>
                  <a:srgbClr val="0F1115"/>
                </a:solidFill>
                <a:highlight>
                  <a:srgbClr val="FFFFFF"/>
                </a:highlight>
                <a:latin typeface="Times New Roman"/>
                <a:ea typeface="Times New Roman"/>
                <a:cs typeface="Times New Roman"/>
                <a:sym typeface="Times New Roman"/>
              </a:rPr>
              <a:t>5</a:t>
            </a:r>
            <a:r>
              <a:rPr b="1" lang="zh-HK" sz="1200">
                <a:solidFill>
                  <a:srgbClr val="0F1115"/>
                </a:solidFill>
                <a:highlight>
                  <a:srgbClr val="FFFFFF"/>
                </a:highlight>
                <a:latin typeface="Times New Roman"/>
                <a:ea typeface="Times New Roman"/>
                <a:cs typeface="Times New Roman"/>
                <a:sym typeface="Times New Roman"/>
              </a:rPr>
              <a:t>8</a:t>
            </a:r>
            <a:r>
              <a:rPr b="1" i="0" lang="zh-HK" sz="1200" u="none" cap="none" strike="noStrike">
                <a:solidFill>
                  <a:srgbClr val="0F1115"/>
                </a:solidFill>
                <a:highlight>
                  <a:srgbClr val="FFFFFF"/>
                </a:highlight>
                <a:latin typeface="Times New Roman"/>
                <a:ea typeface="Times New Roman"/>
                <a:cs typeface="Times New Roman"/>
                <a:sym typeface="Times New Roman"/>
              </a:rPr>
              <a:t>,</a:t>
            </a:r>
            <a:r>
              <a:rPr b="1" lang="zh-HK" sz="1200">
                <a:solidFill>
                  <a:srgbClr val="0F1115"/>
                </a:solidFill>
                <a:highlight>
                  <a:srgbClr val="FFFFFF"/>
                </a:highlight>
                <a:latin typeface="Times New Roman"/>
                <a:ea typeface="Times New Roman"/>
                <a:cs typeface="Times New Roman"/>
                <a:sym typeface="Times New Roman"/>
              </a:rPr>
              <a:t>322</a:t>
            </a:r>
            <a:r>
              <a:rPr b="1" i="0" lang="zh-HK" sz="1200" u="none" cap="none" strike="noStrike">
                <a:solidFill>
                  <a:srgbClr val="0F1115"/>
                </a:solidFill>
                <a:highlight>
                  <a:srgbClr val="FFFFFF"/>
                </a:highlight>
                <a:latin typeface="Times New Roman"/>
                <a:ea typeface="Times New Roman"/>
                <a:cs typeface="Times New Roman"/>
                <a:sym typeface="Times New Roman"/>
              </a:rPr>
              <a:t> impressions, 1</a:t>
            </a:r>
            <a:r>
              <a:rPr b="1" lang="zh-HK" sz="1200">
                <a:solidFill>
                  <a:srgbClr val="0F1115"/>
                </a:solidFill>
                <a:highlight>
                  <a:srgbClr val="FFFFFF"/>
                </a:highlight>
                <a:latin typeface="Times New Roman"/>
                <a:ea typeface="Times New Roman"/>
                <a:cs typeface="Times New Roman"/>
                <a:sym typeface="Times New Roman"/>
              </a:rPr>
              <a:t>7</a:t>
            </a:r>
            <a:r>
              <a:rPr b="1" i="0" lang="zh-HK" sz="1200" u="none" cap="none" strike="noStrike">
                <a:solidFill>
                  <a:srgbClr val="0F1115"/>
                </a:solidFill>
                <a:highlight>
                  <a:srgbClr val="FFFFFF"/>
                </a:highlight>
                <a:latin typeface="Times New Roman"/>
                <a:ea typeface="Times New Roman"/>
                <a:cs typeface="Times New Roman"/>
                <a:sym typeface="Times New Roman"/>
              </a:rPr>
              <a:t>,909 visits, and </a:t>
            </a:r>
            <a:r>
              <a:rPr b="1" lang="zh-HK" sz="1200">
                <a:solidFill>
                  <a:srgbClr val="0F1115"/>
                </a:solidFill>
                <a:highlight>
                  <a:srgbClr val="FFFFFF"/>
                </a:highlight>
                <a:latin typeface="Times New Roman"/>
                <a:ea typeface="Times New Roman"/>
                <a:cs typeface="Times New Roman"/>
                <a:sym typeface="Times New Roman"/>
              </a:rPr>
              <a:t>5</a:t>
            </a:r>
            <a:r>
              <a:rPr b="1" i="0" lang="zh-HK" sz="1200" u="none" cap="none" strike="noStrike">
                <a:solidFill>
                  <a:srgbClr val="0F1115"/>
                </a:solidFill>
                <a:highlight>
                  <a:srgbClr val="FFFFFF"/>
                </a:highlight>
                <a:latin typeface="Times New Roman"/>
                <a:ea typeface="Times New Roman"/>
                <a:cs typeface="Times New Roman"/>
                <a:sym typeface="Times New Roman"/>
              </a:rPr>
              <a:t>,</a:t>
            </a:r>
            <a:r>
              <a:rPr b="1" lang="zh-HK" sz="1200">
                <a:solidFill>
                  <a:srgbClr val="0F1115"/>
                </a:solidFill>
                <a:highlight>
                  <a:srgbClr val="FFFFFF"/>
                </a:highlight>
                <a:latin typeface="Times New Roman"/>
                <a:ea typeface="Times New Roman"/>
                <a:cs typeface="Times New Roman"/>
                <a:sym typeface="Times New Roman"/>
              </a:rPr>
              <a:t>106</a:t>
            </a:r>
            <a:r>
              <a:rPr b="1" i="0" lang="zh-HK" sz="1200" u="none" cap="none" strike="noStrike">
                <a:solidFill>
                  <a:srgbClr val="0F1115"/>
                </a:solidFill>
                <a:highlight>
                  <a:srgbClr val="FFFFFF"/>
                </a:highlight>
                <a:latin typeface="Times New Roman"/>
                <a:ea typeface="Times New Roman"/>
                <a:cs typeface="Times New Roman"/>
                <a:sym typeface="Times New Roman"/>
              </a:rPr>
              <a:t> interested users,</a:t>
            </a:r>
            <a:r>
              <a:rPr i="0" lang="zh-HK" sz="1200" u="none" cap="none" strike="noStrike">
                <a:solidFill>
                  <a:srgbClr val="0F1115"/>
                </a:solidFill>
                <a:highlight>
                  <a:srgbClr val="FFFFFF"/>
                </a:highlight>
                <a:latin typeface="Times New Roman"/>
                <a:ea typeface="Times New Roman"/>
                <a:cs typeface="Times New Roman"/>
                <a:sym typeface="Times New Roman"/>
              </a:rPr>
              <a:t> all hitting new highs for the year. </a:t>
            </a:r>
            <a:br>
              <a:rPr i="0" lang="zh-HK" sz="1200" u="none" cap="none" strike="noStrike">
                <a:solidFill>
                  <a:srgbClr val="0F1115"/>
                </a:solidFill>
                <a:highlight>
                  <a:srgbClr val="FFFFFF"/>
                </a:highlight>
                <a:latin typeface="Times New Roman"/>
                <a:ea typeface="Times New Roman"/>
                <a:cs typeface="Times New Roman"/>
                <a:sym typeface="Times New Roman"/>
              </a:rPr>
            </a:br>
            <a:endParaRPr sz="1200">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Growth was driven by the </a:t>
            </a:r>
            <a:r>
              <a:rPr b="1" lang="zh-HK" sz="1200">
                <a:solidFill>
                  <a:srgbClr val="0F1115"/>
                </a:solidFill>
                <a:highlight>
                  <a:srgbClr val="FFFFFF"/>
                </a:highlight>
                <a:latin typeface="Times New Roman"/>
                <a:ea typeface="Times New Roman"/>
                <a:cs typeface="Times New Roman"/>
                <a:sym typeface="Times New Roman"/>
              </a:rPr>
              <a:t>summer travel season and the Chiikawa IP</a:t>
            </a:r>
            <a:r>
              <a:rPr lang="zh-HK" sz="1200">
                <a:solidFill>
                  <a:srgbClr val="0F1115"/>
                </a:solidFill>
                <a:highlight>
                  <a:srgbClr val="FFFFFF"/>
                </a:highlight>
                <a:latin typeface="Times New Roman"/>
                <a:ea typeface="Times New Roman"/>
                <a:cs typeface="Times New Roman"/>
                <a:sym typeface="Times New Roman"/>
              </a:rPr>
              <a:t> campaign, attracting mainland tourists to browse the latest event updates and shopping guides, boosting all metrics.</a:t>
            </a:r>
            <a:endParaRPr i="0" sz="1200" u="none" cap="none" strike="noStrike">
              <a:solidFill>
                <a:srgbClr val="000000"/>
              </a:solidFill>
              <a:latin typeface="Times New Roman"/>
              <a:ea typeface="Times New Roman"/>
              <a:cs typeface="Times New Roman"/>
              <a:sym typeface="Times New Roman"/>
            </a:endParaRPr>
          </a:p>
        </p:txBody>
      </p:sp>
      <p:pic>
        <p:nvPicPr>
          <p:cNvPr id="405" name="Google Shape;405;g3e0a25aff75_0_6"/>
          <p:cNvPicPr preferRelativeResize="0"/>
          <p:nvPr/>
        </p:nvPicPr>
        <p:blipFill rotWithShape="1">
          <a:blip r:embed="rId4">
            <a:alphaModFix/>
          </a:blip>
          <a:srcRect b="0" l="0" r="0" t="0"/>
          <a:stretch/>
        </p:blipFill>
        <p:spPr>
          <a:xfrm>
            <a:off x="453291" y="232824"/>
            <a:ext cx="535100" cy="535100"/>
          </a:xfrm>
          <a:prstGeom prst="rect">
            <a:avLst/>
          </a:prstGeom>
          <a:noFill/>
          <a:ln>
            <a:noFill/>
          </a:ln>
        </p:spPr>
      </p:pic>
      <p:graphicFrame>
        <p:nvGraphicFramePr>
          <p:cNvPr id="406" name="Google Shape;406;g3e0a25aff75_0_6"/>
          <p:cNvGraphicFramePr/>
          <p:nvPr/>
        </p:nvGraphicFramePr>
        <p:xfrm>
          <a:off x="212150" y="2381575"/>
          <a:ext cx="3000000" cy="3000000"/>
        </p:xfrm>
        <a:graphic>
          <a:graphicData uri="http://schemas.openxmlformats.org/drawingml/2006/table">
            <a:tbl>
              <a:tblPr>
                <a:noFill/>
                <a:tableStyleId>{CBF73CE5-E657-4C52-95DC-C96709342244}</a:tableStyleId>
              </a:tblPr>
              <a:tblGrid>
                <a:gridCol w="838875"/>
                <a:gridCol w="1001675"/>
                <a:gridCol w="792125"/>
                <a:gridCol w="1137325"/>
              </a:tblGrid>
              <a:tr h="207525">
                <a:tc gridSpan="4">
                  <a:txBody>
                    <a:bodyPr/>
                    <a:lstStyle/>
                    <a:p>
                      <a:pPr indent="0" lvl="0" marL="0" marR="0" rtl="0" algn="l">
                        <a:lnSpc>
                          <a:spcPct val="115000"/>
                        </a:lnSpc>
                        <a:spcBef>
                          <a:spcPts val="0"/>
                        </a:spcBef>
                        <a:spcAft>
                          <a:spcPts val="0"/>
                        </a:spcAft>
                        <a:buClr>
                          <a:srgbClr val="000000"/>
                        </a:buClr>
                        <a:buSzPts val="1000"/>
                        <a:buFont typeface="Arial"/>
                        <a:buNone/>
                      </a:pPr>
                      <a:r>
                        <a:rPr b="1" lang="zh-HK" sz="1000" u="none" cap="none" strike="noStrike"/>
                        <a:t>Dianping Performance</a:t>
                      </a:r>
                      <a:endParaRPr b="1" sz="1000" u="none" cap="none" strike="noStrike"/>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406:0:0"/>
                      </a:ext>
                    </a:extLst>
                  </a:tcPr>
                </a:tc>
                <a:tc hMerge="1"/>
                <a:tc hMerge="1"/>
                <a:tc hMerge="1"/>
              </a:tr>
              <a:tr h="226400">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Month</a:t>
                      </a:r>
                      <a:endParaRPr b="1"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406:1: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Impression</a:t>
                      </a:r>
                      <a:endParaRPr b="1"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406:1: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Visits</a:t>
                      </a:r>
                      <a:endParaRPr b="1"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406:1: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b="1" lang="zh-HK" sz="1100" u="none" cap="none" strike="noStrike">
                          <a:latin typeface="Calibri"/>
                          <a:ea typeface="Calibri"/>
                          <a:cs typeface="Calibri"/>
                          <a:sym typeface="Calibri"/>
                        </a:rPr>
                        <a:t>Interested Users</a:t>
                      </a:r>
                      <a:endParaRPr b="1"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CE5CD"/>
                    </a:solidFill>
                    <a:extLst>
                      <a:ext uri="http://customooxmlschemas.google.com/">
                        <go:slidesCustomData xmlns:go="http://customooxmlschemas.google.com/" cellId="406:1:3"/>
                      </a:ext>
                    </a:extLst>
                  </a:tcPr>
                </a:tc>
              </a:tr>
              <a:tr h="226400">
                <a:tc>
                  <a:txBody>
                    <a:bodyPr/>
                    <a:lstStyle/>
                    <a:p>
                      <a:pPr indent="0" lvl="0" marL="0" marR="0" rtl="0" algn="ctr">
                        <a:lnSpc>
                          <a:spcPct val="115000"/>
                        </a:lnSpc>
                        <a:spcBef>
                          <a:spcPts val="0"/>
                        </a:spcBef>
                        <a:spcAft>
                          <a:spcPts val="0"/>
                        </a:spcAft>
                        <a:buNone/>
                      </a:pPr>
                      <a:r>
                        <a:rPr lang="zh-HK" sz="1100">
                          <a:latin typeface="Calibri"/>
                          <a:ea typeface="Calibri"/>
                          <a:cs typeface="Calibri"/>
                          <a:sym typeface="Calibri"/>
                        </a:rPr>
                        <a:t>August</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406:2:0"/>
                      </a:ext>
                    </a:extLst>
                  </a:tcPr>
                </a:tc>
                <a:tc>
                  <a:txBody>
                    <a:bodyPr/>
                    <a:lstStyle/>
                    <a:p>
                      <a:pPr indent="0" lvl="0" marL="0" marR="0" rtl="0" algn="ctr">
                        <a:lnSpc>
                          <a:spcPct val="115000"/>
                        </a:lnSpc>
                        <a:spcBef>
                          <a:spcPts val="0"/>
                        </a:spcBef>
                        <a:spcAft>
                          <a:spcPts val="0"/>
                        </a:spcAft>
                        <a:buNone/>
                      </a:pPr>
                      <a:r>
                        <a:rPr lang="zh-HK" sz="1100">
                          <a:latin typeface="Calibri"/>
                          <a:ea typeface="Calibri"/>
                          <a:cs typeface="Calibri"/>
                          <a:sym typeface="Calibri"/>
                        </a:rPr>
                        <a:t>58,322</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406:2:1"/>
                      </a:ext>
                    </a:extLst>
                  </a:tcPr>
                </a:tc>
                <a:tc>
                  <a:txBody>
                    <a:bodyPr/>
                    <a:lstStyle/>
                    <a:p>
                      <a:pPr indent="0" lvl="0" marL="0" marR="0" rtl="0" algn="ctr">
                        <a:lnSpc>
                          <a:spcPct val="115000"/>
                        </a:lnSpc>
                        <a:spcBef>
                          <a:spcPts val="0"/>
                        </a:spcBef>
                        <a:spcAft>
                          <a:spcPts val="0"/>
                        </a:spcAft>
                        <a:buNone/>
                      </a:pPr>
                      <a:r>
                        <a:rPr lang="zh-HK" sz="1100">
                          <a:latin typeface="Calibri"/>
                          <a:ea typeface="Calibri"/>
                          <a:cs typeface="Calibri"/>
                          <a:sym typeface="Calibri"/>
                        </a:rPr>
                        <a:t>17,909</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406:2:2"/>
                      </a:ext>
                    </a:extLst>
                  </a:tcPr>
                </a:tc>
                <a:tc>
                  <a:txBody>
                    <a:bodyPr/>
                    <a:lstStyle/>
                    <a:p>
                      <a:pPr indent="0" lvl="0" marL="0" marR="0" rtl="0" algn="ctr">
                        <a:lnSpc>
                          <a:spcPct val="115000"/>
                        </a:lnSpc>
                        <a:spcBef>
                          <a:spcPts val="0"/>
                        </a:spcBef>
                        <a:spcAft>
                          <a:spcPts val="0"/>
                        </a:spcAft>
                        <a:buNone/>
                      </a:pPr>
                      <a:r>
                        <a:rPr lang="zh-HK" sz="1100">
                          <a:latin typeface="Calibri"/>
                          <a:ea typeface="Calibri"/>
                          <a:cs typeface="Calibri"/>
                          <a:sym typeface="Calibri"/>
                        </a:rPr>
                        <a:t>5,106</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00"/>
                    </a:solidFill>
                    <a:extLst>
                      <a:ext uri="http://customooxmlschemas.google.com/">
                        <go:slidesCustomData xmlns:go="http://customooxmlschemas.google.com/" cellId="406:2:3"/>
                      </a:ext>
                    </a:extLst>
                  </a:tcPr>
                </a:tc>
              </a:tr>
              <a:tr h="226400">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July</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06:3: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52,775</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06:3: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14,643</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06:3: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4,593</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extLst>
                      <a:ext uri="http://customooxmlschemas.google.com/">
                        <go:slidesCustomData xmlns:go="http://customooxmlschemas.google.com/" cellId="406:3:3"/>
                      </a:ext>
                    </a:extLst>
                  </a:tcPr>
                </a:tc>
              </a:tr>
              <a:tr h="226400">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June</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4: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41,362</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4: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10,868</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4: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3,385</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4:3"/>
                      </a:ext>
                    </a:extLst>
                  </a:tcPr>
                </a:tc>
              </a:tr>
              <a:tr h="226400">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May</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5: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45,752</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5: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11,686</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5: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3,362</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5:3"/>
                      </a:ext>
                    </a:extLst>
                  </a:tcPr>
                </a:tc>
              </a:tr>
              <a:tr h="226400">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April</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6: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40,504</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6: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9,778</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6: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2,851</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6:3"/>
                      </a:ext>
                    </a:extLst>
                  </a:tcPr>
                </a:tc>
              </a:tr>
              <a:tr h="226400">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March</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7:0"/>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33,380</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7:1"/>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9,150</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7:2"/>
                      </a:ext>
                    </a:extLst>
                  </a:tcPr>
                </a:tc>
                <a:tc>
                  <a:txBody>
                    <a:bodyPr/>
                    <a:lstStyle/>
                    <a:p>
                      <a:pPr indent="0" lvl="0" marL="0" marR="0" rtl="0" algn="ctr">
                        <a:lnSpc>
                          <a:spcPct val="115000"/>
                        </a:lnSpc>
                        <a:spcBef>
                          <a:spcPts val="0"/>
                        </a:spcBef>
                        <a:spcAft>
                          <a:spcPts val="0"/>
                        </a:spcAft>
                        <a:buClr>
                          <a:srgbClr val="000000"/>
                        </a:buClr>
                        <a:buSzPts val="1100"/>
                        <a:buFont typeface="Arial"/>
                        <a:buNone/>
                      </a:pPr>
                      <a:r>
                        <a:rPr lang="zh-HK" sz="1100" u="none" cap="none" strike="noStrike">
                          <a:latin typeface="Calibri"/>
                          <a:ea typeface="Calibri"/>
                          <a:cs typeface="Calibri"/>
                          <a:sym typeface="Calibri"/>
                        </a:rPr>
                        <a:t>2,737</a:t>
                      </a:r>
                      <a:endParaRPr sz="1100" u="none" cap="none" strike="noStrike">
                        <a:latin typeface="Calibri"/>
                        <a:ea typeface="Calibri"/>
                        <a:cs typeface="Calibri"/>
                        <a:sym typeface="Calibri"/>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extLst>
                      <a:ext uri="http://customooxmlschemas.google.com/">
                        <go:slidesCustomData xmlns:go="http://customooxmlschemas.google.com/" cellId="406:7:3"/>
                      </a:ext>
                    </a:extLst>
                  </a:tcPr>
                </a:tc>
              </a:tr>
            </a:tbl>
          </a:graphicData>
        </a:graphic>
      </p:graphicFrame>
      <p:sp>
        <p:nvSpPr>
          <p:cNvPr id="407" name="Google Shape;407;g3e0a25aff75_0_6"/>
          <p:cNvSpPr/>
          <p:nvPr/>
        </p:nvSpPr>
        <p:spPr>
          <a:xfrm>
            <a:off x="212100" y="2836667"/>
            <a:ext cx="3770100" cy="2286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8" name="Google Shape;408;g3e0a25aff75_0_6"/>
          <p:cNvPicPr preferRelativeResize="0"/>
          <p:nvPr/>
        </p:nvPicPr>
        <p:blipFill rotWithShape="1">
          <a:blip r:embed="rId5">
            <a:alphaModFix/>
          </a:blip>
          <a:srcRect b="0" l="0" r="0" t="0"/>
          <a:stretch/>
        </p:blipFill>
        <p:spPr>
          <a:xfrm>
            <a:off x="4075650" y="2118829"/>
            <a:ext cx="1602650" cy="2360152"/>
          </a:xfrm>
          <a:prstGeom prst="rect">
            <a:avLst/>
          </a:prstGeom>
          <a:noFill/>
          <a:ln>
            <a:noFill/>
          </a:ln>
        </p:spPr>
      </p:pic>
      <p:pic>
        <p:nvPicPr>
          <p:cNvPr id="409" name="Google Shape;409;g3e0a25aff75_0_6"/>
          <p:cNvPicPr preferRelativeResize="0"/>
          <p:nvPr/>
        </p:nvPicPr>
        <p:blipFill>
          <a:blip r:embed="rId6">
            <a:alphaModFix/>
          </a:blip>
          <a:stretch>
            <a:fillRect/>
          </a:stretch>
        </p:blipFill>
        <p:spPr>
          <a:xfrm>
            <a:off x="5710042" y="1845475"/>
            <a:ext cx="1703183" cy="3103273"/>
          </a:xfrm>
          <a:prstGeom prst="rect">
            <a:avLst/>
          </a:prstGeom>
          <a:noFill/>
          <a:ln>
            <a:noFill/>
          </a:ln>
        </p:spPr>
      </p:pic>
      <p:pic>
        <p:nvPicPr>
          <p:cNvPr id="410" name="Google Shape;410;g3e0a25aff75_0_6"/>
          <p:cNvPicPr preferRelativeResize="0"/>
          <p:nvPr/>
        </p:nvPicPr>
        <p:blipFill>
          <a:blip r:embed="rId7">
            <a:alphaModFix/>
          </a:blip>
          <a:stretch>
            <a:fillRect/>
          </a:stretch>
        </p:blipFill>
        <p:spPr>
          <a:xfrm>
            <a:off x="7331875" y="1856690"/>
            <a:ext cx="1674376" cy="31032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14"/>
          <p:cNvSpPr txBox="1"/>
          <p:nvPr/>
        </p:nvSpPr>
        <p:spPr>
          <a:xfrm>
            <a:off x="950850" y="258575"/>
            <a:ext cx="56565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Organic Traffic Analysis- Top 5 Posts</a:t>
            </a:r>
            <a:endParaRPr b="1" i="0" sz="2000" u="none" cap="none" strike="noStrike">
              <a:solidFill>
                <a:schemeClr val="dk1"/>
              </a:solidFill>
              <a:latin typeface="Times New Roman"/>
              <a:ea typeface="Times New Roman"/>
              <a:cs typeface="Times New Roman"/>
              <a:sym typeface="Times New Roman"/>
            </a:endParaRPr>
          </a:p>
        </p:txBody>
      </p:sp>
      <p:pic>
        <p:nvPicPr>
          <p:cNvPr id="416" name="Google Shape;416;p14"/>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417" name="Google Shape;417;p14"/>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418" name="Google Shape;418;p14"/>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419" name="Google Shape;419;p14"/>
          <p:cNvPicPr preferRelativeResize="0"/>
          <p:nvPr/>
        </p:nvPicPr>
        <p:blipFill rotWithShape="1">
          <a:blip r:embed="rId4">
            <a:alphaModFix/>
          </a:blip>
          <a:srcRect b="21020" l="14063" r="17215" t="26140"/>
          <a:stretch/>
        </p:blipFill>
        <p:spPr>
          <a:xfrm>
            <a:off x="8094845" y="162433"/>
            <a:ext cx="1049155" cy="423511"/>
          </a:xfrm>
          <a:prstGeom prst="rect">
            <a:avLst/>
          </a:prstGeom>
          <a:noFill/>
          <a:ln>
            <a:noFill/>
          </a:ln>
        </p:spPr>
      </p:pic>
      <p:sp>
        <p:nvSpPr>
          <p:cNvPr id="420" name="Google Shape;420;p14"/>
          <p:cNvSpPr txBox="1"/>
          <p:nvPr/>
        </p:nvSpPr>
        <p:spPr>
          <a:xfrm>
            <a:off x="70277" y="3568431"/>
            <a:ext cx="8876400" cy="12189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1200"/>
              </a:spcBef>
              <a:spcAft>
                <a:spcPts val="0"/>
              </a:spcAft>
              <a:buSzPts val="1200"/>
              <a:buChar char="●"/>
            </a:pPr>
            <a:r>
              <a:rPr lang="zh-HK" sz="1200">
                <a:solidFill>
                  <a:srgbClr val="0F1115"/>
                </a:solidFill>
                <a:highlight>
                  <a:srgbClr val="FFFFFF"/>
                </a:highlight>
                <a:latin typeface="Times New Roman"/>
                <a:ea typeface="Times New Roman"/>
                <a:cs typeface="Times New Roman"/>
                <a:sym typeface="Times New Roman"/>
              </a:rPr>
              <a:t>In Aug, Langham Place continued to appear in organic posts such as  "shopping guide" and "One-day tours," positioning it as a </a:t>
            </a:r>
            <a:r>
              <a:rPr b="1" lang="zh-HK" sz="1200">
                <a:solidFill>
                  <a:srgbClr val="0F1115"/>
                </a:solidFill>
                <a:highlight>
                  <a:srgbClr val="FFFFFF"/>
                </a:highlight>
                <a:latin typeface="Times New Roman"/>
                <a:ea typeface="Times New Roman"/>
                <a:cs typeface="Times New Roman"/>
                <a:sym typeface="Times New Roman"/>
              </a:rPr>
              <a:t>key hub for shopping and cultural exploration in Mong Kok.</a:t>
            </a:r>
            <a:br>
              <a:rPr lang="zh-HK" sz="1200">
                <a:solidFill>
                  <a:srgbClr val="0F1115"/>
                </a:solidFill>
                <a:highlight>
                  <a:srgbClr val="FFFFFF"/>
                </a:highlight>
                <a:latin typeface="Times New Roman"/>
                <a:ea typeface="Times New Roman"/>
                <a:cs typeface="Times New Roman"/>
                <a:sym typeface="Times New Roman"/>
              </a:rPr>
            </a:br>
            <a:endParaRPr sz="1200">
              <a:solidFill>
                <a:srgbClr val="0F1115"/>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SzPts val="1200"/>
              <a:buChar char="●"/>
            </a:pPr>
            <a:r>
              <a:rPr lang="zh-HK" sz="1200">
                <a:solidFill>
                  <a:srgbClr val="0F1115"/>
                </a:solidFill>
                <a:highlight>
                  <a:srgbClr val="FFFFFF"/>
                </a:highlight>
                <a:latin typeface="Times New Roman"/>
                <a:ea typeface="Times New Roman"/>
                <a:cs typeface="Times New Roman"/>
                <a:sym typeface="Times New Roman"/>
              </a:rPr>
              <a:t>Compared to Jul, Aug posts covered more </a:t>
            </a:r>
            <a:r>
              <a:rPr b="1" lang="zh-HK" sz="1200">
                <a:solidFill>
                  <a:srgbClr val="0F1115"/>
                </a:solidFill>
                <a:highlight>
                  <a:srgbClr val="FFFFFF"/>
                </a:highlight>
                <a:latin typeface="Times New Roman"/>
                <a:ea typeface="Times New Roman"/>
                <a:cs typeface="Times New Roman"/>
                <a:sym typeface="Times New Roman"/>
              </a:rPr>
              <a:t>diverse topics</a:t>
            </a:r>
            <a:r>
              <a:rPr lang="zh-HK" sz="1200">
                <a:solidFill>
                  <a:srgbClr val="0F1115"/>
                </a:solidFill>
                <a:highlight>
                  <a:srgbClr val="FFFFFF"/>
                </a:highlight>
                <a:latin typeface="Times New Roman"/>
                <a:ea typeface="Times New Roman"/>
                <a:cs typeface="Times New Roman"/>
                <a:sym typeface="Times New Roman"/>
              </a:rPr>
              <a:t>, including "summer shopping discounts," "one-stop shopping," and "cultural strolls," reflecting </a:t>
            </a:r>
            <a:r>
              <a:rPr b="1" lang="zh-HK" sz="1200">
                <a:solidFill>
                  <a:srgbClr val="0F1115"/>
                </a:solidFill>
                <a:highlight>
                  <a:srgbClr val="FFFFFF"/>
                </a:highlight>
                <a:latin typeface="Times New Roman"/>
                <a:ea typeface="Times New Roman"/>
                <a:cs typeface="Times New Roman"/>
                <a:sym typeface="Times New Roman"/>
              </a:rPr>
              <a:t>growing user demand for practical shopping advice and deeper cultural experiences.</a:t>
            </a:r>
            <a:endParaRPr b="1" sz="1200">
              <a:solidFill>
                <a:srgbClr val="0F1115"/>
              </a:solidFill>
              <a:highlight>
                <a:srgbClr val="FFFFFF"/>
              </a:highlight>
              <a:latin typeface="Times New Roman"/>
              <a:ea typeface="Times New Roman"/>
              <a:cs typeface="Times New Roman"/>
              <a:sym typeface="Times New Roman"/>
            </a:endParaRPr>
          </a:p>
        </p:txBody>
      </p:sp>
      <p:pic>
        <p:nvPicPr>
          <p:cNvPr id="421" name="Google Shape;421;p14"/>
          <p:cNvPicPr preferRelativeResize="0"/>
          <p:nvPr/>
        </p:nvPicPr>
        <p:blipFill>
          <a:blip r:embed="rId5">
            <a:alphaModFix/>
          </a:blip>
          <a:stretch>
            <a:fillRect/>
          </a:stretch>
        </p:blipFill>
        <p:spPr>
          <a:xfrm>
            <a:off x="299775" y="786600"/>
            <a:ext cx="1694850" cy="2846505"/>
          </a:xfrm>
          <a:prstGeom prst="rect">
            <a:avLst/>
          </a:prstGeom>
          <a:noFill/>
          <a:ln>
            <a:noFill/>
          </a:ln>
        </p:spPr>
      </p:pic>
      <p:pic>
        <p:nvPicPr>
          <p:cNvPr id="422" name="Google Shape;422;p14"/>
          <p:cNvPicPr preferRelativeResize="0"/>
          <p:nvPr/>
        </p:nvPicPr>
        <p:blipFill>
          <a:blip r:embed="rId6">
            <a:alphaModFix/>
          </a:blip>
          <a:stretch>
            <a:fillRect/>
          </a:stretch>
        </p:blipFill>
        <p:spPr>
          <a:xfrm>
            <a:off x="3771088" y="721872"/>
            <a:ext cx="1706700" cy="2710659"/>
          </a:xfrm>
          <a:prstGeom prst="rect">
            <a:avLst/>
          </a:prstGeom>
          <a:noFill/>
          <a:ln>
            <a:noFill/>
          </a:ln>
        </p:spPr>
      </p:pic>
      <p:pic>
        <p:nvPicPr>
          <p:cNvPr id="423" name="Google Shape;423;p14"/>
          <p:cNvPicPr preferRelativeResize="0"/>
          <p:nvPr/>
        </p:nvPicPr>
        <p:blipFill>
          <a:blip r:embed="rId7">
            <a:alphaModFix/>
          </a:blip>
          <a:stretch>
            <a:fillRect/>
          </a:stretch>
        </p:blipFill>
        <p:spPr>
          <a:xfrm>
            <a:off x="7165334" y="721991"/>
            <a:ext cx="1840556" cy="2844499"/>
          </a:xfrm>
          <a:prstGeom prst="rect">
            <a:avLst/>
          </a:prstGeom>
          <a:noFill/>
          <a:ln>
            <a:noFill/>
          </a:ln>
        </p:spPr>
      </p:pic>
      <p:pic>
        <p:nvPicPr>
          <p:cNvPr id="424" name="Google Shape;424;p14"/>
          <p:cNvPicPr preferRelativeResize="0"/>
          <p:nvPr/>
        </p:nvPicPr>
        <p:blipFill>
          <a:blip r:embed="rId8">
            <a:alphaModFix/>
          </a:blip>
          <a:stretch>
            <a:fillRect/>
          </a:stretch>
        </p:blipFill>
        <p:spPr>
          <a:xfrm>
            <a:off x="5458612" y="722600"/>
            <a:ext cx="1694850" cy="2824751"/>
          </a:xfrm>
          <a:prstGeom prst="rect">
            <a:avLst/>
          </a:prstGeom>
          <a:noFill/>
          <a:ln>
            <a:noFill/>
          </a:ln>
        </p:spPr>
      </p:pic>
      <p:pic>
        <p:nvPicPr>
          <p:cNvPr id="425" name="Google Shape;425;p14"/>
          <p:cNvPicPr preferRelativeResize="0"/>
          <p:nvPr/>
        </p:nvPicPr>
        <p:blipFill>
          <a:blip r:embed="rId9">
            <a:alphaModFix/>
          </a:blip>
          <a:stretch>
            <a:fillRect/>
          </a:stretch>
        </p:blipFill>
        <p:spPr>
          <a:xfrm>
            <a:off x="2030621" y="761618"/>
            <a:ext cx="1694850" cy="2819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9" name="Shape 429"/>
        <p:cNvGrpSpPr/>
        <p:nvPr/>
      </p:nvGrpSpPr>
      <p:grpSpPr>
        <a:xfrm>
          <a:off x="0" y="0"/>
          <a:ext cx="0" cy="0"/>
          <a:chOff x="0" y="0"/>
          <a:chExt cx="0" cy="0"/>
        </a:xfrm>
      </p:grpSpPr>
      <p:pic>
        <p:nvPicPr>
          <p:cNvPr id="430" name="Google Shape;430;g38b93e9011f_2_64"/>
          <p:cNvPicPr preferRelativeResize="0"/>
          <p:nvPr/>
        </p:nvPicPr>
        <p:blipFill rotWithShape="1">
          <a:blip r:embed="rId4">
            <a:alphaModFix/>
          </a:blip>
          <a:srcRect b="0" l="0" r="0" t="0"/>
          <a:stretch/>
        </p:blipFill>
        <p:spPr>
          <a:xfrm>
            <a:off x="8323750" y="307694"/>
            <a:ext cx="490631" cy="490631"/>
          </a:xfrm>
          <a:prstGeom prst="rect">
            <a:avLst/>
          </a:prstGeom>
          <a:noFill/>
          <a:ln>
            <a:noFill/>
          </a:ln>
        </p:spPr>
      </p:pic>
      <p:sp>
        <p:nvSpPr>
          <p:cNvPr id="431" name="Google Shape;431;g38b93e9011f_2_64"/>
          <p:cNvSpPr txBox="1"/>
          <p:nvPr/>
        </p:nvSpPr>
        <p:spPr>
          <a:xfrm>
            <a:off x="1423200" y="1225050"/>
            <a:ext cx="4351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OOTS x Buyer‘s Map – Fashion Destination Positioning</a:t>
            </a:r>
            <a:endParaRPr sz="1000">
              <a:solidFill>
                <a:srgbClr val="0F1115"/>
              </a:solidFill>
              <a:highlight>
                <a:srgbClr val="FFFFFF"/>
              </a:highlight>
              <a:latin typeface="Times New Roman"/>
              <a:ea typeface="Times New Roman"/>
              <a:cs typeface="Times New Roman"/>
              <a:sym typeface="Times New Roman"/>
            </a:endParaRPr>
          </a:p>
        </p:txBody>
      </p:sp>
      <p:sp>
        <p:nvSpPr>
          <p:cNvPr id="432" name="Google Shape;432;g38b93e9011f_2_64"/>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433" name="Google Shape;433;g38b93e9011f_2_64"/>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434" name="Google Shape;434;g38b93e9011f_2_64"/>
          <p:cNvSpPr txBox="1"/>
          <p:nvPr/>
        </p:nvSpPr>
        <p:spPr>
          <a:xfrm>
            <a:off x="1370475" y="1679816"/>
            <a:ext cx="4785900" cy="2589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Inter"/>
                <a:ea typeface="Inter"/>
                <a:cs typeface="Inter"/>
                <a:sym typeface="Inter"/>
              </a:rPr>
              <a:t>T</a:t>
            </a:r>
            <a:r>
              <a:rPr lang="zh-HK" sz="1200">
                <a:solidFill>
                  <a:srgbClr val="0F1115"/>
                </a:solidFill>
                <a:highlight>
                  <a:srgbClr val="FFFFFF"/>
                </a:highlight>
                <a:latin typeface="Times New Roman"/>
                <a:ea typeface="Times New Roman"/>
                <a:cs typeface="Times New Roman"/>
                <a:sym typeface="Times New Roman"/>
              </a:rPr>
              <a:t>imes Square drives engagement via a curated shopping narrative</a:t>
            </a:r>
            <a:endParaRPr sz="1000">
              <a:solidFill>
                <a:schemeClr val="dk1"/>
              </a:solidFill>
              <a:latin typeface="Times New Roman"/>
              <a:ea typeface="Times New Roman"/>
              <a:cs typeface="Times New Roman"/>
              <a:sym typeface="Times New Roman"/>
            </a:endParaRPr>
          </a:p>
          <a:p>
            <a:pPr indent="-304800" lvl="0" marL="457200" rtl="0" algn="just">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Visual Hook: Opens with the Minions pop-up to attract foot traffic and encourage check-ins, blending IP appeal with on-site engagement</a:t>
            </a:r>
            <a:endParaRPr b="1" sz="1100">
              <a:solidFill>
                <a:schemeClr val="dk1"/>
              </a:solidFill>
              <a:latin typeface="Times New Roman"/>
              <a:ea typeface="Times New Roman"/>
              <a:cs typeface="Times New Roman"/>
              <a:sym typeface="Times New Roman"/>
            </a:endParaRPr>
          </a:p>
          <a:p>
            <a:pPr indent="-304800" lvl="0" marL="457200" rtl="0" algn="just">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Curated Shopping Route: Positions Times Square as a Causeway Bay fashion destination, using "OOTS" and "buyer’s map" as key hooks to showcase in-mall brands and street-style vibes</a:t>
            </a:r>
            <a:endParaRPr b="1" sz="11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highlight>
                  <a:srgbClr val="FFFFFF"/>
                </a:highlight>
                <a:latin typeface="Times New Roman"/>
                <a:ea typeface="Times New Roman"/>
                <a:cs typeface="Times New Roman"/>
                <a:sym typeface="Times New Roman"/>
              </a:rPr>
              <a:t>Langham Place can create a similar "shopping route" format, using an IP event or photogenic installation as the visual opener, combined with a curated cross-brand route to drive views and social sharing.</a:t>
            </a:r>
            <a:endParaRPr sz="1200">
              <a:solidFill>
                <a:srgbClr val="0F1115"/>
              </a:solidFill>
              <a:highlight>
                <a:srgbClr val="FFFFFF"/>
              </a:highlight>
              <a:latin typeface="Times New Roman"/>
              <a:ea typeface="Times New Roman"/>
              <a:cs typeface="Times New Roman"/>
              <a:sym typeface="Times New Roman"/>
            </a:endParaRPr>
          </a:p>
        </p:txBody>
      </p:sp>
      <p:sp>
        <p:nvSpPr>
          <p:cNvPr id="435" name="Google Shape;435;g38b93e9011f_2_64"/>
          <p:cNvSpPr/>
          <p:nvPr/>
        </p:nvSpPr>
        <p:spPr>
          <a:xfrm>
            <a:off x="441547" y="451155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Hashtag</a:t>
            </a:r>
            <a:endParaRPr i="0" sz="1200" u="none" cap="none" strike="noStrike">
              <a:solidFill>
                <a:schemeClr val="lt1"/>
              </a:solidFill>
              <a:latin typeface="Inter"/>
              <a:ea typeface="Inter"/>
              <a:cs typeface="Inter"/>
              <a:sym typeface="Inter"/>
            </a:endParaRPr>
          </a:p>
        </p:txBody>
      </p:sp>
      <p:sp>
        <p:nvSpPr>
          <p:cNvPr id="436" name="Google Shape;436;g38b93e9011f_2_64"/>
          <p:cNvSpPr txBox="1"/>
          <p:nvPr/>
        </p:nvSpPr>
        <p:spPr>
          <a:xfrm>
            <a:off x="1343800" y="4514240"/>
            <a:ext cx="498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000">
                <a:solidFill>
                  <a:schemeClr val="dk1"/>
                </a:solidFill>
                <a:uFill>
                  <a:noFill/>
                </a:uFill>
                <a:latin typeface="Roboto"/>
                <a:ea typeface="Roboto"/>
                <a:cs typeface="Roboto"/>
                <a:sym typeface="Roboto"/>
                <a:hlinkClick r:id="rId5">
                  <a:extLst>
                    <a:ext uri="{A12FA001-AC4F-418D-AE19-62706E023703}">
                      <ahyp:hlinkClr val="tx"/>
                    </a:ext>
                  </a:extLst>
                </a:hlinkClick>
              </a:rPr>
              <a:t>#香港时代广场</a:t>
            </a:r>
            <a:r>
              <a:rPr lang="zh-HK" sz="1000">
                <a:solidFill>
                  <a:schemeClr val="dk1"/>
                </a:solidFill>
                <a:uFill>
                  <a:noFill/>
                </a:uFill>
                <a:latin typeface="Roboto"/>
                <a:ea typeface="Roboto"/>
                <a:cs typeface="Roboto"/>
                <a:sym typeface="Roboto"/>
                <a:hlinkClick r:id="rId6">
                  <a:extLst>
                    <a:ext uri="{A12FA001-AC4F-418D-AE19-62706E023703}">
                      <ahyp:hlinkClr val="tx"/>
                    </a:ext>
                  </a:extLst>
                </a:hlinkClick>
              </a:rPr>
              <a:t> #香港购物</a:t>
            </a:r>
            <a:r>
              <a:rPr lang="zh-HK" sz="1000">
                <a:solidFill>
                  <a:schemeClr val="dk1"/>
                </a:solidFill>
                <a:uFill>
                  <a:noFill/>
                </a:uFill>
                <a:latin typeface="Roboto"/>
                <a:ea typeface="Roboto"/>
                <a:cs typeface="Roboto"/>
                <a:sym typeface="Roboto"/>
                <a:hlinkClick r:id="rId7">
                  <a:extLst>
                    <a:ext uri="{A12FA001-AC4F-418D-AE19-62706E023703}">
                      <ahyp:hlinkClr val="tx"/>
                    </a:ext>
                  </a:extLst>
                </a:hlinkClick>
              </a:rPr>
              <a:t> #铜锣湾购物</a:t>
            </a:r>
            <a:r>
              <a:rPr lang="zh-HK" sz="1000">
                <a:solidFill>
                  <a:schemeClr val="dk1"/>
                </a:solidFill>
                <a:uFill>
                  <a:noFill/>
                </a:uFill>
                <a:latin typeface="Roboto"/>
                <a:ea typeface="Roboto"/>
                <a:cs typeface="Roboto"/>
                <a:sym typeface="Roboto"/>
                <a:hlinkClick r:id="rId8">
                  <a:extLst>
                    <a:ext uri="{A12FA001-AC4F-418D-AE19-62706E023703}">
                      <ahyp:hlinkClr val="tx"/>
                    </a:ext>
                  </a:extLst>
                </a:hlinkClick>
              </a:rPr>
              <a:t> #港真好好逛</a:t>
            </a:r>
            <a:r>
              <a:rPr lang="zh-HK" sz="1000">
                <a:solidFill>
                  <a:schemeClr val="dk1"/>
                </a:solidFill>
                <a:uFill>
                  <a:noFill/>
                </a:uFill>
                <a:latin typeface="Roboto"/>
                <a:ea typeface="Roboto"/>
                <a:cs typeface="Roboto"/>
                <a:sym typeface="Roboto"/>
                <a:hlinkClick r:id="rId9">
                  <a:extLst>
                    <a:ext uri="{A12FA001-AC4F-418D-AE19-62706E023703}">
                      <ahyp:hlinkClr val="tx"/>
                    </a:ext>
                  </a:extLst>
                </a:hlinkClick>
              </a:rPr>
              <a:t> #港真好好穿</a:t>
            </a:r>
            <a:endParaRPr i="0" sz="800" u="none" cap="none" strike="noStrike">
              <a:solidFill>
                <a:schemeClr val="dk1"/>
              </a:solidFill>
              <a:latin typeface="Inter"/>
              <a:ea typeface="Inter"/>
              <a:cs typeface="Inter"/>
              <a:sym typeface="Inter"/>
            </a:endParaRPr>
          </a:p>
        </p:txBody>
      </p:sp>
      <p:sp>
        <p:nvSpPr>
          <p:cNvPr id="437" name="Google Shape;437;g38b93e9011f_2_64"/>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8" name="Google Shape;438;g38b93e9011f_2_64"/>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Times Square</a:t>
            </a:r>
            <a:r>
              <a:rPr b="1" lang="zh-HK" sz="1800">
                <a:highlight>
                  <a:srgbClr val="FFFFFF"/>
                </a:highlight>
                <a:latin typeface="Times New Roman"/>
                <a:ea typeface="Times New Roman"/>
                <a:cs typeface="Times New Roman"/>
                <a:sym typeface="Times New Roman"/>
              </a:rPr>
              <a:t> </a:t>
            </a:r>
            <a:r>
              <a:rPr b="1" lang="zh-HK" sz="1100">
                <a:latin typeface="Times New Roman"/>
                <a:ea typeface="Times New Roman"/>
                <a:cs typeface="Times New Roman"/>
                <a:sym typeface="Times New Roman"/>
              </a:rPr>
              <a:t> </a:t>
            </a:r>
            <a:endParaRPr b="1" sz="2000">
              <a:solidFill>
                <a:schemeClr val="dk1"/>
              </a:solidFill>
              <a:latin typeface="Times New Roman"/>
              <a:ea typeface="Times New Roman"/>
              <a:cs typeface="Times New Roman"/>
              <a:sym typeface="Times New Roman"/>
            </a:endParaRPr>
          </a:p>
        </p:txBody>
      </p:sp>
      <p:pic>
        <p:nvPicPr>
          <p:cNvPr id="439" name="Google Shape;439;g38b93e9011f_2_64"/>
          <p:cNvPicPr preferRelativeResize="0"/>
          <p:nvPr/>
        </p:nvPicPr>
        <p:blipFill>
          <a:blip r:embed="rId10">
            <a:alphaModFix/>
          </a:blip>
          <a:stretch>
            <a:fillRect/>
          </a:stretch>
        </p:blipFill>
        <p:spPr>
          <a:xfrm>
            <a:off x="6239650" y="833691"/>
            <a:ext cx="1267325" cy="1980854"/>
          </a:xfrm>
          <a:prstGeom prst="rect">
            <a:avLst/>
          </a:prstGeom>
          <a:noFill/>
          <a:ln>
            <a:noFill/>
          </a:ln>
        </p:spPr>
      </p:pic>
      <p:pic>
        <p:nvPicPr>
          <p:cNvPr id="440" name="Google Shape;440;g38b93e9011f_2_64"/>
          <p:cNvPicPr preferRelativeResize="0"/>
          <p:nvPr/>
        </p:nvPicPr>
        <p:blipFill>
          <a:blip r:embed="rId11">
            <a:alphaModFix/>
          </a:blip>
          <a:stretch>
            <a:fillRect/>
          </a:stretch>
        </p:blipFill>
        <p:spPr>
          <a:xfrm>
            <a:off x="7590250" y="872175"/>
            <a:ext cx="1376793" cy="1808052"/>
          </a:xfrm>
          <a:prstGeom prst="rect">
            <a:avLst/>
          </a:prstGeom>
          <a:noFill/>
          <a:ln>
            <a:noFill/>
          </a:ln>
        </p:spPr>
      </p:pic>
      <p:pic>
        <p:nvPicPr>
          <p:cNvPr id="441" name="Google Shape;441;g38b93e9011f_2_64"/>
          <p:cNvPicPr preferRelativeResize="0"/>
          <p:nvPr/>
        </p:nvPicPr>
        <p:blipFill>
          <a:blip r:embed="rId12">
            <a:alphaModFix/>
          </a:blip>
          <a:stretch>
            <a:fillRect/>
          </a:stretch>
        </p:blipFill>
        <p:spPr>
          <a:xfrm>
            <a:off x="7056600" y="2896978"/>
            <a:ext cx="1376801" cy="1782672"/>
          </a:xfrm>
          <a:prstGeom prst="rect">
            <a:avLst/>
          </a:prstGeom>
          <a:noFill/>
          <a:ln>
            <a:noFill/>
          </a:ln>
        </p:spPr>
      </p:pic>
      <p:sp>
        <p:nvSpPr>
          <p:cNvPr id="442" name="Google Shape;442;g38b93e9011f_2_64"/>
          <p:cNvSpPr txBox="1"/>
          <p:nvPr/>
        </p:nvSpPr>
        <p:spPr>
          <a:xfrm>
            <a:off x="7489081" y="4691556"/>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13"/>
              </a:rPr>
              <a:t>Link</a:t>
            </a:r>
            <a:endParaRPr sz="11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6" name="Shape 446"/>
        <p:cNvGrpSpPr/>
        <p:nvPr/>
      </p:nvGrpSpPr>
      <p:grpSpPr>
        <a:xfrm>
          <a:off x="0" y="0"/>
          <a:ext cx="0" cy="0"/>
          <a:chOff x="0" y="0"/>
          <a:chExt cx="0" cy="0"/>
        </a:xfrm>
      </p:grpSpPr>
      <p:pic>
        <p:nvPicPr>
          <p:cNvPr id="447" name="Google Shape;447;g409beac5032_3_54"/>
          <p:cNvPicPr preferRelativeResize="0"/>
          <p:nvPr/>
        </p:nvPicPr>
        <p:blipFill rotWithShape="1">
          <a:blip r:embed="rId3">
            <a:alphaModFix/>
          </a:blip>
          <a:srcRect b="0" l="0" r="0" t="0"/>
          <a:stretch/>
        </p:blipFill>
        <p:spPr>
          <a:xfrm>
            <a:off x="8323750" y="307694"/>
            <a:ext cx="490631" cy="490631"/>
          </a:xfrm>
          <a:prstGeom prst="rect">
            <a:avLst/>
          </a:prstGeom>
          <a:noFill/>
          <a:ln>
            <a:noFill/>
          </a:ln>
        </p:spPr>
      </p:pic>
      <p:sp>
        <p:nvSpPr>
          <p:cNvPr id="448" name="Google Shape;448;g409beac5032_3_54"/>
          <p:cNvSpPr txBox="1"/>
          <p:nvPr/>
        </p:nvSpPr>
        <p:spPr>
          <a:xfrm>
            <a:off x="1423200" y="1225050"/>
            <a:ext cx="43512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100">
                <a:solidFill>
                  <a:srgbClr val="0F1115"/>
                </a:solidFill>
                <a:highlight>
                  <a:srgbClr val="FFFFFF"/>
                </a:highlight>
                <a:latin typeface="Times New Roman"/>
                <a:ea typeface="Times New Roman"/>
                <a:cs typeface="Times New Roman"/>
                <a:sym typeface="Times New Roman"/>
              </a:rPr>
              <a:t>Scent Journey – Brand Storytelling through Fragrance</a:t>
            </a:r>
            <a:endParaRPr sz="1100">
              <a:solidFill>
                <a:srgbClr val="0F1115"/>
              </a:solidFill>
              <a:highlight>
                <a:srgbClr val="FFFFFF"/>
              </a:highlight>
              <a:latin typeface="Times New Roman"/>
              <a:ea typeface="Times New Roman"/>
              <a:cs typeface="Times New Roman"/>
              <a:sym typeface="Times New Roman"/>
            </a:endParaRPr>
          </a:p>
        </p:txBody>
      </p:sp>
      <p:sp>
        <p:nvSpPr>
          <p:cNvPr id="449" name="Google Shape;449;g409beac5032_3_54"/>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450" name="Google Shape;450;g409beac5032_3_54"/>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451" name="Google Shape;451;g409beac5032_3_54"/>
          <p:cNvSpPr txBox="1"/>
          <p:nvPr/>
        </p:nvSpPr>
        <p:spPr>
          <a:xfrm>
            <a:off x="1370475" y="1679825"/>
            <a:ext cx="4980000" cy="260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zh-HK" sz="1100">
                <a:solidFill>
                  <a:srgbClr val="0F1115"/>
                </a:solidFill>
                <a:highlight>
                  <a:srgbClr val="FFFFFF"/>
                </a:highlight>
                <a:latin typeface="Times New Roman"/>
                <a:ea typeface="Times New Roman"/>
                <a:cs typeface="Times New Roman"/>
                <a:sym typeface="Times New Roman"/>
              </a:rPr>
              <a:t>YOHO drives engagement via an immersive brand storytelling approach:</a:t>
            </a: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just">
              <a:lnSpc>
                <a:spcPct val="115000"/>
              </a:lnSpc>
              <a:spcBef>
                <a:spcPts val="1200"/>
              </a:spcBef>
              <a:spcAft>
                <a:spcPts val="0"/>
              </a:spcAft>
              <a:buClr>
                <a:srgbClr val="0F1115"/>
              </a:buClr>
              <a:buSzPts val="1100"/>
              <a:buFont typeface="Times New Roman"/>
              <a:buChar char="●"/>
            </a:pPr>
            <a:r>
              <a:rPr lang="zh-HK" sz="1100">
                <a:solidFill>
                  <a:srgbClr val="0F1115"/>
                </a:solidFill>
                <a:latin typeface="Times New Roman"/>
                <a:ea typeface="Times New Roman"/>
                <a:cs typeface="Times New Roman"/>
                <a:sym typeface="Times New Roman"/>
              </a:rPr>
              <a:t>Sensory Hook: Leverages "summer scent journey" as the core concept, curating Ralph Lauren Fragrances' hero products through evocative, lifestyle-driven copy that paints vivid sensory scenes</a:t>
            </a:r>
            <a:endParaRPr b="1" sz="1100">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latin typeface="Times New Roman"/>
                <a:ea typeface="Times New Roman"/>
                <a:cs typeface="Times New Roman"/>
                <a:sym typeface="Times New Roman"/>
              </a:rPr>
              <a:t>Lifestyle Curation: Positions the fragrance selection as a "scent journey" rather than a product push, appealing to shoppers seeking gifts or personal treats through free in-store sampling and a "find your signature scent" narrative</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100">
                <a:solidFill>
                  <a:schemeClr val="dk1"/>
                </a:solidFill>
                <a:latin typeface="Times New Roman"/>
                <a:ea typeface="Times New Roman"/>
                <a:cs typeface="Times New Roman"/>
                <a:sym typeface="Times New Roman"/>
              </a:rPr>
              <a:t>Suggestion:</a:t>
            </a:r>
            <a:r>
              <a:rPr lang="zh-HK" sz="1100">
                <a:solidFill>
                  <a:schemeClr val="dk1"/>
                </a:solidFill>
                <a:latin typeface="Times New Roman"/>
                <a:ea typeface="Times New Roman"/>
                <a:cs typeface="Times New Roman"/>
                <a:sym typeface="Times New Roman"/>
              </a:rPr>
              <a:t> </a:t>
            </a:r>
            <a:r>
              <a:rPr lang="zh-HK" sz="1100">
                <a:solidFill>
                  <a:srgbClr val="0F1115"/>
                </a:solidFill>
                <a:highlight>
                  <a:srgbClr val="FFFFFF"/>
                </a:highlight>
                <a:latin typeface="Times New Roman"/>
                <a:ea typeface="Times New Roman"/>
                <a:cs typeface="Times New Roman"/>
                <a:sym typeface="Times New Roman"/>
              </a:rPr>
              <a:t>Langham Place can adopt this "sensory storytelling" model — curating beauty and lifestyle products through evocative themes (e.g., "autumn skincare ritual") that focus on experience over features, driving engagement and in-store trials.</a:t>
            </a:r>
            <a:endParaRPr sz="1100">
              <a:solidFill>
                <a:srgbClr val="0F1115"/>
              </a:solidFill>
              <a:highlight>
                <a:srgbClr val="FFFFFF"/>
              </a:highlight>
              <a:latin typeface="Times New Roman"/>
              <a:ea typeface="Times New Roman"/>
              <a:cs typeface="Times New Roman"/>
              <a:sym typeface="Times New Roman"/>
            </a:endParaRPr>
          </a:p>
        </p:txBody>
      </p:sp>
      <p:sp>
        <p:nvSpPr>
          <p:cNvPr id="452" name="Google Shape;452;g409beac5032_3_54"/>
          <p:cNvSpPr/>
          <p:nvPr/>
        </p:nvSpPr>
        <p:spPr>
          <a:xfrm>
            <a:off x="441547" y="451155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Hashtag</a:t>
            </a:r>
            <a:endParaRPr i="0" sz="1200" u="none" cap="none" strike="noStrike">
              <a:solidFill>
                <a:schemeClr val="lt1"/>
              </a:solidFill>
              <a:latin typeface="Inter"/>
              <a:ea typeface="Inter"/>
              <a:cs typeface="Inter"/>
              <a:sym typeface="Inter"/>
            </a:endParaRPr>
          </a:p>
        </p:txBody>
      </p:sp>
      <p:sp>
        <p:nvSpPr>
          <p:cNvPr id="453" name="Google Shape;453;g409beac5032_3_54"/>
          <p:cNvSpPr txBox="1"/>
          <p:nvPr/>
        </p:nvSpPr>
        <p:spPr>
          <a:xfrm>
            <a:off x="1343800" y="4514240"/>
            <a:ext cx="49800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000">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a:t>
            </a:r>
            <a:r>
              <a:rPr lang="zh-HK" sz="1000">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YOHOMALL</a:t>
            </a:r>
            <a:r>
              <a:rPr lang="zh-HK" sz="1000">
                <a:solidFill>
                  <a:schemeClr val="dk1"/>
                </a:solidFill>
                <a:uFill>
                  <a:noFill/>
                </a:uFill>
                <a:latin typeface="Times New Roman"/>
                <a:ea typeface="Times New Roman"/>
                <a:cs typeface="Times New Roman"/>
                <a:sym typeface="Times New Roman"/>
                <a:hlinkClick r:id="rId6">
                  <a:extLst>
                    <a:ext uri="{A12FA001-AC4F-418D-AE19-62706E023703}">
                      <ahyp:hlinkClr val="tx"/>
                    </a:ext>
                  </a:extLst>
                </a:hlinkClick>
              </a:rPr>
              <a:t>#香港生活</a:t>
            </a:r>
            <a:r>
              <a:rPr lang="zh-HK" sz="1000">
                <a:solidFill>
                  <a:schemeClr val="dk1"/>
                </a:solidFill>
                <a:uFill>
                  <a:noFill/>
                </a:uFill>
                <a:latin typeface="Times New Roman"/>
                <a:ea typeface="Times New Roman"/>
                <a:cs typeface="Times New Roman"/>
                <a:sym typeface="Times New Roman"/>
                <a:hlinkClick r:id="rId7">
                  <a:extLst>
                    <a:ext uri="{A12FA001-AC4F-418D-AE19-62706E023703}">
                      <ahyp:hlinkClr val="tx"/>
                    </a:ext>
                  </a:extLst>
                </a:hlinkClick>
              </a:rPr>
              <a:t> #香港探店</a:t>
            </a:r>
            <a:r>
              <a:rPr lang="zh-HK" sz="1000">
                <a:solidFill>
                  <a:schemeClr val="dk1"/>
                </a:solidFill>
                <a:uFill>
                  <a:noFill/>
                </a:uFill>
                <a:latin typeface="Times New Roman"/>
                <a:ea typeface="Times New Roman"/>
                <a:cs typeface="Times New Roman"/>
                <a:sym typeface="Times New Roman"/>
                <a:hlinkClick r:id="rId8">
                  <a:extLst>
                    <a:ext uri="{A12FA001-AC4F-418D-AE19-62706E023703}">
                      <ahyp:hlinkClr val="tx"/>
                    </a:ext>
                  </a:extLst>
                </a:hlinkClick>
              </a:rPr>
              <a:t> #香港打卡</a:t>
            </a:r>
            <a:r>
              <a:rPr lang="zh-HK" sz="1000">
                <a:solidFill>
                  <a:schemeClr val="dk1"/>
                </a:solidFill>
                <a:uFill>
                  <a:noFill/>
                </a:uFill>
                <a:latin typeface="Times New Roman"/>
                <a:ea typeface="Times New Roman"/>
                <a:cs typeface="Times New Roman"/>
                <a:sym typeface="Times New Roman"/>
                <a:hlinkClick r:id="rId9">
                  <a:extLst>
                    <a:ext uri="{A12FA001-AC4F-418D-AE19-62706E023703}">
                      <ahyp:hlinkClr val="tx"/>
                    </a:ext>
                  </a:extLst>
                </a:hlinkClick>
              </a:rPr>
              <a:t> #元朗好去处</a:t>
            </a:r>
            <a:r>
              <a:rPr lang="zh-HK" sz="1000">
                <a:solidFill>
                  <a:schemeClr val="dk1"/>
                </a:solidFill>
                <a:uFill>
                  <a:noFill/>
                </a:uFill>
                <a:latin typeface="Times New Roman"/>
                <a:ea typeface="Times New Roman"/>
                <a:cs typeface="Times New Roman"/>
                <a:sym typeface="Times New Roman"/>
                <a:hlinkClick r:id="rId10">
                  <a:extLst>
                    <a:ext uri="{A12FA001-AC4F-418D-AE19-62706E023703}">
                      <ahyp:hlinkClr val="tx"/>
                    </a:ext>
                  </a:extLst>
                </a:hlinkClick>
              </a:rPr>
              <a:t> #香港周末游</a:t>
            </a:r>
            <a:endParaRPr i="0" sz="1000" u="none" cap="none" strike="noStrike">
              <a:solidFill>
                <a:schemeClr val="dk1"/>
              </a:solidFill>
              <a:latin typeface="Times New Roman"/>
              <a:ea typeface="Times New Roman"/>
              <a:cs typeface="Times New Roman"/>
              <a:sym typeface="Times New Roman"/>
            </a:endParaRPr>
          </a:p>
        </p:txBody>
      </p:sp>
      <p:sp>
        <p:nvSpPr>
          <p:cNvPr id="454" name="Google Shape;454;g409beac5032_3_54"/>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g409beac5032_3_54"/>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YOHO</a:t>
            </a:r>
            <a:r>
              <a:rPr b="1" lang="zh-HK" sz="2000" u="sng">
                <a:solidFill>
                  <a:schemeClr val="hlink"/>
                </a:solidFill>
                <a:highlight>
                  <a:srgbClr val="FFFFFF"/>
                </a:highlight>
                <a:latin typeface="Times New Roman"/>
                <a:ea typeface="Times New Roman"/>
                <a:cs typeface="Times New Roman"/>
                <a:sym typeface="Times New Roman"/>
                <a:hlinkClick r:id="rId11"/>
              </a:rPr>
              <a:t> </a:t>
            </a:r>
            <a:r>
              <a:rPr b="1" lang="zh-HK" sz="2000" u="sng">
                <a:solidFill>
                  <a:schemeClr val="hlink"/>
                </a:solidFill>
                <a:latin typeface="Times New Roman"/>
                <a:ea typeface="Times New Roman"/>
                <a:cs typeface="Times New Roman"/>
                <a:sym typeface="Times New Roman"/>
                <a:hlinkClick r:id="rId12"/>
              </a:rPr>
              <a:t> </a:t>
            </a:r>
            <a:endParaRPr b="1" sz="2000">
              <a:solidFill>
                <a:schemeClr val="dk1"/>
              </a:solidFill>
              <a:latin typeface="Times New Roman"/>
              <a:ea typeface="Times New Roman"/>
              <a:cs typeface="Times New Roman"/>
              <a:sym typeface="Times New Roman"/>
            </a:endParaRPr>
          </a:p>
        </p:txBody>
      </p:sp>
      <p:sp>
        <p:nvSpPr>
          <p:cNvPr id="456" name="Google Shape;456;g409beac5032_3_54"/>
          <p:cNvSpPr txBox="1"/>
          <p:nvPr/>
        </p:nvSpPr>
        <p:spPr>
          <a:xfrm>
            <a:off x="7527401" y="3542156"/>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13"/>
              </a:rPr>
              <a:t>Link</a:t>
            </a:r>
            <a:endParaRPr sz="1100">
              <a:solidFill>
                <a:schemeClr val="dk2"/>
              </a:solidFill>
            </a:endParaRPr>
          </a:p>
        </p:txBody>
      </p:sp>
      <p:pic>
        <p:nvPicPr>
          <p:cNvPr id="457" name="Google Shape;457;g409beac5032_3_54"/>
          <p:cNvPicPr preferRelativeResize="0"/>
          <p:nvPr/>
        </p:nvPicPr>
        <p:blipFill>
          <a:blip r:embed="rId14">
            <a:alphaModFix/>
          </a:blip>
          <a:stretch>
            <a:fillRect/>
          </a:stretch>
        </p:blipFill>
        <p:spPr>
          <a:xfrm>
            <a:off x="6411690" y="1186725"/>
            <a:ext cx="1346650" cy="2217674"/>
          </a:xfrm>
          <a:prstGeom prst="rect">
            <a:avLst/>
          </a:prstGeom>
          <a:noFill/>
          <a:ln>
            <a:noFill/>
          </a:ln>
        </p:spPr>
      </p:pic>
      <p:pic>
        <p:nvPicPr>
          <p:cNvPr id="458" name="Google Shape;458;g409beac5032_3_54"/>
          <p:cNvPicPr preferRelativeResize="0"/>
          <p:nvPr/>
        </p:nvPicPr>
        <p:blipFill rotWithShape="1">
          <a:blip r:embed="rId15">
            <a:alphaModFix/>
          </a:blip>
          <a:srcRect b="0" l="12293" r="11214" t="0"/>
          <a:stretch/>
        </p:blipFill>
        <p:spPr>
          <a:xfrm>
            <a:off x="7767918" y="1237650"/>
            <a:ext cx="1178126" cy="206878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sp>
        <p:nvSpPr>
          <p:cNvPr id="463" name="Google Shape;463;g409beac5032_3_73"/>
          <p:cNvSpPr txBox="1"/>
          <p:nvPr/>
        </p:nvSpPr>
        <p:spPr>
          <a:xfrm>
            <a:off x="1423200" y="1225050"/>
            <a:ext cx="43512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Festive One-Stop Guide – Romantic Date Destination</a:t>
            </a:r>
            <a:endParaRPr sz="1000">
              <a:solidFill>
                <a:srgbClr val="0F1115"/>
              </a:solidFill>
              <a:highlight>
                <a:srgbClr val="FFFFFF"/>
              </a:highlight>
              <a:latin typeface="Times New Roman"/>
              <a:ea typeface="Times New Roman"/>
              <a:cs typeface="Times New Roman"/>
              <a:sym typeface="Times New Roman"/>
            </a:endParaRPr>
          </a:p>
        </p:txBody>
      </p:sp>
      <p:sp>
        <p:nvSpPr>
          <p:cNvPr id="464" name="Google Shape;464;g409beac5032_3_73"/>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465" name="Google Shape;465;g409beac5032_3_73"/>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466" name="Google Shape;466;g409beac5032_3_73"/>
          <p:cNvSpPr txBox="1"/>
          <p:nvPr/>
        </p:nvSpPr>
        <p:spPr>
          <a:xfrm>
            <a:off x="1370475" y="1679816"/>
            <a:ext cx="4785900" cy="2750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AIRSIDE drives engagement via a curated festival guide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Festive Hook: Positions AIRSIDE as a one-stop romantic date destination for Qixi Festival, using "懶人福音" as a key message to reduce user planning effort</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Cross-Category Curation: Curates gift and dining options across budgets (from LOG-ON to 周生生 to 3COINS to AIRSIDE Cafe), simplifying user choice while driving cross-category spending</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100">
                <a:solidFill>
                  <a:srgbClr val="0F1115"/>
                </a:solidFill>
                <a:highlight>
                  <a:srgbClr val="FFFFFF"/>
                </a:highlight>
                <a:latin typeface="Times New Roman"/>
                <a:ea typeface="Times New Roman"/>
                <a:cs typeface="Times New Roman"/>
                <a:sym typeface="Times New Roman"/>
              </a:rPr>
              <a:t>Langham Place can adopt a similar "festival one-stop guide" format for key occasions (e.g., Christmas, Valentine's Day, Mother's Day), curating gifting and dining options across budgets to position the mall as a go-to celebration destination.</a:t>
            </a:r>
            <a:endParaRPr sz="1100">
              <a:solidFill>
                <a:srgbClr val="0F1115"/>
              </a:solidFill>
              <a:highlight>
                <a:srgbClr val="FFFFFF"/>
              </a:highlight>
              <a:latin typeface="Times New Roman"/>
              <a:ea typeface="Times New Roman"/>
              <a:cs typeface="Times New Roman"/>
              <a:sym typeface="Times New Roman"/>
            </a:endParaRPr>
          </a:p>
        </p:txBody>
      </p:sp>
      <p:sp>
        <p:nvSpPr>
          <p:cNvPr id="467" name="Google Shape;467;g409beac5032_3_73"/>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8" name="Google Shape;468;g409beac5032_3_73"/>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AirSide</a:t>
            </a:r>
            <a:r>
              <a:rPr b="1" lang="zh-HK" sz="1800" u="sng">
                <a:solidFill>
                  <a:schemeClr val="hlink"/>
                </a:solidFill>
                <a:highlight>
                  <a:srgbClr val="FFFFFF"/>
                </a:highlight>
                <a:latin typeface="Roboto"/>
                <a:ea typeface="Roboto"/>
                <a:cs typeface="Roboto"/>
                <a:sym typeface="Roboto"/>
                <a:hlinkClick r:id="rId3"/>
              </a:rPr>
              <a:t> </a:t>
            </a:r>
            <a:r>
              <a:rPr b="1" lang="zh-HK" sz="1100" u="sng">
                <a:solidFill>
                  <a:schemeClr val="hlink"/>
                </a:solidFill>
                <a:hlinkClick r:id="rId4"/>
              </a:rPr>
              <a:t> </a:t>
            </a:r>
            <a:endParaRPr b="1" sz="2000">
              <a:solidFill>
                <a:schemeClr val="dk1"/>
              </a:solidFill>
              <a:latin typeface="Inter"/>
              <a:ea typeface="Inter"/>
              <a:cs typeface="Inter"/>
              <a:sym typeface="Inter"/>
            </a:endParaRPr>
          </a:p>
        </p:txBody>
      </p:sp>
      <p:sp>
        <p:nvSpPr>
          <p:cNvPr id="469" name="Google Shape;469;g409beac5032_3_73"/>
          <p:cNvSpPr txBox="1"/>
          <p:nvPr/>
        </p:nvSpPr>
        <p:spPr>
          <a:xfrm>
            <a:off x="7335833" y="471068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5"/>
              </a:rPr>
              <a:t>Link</a:t>
            </a:r>
            <a:endParaRPr sz="1100">
              <a:solidFill>
                <a:schemeClr val="dk2"/>
              </a:solidFill>
            </a:endParaRPr>
          </a:p>
        </p:txBody>
      </p:sp>
      <p:pic>
        <p:nvPicPr>
          <p:cNvPr id="470" name="Google Shape;470;g409beac5032_3_73"/>
          <p:cNvPicPr preferRelativeResize="0"/>
          <p:nvPr/>
        </p:nvPicPr>
        <p:blipFill rotWithShape="1">
          <a:blip r:embed="rId6">
            <a:alphaModFix/>
          </a:blip>
          <a:srcRect b="0" l="0" r="0" t="0"/>
          <a:stretch/>
        </p:blipFill>
        <p:spPr>
          <a:xfrm>
            <a:off x="8434328" y="177305"/>
            <a:ext cx="492570" cy="492600"/>
          </a:xfrm>
          <a:prstGeom prst="rect">
            <a:avLst/>
          </a:prstGeom>
          <a:noFill/>
          <a:ln>
            <a:noFill/>
          </a:ln>
        </p:spPr>
      </p:pic>
      <p:pic>
        <p:nvPicPr>
          <p:cNvPr id="471" name="Google Shape;471;g409beac5032_3_73"/>
          <p:cNvPicPr preferRelativeResize="0"/>
          <p:nvPr/>
        </p:nvPicPr>
        <p:blipFill>
          <a:blip r:embed="rId7">
            <a:alphaModFix/>
          </a:blip>
          <a:stretch>
            <a:fillRect/>
          </a:stretch>
        </p:blipFill>
        <p:spPr>
          <a:xfrm>
            <a:off x="6232217" y="727385"/>
            <a:ext cx="1113543" cy="2036198"/>
          </a:xfrm>
          <a:prstGeom prst="rect">
            <a:avLst/>
          </a:prstGeom>
          <a:noFill/>
          <a:ln>
            <a:noFill/>
          </a:ln>
        </p:spPr>
      </p:pic>
      <p:pic>
        <p:nvPicPr>
          <p:cNvPr id="472" name="Google Shape;472;g409beac5032_3_73"/>
          <p:cNvPicPr preferRelativeResize="0"/>
          <p:nvPr/>
        </p:nvPicPr>
        <p:blipFill>
          <a:blip r:embed="rId8">
            <a:alphaModFix/>
          </a:blip>
          <a:stretch>
            <a:fillRect/>
          </a:stretch>
        </p:blipFill>
        <p:spPr>
          <a:xfrm>
            <a:off x="7421608" y="727373"/>
            <a:ext cx="1113551" cy="2094945"/>
          </a:xfrm>
          <a:prstGeom prst="rect">
            <a:avLst/>
          </a:prstGeom>
          <a:noFill/>
          <a:ln>
            <a:noFill/>
          </a:ln>
        </p:spPr>
      </p:pic>
      <p:pic>
        <p:nvPicPr>
          <p:cNvPr id="473" name="Google Shape;473;g409beac5032_3_73"/>
          <p:cNvPicPr preferRelativeResize="0"/>
          <p:nvPr/>
        </p:nvPicPr>
        <p:blipFill>
          <a:blip r:embed="rId9">
            <a:alphaModFix/>
          </a:blip>
          <a:stretch>
            <a:fillRect/>
          </a:stretch>
        </p:blipFill>
        <p:spPr>
          <a:xfrm>
            <a:off x="7043650" y="2796204"/>
            <a:ext cx="1000275" cy="188185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7" name="Shape 477"/>
        <p:cNvGrpSpPr/>
        <p:nvPr/>
      </p:nvGrpSpPr>
      <p:grpSpPr>
        <a:xfrm>
          <a:off x="0" y="0"/>
          <a:ext cx="0" cy="0"/>
          <a:chOff x="0" y="0"/>
          <a:chExt cx="0" cy="0"/>
        </a:xfrm>
      </p:grpSpPr>
      <p:sp>
        <p:nvSpPr>
          <p:cNvPr id="478" name="Google Shape;478;g409beac5032_3_101"/>
          <p:cNvSpPr txBox="1"/>
          <p:nvPr/>
        </p:nvSpPr>
        <p:spPr>
          <a:xfrm>
            <a:off x="1423200" y="1225050"/>
            <a:ext cx="486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Back-to-School One-Stop Guide – Student &amp; Parent Targeting</a:t>
            </a:r>
            <a:endParaRPr sz="1000">
              <a:solidFill>
                <a:srgbClr val="0F1115"/>
              </a:solidFill>
              <a:highlight>
                <a:srgbClr val="FFFFFF"/>
              </a:highlight>
              <a:latin typeface="Times New Roman"/>
              <a:ea typeface="Times New Roman"/>
              <a:cs typeface="Times New Roman"/>
              <a:sym typeface="Times New Roman"/>
            </a:endParaRPr>
          </a:p>
        </p:txBody>
      </p:sp>
      <p:sp>
        <p:nvSpPr>
          <p:cNvPr id="479" name="Google Shape;479;g409beac5032_3_101"/>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480" name="Google Shape;480;g409beac5032_3_101"/>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481" name="Google Shape;481;g409beac5032_3_101"/>
          <p:cNvSpPr txBox="1"/>
          <p:nvPr/>
        </p:nvSpPr>
        <p:spPr>
          <a:xfrm>
            <a:off x="1370475" y="1679816"/>
            <a:ext cx="4785900" cy="3013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MOKO drives engagement via a practical seasonal guide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Seasonal Hook: Uses "back-to-school season" to precisely target students and parents, opening with "暑假進度條即將見底" to create urgency and relevance</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Category Curation: Curates in-mall fashion, electronics, and stationery tenants into a one-stop shopping guide, with product selections that are practical and student-focused — driving strong save and share intent</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highlight>
                  <a:srgbClr val="FFFFFF"/>
                </a:highlight>
                <a:latin typeface="Times New Roman"/>
                <a:ea typeface="Times New Roman"/>
                <a:cs typeface="Times New Roman"/>
                <a:sym typeface="Times New Roman"/>
              </a:rPr>
              <a:t>Langham Place can explore similar seasonal themes (e.g., "back-to-school essentials" or "internship style guide") and curate cross-category tenant guides with a clear, practical angle to drive engagement and foot traffic from students and parents.</a:t>
            </a:r>
            <a:endParaRPr sz="1100">
              <a:solidFill>
                <a:srgbClr val="0F1115"/>
              </a:solidFill>
              <a:highlight>
                <a:srgbClr val="FFFFFF"/>
              </a:highlight>
              <a:latin typeface="Times New Roman"/>
              <a:ea typeface="Times New Roman"/>
              <a:cs typeface="Times New Roman"/>
              <a:sym typeface="Times New Roman"/>
            </a:endParaRPr>
          </a:p>
        </p:txBody>
      </p:sp>
      <p:sp>
        <p:nvSpPr>
          <p:cNvPr id="482" name="Google Shape;482;g409beac5032_3_101"/>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3" name="Google Shape;483;g409beac5032_3_101"/>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MOKO</a:t>
            </a:r>
            <a:r>
              <a:rPr b="1" lang="zh-HK" sz="1800" u="sng">
                <a:solidFill>
                  <a:schemeClr val="hlink"/>
                </a:solidFill>
                <a:highlight>
                  <a:srgbClr val="FFFFFF"/>
                </a:highlight>
                <a:latin typeface="Roboto"/>
                <a:ea typeface="Roboto"/>
                <a:cs typeface="Roboto"/>
                <a:sym typeface="Roboto"/>
                <a:hlinkClick r:id="rId3"/>
              </a:rPr>
              <a:t> </a:t>
            </a:r>
            <a:r>
              <a:rPr b="1" lang="zh-HK" sz="1100" u="sng">
                <a:solidFill>
                  <a:schemeClr val="hlink"/>
                </a:solidFill>
                <a:hlinkClick r:id="rId4"/>
              </a:rPr>
              <a:t> </a:t>
            </a:r>
            <a:endParaRPr b="1" sz="2000">
              <a:solidFill>
                <a:schemeClr val="dk1"/>
              </a:solidFill>
              <a:latin typeface="Inter"/>
              <a:ea typeface="Inter"/>
              <a:cs typeface="Inter"/>
              <a:sym typeface="Inter"/>
            </a:endParaRPr>
          </a:p>
        </p:txBody>
      </p:sp>
      <p:sp>
        <p:nvSpPr>
          <p:cNvPr id="484" name="Google Shape;484;g409beac5032_3_101"/>
          <p:cNvSpPr txBox="1"/>
          <p:nvPr/>
        </p:nvSpPr>
        <p:spPr>
          <a:xfrm>
            <a:off x="7335833" y="471068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5"/>
              </a:rPr>
              <a:t>Link</a:t>
            </a:r>
            <a:endParaRPr sz="1100">
              <a:solidFill>
                <a:schemeClr val="dk2"/>
              </a:solidFill>
            </a:endParaRPr>
          </a:p>
        </p:txBody>
      </p:sp>
      <p:pic>
        <p:nvPicPr>
          <p:cNvPr id="485" name="Google Shape;485;g409beac5032_3_101"/>
          <p:cNvPicPr preferRelativeResize="0"/>
          <p:nvPr/>
        </p:nvPicPr>
        <p:blipFill rotWithShape="1">
          <a:blip r:embed="rId6">
            <a:alphaModFix/>
          </a:blip>
          <a:srcRect b="0" l="0" r="0" t="0"/>
          <a:stretch/>
        </p:blipFill>
        <p:spPr>
          <a:xfrm>
            <a:off x="8434328" y="177305"/>
            <a:ext cx="492570" cy="492600"/>
          </a:xfrm>
          <a:prstGeom prst="rect">
            <a:avLst/>
          </a:prstGeom>
          <a:noFill/>
          <a:ln>
            <a:noFill/>
          </a:ln>
        </p:spPr>
      </p:pic>
      <p:pic>
        <p:nvPicPr>
          <p:cNvPr id="486" name="Google Shape;486;g409beac5032_3_101"/>
          <p:cNvPicPr preferRelativeResize="0"/>
          <p:nvPr/>
        </p:nvPicPr>
        <p:blipFill>
          <a:blip r:embed="rId7">
            <a:alphaModFix/>
          </a:blip>
          <a:stretch>
            <a:fillRect/>
          </a:stretch>
        </p:blipFill>
        <p:spPr>
          <a:xfrm>
            <a:off x="6350606" y="784818"/>
            <a:ext cx="1103300" cy="2041180"/>
          </a:xfrm>
          <a:prstGeom prst="rect">
            <a:avLst/>
          </a:prstGeom>
          <a:noFill/>
          <a:ln>
            <a:noFill/>
          </a:ln>
        </p:spPr>
      </p:pic>
      <p:pic>
        <p:nvPicPr>
          <p:cNvPr id="487" name="Google Shape;487;g409beac5032_3_101"/>
          <p:cNvPicPr preferRelativeResize="0"/>
          <p:nvPr/>
        </p:nvPicPr>
        <p:blipFill>
          <a:blip r:embed="rId8">
            <a:alphaModFix/>
          </a:blip>
          <a:stretch>
            <a:fillRect/>
          </a:stretch>
        </p:blipFill>
        <p:spPr>
          <a:xfrm>
            <a:off x="7527405" y="796690"/>
            <a:ext cx="1103301" cy="2017434"/>
          </a:xfrm>
          <a:prstGeom prst="rect">
            <a:avLst/>
          </a:prstGeom>
          <a:noFill/>
          <a:ln>
            <a:noFill/>
          </a:ln>
        </p:spPr>
      </p:pic>
      <p:pic>
        <p:nvPicPr>
          <p:cNvPr id="488" name="Google Shape;488;g409beac5032_3_101"/>
          <p:cNvPicPr preferRelativeResize="0"/>
          <p:nvPr/>
        </p:nvPicPr>
        <p:blipFill>
          <a:blip r:embed="rId9">
            <a:alphaModFix/>
          </a:blip>
          <a:stretch>
            <a:fillRect/>
          </a:stretch>
        </p:blipFill>
        <p:spPr>
          <a:xfrm>
            <a:off x="7085514" y="2952525"/>
            <a:ext cx="958050" cy="175815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2" name="Shape 492"/>
        <p:cNvGrpSpPr/>
        <p:nvPr/>
      </p:nvGrpSpPr>
      <p:grpSpPr>
        <a:xfrm>
          <a:off x="0" y="0"/>
          <a:ext cx="0" cy="0"/>
          <a:chOff x="0" y="0"/>
          <a:chExt cx="0" cy="0"/>
        </a:xfrm>
      </p:grpSpPr>
      <p:sp>
        <p:nvSpPr>
          <p:cNvPr id="493" name="Google Shape;493;g409beac5032_3_123"/>
          <p:cNvSpPr txBox="1"/>
          <p:nvPr/>
        </p:nvSpPr>
        <p:spPr>
          <a:xfrm>
            <a:off x="1423200" y="1225050"/>
            <a:ext cx="486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Festive Gifting – Ritual-Driven Romance</a:t>
            </a:r>
            <a:endParaRPr sz="1000">
              <a:solidFill>
                <a:srgbClr val="0F1115"/>
              </a:solidFill>
              <a:highlight>
                <a:srgbClr val="FFFFFF"/>
              </a:highlight>
              <a:latin typeface="Times New Roman"/>
              <a:ea typeface="Times New Roman"/>
              <a:cs typeface="Times New Roman"/>
              <a:sym typeface="Times New Roman"/>
            </a:endParaRPr>
          </a:p>
        </p:txBody>
      </p:sp>
      <p:sp>
        <p:nvSpPr>
          <p:cNvPr id="494" name="Google Shape;494;g409beac5032_3_123"/>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495" name="Google Shape;495;g409beac5032_3_123"/>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496" name="Google Shape;496;g409beac5032_3_123"/>
          <p:cNvSpPr txBox="1"/>
          <p:nvPr/>
        </p:nvSpPr>
        <p:spPr>
          <a:xfrm>
            <a:off x="1370475" y="1679816"/>
            <a:ext cx="4785900" cy="280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IFC drives engagement via a premium festive narrative: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Emotional Hook: Leverages "Qixi" and "sense of ritual" as the core message, curating premium gifting options (Laopu Gold, McHugs) to position IFC as a luxury date destination</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High-End Curation: Turns festival gifting into an elegant, high-end experience, attracting sophisticated couples seeking meaningful celebrations without compromising on quality</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latin typeface="Times New Roman"/>
                <a:ea typeface="Times New Roman"/>
                <a:cs typeface="Times New Roman"/>
                <a:sym typeface="Times New Roman"/>
              </a:rPr>
              <a:t>Suggestion: Langham Place can explore a similar "premium gifting" angle for key festivals — curating a selection of high-end jewellery, beauty, and lifestyle brands under a "sense of ritual" theme to attract discerning consumers.</a:t>
            </a:r>
            <a:endParaRPr sz="1100">
              <a:solidFill>
                <a:srgbClr val="0F1115"/>
              </a:solidFill>
              <a:highlight>
                <a:srgbClr val="FFFFFF"/>
              </a:highlight>
              <a:latin typeface="Times New Roman"/>
              <a:ea typeface="Times New Roman"/>
              <a:cs typeface="Times New Roman"/>
              <a:sym typeface="Times New Roman"/>
            </a:endParaRPr>
          </a:p>
        </p:txBody>
      </p:sp>
      <p:sp>
        <p:nvSpPr>
          <p:cNvPr id="497" name="Google Shape;497;g409beac5032_3_123"/>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8" name="Google Shape;498;g409beac5032_3_123"/>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IFC</a:t>
            </a:r>
            <a:r>
              <a:rPr b="1" lang="zh-HK" sz="1800" u="sng">
                <a:solidFill>
                  <a:schemeClr val="hlink"/>
                </a:solidFill>
                <a:highlight>
                  <a:srgbClr val="FFFFFF"/>
                </a:highlight>
                <a:latin typeface="Roboto"/>
                <a:ea typeface="Roboto"/>
                <a:cs typeface="Roboto"/>
                <a:sym typeface="Roboto"/>
                <a:hlinkClick r:id="rId3"/>
              </a:rPr>
              <a:t> </a:t>
            </a:r>
            <a:r>
              <a:rPr b="1" lang="zh-HK" sz="1100" u="sng">
                <a:solidFill>
                  <a:schemeClr val="hlink"/>
                </a:solidFill>
                <a:hlinkClick r:id="rId4"/>
              </a:rPr>
              <a:t> </a:t>
            </a:r>
            <a:endParaRPr b="1" sz="2000">
              <a:solidFill>
                <a:schemeClr val="dk1"/>
              </a:solidFill>
              <a:latin typeface="Inter"/>
              <a:ea typeface="Inter"/>
              <a:cs typeface="Inter"/>
              <a:sym typeface="Inter"/>
            </a:endParaRPr>
          </a:p>
        </p:txBody>
      </p:sp>
      <p:sp>
        <p:nvSpPr>
          <p:cNvPr id="499" name="Google Shape;499;g409beac5032_3_123"/>
          <p:cNvSpPr txBox="1"/>
          <p:nvPr/>
        </p:nvSpPr>
        <p:spPr>
          <a:xfrm>
            <a:off x="7249629" y="471068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5"/>
              </a:rPr>
              <a:t>Link</a:t>
            </a:r>
            <a:endParaRPr sz="1100">
              <a:solidFill>
                <a:schemeClr val="dk2"/>
              </a:solidFill>
            </a:endParaRPr>
          </a:p>
        </p:txBody>
      </p:sp>
      <p:pic>
        <p:nvPicPr>
          <p:cNvPr id="500" name="Google Shape;500;g409beac5032_3_123" title="a697a07488e44c8c8c06bebbaeb5ef46.png"/>
          <p:cNvPicPr preferRelativeResize="0"/>
          <p:nvPr/>
        </p:nvPicPr>
        <p:blipFill rotWithShape="1">
          <a:blip r:embed="rId6">
            <a:alphaModFix/>
          </a:blip>
          <a:srcRect b="0" l="278" r="269" t="0"/>
          <a:stretch/>
        </p:blipFill>
        <p:spPr>
          <a:xfrm>
            <a:off x="8435775" y="158373"/>
            <a:ext cx="489901" cy="492600"/>
          </a:xfrm>
          <a:prstGeom prst="rect">
            <a:avLst/>
          </a:prstGeom>
          <a:noFill/>
          <a:ln>
            <a:noFill/>
          </a:ln>
        </p:spPr>
      </p:pic>
      <p:pic>
        <p:nvPicPr>
          <p:cNvPr id="501" name="Google Shape;501;g409beac5032_3_123"/>
          <p:cNvPicPr preferRelativeResize="0"/>
          <p:nvPr/>
        </p:nvPicPr>
        <p:blipFill rotWithShape="1">
          <a:blip r:embed="rId7">
            <a:alphaModFix/>
          </a:blip>
          <a:srcRect b="9469" l="0" r="0" t="10287"/>
          <a:stretch/>
        </p:blipFill>
        <p:spPr>
          <a:xfrm>
            <a:off x="6222250" y="842625"/>
            <a:ext cx="1151875" cy="2050729"/>
          </a:xfrm>
          <a:prstGeom prst="rect">
            <a:avLst/>
          </a:prstGeom>
          <a:noFill/>
          <a:ln>
            <a:noFill/>
          </a:ln>
        </p:spPr>
      </p:pic>
      <p:pic>
        <p:nvPicPr>
          <p:cNvPr id="502" name="Google Shape;502;g409beac5032_3_123"/>
          <p:cNvPicPr preferRelativeResize="0"/>
          <p:nvPr/>
        </p:nvPicPr>
        <p:blipFill rotWithShape="1">
          <a:blip r:embed="rId8">
            <a:alphaModFix/>
          </a:blip>
          <a:srcRect b="7282" l="0" r="0" t="10251"/>
          <a:stretch/>
        </p:blipFill>
        <p:spPr>
          <a:xfrm>
            <a:off x="7478078" y="842625"/>
            <a:ext cx="1151875" cy="2058573"/>
          </a:xfrm>
          <a:prstGeom prst="rect">
            <a:avLst/>
          </a:prstGeom>
          <a:noFill/>
          <a:ln>
            <a:noFill/>
          </a:ln>
        </p:spPr>
      </p:pic>
      <p:pic>
        <p:nvPicPr>
          <p:cNvPr id="503" name="Google Shape;503;g409beac5032_3_123"/>
          <p:cNvPicPr preferRelativeResize="0"/>
          <p:nvPr/>
        </p:nvPicPr>
        <p:blipFill rotWithShape="1">
          <a:blip r:embed="rId9">
            <a:alphaModFix/>
          </a:blip>
          <a:srcRect b="7571" l="0" r="0" t="9962"/>
          <a:stretch/>
        </p:blipFill>
        <p:spPr>
          <a:xfrm>
            <a:off x="6982157" y="3026035"/>
            <a:ext cx="915601" cy="163645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7" name="Shape 507"/>
        <p:cNvGrpSpPr/>
        <p:nvPr/>
      </p:nvGrpSpPr>
      <p:grpSpPr>
        <a:xfrm>
          <a:off x="0" y="0"/>
          <a:ext cx="0" cy="0"/>
          <a:chOff x="0" y="0"/>
          <a:chExt cx="0" cy="0"/>
        </a:xfrm>
      </p:grpSpPr>
      <p:sp>
        <p:nvSpPr>
          <p:cNvPr id="508" name="Google Shape;508;g409beac5032_3_146"/>
          <p:cNvSpPr txBox="1"/>
          <p:nvPr/>
        </p:nvSpPr>
        <p:spPr>
          <a:xfrm>
            <a:off x="1423200" y="1225050"/>
            <a:ext cx="486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New Store Launch – F&amp;B</a:t>
            </a:r>
            <a:r>
              <a:rPr lang="zh-HK" sz="1200">
                <a:solidFill>
                  <a:srgbClr val="0F1115"/>
                </a:solidFill>
                <a:highlight>
                  <a:srgbClr val="FFFFFF"/>
                </a:highlight>
                <a:latin typeface="Inter"/>
                <a:ea typeface="Inter"/>
                <a:cs typeface="Inter"/>
                <a:sym typeface="Inter"/>
              </a:rPr>
              <a:t> </a:t>
            </a:r>
            <a:endParaRPr sz="1000">
              <a:solidFill>
                <a:srgbClr val="0F1115"/>
              </a:solidFill>
              <a:highlight>
                <a:srgbClr val="FFFFFF"/>
              </a:highlight>
              <a:latin typeface="Times New Roman"/>
              <a:ea typeface="Times New Roman"/>
              <a:cs typeface="Times New Roman"/>
              <a:sym typeface="Times New Roman"/>
            </a:endParaRPr>
          </a:p>
        </p:txBody>
      </p:sp>
      <p:sp>
        <p:nvSpPr>
          <p:cNvPr id="509" name="Google Shape;509;g409beac5032_3_146"/>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510" name="Google Shape;510;g409beac5032_3_146"/>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511" name="Google Shape;511;g409beac5032_3_146"/>
          <p:cNvSpPr txBox="1"/>
          <p:nvPr/>
        </p:nvSpPr>
        <p:spPr>
          <a:xfrm>
            <a:off x="1370475" y="1679816"/>
            <a:ext cx="4785900" cy="280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YOHO drives engagement via a brand-story-driven F&amp;B launch</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Credibility Hook: Leverages "Michelin-recommended" as the core selling point, using the brand story (from small shop to Michelin recognition) to build trust and emotional connection</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Exclusivity Angle: Highlights YOHO-exclusive new items (e.g., 肉鬆甜粢飯, 抹茶豆漿) to create a sense of uniqueness, driving share intent and visit urgency</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highlight>
                  <a:srgbClr val="FFFFFF"/>
                </a:highlight>
                <a:latin typeface="Times New Roman"/>
                <a:ea typeface="Times New Roman"/>
                <a:cs typeface="Times New Roman"/>
                <a:sym typeface="Times New Roman"/>
              </a:rPr>
              <a:t>Langham Place can adopt this "brand story + certification + exclusive items" model for new F&amp;B tenant launches — highlighting brand background, awards, or exclusive menu items to boost content shareability and foot traffic.</a:t>
            </a:r>
            <a:endParaRPr sz="1200">
              <a:solidFill>
                <a:srgbClr val="0F1115"/>
              </a:solidFill>
              <a:highlight>
                <a:srgbClr val="FFFFFF"/>
              </a:highlight>
              <a:latin typeface="Times New Roman"/>
              <a:ea typeface="Times New Roman"/>
              <a:cs typeface="Times New Roman"/>
              <a:sym typeface="Times New Roman"/>
            </a:endParaRPr>
          </a:p>
        </p:txBody>
      </p:sp>
      <p:sp>
        <p:nvSpPr>
          <p:cNvPr id="512" name="Google Shape;512;g409beac5032_3_146"/>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g409beac5032_3_146"/>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dk1"/>
                </a:solidFill>
                <a:highlight>
                  <a:srgbClr val="FFFFFF"/>
                </a:highlight>
                <a:latin typeface="Times New Roman"/>
                <a:ea typeface="Times New Roman"/>
                <a:cs typeface="Times New Roman"/>
                <a:sym typeface="Times New Roman"/>
              </a:rPr>
              <a:t>YOHO</a:t>
            </a:r>
            <a:r>
              <a:rPr b="1" lang="zh-HK" sz="1800" u="sng">
                <a:solidFill>
                  <a:schemeClr val="hlink"/>
                </a:solidFill>
                <a:highlight>
                  <a:srgbClr val="FFFFFF"/>
                </a:highlight>
                <a:latin typeface="Roboto"/>
                <a:ea typeface="Roboto"/>
                <a:cs typeface="Roboto"/>
                <a:sym typeface="Roboto"/>
                <a:hlinkClick r:id="rId3"/>
              </a:rPr>
              <a:t> </a:t>
            </a:r>
            <a:r>
              <a:rPr b="1" lang="zh-HK" sz="1100" u="sng">
                <a:solidFill>
                  <a:schemeClr val="hlink"/>
                </a:solidFill>
                <a:hlinkClick r:id="rId4"/>
              </a:rPr>
              <a:t> </a:t>
            </a:r>
            <a:endParaRPr b="1" sz="2000">
              <a:solidFill>
                <a:schemeClr val="dk1"/>
              </a:solidFill>
              <a:latin typeface="Inter"/>
              <a:ea typeface="Inter"/>
              <a:cs typeface="Inter"/>
              <a:sym typeface="Inter"/>
            </a:endParaRPr>
          </a:p>
        </p:txBody>
      </p:sp>
      <p:sp>
        <p:nvSpPr>
          <p:cNvPr id="514" name="Google Shape;514;g409beac5032_3_146"/>
          <p:cNvSpPr txBox="1"/>
          <p:nvPr/>
        </p:nvSpPr>
        <p:spPr>
          <a:xfrm>
            <a:off x="7383730" y="370498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5"/>
              </a:rPr>
              <a:t>Link</a:t>
            </a:r>
            <a:endParaRPr sz="1100">
              <a:solidFill>
                <a:schemeClr val="dk2"/>
              </a:solidFill>
            </a:endParaRPr>
          </a:p>
        </p:txBody>
      </p:sp>
      <p:pic>
        <p:nvPicPr>
          <p:cNvPr id="515" name="Google Shape;515;g409beac5032_3_146" title="a697a07488e44c8c8c06bebbaeb5ef46.png"/>
          <p:cNvPicPr preferRelativeResize="0"/>
          <p:nvPr/>
        </p:nvPicPr>
        <p:blipFill rotWithShape="1">
          <a:blip r:embed="rId6">
            <a:alphaModFix/>
          </a:blip>
          <a:srcRect b="0" l="278" r="269" t="0"/>
          <a:stretch/>
        </p:blipFill>
        <p:spPr>
          <a:xfrm>
            <a:off x="8435775" y="158373"/>
            <a:ext cx="489901" cy="492600"/>
          </a:xfrm>
          <a:prstGeom prst="rect">
            <a:avLst/>
          </a:prstGeom>
          <a:noFill/>
          <a:ln>
            <a:noFill/>
          </a:ln>
        </p:spPr>
      </p:pic>
      <p:pic>
        <p:nvPicPr>
          <p:cNvPr id="516" name="Google Shape;516;g409beac5032_3_146"/>
          <p:cNvPicPr preferRelativeResize="0"/>
          <p:nvPr/>
        </p:nvPicPr>
        <p:blipFill rotWithShape="1">
          <a:blip r:embed="rId7">
            <a:alphaModFix/>
          </a:blip>
          <a:srcRect b="12014" l="0" r="0" t="8425"/>
          <a:stretch/>
        </p:blipFill>
        <p:spPr>
          <a:xfrm>
            <a:off x="6227306" y="1237650"/>
            <a:ext cx="1354624" cy="2372803"/>
          </a:xfrm>
          <a:prstGeom prst="rect">
            <a:avLst/>
          </a:prstGeom>
          <a:noFill/>
          <a:ln>
            <a:noFill/>
          </a:ln>
        </p:spPr>
      </p:pic>
      <p:pic>
        <p:nvPicPr>
          <p:cNvPr id="517" name="Google Shape;517;g409beac5032_3_146"/>
          <p:cNvPicPr preferRelativeResize="0"/>
          <p:nvPr/>
        </p:nvPicPr>
        <p:blipFill rotWithShape="1">
          <a:blip r:embed="rId8">
            <a:alphaModFix/>
          </a:blip>
          <a:srcRect b="7779" l="0" r="0" t="9903"/>
          <a:stretch/>
        </p:blipFill>
        <p:spPr>
          <a:xfrm>
            <a:off x="7652892" y="1237650"/>
            <a:ext cx="1310599" cy="237279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1" name="Shape 521"/>
        <p:cNvGrpSpPr/>
        <p:nvPr/>
      </p:nvGrpSpPr>
      <p:grpSpPr>
        <a:xfrm>
          <a:off x="0" y="0"/>
          <a:ext cx="0" cy="0"/>
          <a:chOff x="0" y="0"/>
          <a:chExt cx="0" cy="0"/>
        </a:xfrm>
      </p:grpSpPr>
      <p:sp>
        <p:nvSpPr>
          <p:cNvPr id="522" name="Google Shape;522;g409beac5032_3_169"/>
          <p:cNvSpPr txBox="1"/>
          <p:nvPr/>
        </p:nvSpPr>
        <p:spPr>
          <a:xfrm>
            <a:off x="1423200" y="1225050"/>
            <a:ext cx="486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Student Arrival Guide </a:t>
            </a:r>
            <a:endParaRPr sz="1200">
              <a:solidFill>
                <a:srgbClr val="0F1115"/>
              </a:solidFill>
              <a:highlight>
                <a:srgbClr val="FFFFFF"/>
              </a:highlight>
              <a:latin typeface="Times New Roman"/>
              <a:ea typeface="Times New Roman"/>
              <a:cs typeface="Times New Roman"/>
              <a:sym typeface="Times New Roman"/>
            </a:endParaRPr>
          </a:p>
        </p:txBody>
      </p:sp>
      <p:sp>
        <p:nvSpPr>
          <p:cNvPr id="523" name="Google Shape;523;g409beac5032_3_169"/>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524" name="Google Shape;524;g409beac5032_3_169"/>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525" name="Google Shape;525;g409beac5032_3_169"/>
          <p:cNvSpPr txBox="1"/>
          <p:nvPr/>
        </p:nvSpPr>
        <p:spPr>
          <a:xfrm>
            <a:off x="1370475" y="1679816"/>
            <a:ext cx="4785900" cy="280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New Town Plaza drives engagement via a practical student-centric guide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Peer Perspective Hook: Leverages "senior student" perspective as the core hook, targeting incoming mainland students with practical advice covering essentials, electronics, beauty, and furniture</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Local Living Curation: Positions the mall as a key hub for students, resonating with those seeking an easy start in Hong Kong by emphasizing value, convenience, and local authenticity</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highlight>
                  <a:srgbClr val="FFFFFF"/>
                </a:highlight>
                <a:latin typeface="Times New Roman"/>
                <a:ea typeface="Times New Roman"/>
                <a:cs typeface="Times New Roman"/>
                <a:sym typeface="Times New Roman"/>
              </a:rPr>
              <a:t>Langham Place can explore a similar "student arrival guide" series — covering Mong Kok-area accommodation, shopping, dining, and transport — to position the mall as the "first stop for students settling in Hong Kong."</a:t>
            </a:r>
            <a:endParaRPr sz="1200">
              <a:solidFill>
                <a:srgbClr val="0F1115"/>
              </a:solidFill>
              <a:highlight>
                <a:srgbClr val="FFFFFF"/>
              </a:highlight>
              <a:latin typeface="Times New Roman"/>
              <a:ea typeface="Times New Roman"/>
              <a:cs typeface="Times New Roman"/>
              <a:sym typeface="Times New Roman"/>
            </a:endParaRPr>
          </a:p>
        </p:txBody>
      </p:sp>
      <p:sp>
        <p:nvSpPr>
          <p:cNvPr id="526" name="Google Shape;526;g409beac5032_3_169"/>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7" name="Google Shape;527;g409beac5032_3_169"/>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2000">
                <a:solidFill>
                  <a:schemeClr val="accent2"/>
                </a:solidFill>
                <a:latin typeface="Times New Roman"/>
                <a:ea typeface="Times New Roman"/>
                <a:cs typeface="Times New Roman"/>
                <a:sym typeface="Times New Roman"/>
              </a:rPr>
              <a:t>New Town Plaza</a:t>
            </a:r>
            <a:r>
              <a:rPr b="1" lang="zh-HK" sz="2000" u="sng">
                <a:solidFill>
                  <a:schemeClr val="hlink"/>
                </a:solidFill>
                <a:highlight>
                  <a:srgbClr val="FFFFFF"/>
                </a:highlight>
                <a:latin typeface="Times New Roman"/>
                <a:ea typeface="Times New Roman"/>
                <a:cs typeface="Times New Roman"/>
                <a:sym typeface="Times New Roman"/>
                <a:hlinkClick r:id="rId3"/>
              </a:rPr>
              <a:t> </a:t>
            </a:r>
            <a:r>
              <a:rPr b="1" lang="zh-HK" sz="1100" u="sng">
                <a:solidFill>
                  <a:schemeClr val="hlink"/>
                </a:solidFill>
                <a:hlinkClick r:id="rId4"/>
              </a:rPr>
              <a:t> </a:t>
            </a:r>
            <a:endParaRPr b="1" sz="2000">
              <a:solidFill>
                <a:schemeClr val="dk1"/>
              </a:solidFill>
              <a:latin typeface="Inter"/>
              <a:ea typeface="Inter"/>
              <a:cs typeface="Inter"/>
              <a:sym typeface="Inter"/>
            </a:endParaRPr>
          </a:p>
        </p:txBody>
      </p:sp>
      <p:sp>
        <p:nvSpPr>
          <p:cNvPr id="528" name="Google Shape;528;g409beac5032_3_169"/>
          <p:cNvSpPr txBox="1"/>
          <p:nvPr/>
        </p:nvSpPr>
        <p:spPr>
          <a:xfrm>
            <a:off x="7287946" y="382948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5"/>
              </a:rPr>
              <a:t>Link</a:t>
            </a:r>
            <a:endParaRPr sz="1100">
              <a:solidFill>
                <a:schemeClr val="dk2"/>
              </a:solidFill>
            </a:endParaRPr>
          </a:p>
        </p:txBody>
      </p:sp>
      <p:pic>
        <p:nvPicPr>
          <p:cNvPr id="529" name="Google Shape;529;g409beac5032_3_169"/>
          <p:cNvPicPr preferRelativeResize="0"/>
          <p:nvPr/>
        </p:nvPicPr>
        <p:blipFill rotWithShape="1">
          <a:blip r:embed="rId6">
            <a:alphaModFix/>
          </a:blip>
          <a:srcRect b="21816" l="32544" r="32537" t="22001"/>
          <a:stretch/>
        </p:blipFill>
        <p:spPr>
          <a:xfrm>
            <a:off x="8456596" y="187110"/>
            <a:ext cx="442602" cy="445050"/>
          </a:xfrm>
          <a:prstGeom prst="rect">
            <a:avLst/>
          </a:prstGeom>
          <a:noFill/>
          <a:ln>
            <a:noFill/>
          </a:ln>
        </p:spPr>
      </p:pic>
      <p:pic>
        <p:nvPicPr>
          <p:cNvPr id="530" name="Google Shape;530;g409beac5032_3_169"/>
          <p:cNvPicPr preferRelativeResize="0"/>
          <p:nvPr/>
        </p:nvPicPr>
        <p:blipFill rotWithShape="1">
          <a:blip r:embed="rId7">
            <a:alphaModFix/>
          </a:blip>
          <a:srcRect b="6592" l="0" r="0" t="4566"/>
          <a:stretch/>
        </p:blipFill>
        <p:spPr>
          <a:xfrm>
            <a:off x="6234358" y="1133426"/>
            <a:ext cx="1340556" cy="2581248"/>
          </a:xfrm>
          <a:prstGeom prst="rect">
            <a:avLst/>
          </a:prstGeom>
          <a:noFill/>
          <a:ln>
            <a:noFill/>
          </a:ln>
        </p:spPr>
      </p:pic>
      <p:pic>
        <p:nvPicPr>
          <p:cNvPr id="531" name="Google Shape;531;g409beac5032_3_169"/>
          <p:cNvPicPr preferRelativeResize="0"/>
          <p:nvPr/>
        </p:nvPicPr>
        <p:blipFill rotWithShape="1">
          <a:blip r:embed="rId8">
            <a:alphaModFix/>
          </a:blip>
          <a:srcRect b="11809" l="0" r="0" t="4023"/>
          <a:stretch/>
        </p:blipFill>
        <p:spPr>
          <a:xfrm>
            <a:off x="7495125" y="1143421"/>
            <a:ext cx="1404074" cy="256125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5" name="Shape 535"/>
        <p:cNvGrpSpPr/>
        <p:nvPr/>
      </p:nvGrpSpPr>
      <p:grpSpPr>
        <a:xfrm>
          <a:off x="0" y="0"/>
          <a:ext cx="0" cy="0"/>
          <a:chOff x="0" y="0"/>
          <a:chExt cx="0" cy="0"/>
        </a:xfrm>
      </p:grpSpPr>
      <p:sp>
        <p:nvSpPr>
          <p:cNvPr id="536" name="Google Shape;536;g409beac5032_3_190"/>
          <p:cNvSpPr txBox="1"/>
          <p:nvPr/>
        </p:nvSpPr>
        <p:spPr>
          <a:xfrm>
            <a:off x="1423200" y="1225050"/>
            <a:ext cx="48606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Luxury Pop-up x Local Culture – Immersive Check-in Experience</a:t>
            </a:r>
            <a:endParaRPr sz="1200">
              <a:solidFill>
                <a:srgbClr val="0F1115"/>
              </a:solidFill>
              <a:highlight>
                <a:srgbClr val="FFFFFF"/>
              </a:highlight>
              <a:latin typeface="Times New Roman"/>
              <a:ea typeface="Times New Roman"/>
              <a:cs typeface="Times New Roman"/>
              <a:sym typeface="Times New Roman"/>
            </a:endParaRPr>
          </a:p>
        </p:txBody>
      </p:sp>
      <p:sp>
        <p:nvSpPr>
          <p:cNvPr id="537" name="Google Shape;537;g409beac5032_3_190"/>
          <p:cNvSpPr/>
          <p:nvPr/>
        </p:nvSpPr>
        <p:spPr>
          <a:xfrm>
            <a:off x="446647" y="1237640"/>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i="0" lang="zh-HK" sz="1200" u="none" cap="none" strike="noStrike">
                <a:solidFill>
                  <a:schemeClr val="lt1"/>
                </a:solidFill>
                <a:latin typeface="Inter"/>
                <a:ea typeface="Inter"/>
                <a:cs typeface="Inter"/>
                <a:sym typeface="Inter"/>
              </a:rPr>
              <a:t>Topic</a:t>
            </a:r>
            <a:endParaRPr i="0" sz="1200" u="none" cap="none" strike="noStrike">
              <a:solidFill>
                <a:schemeClr val="lt1"/>
              </a:solidFill>
              <a:latin typeface="Inter"/>
              <a:ea typeface="Inter"/>
              <a:cs typeface="Inter"/>
              <a:sym typeface="Inter"/>
            </a:endParaRPr>
          </a:p>
        </p:txBody>
      </p:sp>
      <p:sp>
        <p:nvSpPr>
          <p:cNvPr id="538" name="Google Shape;538;g409beac5032_3_190"/>
          <p:cNvSpPr/>
          <p:nvPr/>
        </p:nvSpPr>
        <p:spPr>
          <a:xfrm>
            <a:off x="441539" y="1716705"/>
            <a:ext cx="915600" cy="3441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400"/>
              <a:buFont typeface="Arial"/>
              <a:buNone/>
            </a:pPr>
            <a:r>
              <a:rPr i="0" lang="zh-HK" sz="1200" u="none" cap="none" strike="noStrike">
                <a:solidFill>
                  <a:schemeClr val="lt1"/>
                </a:solidFill>
                <a:latin typeface="Inter"/>
                <a:ea typeface="Inter"/>
                <a:cs typeface="Inter"/>
                <a:sym typeface="Inter"/>
              </a:rPr>
              <a:t>Content</a:t>
            </a:r>
            <a:endParaRPr i="0" sz="1200" u="none" cap="none" strike="noStrike">
              <a:solidFill>
                <a:schemeClr val="lt1"/>
              </a:solidFill>
              <a:latin typeface="Inter"/>
              <a:ea typeface="Inter"/>
              <a:cs typeface="Inter"/>
              <a:sym typeface="Inter"/>
            </a:endParaRPr>
          </a:p>
        </p:txBody>
      </p:sp>
      <p:sp>
        <p:nvSpPr>
          <p:cNvPr id="539" name="Google Shape;539;g409beac5032_3_190"/>
          <p:cNvSpPr txBox="1"/>
          <p:nvPr/>
        </p:nvSpPr>
        <p:spPr>
          <a:xfrm>
            <a:off x="1370475" y="1679816"/>
            <a:ext cx="4785900" cy="3226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K11 MUSEA drives engagement via a brand collaboration with cultural resonance</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Local Culture Hook: Leverages a YSL pop-up inspired by Hong Kong's MTR stations, blending luxury beauty with local cultural elements to create a unique, relatable experience</a:t>
            </a:r>
            <a:endParaRPr sz="1200">
              <a:solidFill>
                <a:srgbClr val="0F1115"/>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latin typeface="Times New Roman"/>
                <a:ea typeface="Times New Roman"/>
                <a:cs typeface="Times New Roman"/>
                <a:sym typeface="Times New Roman"/>
              </a:rPr>
              <a:t>Immersive Experience: Emphasises premium rituals and photo-worthy moments, turning a brand activation into a sensory journey that resonates with luxury consumers and experience seekers</a:t>
            </a:r>
            <a:endParaRPr sz="1200">
              <a:solidFill>
                <a:srgbClr val="0F1115"/>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zh-HK" sz="1200">
                <a:solidFill>
                  <a:schemeClr val="dk1"/>
                </a:solidFill>
                <a:latin typeface="Times New Roman"/>
                <a:ea typeface="Times New Roman"/>
                <a:cs typeface="Times New Roman"/>
                <a:sym typeface="Times New Roman"/>
              </a:rPr>
              <a:t>Suggestion:</a:t>
            </a:r>
            <a:r>
              <a:rPr lang="zh-HK" sz="1200">
                <a:solidFill>
                  <a:schemeClr val="dk1"/>
                </a:solidFill>
                <a:latin typeface="Times New Roman"/>
                <a:ea typeface="Times New Roman"/>
                <a:cs typeface="Times New Roman"/>
                <a:sym typeface="Times New Roman"/>
              </a:rPr>
              <a:t> </a:t>
            </a:r>
            <a:r>
              <a:rPr lang="zh-HK" sz="1200">
                <a:solidFill>
                  <a:srgbClr val="0F1115"/>
                </a:solidFill>
                <a:highlight>
                  <a:srgbClr val="FFFFFF"/>
                </a:highlight>
                <a:latin typeface="Times New Roman"/>
                <a:ea typeface="Times New Roman"/>
                <a:cs typeface="Times New Roman"/>
                <a:sym typeface="Times New Roman"/>
              </a:rPr>
              <a:t>Langham Place can adopt a similar "brand pop-up x local culture" model — collaborating with in-mall beauty or fashion brands to create thematic spaces inspired by Mong Kok's neon streets or local culture, generating buzz-worthy check-in content and driving foot traffic.</a:t>
            </a:r>
            <a:endParaRPr sz="1200">
              <a:solidFill>
                <a:srgbClr val="0F1115"/>
              </a:solidFill>
              <a:highlight>
                <a:srgbClr val="FFFFFF"/>
              </a:highlight>
              <a:latin typeface="Times New Roman"/>
              <a:ea typeface="Times New Roman"/>
              <a:cs typeface="Times New Roman"/>
              <a:sym typeface="Times New Roman"/>
            </a:endParaRPr>
          </a:p>
        </p:txBody>
      </p:sp>
      <p:sp>
        <p:nvSpPr>
          <p:cNvPr id="540" name="Google Shape;540;g409beac5032_3_190"/>
          <p:cNvSpPr/>
          <p:nvPr/>
        </p:nvSpPr>
        <p:spPr>
          <a:xfrm>
            <a:off x="-5425" y="428750"/>
            <a:ext cx="138300" cy="57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g409beac5032_3_190"/>
          <p:cNvSpPr txBox="1"/>
          <p:nvPr/>
        </p:nvSpPr>
        <p:spPr>
          <a:xfrm>
            <a:off x="293550" y="467450"/>
            <a:ext cx="7141200" cy="492600"/>
          </a:xfrm>
          <a:prstGeom prst="rect">
            <a:avLst/>
          </a:prstGeom>
          <a:noFill/>
          <a:ln>
            <a:noFill/>
          </a:ln>
        </p:spPr>
        <p:txBody>
          <a:bodyPr anchorCtr="0" anchor="t" bIns="91425" lIns="91425" spcFirstLastPara="1" rIns="91425" wrap="square" tIns="91425">
            <a:spAutoFit/>
          </a:bodyPr>
          <a:lstStyle/>
          <a:p>
            <a:pPr indent="0" lvl="0" marL="0" rtl="0" algn="l">
              <a:lnSpc>
                <a:spcPct val="130000"/>
              </a:lnSpc>
              <a:spcBef>
                <a:spcPts val="0"/>
              </a:spcBef>
              <a:spcAft>
                <a:spcPts val="0"/>
              </a:spcAft>
              <a:buNone/>
            </a:pPr>
            <a:r>
              <a:rPr b="1" lang="zh-HK" sz="2000">
                <a:solidFill>
                  <a:schemeClr val="dk1"/>
                </a:solidFill>
                <a:latin typeface="Times New Roman"/>
                <a:ea typeface="Times New Roman"/>
                <a:cs typeface="Times New Roman"/>
                <a:sym typeface="Times New Roman"/>
              </a:rPr>
              <a:t>Competitor Content Analysis - </a:t>
            </a:r>
            <a:r>
              <a:rPr b="1" lang="zh-HK" sz="1100" u="sng">
                <a:solidFill>
                  <a:schemeClr val="hlink"/>
                </a:solidFill>
                <a:latin typeface="Times New Roman"/>
                <a:ea typeface="Times New Roman"/>
                <a:cs typeface="Times New Roman"/>
                <a:sym typeface="Times New Roman"/>
                <a:hlinkClick r:id="rId3"/>
              </a:rPr>
              <a:t> </a:t>
            </a:r>
            <a:r>
              <a:rPr b="1" lang="zh-HK" sz="2000">
                <a:solidFill>
                  <a:schemeClr val="dk1"/>
                </a:solidFill>
                <a:latin typeface="Times New Roman"/>
                <a:ea typeface="Times New Roman"/>
                <a:cs typeface="Times New Roman"/>
                <a:sym typeface="Times New Roman"/>
              </a:rPr>
              <a:t>K11 Musea</a:t>
            </a:r>
            <a:endParaRPr b="1" sz="2000">
              <a:solidFill>
                <a:schemeClr val="dk1"/>
              </a:solidFill>
              <a:latin typeface="Times New Roman"/>
              <a:ea typeface="Times New Roman"/>
              <a:cs typeface="Times New Roman"/>
              <a:sym typeface="Times New Roman"/>
            </a:endParaRPr>
          </a:p>
        </p:txBody>
      </p:sp>
      <p:sp>
        <p:nvSpPr>
          <p:cNvPr id="542" name="Google Shape;542;g409beac5032_3_190"/>
          <p:cNvSpPr txBox="1"/>
          <p:nvPr/>
        </p:nvSpPr>
        <p:spPr>
          <a:xfrm>
            <a:off x="7355008" y="3692831"/>
            <a:ext cx="821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1100" u="sng">
                <a:solidFill>
                  <a:schemeClr val="hlink"/>
                </a:solidFill>
                <a:hlinkClick r:id="rId4"/>
              </a:rPr>
              <a:t>Link</a:t>
            </a:r>
            <a:endParaRPr sz="1100">
              <a:solidFill>
                <a:schemeClr val="dk2"/>
              </a:solidFill>
            </a:endParaRPr>
          </a:p>
        </p:txBody>
      </p:sp>
      <p:pic>
        <p:nvPicPr>
          <p:cNvPr id="543" name="Google Shape;543;g409beac5032_3_190"/>
          <p:cNvPicPr preferRelativeResize="0"/>
          <p:nvPr/>
        </p:nvPicPr>
        <p:blipFill rotWithShape="1">
          <a:blip r:embed="rId5">
            <a:alphaModFix/>
          </a:blip>
          <a:srcRect b="21816" l="32544" r="32537" t="22001"/>
          <a:stretch/>
        </p:blipFill>
        <p:spPr>
          <a:xfrm>
            <a:off x="8456596" y="187110"/>
            <a:ext cx="442602" cy="445050"/>
          </a:xfrm>
          <a:prstGeom prst="rect">
            <a:avLst/>
          </a:prstGeom>
          <a:noFill/>
          <a:ln>
            <a:noFill/>
          </a:ln>
        </p:spPr>
      </p:pic>
      <p:pic>
        <p:nvPicPr>
          <p:cNvPr id="544" name="Google Shape;544;g409beac5032_3_190"/>
          <p:cNvPicPr preferRelativeResize="0"/>
          <p:nvPr/>
        </p:nvPicPr>
        <p:blipFill rotWithShape="1">
          <a:blip r:embed="rId6">
            <a:alphaModFix/>
          </a:blip>
          <a:srcRect b="6385" l="0" r="0" t="4568"/>
          <a:stretch/>
        </p:blipFill>
        <p:spPr>
          <a:xfrm>
            <a:off x="6284316" y="1065482"/>
            <a:ext cx="1306703" cy="2521923"/>
          </a:xfrm>
          <a:prstGeom prst="rect">
            <a:avLst/>
          </a:prstGeom>
          <a:noFill/>
          <a:ln>
            <a:noFill/>
          </a:ln>
        </p:spPr>
      </p:pic>
      <p:pic>
        <p:nvPicPr>
          <p:cNvPr id="545" name="Google Shape;545;g409beac5032_3_190"/>
          <p:cNvPicPr preferRelativeResize="0"/>
          <p:nvPr/>
        </p:nvPicPr>
        <p:blipFill rotWithShape="1">
          <a:blip r:embed="rId7">
            <a:alphaModFix/>
          </a:blip>
          <a:srcRect b="12425" l="0" r="0" t="10876"/>
          <a:stretch/>
        </p:blipFill>
        <p:spPr>
          <a:xfrm>
            <a:off x="7527400" y="1069137"/>
            <a:ext cx="1517186" cy="252191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e0a6527a63_6_19"/>
          <p:cNvSpPr txBox="1"/>
          <p:nvPr/>
        </p:nvSpPr>
        <p:spPr>
          <a:xfrm>
            <a:off x="190506" y="882750"/>
            <a:ext cx="4371300" cy="2644800"/>
          </a:xfrm>
          <a:prstGeom prst="rect">
            <a:avLst/>
          </a:prstGeom>
          <a:noFill/>
          <a:ln>
            <a:noFill/>
          </a:ln>
        </p:spPr>
        <p:txBody>
          <a:bodyPr anchorCtr="0" anchor="t" bIns="68575" lIns="68575" spcFirstLastPara="1" rIns="68575" wrap="square" tIns="68575">
            <a:spAutoFit/>
          </a:bodyPr>
          <a:lstStyle/>
          <a:p>
            <a:pPr indent="0" lvl="0" marL="0" marR="0" rtl="0" algn="l">
              <a:lnSpc>
                <a:spcPct val="115000"/>
              </a:lnSpc>
              <a:spcBef>
                <a:spcPts val="1400"/>
              </a:spcBef>
              <a:spcAft>
                <a:spcPts val="0"/>
              </a:spcAft>
              <a:buClr>
                <a:srgbClr val="000000"/>
              </a:buClr>
              <a:buSzPts val="1200"/>
              <a:buFont typeface="Arial"/>
              <a:buNone/>
            </a:pPr>
            <a:r>
              <a:rPr b="1" lang="zh-HK" sz="1300">
                <a:solidFill>
                  <a:srgbClr val="0F1115"/>
                </a:solidFill>
                <a:highlight>
                  <a:srgbClr val="FFFFFF"/>
                </a:highlight>
                <a:latin typeface="Times New Roman"/>
                <a:ea typeface="Times New Roman"/>
                <a:cs typeface="Times New Roman"/>
                <a:sym typeface="Times New Roman"/>
              </a:rPr>
              <a:t>Beauty Festival – Fashion &amp; Beauty Challenge購物挑戰</a:t>
            </a:r>
            <a:br>
              <a:rPr lang="zh-HK" sz="1200">
                <a:solidFill>
                  <a:srgbClr val="0F1115"/>
                </a:solidFill>
                <a:highlight>
                  <a:srgbClr val="FFFFFF"/>
                </a:highlight>
                <a:latin typeface="Times New Roman"/>
                <a:ea typeface="Times New Roman"/>
                <a:cs typeface="Times New Roman"/>
                <a:sym typeface="Times New Roman"/>
              </a:rPr>
            </a:br>
            <a:br>
              <a:rPr lang="zh-HK" sz="1200">
                <a:solidFill>
                  <a:srgbClr val="0F1115"/>
                </a:solidFill>
                <a:highlight>
                  <a:srgbClr val="FFFFFF"/>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Mid-Sept marks the Langham Place Beauty Festival, alongside fashion discounts and traveller offers. With the Mid-Autumn Festival and National Day holidays bringing a surge of mainland visitors.</a:t>
            </a:r>
            <a:endParaRPr sz="12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400"/>
              </a:spcBef>
              <a:spcAft>
                <a:spcPts val="0"/>
              </a:spcAft>
              <a:buClr>
                <a:srgbClr val="000000"/>
              </a:buClr>
              <a:buSzPts val="1200"/>
              <a:buFont typeface="Arial"/>
              <a:buNone/>
            </a:pPr>
            <a:r>
              <a:rPr lang="zh-HK" sz="1200">
                <a:solidFill>
                  <a:srgbClr val="0F1115"/>
                </a:solidFill>
                <a:highlight>
                  <a:srgbClr val="FFFFFF"/>
                </a:highlight>
                <a:latin typeface="Times New Roman"/>
                <a:ea typeface="Times New Roman"/>
                <a:cs typeface="Times New Roman"/>
                <a:sym typeface="Times New Roman"/>
              </a:rPr>
              <a:t>we propose a topic with fashion &amp; beauty: </a:t>
            </a:r>
            <a:br>
              <a:rPr lang="zh-HK" sz="1200">
                <a:solidFill>
                  <a:srgbClr val="0F1115"/>
                </a:solidFill>
                <a:highlight>
                  <a:srgbClr val="FFFFFF"/>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e.g </a:t>
            </a:r>
            <a:r>
              <a:rPr b="1" lang="zh-HK" sz="1200">
                <a:solidFill>
                  <a:srgbClr val="1155CC"/>
                </a:solidFill>
                <a:highlight>
                  <a:schemeClr val="lt1"/>
                </a:highlight>
                <a:latin typeface="Times New Roman"/>
                <a:ea typeface="Times New Roman"/>
                <a:cs typeface="Times New Roman"/>
                <a:sym typeface="Times New Roman"/>
              </a:rPr>
              <a:t>假期挑战用xxxx钱在香港买大牌&amp;潮牌 </a:t>
            </a:r>
            <a:br>
              <a:rPr b="1" lang="zh-HK" sz="1200">
                <a:solidFill>
                  <a:srgbClr val="1155CC"/>
                </a:solidFill>
                <a:highlight>
                  <a:schemeClr val="lt1"/>
                </a:highlight>
                <a:latin typeface="Times New Roman"/>
                <a:ea typeface="Times New Roman"/>
                <a:cs typeface="Times New Roman"/>
                <a:sym typeface="Times New Roman"/>
              </a:rPr>
            </a:br>
            <a:br>
              <a:rPr b="1" lang="zh-HK" sz="1200">
                <a:solidFill>
                  <a:srgbClr val="1155CC"/>
                </a:solidFill>
                <a:highlight>
                  <a:schemeClr val="lt1"/>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The content centers around the concept of "</a:t>
            </a:r>
            <a:r>
              <a:rPr b="1" lang="zh-HK" sz="1200">
                <a:solidFill>
                  <a:srgbClr val="0F1115"/>
                </a:solidFill>
                <a:highlight>
                  <a:srgbClr val="FFFFFF"/>
                </a:highlight>
                <a:latin typeface="Times New Roman"/>
                <a:ea typeface="Times New Roman"/>
                <a:cs typeface="Times New Roman"/>
                <a:sym typeface="Times New Roman"/>
              </a:rPr>
              <a:t>high-value shopping on a budget</a:t>
            </a:r>
            <a:r>
              <a:rPr lang="zh-HK" sz="1200">
                <a:solidFill>
                  <a:srgbClr val="0F1115"/>
                </a:solidFill>
                <a:highlight>
                  <a:srgbClr val="FFFFFF"/>
                </a:highlight>
                <a:latin typeface="Times New Roman"/>
                <a:ea typeface="Times New Roman"/>
                <a:cs typeface="Times New Roman"/>
                <a:sym typeface="Times New Roman"/>
              </a:rPr>
              <a:t>," appealing to price-conscious travellers while weaving in the Beauty Festival, fashion brands, and traveller perks.</a:t>
            </a:r>
            <a:endParaRPr b="1" i="0" sz="1100" u="none" cap="none" strike="noStrike">
              <a:solidFill>
                <a:srgbClr val="1155CC"/>
              </a:solidFill>
              <a:highlight>
                <a:srgbClr val="FFFFFF"/>
              </a:highlight>
              <a:latin typeface="Times New Roman"/>
              <a:ea typeface="Times New Roman"/>
              <a:cs typeface="Times New Roman"/>
              <a:sym typeface="Times New Roman"/>
            </a:endParaRPr>
          </a:p>
        </p:txBody>
      </p:sp>
      <p:sp>
        <p:nvSpPr>
          <p:cNvPr id="551" name="Google Shape;551;g3e0a6527a63_6_19"/>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552" name="Google Shape;552;g3e0a6527a63_6_19"/>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53" name="Google Shape;553;g3e0a6527a63_6_19"/>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554" name="Google Shape;554;g3e0a6527a63_6_19"/>
          <p:cNvPicPr preferRelativeResize="0"/>
          <p:nvPr/>
        </p:nvPicPr>
        <p:blipFill>
          <a:blip r:embed="rId4">
            <a:alphaModFix/>
          </a:blip>
          <a:stretch>
            <a:fillRect/>
          </a:stretch>
        </p:blipFill>
        <p:spPr>
          <a:xfrm>
            <a:off x="6774775" y="896508"/>
            <a:ext cx="2079764" cy="3527376"/>
          </a:xfrm>
          <a:prstGeom prst="rect">
            <a:avLst/>
          </a:prstGeom>
          <a:noFill/>
          <a:ln>
            <a:noFill/>
          </a:ln>
        </p:spPr>
      </p:pic>
      <p:pic>
        <p:nvPicPr>
          <p:cNvPr id="555" name="Google Shape;555;g3e0a6527a63_6_19"/>
          <p:cNvPicPr preferRelativeResize="0"/>
          <p:nvPr/>
        </p:nvPicPr>
        <p:blipFill>
          <a:blip r:embed="rId5">
            <a:alphaModFix/>
          </a:blip>
          <a:stretch>
            <a:fillRect/>
          </a:stretch>
        </p:blipFill>
        <p:spPr>
          <a:xfrm>
            <a:off x="4645176" y="863175"/>
            <a:ext cx="2129600" cy="3625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f478e7f549_0_62"/>
          <p:cNvSpPr txBox="1"/>
          <p:nvPr/>
        </p:nvSpPr>
        <p:spPr>
          <a:xfrm>
            <a:off x="290792" y="833083"/>
            <a:ext cx="4239000" cy="2636400"/>
          </a:xfrm>
          <a:prstGeom prst="rect">
            <a:avLst/>
          </a:prstGeom>
          <a:noFill/>
          <a:ln>
            <a:noFill/>
          </a:ln>
        </p:spPr>
        <p:txBody>
          <a:bodyPr anchorCtr="0" anchor="t" bIns="68575" lIns="68575" spcFirstLastPara="1" rIns="68575" wrap="square" tIns="68575">
            <a:spAutoFit/>
          </a:bodyPr>
          <a:lstStyle/>
          <a:p>
            <a:pPr indent="0" lvl="0" marL="0" rtl="0" algn="l">
              <a:lnSpc>
                <a:spcPct val="145454"/>
              </a:lnSpc>
              <a:spcBef>
                <a:spcPts val="0"/>
              </a:spcBef>
              <a:spcAft>
                <a:spcPts val="0"/>
              </a:spcAft>
              <a:buNone/>
            </a:pPr>
            <a:r>
              <a:rPr b="1" lang="zh-HK" sz="1300">
                <a:solidFill>
                  <a:srgbClr val="0F1115"/>
                </a:solidFill>
                <a:highlight>
                  <a:srgbClr val="FFFFFF"/>
                </a:highlight>
                <a:latin typeface="Times New Roman"/>
                <a:ea typeface="Times New Roman"/>
                <a:cs typeface="Times New Roman"/>
                <a:sym typeface="Times New Roman"/>
              </a:rPr>
              <a:t>Coffee Crawl – </a:t>
            </a:r>
            <a:r>
              <a:rPr b="1" lang="zh-HK" sz="1300">
                <a:solidFill>
                  <a:srgbClr val="0F1115"/>
                </a:solidFill>
                <a:highlight>
                  <a:schemeClr val="lt1"/>
                </a:highlight>
                <a:latin typeface="Times New Roman"/>
                <a:ea typeface="Times New Roman"/>
                <a:cs typeface="Times New Roman"/>
                <a:sym typeface="Times New Roman"/>
              </a:rPr>
              <a:t>Mong Kok Coffee Map </a:t>
            </a:r>
            <a:r>
              <a:rPr b="1" lang="zh-HK" sz="1300">
                <a:solidFill>
                  <a:srgbClr val="0F1115"/>
                </a:solidFill>
                <a:highlight>
                  <a:srgbClr val="FFFFFF"/>
                </a:highlight>
                <a:latin typeface="Times New Roman"/>
                <a:ea typeface="Times New Roman"/>
                <a:cs typeface="Times New Roman"/>
                <a:sym typeface="Times New Roman"/>
              </a:rPr>
              <a:t>港啡地圖</a:t>
            </a:r>
            <a:br>
              <a:rPr lang="zh-HK" sz="1200">
                <a:solidFill>
                  <a:srgbClr val="0F1115"/>
                </a:solidFill>
                <a:highlight>
                  <a:srgbClr val="FFFFFF"/>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Late Sept brings “</a:t>
            </a:r>
            <a:r>
              <a:rPr lang="zh-HK" sz="1200">
                <a:solidFill>
                  <a:srgbClr val="0F1115"/>
                </a:solidFill>
                <a:latin typeface="Times New Roman"/>
                <a:ea typeface="Times New Roman"/>
                <a:cs typeface="Times New Roman"/>
                <a:sym typeface="Times New Roman"/>
              </a:rPr>
              <a:t>火星下的咖啡節</a:t>
            </a:r>
            <a:r>
              <a:rPr lang="zh-HK" sz="1200">
                <a:solidFill>
                  <a:srgbClr val="0F1115"/>
                </a:solidFill>
                <a:highlight>
                  <a:srgbClr val="FFFFFF"/>
                </a:highlight>
                <a:latin typeface="Times New Roman"/>
                <a:ea typeface="Times New Roman"/>
                <a:cs typeface="Times New Roman"/>
                <a:sym typeface="Times New Roman"/>
              </a:rPr>
              <a:t>” pop-up at Langham Place, spanning Golden Week. Coffee culture is a perennial high-traffic topic on XHS. </a:t>
            </a:r>
            <a:endParaRPr sz="1200">
              <a:solidFill>
                <a:srgbClr val="0F1115"/>
              </a:solidFill>
              <a:highlight>
                <a:srgbClr val="FFFFFF"/>
              </a:highlight>
              <a:latin typeface="Times New Roman"/>
              <a:ea typeface="Times New Roman"/>
              <a:cs typeface="Times New Roman"/>
              <a:sym typeface="Times New Roman"/>
            </a:endParaRPr>
          </a:p>
          <a:p>
            <a:pPr indent="0" lvl="0" marL="0" marR="0" rtl="0" algn="just">
              <a:lnSpc>
                <a:spcPct val="115000"/>
              </a:lnSpc>
              <a:spcBef>
                <a:spcPts val="1200"/>
              </a:spcBef>
              <a:spcAft>
                <a:spcPts val="0"/>
              </a:spcAft>
              <a:buNone/>
            </a:pPr>
            <a:r>
              <a:rPr lang="zh-HK" sz="1200">
                <a:solidFill>
                  <a:srgbClr val="0F1115"/>
                </a:solidFill>
                <a:highlight>
                  <a:srgbClr val="FFFFFF"/>
                </a:highlight>
                <a:latin typeface="Times New Roman"/>
                <a:ea typeface="Times New Roman"/>
                <a:cs typeface="Times New Roman"/>
                <a:sym typeface="Times New Roman"/>
              </a:rPr>
              <a:t>We propose a topic "Mong Kok Coffee Map", connecting in-mall coffee tenants, </a:t>
            </a:r>
            <a:r>
              <a:rPr lang="zh-HK" sz="1200">
                <a:solidFill>
                  <a:srgbClr val="0F1115"/>
                </a:solidFill>
                <a:latin typeface="Times New Roman"/>
                <a:ea typeface="Times New Roman"/>
                <a:cs typeface="Times New Roman"/>
                <a:sym typeface="Times New Roman"/>
              </a:rPr>
              <a:t>咖啡節</a:t>
            </a:r>
            <a:r>
              <a:rPr lang="zh-HK" sz="1200">
                <a:solidFill>
                  <a:srgbClr val="0F1115"/>
                </a:solidFill>
                <a:highlight>
                  <a:srgbClr val="FFFFFF"/>
                </a:highlight>
                <a:latin typeface="Times New Roman"/>
                <a:ea typeface="Times New Roman"/>
                <a:cs typeface="Times New Roman"/>
                <a:sym typeface="Times New Roman"/>
              </a:rPr>
              <a:t>pop-up, and nearby hidden cafés. This topic strengthens local cultural relevance, sparks user curiosity, and appeals to both coffee lovers and Golden Week travellers, positioning Langham Place as a </a:t>
            </a:r>
            <a:r>
              <a:rPr b="1" lang="zh-HK" sz="1200">
                <a:solidFill>
                  <a:srgbClr val="0F1115"/>
                </a:solidFill>
                <a:highlight>
                  <a:srgbClr val="FFFFFF"/>
                </a:highlight>
                <a:latin typeface="Times New Roman"/>
                <a:ea typeface="Times New Roman"/>
                <a:cs typeface="Times New Roman"/>
                <a:sym typeface="Times New Roman"/>
              </a:rPr>
              <a:t>must-visit stop</a:t>
            </a:r>
            <a:r>
              <a:rPr lang="zh-HK" sz="1200">
                <a:solidFill>
                  <a:srgbClr val="0F1115"/>
                </a:solidFill>
                <a:highlight>
                  <a:srgbClr val="FFFFFF"/>
                </a:highlight>
                <a:latin typeface="Times New Roman"/>
                <a:ea typeface="Times New Roman"/>
                <a:cs typeface="Times New Roman"/>
                <a:sym typeface="Times New Roman"/>
              </a:rPr>
              <a:t> of Mong Kok coffee crawl.</a:t>
            </a:r>
            <a:endParaRPr i="0" sz="1200" u="none" cap="none" strike="noStrike">
              <a:solidFill>
                <a:srgbClr val="0F1115"/>
              </a:solidFill>
              <a:highlight>
                <a:srgbClr val="FFFFFF"/>
              </a:highlight>
              <a:latin typeface="Times New Roman"/>
              <a:ea typeface="Times New Roman"/>
              <a:cs typeface="Times New Roman"/>
              <a:sym typeface="Times New Roman"/>
            </a:endParaRPr>
          </a:p>
        </p:txBody>
      </p:sp>
      <p:sp>
        <p:nvSpPr>
          <p:cNvPr id="561" name="Google Shape;561;g3f478e7f549_0_62"/>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562" name="Google Shape;562;g3f478e7f549_0_6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63" name="Google Shape;563;g3f478e7f549_0_62"/>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564" name="Google Shape;564;g3f478e7f549_0_62"/>
          <p:cNvPicPr preferRelativeResize="0"/>
          <p:nvPr/>
        </p:nvPicPr>
        <p:blipFill>
          <a:blip r:embed="rId4">
            <a:alphaModFix/>
          </a:blip>
          <a:stretch>
            <a:fillRect/>
          </a:stretch>
        </p:blipFill>
        <p:spPr>
          <a:xfrm>
            <a:off x="4773067" y="778924"/>
            <a:ext cx="2209325" cy="3585649"/>
          </a:xfrm>
          <a:prstGeom prst="rect">
            <a:avLst/>
          </a:prstGeom>
          <a:noFill/>
          <a:ln>
            <a:noFill/>
          </a:ln>
        </p:spPr>
      </p:pic>
      <p:pic>
        <p:nvPicPr>
          <p:cNvPr id="565" name="Google Shape;565;g3f478e7f549_0_62"/>
          <p:cNvPicPr preferRelativeResize="0"/>
          <p:nvPr/>
        </p:nvPicPr>
        <p:blipFill rotWithShape="1">
          <a:blip r:embed="rId5">
            <a:alphaModFix/>
          </a:blip>
          <a:srcRect b="0" l="4580" r="0" t="0"/>
          <a:stretch/>
        </p:blipFill>
        <p:spPr>
          <a:xfrm>
            <a:off x="6889750" y="784825"/>
            <a:ext cx="2108225" cy="3715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409beac5032_3_221"/>
          <p:cNvSpPr txBox="1"/>
          <p:nvPr/>
        </p:nvSpPr>
        <p:spPr>
          <a:xfrm>
            <a:off x="396625" y="876700"/>
            <a:ext cx="4494300" cy="3317700"/>
          </a:xfrm>
          <a:prstGeom prst="rect">
            <a:avLst/>
          </a:prstGeom>
          <a:noFill/>
          <a:ln>
            <a:noFill/>
          </a:ln>
        </p:spPr>
        <p:txBody>
          <a:bodyPr anchorCtr="0" anchor="t" bIns="68575" lIns="68575" spcFirstLastPara="1" rIns="68575" wrap="square" tIns="68575">
            <a:spAutoFit/>
          </a:bodyPr>
          <a:lstStyle/>
          <a:p>
            <a:pPr indent="0" lvl="0" marL="0" rtl="0" algn="l">
              <a:lnSpc>
                <a:spcPct val="145454"/>
              </a:lnSpc>
              <a:spcBef>
                <a:spcPts val="2400"/>
              </a:spcBef>
              <a:spcAft>
                <a:spcPts val="0"/>
              </a:spcAft>
              <a:buNone/>
            </a:pPr>
            <a:r>
              <a:rPr b="1" lang="zh-HK" sz="1200">
                <a:solidFill>
                  <a:srgbClr val="0F1115"/>
                </a:solidFill>
                <a:highlight>
                  <a:srgbClr val="FFFFFF"/>
                </a:highlight>
                <a:latin typeface="Times New Roman"/>
                <a:ea typeface="Times New Roman"/>
                <a:cs typeface="Times New Roman"/>
                <a:sym typeface="Times New Roman"/>
              </a:rPr>
              <a:t>Hong Kong must-buy items</a:t>
            </a:r>
            <a:r>
              <a:rPr b="1" lang="zh-HK" sz="1200">
                <a:solidFill>
                  <a:srgbClr val="0F1115"/>
                </a:solidFill>
                <a:highlight>
                  <a:srgbClr val="FFFFFF"/>
                </a:highlight>
                <a:latin typeface="Times New Roman"/>
                <a:ea typeface="Times New Roman"/>
                <a:cs typeface="Times New Roman"/>
                <a:sym typeface="Times New Roman"/>
              </a:rPr>
              <a:t> </a:t>
            </a:r>
            <a:r>
              <a:rPr b="1" lang="zh-HK" sz="1200">
                <a:solidFill>
                  <a:srgbClr val="0F1115"/>
                </a:solidFill>
                <a:highlight>
                  <a:srgbClr val="FFFFFF"/>
                </a:highlight>
                <a:latin typeface="Times New Roman"/>
                <a:ea typeface="Times New Roman"/>
                <a:cs typeface="Times New Roman"/>
                <a:sym typeface="Times New Roman"/>
              </a:rPr>
              <a:t>– </a:t>
            </a:r>
            <a:r>
              <a:rPr b="1" lang="zh-HK" sz="1200">
                <a:solidFill>
                  <a:srgbClr val="0F1115"/>
                </a:solidFill>
                <a:highlight>
                  <a:schemeClr val="lt1"/>
                </a:highlight>
                <a:latin typeface="Times New Roman"/>
                <a:ea typeface="Times New Roman"/>
                <a:cs typeface="Times New Roman"/>
                <a:sym typeface="Times New Roman"/>
              </a:rPr>
              <a:t> 護膚及藥妝</a:t>
            </a:r>
            <a:br>
              <a:rPr lang="zh-HK" sz="1200">
                <a:solidFill>
                  <a:srgbClr val="0F1115"/>
                </a:solidFill>
                <a:highlight>
                  <a:srgbClr val="FFFFFF"/>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"Hong Kong girls' skincare" and "Hong Kong drugstore must-buys" are perennially high-traffic topics on XHS, with demand surging during Golden Week as mainland visitors seek skincare and beauty products only available in Hong Kong. Langham Place, home to international beauty brands, offers a one-stop shopping advantage.</a:t>
            </a:r>
            <a:endParaRPr sz="1200">
              <a:solidFill>
                <a:srgbClr val="0F1115"/>
              </a:solidFill>
              <a:highlight>
                <a:srgbClr val="FFFFFF"/>
              </a:highlight>
              <a:latin typeface="Times New Roman"/>
              <a:ea typeface="Times New Roman"/>
              <a:cs typeface="Times New Roman"/>
              <a:sym typeface="Times New Roman"/>
            </a:endParaRPr>
          </a:p>
          <a:p>
            <a:pPr indent="0" lvl="0" marL="0" rtl="0" algn="l">
              <a:lnSpc>
                <a:spcPct val="145454"/>
              </a:lnSpc>
              <a:spcBef>
                <a:spcPts val="2400"/>
              </a:spcBef>
              <a:spcAft>
                <a:spcPts val="1200"/>
              </a:spcAft>
              <a:buNone/>
            </a:pPr>
            <a:r>
              <a:rPr lang="zh-HK" sz="1200">
                <a:solidFill>
                  <a:srgbClr val="0F1115"/>
                </a:solidFill>
                <a:highlight>
                  <a:srgbClr val="FFFFFF"/>
                </a:highlight>
                <a:latin typeface="Times New Roman"/>
                <a:ea typeface="Times New Roman"/>
                <a:cs typeface="Times New Roman"/>
                <a:sym typeface="Times New Roman"/>
              </a:rPr>
              <a:t>We propose a topic, e.g.</a:t>
            </a:r>
            <a:r>
              <a:rPr b="1" lang="zh-HK" sz="1200">
                <a:solidFill>
                  <a:srgbClr val="1155CC"/>
                </a:solidFill>
                <a:latin typeface="Times New Roman"/>
                <a:ea typeface="Times New Roman"/>
                <a:cs typeface="Times New Roman"/>
                <a:sym typeface="Times New Roman"/>
              </a:rPr>
              <a:t>「港女都在买！黄金周护肤品必买清单」</a:t>
            </a:r>
            <a:r>
              <a:rPr lang="zh-HK" sz="1200">
                <a:solidFill>
                  <a:srgbClr val="0F1115"/>
                </a:solidFill>
                <a:latin typeface="Times New Roman"/>
                <a:ea typeface="Times New Roman"/>
                <a:cs typeface="Times New Roman"/>
                <a:sym typeface="Times New Roman"/>
              </a:rPr>
              <a:t>featuring in-mall beauty brands and drugstore favourites, paired with Beauty Festival offers and traveller perks to attract mainland visitors.</a:t>
            </a:r>
            <a:br>
              <a:rPr lang="zh-HK" sz="1200">
                <a:solidFill>
                  <a:srgbClr val="0F1115"/>
                </a:solidFill>
                <a:highlight>
                  <a:srgbClr val="FFFFFF"/>
                </a:highlight>
                <a:latin typeface="Times New Roman"/>
                <a:ea typeface="Times New Roman"/>
                <a:cs typeface="Times New Roman"/>
                <a:sym typeface="Times New Roman"/>
              </a:rPr>
            </a:br>
            <a:br>
              <a:rPr lang="zh-HK" sz="1200">
                <a:solidFill>
                  <a:srgbClr val="0F1115"/>
                </a:solidFill>
                <a:highlight>
                  <a:srgbClr val="FFFFFF"/>
                </a:highlight>
                <a:latin typeface="Times New Roman"/>
                <a:ea typeface="Times New Roman"/>
                <a:cs typeface="Times New Roman"/>
                <a:sym typeface="Times New Roman"/>
              </a:rPr>
            </a:br>
            <a:endParaRPr i="0" sz="1200" u="none" cap="none" strike="noStrike">
              <a:solidFill>
                <a:srgbClr val="0F1115"/>
              </a:solidFill>
              <a:highlight>
                <a:srgbClr val="FFFFFF"/>
              </a:highlight>
              <a:latin typeface="Times New Roman"/>
              <a:ea typeface="Times New Roman"/>
              <a:cs typeface="Times New Roman"/>
              <a:sym typeface="Times New Roman"/>
            </a:endParaRPr>
          </a:p>
        </p:txBody>
      </p:sp>
      <p:sp>
        <p:nvSpPr>
          <p:cNvPr id="571" name="Google Shape;571;g409beac5032_3_221"/>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572" name="Google Shape;572;g409beac5032_3_221"/>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73" name="Google Shape;573;g409beac5032_3_221"/>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574" name="Google Shape;574;g409beac5032_3_221"/>
          <p:cNvPicPr preferRelativeResize="0"/>
          <p:nvPr/>
        </p:nvPicPr>
        <p:blipFill>
          <a:blip r:embed="rId4">
            <a:alphaModFix/>
          </a:blip>
          <a:stretch>
            <a:fillRect/>
          </a:stretch>
        </p:blipFill>
        <p:spPr>
          <a:xfrm>
            <a:off x="5108875" y="803075"/>
            <a:ext cx="1978175" cy="3208895"/>
          </a:xfrm>
          <a:prstGeom prst="rect">
            <a:avLst/>
          </a:prstGeom>
          <a:noFill/>
          <a:ln>
            <a:noFill/>
          </a:ln>
        </p:spPr>
      </p:pic>
      <p:pic>
        <p:nvPicPr>
          <p:cNvPr id="575" name="Google Shape;575;g409beac5032_3_221"/>
          <p:cNvPicPr preferRelativeResize="0"/>
          <p:nvPr/>
        </p:nvPicPr>
        <p:blipFill>
          <a:blip r:embed="rId5">
            <a:alphaModFix/>
          </a:blip>
          <a:stretch>
            <a:fillRect/>
          </a:stretch>
        </p:blipFill>
        <p:spPr>
          <a:xfrm>
            <a:off x="7013425" y="746611"/>
            <a:ext cx="1978176" cy="32842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fa160e2d0d_1_198"/>
          <p:cNvSpPr txBox="1"/>
          <p:nvPr/>
        </p:nvSpPr>
        <p:spPr>
          <a:xfrm>
            <a:off x="396625" y="876700"/>
            <a:ext cx="4282500" cy="2226300"/>
          </a:xfrm>
          <a:prstGeom prst="rect">
            <a:avLst/>
          </a:prstGeom>
          <a:noFill/>
          <a:ln>
            <a:noFill/>
          </a:ln>
        </p:spPr>
        <p:txBody>
          <a:bodyPr anchorCtr="0" anchor="t" bIns="68575" lIns="68575" spcFirstLastPara="1" rIns="68575" wrap="square" tIns="68575">
            <a:spAutoFit/>
          </a:bodyPr>
          <a:lstStyle/>
          <a:p>
            <a:pPr indent="0" lvl="0" marL="0" rtl="0" algn="l">
              <a:lnSpc>
                <a:spcPct val="145454"/>
              </a:lnSpc>
              <a:spcBef>
                <a:spcPts val="2400"/>
              </a:spcBef>
              <a:spcAft>
                <a:spcPts val="1200"/>
              </a:spcAft>
              <a:buNone/>
            </a:pPr>
            <a:r>
              <a:rPr b="1" lang="zh-HK" sz="1300">
                <a:solidFill>
                  <a:srgbClr val="0F1115"/>
                </a:solidFill>
                <a:highlight>
                  <a:srgbClr val="FFFFFF"/>
                </a:highlight>
                <a:latin typeface="Times New Roman"/>
                <a:ea typeface="Times New Roman"/>
                <a:cs typeface="Times New Roman"/>
                <a:sym typeface="Times New Roman"/>
              </a:rPr>
              <a:t>Mooncake Taste Test </a:t>
            </a:r>
            <a:r>
              <a:rPr b="1" lang="zh-HK" sz="1300">
                <a:solidFill>
                  <a:srgbClr val="0F1115"/>
                </a:solidFill>
                <a:highlight>
                  <a:srgbClr val="FFFFFF"/>
                </a:highlight>
                <a:latin typeface="Times New Roman"/>
                <a:ea typeface="Times New Roman"/>
                <a:cs typeface="Times New Roman"/>
                <a:sym typeface="Times New Roman"/>
              </a:rPr>
              <a:t>– </a:t>
            </a:r>
            <a:r>
              <a:rPr b="1" lang="zh-HK" sz="1200">
                <a:solidFill>
                  <a:srgbClr val="0F1115"/>
                </a:solidFill>
                <a:latin typeface="Times New Roman"/>
                <a:ea typeface="Times New Roman"/>
                <a:cs typeface="Times New Roman"/>
                <a:sym typeface="Times New Roman"/>
              </a:rPr>
              <a:t>朗豪坊</a:t>
            </a:r>
            <a:r>
              <a:rPr b="1" lang="zh-HK" sz="1200">
                <a:solidFill>
                  <a:srgbClr val="0F1115"/>
                </a:solidFill>
                <a:highlight>
                  <a:srgbClr val="FFFFFF"/>
                </a:highlight>
                <a:latin typeface="Times New Roman"/>
                <a:ea typeface="Times New Roman"/>
                <a:cs typeface="Times New Roman"/>
                <a:sym typeface="Times New Roman"/>
              </a:rPr>
              <a:t>月餅測評</a:t>
            </a:r>
            <a:br>
              <a:rPr lang="zh-HK" sz="1200">
                <a:solidFill>
                  <a:srgbClr val="0F1115"/>
                </a:solidFill>
                <a:highlight>
                  <a:srgbClr val="FFFFFF"/>
                </a:highlight>
                <a:latin typeface="Times New Roman"/>
                <a:ea typeface="Times New Roman"/>
                <a:cs typeface="Times New Roman"/>
                <a:sym typeface="Times New Roman"/>
              </a:rPr>
            </a:br>
            <a:r>
              <a:rPr lang="zh-HK" sz="1200">
                <a:solidFill>
                  <a:srgbClr val="0F1115"/>
                </a:solidFill>
                <a:highlight>
                  <a:srgbClr val="FFFFFF"/>
                </a:highlight>
                <a:latin typeface="Times New Roman"/>
                <a:ea typeface="Times New Roman"/>
                <a:cs typeface="Times New Roman"/>
                <a:sym typeface="Times New Roman"/>
              </a:rPr>
              <a:t>Langham Place is home to multiple mooncake brands, including Maxim's, Kee Wah, and agnès b. CAFÉ. We can select key brands for seeding and conduct taste tests, covering flavour, texture, packaging, and value, providing consumers with a practical guide for Mid-Autumn Festival gifting and personal enjoyment.</a:t>
            </a:r>
            <a:br>
              <a:rPr lang="zh-HK" sz="1200">
                <a:solidFill>
                  <a:srgbClr val="0F1115"/>
                </a:solidFill>
                <a:highlight>
                  <a:srgbClr val="FFFFFF"/>
                </a:highlight>
                <a:latin typeface="Times New Roman"/>
                <a:ea typeface="Times New Roman"/>
                <a:cs typeface="Times New Roman"/>
                <a:sym typeface="Times New Roman"/>
              </a:rPr>
            </a:br>
            <a:br>
              <a:rPr lang="zh-HK" sz="1200">
                <a:solidFill>
                  <a:srgbClr val="0F1115"/>
                </a:solidFill>
                <a:highlight>
                  <a:srgbClr val="FFFFFF"/>
                </a:highlight>
                <a:latin typeface="Times New Roman"/>
                <a:ea typeface="Times New Roman"/>
                <a:cs typeface="Times New Roman"/>
                <a:sym typeface="Times New Roman"/>
              </a:rPr>
            </a:br>
            <a:endParaRPr i="0" sz="1200" u="none" cap="none" strike="noStrike">
              <a:solidFill>
                <a:srgbClr val="0F1115"/>
              </a:solidFill>
              <a:highlight>
                <a:srgbClr val="FFFFFF"/>
              </a:highlight>
              <a:latin typeface="Times New Roman"/>
              <a:ea typeface="Times New Roman"/>
              <a:cs typeface="Times New Roman"/>
              <a:sym typeface="Times New Roman"/>
            </a:endParaRPr>
          </a:p>
        </p:txBody>
      </p:sp>
      <p:sp>
        <p:nvSpPr>
          <p:cNvPr id="581" name="Google Shape;581;g3fa160e2d0d_1_198"/>
          <p:cNvSpPr txBox="1"/>
          <p:nvPr/>
        </p:nvSpPr>
        <p:spPr>
          <a:xfrm>
            <a:off x="333125" y="136150"/>
            <a:ext cx="58521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Insights &amp; Suggestions</a:t>
            </a:r>
            <a:endParaRPr b="1" i="0" sz="2000" u="none" cap="none" strike="noStrike">
              <a:solidFill>
                <a:schemeClr val="dk1"/>
              </a:solidFill>
              <a:latin typeface="Times New Roman"/>
              <a:ea typeface="Times New Roman"/>
              <a:cs typeface="Times New Roman"/>
              <a:sym typeface="Times New Roman"/>
            </a:endParaRPr>
          </a:p>
        </p:txBody>
      </p:sp>
      <p:sp>
        <p:nvSpPr>
          <p:cNvPr id="582" name="Google Shape;582;g3fa160e2d0d_1_19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83" name="Google Shape;583;g3fa160e2d0d_1_198"/>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pic>
        <p:nvPicPr>
          <p:cNvPr id="584" name="Google Shape;584;g3fa160e2d0d_1_198"/>
          <p:cNvPicPr preferRelativeResize="0"/>
          <p:nvPr/>
        </p:nvPicPr>
        <p:blipFill>
          <a:blip r:embed="rId4">
            <a:alphaModFix/>
          </a:blip>
          <a:stretch>
            <a:fillRect/>
          </a:stretch>
        </p:blipFill>
        <p:spPr>
          <a:xfrm>
            <a:off x="4942425" y="817187"/>
            <a:ext cx="2050650" cy="3509125"/>
          </a:xfrm>
          <a:prstGeom prst="rect">
            <a:avLst/>
          </a:prstGeom>
          <a:noFill/>
          <a:ln>
            <a:noFill/>
          </a:ln>
        </p:spPr>
      </p:pic>
      <p:pic>
        <p:nvPicPr>
          <p:cNvPr id="585" name="Google Shape;585;g3fa160e2d0d_1_198"/>
          <p:cNvPicPr preferRelativeResize="0"/>
          <p:nvPr/>
        </p:nvPicPr>
        <p:blipFill>
          <a:blip r:embed="rId5">
            <a:alphaModFix/>
          </a:blip>
          <a:stretch>
            <a:fillRect/>
          </a:stretch>
        </p:blipFill>
        <p:spPr>
          <a:xfrm>
            <a:off x="6993075" y="817175"/>
            <a:ext cx="1976585" cy="35091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g3f679a2d4e1_0_68"/>
          <p:cNvSpPr txBox="1"/>
          <p:nvPr/>
        </p:nvSpPr>
        <p:spPr>
          <a:xfrm>
            <a:off x="945700" y="254050"/>
            <a:ext cx="4316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KOL Campaign status</a:t>
            </a:r>
            <a:endParaRPr b="1" i="0" sz="2000" u="none" cap="none" strike="noStrike">
              <a:solidFill>
                <a:srgbClr val="000000"/>
              </a:solidFill>
              <a:latin typeface="Arial"/>
              <a:ea typeface="Arial"/>
              <a:cs typeface="Arial"/>
              <a:sym typeface="Arial"/>
            </a:endParaRPr>
          </a:p>
        </p:txBody>
      </p:sp>
      <p:sp>
        <p:nvSpPr>
          <p:cNvPr id="591" name="Google Shape;591;g3f679a2d4e1_0_68"/>
          <p:cNvSpPr txBox="1"/>
          <p:nvPr/>
        </p:nvSpPr>
        <p:spPr>
          <a:xfrm>
            <a:off x="306725" y="862500"/>
            <a:ext cx="8561400" cy="615000"/>
          </a:xfrm>
          <a:prstGeom prst="rect">
            <a:avLst/>
          </a:prstGeom>
          <a:noFill/>
          <a:ln>
            <a:noFill/>
          </a:ln>
        </p:spPr>
        <p:txBody>
          <a:bodyPr anchorCtr="0" anchor="t" bIns="91425" lIns="91425" spcFirstLastPara="1" rIns="91425" wrap="square" tIns="91425">
            <a:spAutoFit/>
          </a:bodyPr>
          <a:lstStyle/>
          <a:p>
            <a:pPr indent="-311150" lvl="0" marL="457200" marR="0" rtl="0" algn="l">
              <a:lnSpc>
                <a:spcPct val="115000"/>
              </a:lnSpc>
              <a:spcBef>
                <a:spcPts val="0"/>
              </a:spcBef>
              <a:spcAft>
                <a:spcPts val="0"/>
              </a:spcAft>
              <a:buClr>
                <a:schemeClr val="dk1"/>
              </a:buClr>
              <a:buSzPts val="1300"/>
              <a:buFont typeface="Times New Roman"/>
              <a:buChar char="●"/>
            </a:pPr>
            <a:r>
              <a:rPr b="0" i="0" lang="zh-HK" sz="1300" u="none" cap="none" strike="noStrike">
                <a:solidFill>
                  <a:srgbClr val="212121"/>
                </a:solidFill>
                <a:highlight>
                  <a:srgbClr val="FFFFFF"/>
                </a:highlight>
                <a:latin typeface="Times New Roman"/>
                <a:ea typeface="Times New Roman"/>
                <a:cs typeface="Times New Roman"/>
                <a:sym typeface="Times New Roman"/>
              </a:rPr>
              <a:t>In chiikawa </a:t>
            </a:r>
            <a:r>
              <a:rPr lang="zh-HK" sz="1300">
                <a:solidFill>
                  <a:srgbClr val="212121"/>
                </a:solidFill>
                <a:highlight>
                  <a:srgbClr val="FFFFFF"/>
                </a:highlight>
                <a:latin typeface="Times New Roman"/>
                <a:ea typeface="Times New Roman"/>
                <a:cs typeface="Times New Roman"/>
                <a:sym typeface="Times New Roman"/>
              </a:rPr>
              <a:t>phase 2 </a:t>
            </a:r>
            <a:r>
              <a:rPr b="0" i="0" lang="zh-HK" sz="1300" u="none" cap="none" strike="noStrike">
                <a:solidFill>
                  <a:srgbClr val="212121"/>
                </a:solidFill>
                <a:highlight>
                  <a:srgbClr val="FFFFFF"/>
                </a:highlight>
                <a:latin typeface="Times New Roman"/>
                <a:ea typeface="Times New Roman"/>
                <a:cs typeface="Times New Roman"/>
                <a:sym typeface="Times New Roman"/>
              </a:rPr>
              <a:t>campaign, we invited </a:t>
            </a:r>
            <a:r>
              <a:rPr lang="zh-HK" sz="1300">
                <a:solidFill>
                  <a:srgbClr val="212121"/>
                </a:solidFill>
                <a:highlight>
                  <a:srgbClr val="FFFFFF"/>
                </a:highlight>
                <a:latin typeface="Times New Roman"/>
                <a:ea typeface="Times New Roman"/>
                <a:cs typeface="Times New Roman"/>
                <a:sym typeface="Times New Roman"/>
              </a:rPr>
              <a:t>7</a:t>
            </a:r>
            <a:r>
              <a:rPr b="0" i="0" lang="zh-HK" sz="1300" u="none" cap="none" strike="noStrike">
                <a:solidFill>
                  <a:srgbClr val="212121"/>
                </a:solidFill>
                <a:highlight>
                  <a:srgbClr val="FFFFFF"/>
                </a:highlight>
                <a:latin typeface="Times New Roman"/>
                <a:ea typeface="Times New Roman"/>
                <a:cs typeface="Times New Roman"/>
                <a:sym typeface="Times New Roman"/>
              </a:rPr>
              <a:t> x KOCs and </a:t>
            </a:r>
            <a:r>
              <a:rPr lang="zh-HK" sz="1300">
                <a:solidFill>
                  <a:srgbClr val="212121"/>
                </a:solidFill>
                <a:highlight>
                  <a:srgbClr val="FFFFFF"/>
                </a:highlight>
                <a:latin typeface="Times New Roman"/>
                <a:ea typeface="Times New Roman"/>
                <a:cs typeface="Times New Roman"/>
                <a:sym typeface="Times New Roman"/>
              </a:rPr>
              <a:t>6</a:t>
            </a:r>
            <a:r>
              <a:rPr b="0" i="0" lang="zh-HK" sz="1300" u="none" cap="none" strike="noStrike">
                <a:solidFill>
                  <a:srgbClr val="212121"/>
                </a:solidFill>
                <a:highlight>
                  <a:srgbClr val="FFFFFF"/>
                </a:highlight>
                <a:latin typeface="Times New Roman"/>
                <a:ea typeface="Times New Roman"/>
                <a:cs typeface="Times New Roman"/>
                <a:sym typeface="Times New Roman"/>
              </a:rPr>
              <a:t> x Seedings to create total of </a:t>
            </a:r>
            <a:r>
              <a:rPr lang="zh-HK" sz="1300">
                <a:solidFill>
                  <a:srgbClr val="212121"/>
                </a:solidFill>
                <a:highlight>
                  <a:srgbClr val="FFFFFF"/>
                </a:highlight>
                <a:latin typeface="Times New Roman"/>
                <a:ea typeface="Times New Roman"/>
                <a:cs typeface="Times New Roman"/>
                <a:sym typeface="Times New Roman"/>
              </a:rPr>
              <a:t>19</a:t>
            </a:r>
            <a:r>
              <a:rPr b="0" i="0" lang="zh-HK" sz="1300" u="none" cap="none" strike="noStrike">
                <a:solidFill>
                  <a:srgbClr val="212121"/>
                </a:solidFill>
                <a:highlight>
                  <a:srgbClr val="FFFFFF"/>
                </a:highlight>
                <a:latin typeface="Times New Roman"/>
                <a:ea typeface="Times New Roman"/>
                <a:cs typeface="Times New Roman"/>
                <a:sym typeface="Times New Roman"/>
              </a:rPr>
              <a:t> posts.</a:t>
            </a:r>
            <a:endParaRPr b="0" i="0" sz="1300" u="none" cap="none" strike="noStrike">
              <a:solidFill>
                <a:srgbClr val="212121"/>
              </a:solidFill>
              <a:highlight>
                <a:srgbClr val="FFFFFF"/>
              </a:highlight>
              <a:latin typeface="Times New Roman"/>
              <a:ea typeface="Times New Roman"/>
              <a:cs typeface="Times New Roman"/>
              <a:sym typeface="Times New Roman"/>
            </a:endParaRPr>
          </a:p>
          <a:p>
            <a:pPr indent="-311150" lvl="0" marL="457200" marR="0" rtl="0" algn="l">
              <a:lnSpc>
                <a:spcPct val="115000"/>
              </a:lnSpc>
              <a:spcBef>
                <a:spcPts val="0"/>
              </a:spcBef>
              <a:spcAft>
                <a:spcPts val="0"/>
              </a:spcAft>
              <a:buClr>
                <a:schemeClr val="dk1"/>
              </a:buClr>
              <a:buSzPts val="1300"/>
              <a:buFont typeface="Times New Roman"/>
              <a:buChar char="●"/>
            </a:pPr>
            <a:r>
              <a:rPr b="0" i="0" lang="zh-HK" sz="1300" u="none" cap="none" strike="noStrike">
                <a:solidFill>
                  <a:srgbClr val="212121"/>
                </a:solidFill>
                <a:highlight>
                  <a:schemeClr val="lt1"/>
                </a:highlight>
                <a:latin typeface="Times New Roman"/>
                <a:ea typeface="Times New Roman"/>
                <a:cs typeface="Times New Roman"/>
                <a:sym typeface="Times New Roman"/>
              </a:rPr>
              <a:t>Until now, KOL campaign gained</a:t>
            </a:r>
            <a:r>
              <a:rPr b="1" i="0" lang="zh-HK" sz="1300" u="none" cap="none" strike="noStrike">
                <a:solidFill>
                  <a:srgbClr val="212121"/>
                </a:solidFill>
                <a:highlight>
                  <a:schemeClr val="lt1"/>
                </a:highlight>
                <a:latin typeface="Times New Roman"/>
                <a:ea typeface="Times New Roman"/>
                <a:cs typeface="Times New Roman"/>
                <a:sym typeface="Times New Roman"/>
              </a:rPr>
              <a:t> </a:t>
            </a:r>
            <a:r>
              <a:rPr b="1" lang="zh-HK" sz="1300">
                <a:solidFill>
                  <a:srgbClr val="212121"/>
                </a:solidFill>
                <a:highlight>
                  <a:schemeClr val="lt1"/>
                </a:highlight>
                <a:latin typeface="Times New Roman"/>
                <a:ea typeface="Times New Roman"/>
                <a:cs typeface="Times New Roman"/>
                <a:sym typeface="Times New Roman"/>
              </a:rPr>
              <a:t>110K</a:t>
            </a:r>
            <a:r>
              <a:rPr b="1" i="0" lang="zh-HK" sz="1300" u="none" cap="none" strike="noStrike">
                <a:solidFill>
                  <a:srgbClr val="212121"/>
                </a:solidFill>
                <a:highlight>
                  <a:schemeClr val="lt1"/>
                </a:highlight>
                <a:latin typeface="Times New Roman"/>
                <a:ea typeface="Times New Roman"/>
                <a:cs typeface="Times New Roman"/>
                <a:sym typeface="Times New Roman"/>
              </a:rPr>
              <a:t>+ views,  </a:t>
            </a:r>
            <a:r>
              <a:rPr b="1" lang="zh-HK" sz="1300">
                <a:solidFill>
                  <a:srgbClr val="212121"/>
                </a:solidFill>
                <a:highlight>
                  <a:schemeClr val="lt1"/>
                </a:highlight>
                <a:latin typeface="Times New Roman"/>
                <a:ea typeface="Times New Roman"/>
                <a:cs typeface="Times New Roman"/>
                <a:sym typeface="Times New Roman"/>
              </a:rPr>
              <a:t>5.3K</a:t>
            </a:r>
            <a:r>
              <a:rPr b="1" i="0" lang="zh-HK" sz="1300" u="none" cap="none" strike="noStrike">
                <a:solidFill>
                  <a:srgbClr val="212121"/>
                </a:solidFill>
                <a:highlight>
                  <a:schemeClr val="lt1"/>
                </a:highlight>
                <a:latin typeface="Times New Roman"/>
                <a:ea typeface="Times New Roman"/>
                <a:cs typeface="Times New Roman"/>
                <a:sym typeface="Times New Roman"/>
              </a:rPr>
              <a:t>+ engagements </a:t>
            </a:r>
            <a:r>
              <a:rPr b="0" i="0" lang="zh-HK" sz="1300" u="none" cap="none" strike="noStrike">
                <a:solidFill>
                  <a:srgbClr val="212121"/>
                </a:solidFill>
                <a:highlight>
                  <a:schemeClr val="lt1"/>
                </a:highlight>
                <a:latin typeface="Times New Roman"/>
                <a:ea typeface="Times New Roman"/>
                <a:cs typeface="Times New Roman"/>
                <a:sym typeface="Times New Roman"/>
              </a:rPr>
              <a:t>and</a:t>
            </a:r>
            <a:r>
              <a:rPr b="1" i="0" lang="zh-HK" sz="1300" u="none" cap="none" strike="noStrike">
                <a:solidFill>
                  <a:srgbClr val="212121"/>
                </a:solidFill>
                <a:highlight>
                  <a:schemeClr val="lt1"/>
                </a:highlight>
                <a:latin typeface="Times New Roman"/>
                <a:ea typeface="Times New Roman"/>
                <a:cs typeface="Times New Roman"/>
                <a:sym typeface="Times New Roman"/>
              </a:rPr>
              <a:t> </a:t>
            </a:r>
            <a:r>
              <a:rPr b="1" lang="zh-HK" sz="1300">
                <a:solidFill>
                  <a:srgbClr val="212121"/>
                </a:solidFill>
                <a:highlight>
                  <a:schemeClr val="lt1"/>
                </a:highlight>
                <a:latin typeface="Times New Roman"/>
                <a:ea typeface="Times New Roman"/>
                <a:cs typeface="Times New Roman"/>
                <a:sym typeface="Times New Roman"/>
              </a:rPr>
              <a:t>4.85</a:t>
            </a:r>
            <a:r>
              <a:rPr b="1" i="0" lang="zh-HK" sz="1300" u="none" cap="none" strike="noStrike">
                <a:solidFill>
                  <a:srgbClr val="212121"/>
                </a:solidFill>
                <a:highlight>
                  <a:schemeClr val="lt1"/>
                </a:highlight>
                <a:latin typeface="Times New Roman"/>
                <a:ea typeface="Times New Roman"/>
                <a:cs typeface="Times New Roman"/>
                <a:sym typeface="Times New Roman"/>
              </a:rPr>
              <a:t>% engagement rate</a:t>
            </a:r>
            <a:r>
              <a:rPr b="0" i="0" lang="zh-HK" sz="1300" u="none" cap="none" strike="noStrike">
                <a:solidFill>
                  <a:srgbClr val="212121"/>
                </a:solidFill>
                <a:highlight>
                  <a:schemeClr val="lt1"/>
                </a:highlight>
                <a:latin typeface="Times New Roman"/>
                <a:ea typeface="Times New Roman"/>
                <a:cs typeface="Times New Roman"/>
                <a:sym typeface="Times New Roman"/>
              </a:rPr>
              <a:t>. </a:t>
            </a:r>
            <a:endParaRPr b="0" i="0" sz="1300" u="none" cap="none" strike="noStrike">
              <a:solidFill>
                <a:srgbClr val="212121"/>
              </a:solidFill>
              <a:highlight>
                <a:srgbClr val="FFFFFF"/>
              </a:highlight>
              <a:latin typeface="Times New Roman"/>
              <a:ea typeface="Times New Roman"/>
              <a:cs typeface="Times New Roman"/>
              <a:sym typeface="Times New Roman"/>
            </a:endParaRPr>
          </a:p>
        </p:txBody>
      </p:sp>
      <p:pic>
        <p:nvPicPr>
          <p:cNvPr id="592" name="Google Shape;592;g3f679a2d4e1_0_68"/>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593" name="Google Shape;593;g3f679a2d4e1_0_6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594" name="Google Shape;594;g3f679a2d4e1_0_6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595" name="Google Shape;595;g3f679a2d4e1_0_68"/>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596" name="Google Shape;596;g3f679a2d4e1_0_68"/>
          <p:cNvSpPr/>
          <p:nvPr/>
        </p:nvSpPr>
        <p:spPr>
          <a:xfrm>
            <a:off x="296250" y="2376687"/>
            <a:ext cx="1613700" cy="16137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No.of KO</a:t>
            </a:r>
            <a:r>
              <a:rPr b="1" lang="zh-HK" sz="1215"/>
              <a:t>C</a:t>
            </a:r>
            <a:r>
              <a:rPr b="1" i="0" lang="zh-HK" sz="1215" u="none" cap="none" strike="noStrike">
                <a:solidFill>
                  <a:srgbClr val="000000"/>
                </a:solidFill>
                <a:latin typeface="Arial"/>
                <a:ea typeface="Arial"/>
                <a:cs typeface="Arial"/>
                <a:sym typeface="Arial"/>
              </a:rPr>
              <a:t>: </a:t>
            </a:r>
            <a:r>
              <a:rPr lang="zh-HK" sz="1215"/>
              <a:t>7</a:t>
            </a:r>
            <a:endParaRPr b="0"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388"/>
              <a:buFont typeface="Arial"/>
              <a:buNone/>
            </a:pPr>
            <a:r>
              <a:t/>
            </a:r>
            <a:endParaRPr b="0" i="0" sz="1388" u="none" cap="none" strike="noStrike">
              <a:solidFill>
                <a:srgbClr val="000000"/>
              </a:solidFill>
              <a:latin typeface="Arial"/>
              <a:ea typeface="Arial"/>
              <a:cs typeface="Arial"/>
              <a:sym typeface="Arial"/>
            </a:endParaRPr>
          </a:p>
        </p:txBody>
      </p:sp>
      <p:sp>
        <p:nvSpPr>
          <p:cNvPr id="597" name="Google Shape;597;g3f679a2d4e1_0_68"/>
          <p:cNvSpPr/>
          <p:nvPr/>
        </p:nvSpPr>
        <p:spPr>
          <a:xfrm>
            <a:off x="2020198" y="2376694"/>
            <a:ext cx="1613700" cy="16137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No.of Posts:</a:t>
            </a:r>
            <a:endParaRPr b="0"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54"/>
              <a:buFont typeface="Arial"/>
              <a:buNone/>
            </a:pPr>
            <a:r>
              <a:rPr b="0" i="0" lang="zh-HK" sz="1215" u="none" cap="none" strike="noStrike">
                <a:solidFill>
                  <a:srgbClr val="000000"/>
                </a:solidFill>
                <a:latin typeface="Arial"/>
                <a:ea typeface="Arial"/>
                <a:cs typeface="Arial"/>
                <a:sym typeface="Arial"/>
              </a:rPr>
              <a:t>1</a:t>
            </a:r>
            <a:r>
              <a:rPr lang="zh-HK" sz="1215"/>
              <a:t>9</a:t>
            </a:r>
            <a:r>
              <a:rPr b="0" i="0" lang="zh-HK" sz="1215" u="none" cap="none" strike="noStrike">
                <a:solidFill>
                  <a:srgbClr val="000000"/>
                </a:solidFill>
                <a:latin typeface="Arial"/>
                <a:ea typeface="Arial"/>
                <a:cs typeface="Arial"/>
                <a:sym typeface="Arial"/>
              </a:rPr>
              <a:t> Videos</a:t>
            </a:r>
            <a:endParaRPr b="0" i="0" sz="1215"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954"/>
              <a:buFont typeface="Arial"/>
              <a:buNone/>
            </a:pPr>
            <a:r>
              <a:t/>
            </a:r>
            <a:endParaRPr b="0" i="0" sz="954" u="none" cap="none" strike="noStrike">
              <a:solidFill>
                <a:srgbClr val="000000"/>
              </a:solidFill>
              <a:latin typeface="Arial"/>
              <a:ea typeface="Arial"/>
              <a:cs typeface="Arial"/>
              <a:sym typeface="Arial"/>
            </a:endParaRPr>
          </a:p>
        </p:txBody>
      </p:sp>
      <p:sp>
        <p:nvSpPr>
          <p:cNvPr id="598" name="Google Shape;598;g3f679a2d4e1_0_68"/>
          <p:cNvSpPr/>
          <p:nvPr/>
        </p:nvSpPr>
        <p:spPr>
          <a:xfrm>
            <a:off x="3744156" y="2348061"/>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Views:</a:t>
            </a:r>
            <a:endParaRPr b="1" i="0" sz="1215"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15"/>
              <a:buFont typeface="Arial"/>
              <a:buNone/>
            </a:pPr>
            <a:r>
              <a:rPr lang="zh-HK" sz="1215"/>
              <a:t>110,219</a:t>
            </a:r>
            <a:endParaRPr b="0" i="0" sz="1215" u="none" cap="none" strike="noStrike">
              <a:solidFill>
                <a:srgbClr val="000000"/>
              </a:solidFill>
              <a:latin typeface="Arial"/>
              <a:ea typeface="Arial"/>
              <a:cs typeface="Arial"/>
              <a:sym typeface="Arial"/>
            </a:endParaRPr>
          </a:p>
        </p:txBody>
      </p:sp>
      <p:sp>
        <p:nvSpPr>
          <p:cNvPr id="599" name="Google Shape;599;g3f679a2d4e1_0_68"/>
          <p:cNvSpPr/>
          <p:nvPr/>
        </p:nvSpPr>
        <p:spPr>
          <a:xfrm>
            <a:off x="5474843" y="2362376"/>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Total Engagement:</a:t>
            </a:r>
            <a:endParaRPr b="1" i="0" sz="1215" u="none" cap="none" strike="noStrike">
              <a:solidFill>
                <a:srgbClr val="00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215"/>
              <a:buFont typeface="Arial"/>
              <a:buNone/>
            </a:pPr>
            <a:r>
              <a:rPr lang="zh-HK" sz="1215"/>
              <a:t>5,350</a:t>
            </a:r>
            <a:endParaRPr b="0" i="0" sz="1215" u="none" cap="none" strike="noStrike">
              <a:solidFill>
                <a:srgbClr val="000000"/>
              </a:solidFill>
              <a:latin typeface="Arial"/>
              <a:ea typeface="Arial"/>
              <a:cs typeface="Arial"/>
              <a:sym typeface="Arial"/>
            </a:endParaRPr>
          </a:p>
        </p:txBody>
      </p:sp>
      <p:sp>
        <p:nvSpPr>
          <p:cNvPr id="600" name="Google Shape;600;g3f679a2d4e1_0_68"/>
          <p:cNvSpPr/>
          <p:nvPr/>
        </p:nvSpPr>
        <p:spPr>
          <a:xfrm>
            <a:off x="7205543" y="2333876"/>
            <a:ext cx="1642200" cy="1642200"/>
          </a:xfrm>
          <a:prstGeom prst="ellipse">
            <a:avLst/>
          </a:prstGeom>
          <a:solidFill>
            <a:srgbClr val="F4CCCC"/>
          </a:solidFill>
          <a:ln cap="flat" cmpd="sng" w="9525">
            <a:solidFill>
              <a:srgbClr val="000000"/>
            </a:solidFill>
            <a:prstDash val="solid"/>
            <a:round/>
            <a:headEnd len="sm" w="sm" type="none"/>
            <a:tailEnd len="sm" w="sm" type="none"/>
          </a:ln>
        </p:spPr>
        <p:txBody>
          <a:bodyPr anchorCtr="0" anchor="ctr" bIns="79325" lIns="79325" spcFirstLastPara="1" rIns="79325" wrap="square" tIns="79325">
            <a:noAutofit/>
          </a:bodyPr>
          <a:lstStyle/>
          <a:p>
            <a:pPr indent="0" lvl="0" marL="0" marR="0" rtl="0" algn="ctr">
              <a:lnSpc>
                <a:spcPct val="100000"/>
              </a:lnSpc>
              <a:spcBef>
                <a:spcPts val="0"/>
              </a:spcBef>
              <a:spcAft>
                <a:spcPts val="0"/>
              </a:spcAft>
              <a:buClr>
                <a:srgbClr val="000000"/>
              </a:buClr>
              <a:buSzPts val="1215"/>
              <a:buFont typeface="Arial"/>
              <a:buNone/>
            </a:pPr>
            <a:r>
              <a:rPr b="1" i="0" lang="zh-HK" sz="1215" u="none" cap="none" strike="noStrike">
                <a:solidFill>
                  <a:srgbClr val="000000"/>
                </a:solidFill>
                <a:latin typeface="Arial"/>
                <a:ea typeface="Arial"/>
                <a:cs typeface="Arial"/>
                <a:sym typeface="Arial"/>
              </a:rPr>
              <a:t>Engagement Rate: </a:t>
            </a:r>
            <a:r>
              <a:rPr lang="zh-HK" sz="1215"/>
              <a:t>4.85</a:t>
            </a:r>
            <a:r>
              <a:rPr b="0" i="0" lang="zh-HK" sz="1215" u="none" cap="none" strike="noStrike">
                <a:solidFill>
                  <a:srgbClr val="000000"/>
                </a:solidFill>
                <a:latin typeface="Arial"/>
                <a:ea typeface="Arial"/>
                <a:cs typeface="Arial"/>
                <a:sym typeface="Arial"/>
              </a:rPr>
              <a:t>%</a:t>
            </a:r>
            <a:endParaRPr b="0" i="0" sz="1215" u="none" cap="none" strike="noStrike">
              <a:solidFill>
                <a:srgbClr val="000000"/>
              </a:solidFill>
              <a:latin typeface="Arial"/>
              <a:ea typeface="Arial"/>
              <a:cs typeface="Arial"/>
              <a:sym typeface="Arial"/>
            </a:endParaRPr>
          </a:p>
        </p:txBody>
      </p:sp>
      <p:sp>
        <p:nvSpPr>
          <p:cNvPr id="601" name="Google Shape;601;g3f679a2d4e1_0_68"/>
          <p:cNvSpPr txBox="1"/>
          <p:nvPr/>
        </p:nvSpPr>
        <p:spPr>
          <a:xfrm>
            <a:off x="7265175" y="48942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Sep</a:t>
            </a:r>
            <a:r>
              <a:rPr b="0" i="0" lang="zh-HK" sz="1000" u="none" cap="none" strike="noStrike">
                <a:solidFill>
                  <a:schemeClr val="dk2"/>
                </a:solidFill>
                <a:latin typeface="Arial"/>
                <a:ea typeface="Arial"/>
                <a:cs typeface="Arial"/>
                <a:sym typeface="Arial"/>
              </a:rPr>
              <a:t> 3</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f679a2d4e1_0_140"/>
          <p:cNvSpPr txBox="1"/>
          <p:nvPr/>
        </p:nvSpPr>
        <p:spPr>
          <a:xfrm>
            <a:off x="945700" y="254050"/>
            <a:ext cx="43167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KOL Campaign Summary</a:t>
            </a:r>
            <a:endParaRPr b="1" i="0" sz="2000" u="none" cap="none" strike="noStrike">
              <a:solidFill>
                <a:srgbClr val="000000"/>
              </a:solidFill>
              <a:latin typeface="Arial"/>
              <a:ea typeface="Arial"/>
              <a:cs typeface="Arial"/>
              <a:sym typeface="Arial"/>
            </a:endParaRPr>
          </a:p>
        </p:txBody>
      </p:sp>
      <p:sp>
        <p:nvSpPr>
          <p:cNvPr id="607" name="Google Shape;607;g3f679a2d4e1_0_140"/>
          <p:cNvSpPr txBox="1"/>
          <p:nvPr/>
        </p:nvSpPr>
        <p:spPr>
          <a:xfrm>
            <a:off x="351175" y="3254948"/>
            <a:ext cx="8561400" cy="16440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115000"/>
              </a:lnSpc>
              <a:spcBef>
                <a:spcPts val="0"/>
              </a:spcBef>
              <a:spcAft>
                <a:spcPts val="0"/>
              </a:spcAft>
              <a:buClr>
                <a:srgbClr val="EC1C6B"/>
              </a:buClr>
              <a:buSzPts val="1200"/>
              <a:buFont typeface="Times New Roman"/>
              <a:buChar char="●"/>
            </a:pPr>
            <a:r>
              <a:rPr lang="zh-HK" sz="1200">
                <a:solidFill>
                  <a:srgbClr val="212121"/>
                </a:solidFill>
                <a:highlight>
                  <a:srgbClr val="FFFFFF"/>
                </a:highlight>
                <a:latin typeface="Times New Roman"/>
                <a:ea typeface="Times New Roman"/>
                <a:cs typeface="Times New Roman"/>
                <a:sym typeface="Times New Roman"/>
              </a:rPr>
              <a:t>In Aug, we engaged</a:t>
            </a:r>
            <a:r>
              <a:rPr b="1" lang="zh-HK" sz="1200">
                <a:solidFill>
                  <a:srgbClr val="212121"/>
                </a:solidFill>
                <a:highlight>
                  <a:srgbClr val="FFFFFF"/>
                </a:highlight>
                <a:latin typeface="Times New Roman"/>
                <a:ea typeface="Times New Roman"/>
                <a:cs typeface="Times New Roman"/>
                <a:sym typeface="Times New Roman"/>
              </a:rPr>
              <a:t> 1 KOL </a:t>
            </a:r>
            <a:r>
              <a:rPr lang="zh-HK" sz="1200">
                <a:solidFill>
                  <a:srgbClr val="212121"/>
                </a:solidFill>
                <a:highlight>
                  <a:srgbClr val="FFFFFF"/>
                </a:highlight>
                <a:latin typeface="Times New Roman"/>
                <a:ea typeface="Times New Roman"/>
                <a:cs typeface="Times New Roman"/>
                <a:sym typeface="Times New Roman"/>
              </a:rPr>
              <a:t>for the </a:t>
            </a:r>
            <a:r>
              <a:rPr b="1" lang="zh-HK" sz="1200">
                <a:solidFill>
                  <a:srgbClr val="212121"/>
                </a:solidFill>
                <a:highlight>
                  <a:srgbClr val="FFFFFF"/>
                </a:highlight>
                <a:latin typeface="Times New Roman"/>
                <a:ea typeface="Times New Roman"/>
                <a:cs typeface="Times New Roman"/>
                <a:sym typeface="Times New Roman"/>
              </a:rPr>
              <a:t>Chiikawa</a:t>
            </a:r>
            <a:r>
              <a:rPr lang="zh-HK" sz="1200">
                <a:solidFill>
                  <a:srgbClr val="212121"/>
                </a:solidFill>
                <a:highlight>
                  <a:srgbClr val="FFFFFF"/>
                </a:highlight>
                <a:latin typeface="Times New Roman"/>
                <a:ea typeface="Times New Roman"/>
                <a:cs typeface="Times New Roman"/>
                <a:sym typeface="Times New Roman"/>
              </a:rPr>
              <a:t> campaign. </a:t>
            </a:r>
            <a:r>
              <a:rPr b="1" lang="zh-HK" sz="1200">
                <a:solidFill>
                  <a:srgbClr val="212121"/>
                </a:solidFill>
                <a:highlight>
                  <a:srgbClr val="FFFFFF"/>
                </a:highlight>
                <a:latin typeface="Times New Roman"/>
                <a:ea typeface="Times New Roman"/>
                <a:cs typeface="Times New Roman"/>
                <a:sym typeface="Times New Roman"/>
              </a:rPr>
              <a:t>Average views</a:t>
            </a:r>
            <a:r>
              <a:rPr lang="zh-HK" sz="1200">
                <a:solidFill>
                  <a:srgbClr val="212121"/>
                </a:solidFill>
                <a:highlight>
                  <a:srgbClr val="FFFFFF"/>
                </a:highlight>
                <a:latin typeface="Times New Roman"/>
                <a:ea typeface="Times New Roman"/>
                <a:cs typeface="Times New Roman"/>
                <a:sym typeface="Times New Roman"/>
              </a:rPr>
              <a:t> reached </a:t>
            </a:r>
            <a:r>
              <a:rPr b="1" lang="zh-HK" sz="1200">
                <a:solidFill>
                  <a:srgbClr val="212121"/>
                </a:solidFill>
                <a:highlight>
                  <a:srgbClr val="FFFFFF"/>
                </a:highlight>
                <a:latin typeface="Times New Roman"/>
                <a:ea typeface="Times New Roman"/>
                <a:cs typeface="Times New Roman"/>
                <a:sym typeface="Times New Roman"/>
              </a:rPr>
              <a:t>5,801</a:t>
            </a:r>
            <a:r>
              <a:rPr lang="zh-HK" sz="1200">
                <a:solidFill>
                  <a:srgbClr val="212121"/>
                </a:solidFill>
                <a:highlight>
                  <a:srgbClr val="FFFFFF"/>
                </a:highlight>
                <a:latin typeface="Times New Roman"/>
                <a:ea typeface="Times New Roman"/>
                <a:cs typeface="Times New Roman"/>
                <a:sym typeface="Times New Roman"/>
              </a:rPr>
              <a:t>, representing a modest </a:t>
            </a:r>
            <a:r>
              <a:rPr b="1" lang="zh-HK" sz="1200">
                <a:solidFill>
                  <a:srgbClr val="212121"/>
                </a:solidFill>
                <a:highlight>
                  <a:srgbClr val="FFFFFF"/>
                </a:highlight>
                <a:latin typeface="Times New Roman"/>
                <a:ea typeface="Times New Roman"/>
                <a:cs typeface="Times New Roman"/>
                <a:sym typeface="Times New Roman"/>
              </a:rPr>
              <a:t>4.9% </a:t>
            </a:r>
            <a:r>
              <a:rPr lang="zh-HK" sz="1200">
                <a:solidFill>
                  <a:srgbClr val="212121"/>
                </a:solidFill>
                <a:highlight>
                  <a:srgbClr val="FFFFFF"/>
                </a:highlight>
                <a:latin typeface="Times New Roman"/>
                <a:ea typeface="Times New Roman"/>
                <a:cs typeface="Times New Roman"/>
                <a:sym typeface="Times New Roman"/>
              </a:rPr>
              <a:t> MoM increase from Jul (5,531).</a:t>
            </a:r>
            <a:endParaRPr b="0" i="0" sz="1200" u="none" cap="none" strike="noStrike">
              <a:solidFill>
                <a:srgbClr val="212121"/>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Clr>
                <a:srgbClr val="EC1C6B"/>
              </a:buClr>
              <a:buSzPts val="1200"/>
              <a:buFont typeface="Times New Roman"/>
              <a:buChar char="●"/>
            </a:pPr>
            <a:r>
              <a:rPr lang="zh-HK" sz="1200">
                <a:solidFill>
                  <a:srgbClr val="212121"/>
                </a:solidFill>
                <a:highlight>
                  <a:srgbClr val="FFFFFF"/>
                </a:highlight>
                <a:latin typeface="Times New Roman"/>
                <a:ea typeface="Times New Roman"/>
                <a:cs typeface="Times New Roman"/>
                <a:sym typeface="Times New Roman"/>
              </a:rPr>
              <a:t>Aug saw reduced content output, with posts falling from </a:t>
            </a:r>
            <a:r>
              <a:rPr b="1" lang="zh-HK" sz="1200">
                <a:solidFill>
                  <a:srgbClr val="212121"/>
                </a:solidFill>
                <a:highlight>
                  <a:srgbClr val="FFFFFF"/>
                </a:highlight>
                <a:latin typeface="Times New Roman"/>
                <a:ea typeface="Times New Roman"/>
                <a:cs typeface="Times New Roman"/>
                <a:sym typeface="Times New Roman"/>
              </a:rPr>
              <a:t>28 (Jul)</a:t>
            </a:r>
            <a:r>
              <a:rPr lang="zh-HK" sz="1200">
                <a:solidFill>
                  <a:srgbClr val="212121"/>
                </a:solidFill>
                <a:highlight>
                  <a:srgbClr val="FFFFFF"/>
                </a:highlight>
                <a:latin typeface="Times New Roman"/>
                <a:ea typeface="Times New Roman"/>
                <a:cs typeface="Times New Roman"/>
                <a:sym typeface="Times New Roman"/>
              </a:rPr>
              <a:t> to </a:t>
            </a:r>
            <a:r>
              <a:rPr b="1" lang="zh-HK" sz="1200">
                <a:solidFill>
                  <a:srgbClr val="212121"/>
                </a:solidFill>
                <a:highlight>
                  <a:srgbClr val="FFFFFF"/>
                </a:highlight>
                <a:latin typeface="Times New Roman"/>
                <a:ea typeface="Times New Roman"/>
                <a:cs typeface="Times New Roman"/>
                <a:sym typeface="Times New Roman"/>
              </a:rPr>
              <a:t>19</a:t>
            </a:r>
            <a:r>
              <a:rPr lang="zh-HK" sz="1200">
                <a:solidFill>
                  <a:srgbClr val="212121"/>
                </a:solidFill>
                <a:highlight>
                  <a:srgbClr val="FFFFFF"/>
                </a:highlight>
                <a:latin typeface="Times New Roman"/>
                <a:ea typeface="Times New Roman"/>
                <a:cs typeface="Times New Roman"/>
                <a:sym typeface="Times New Roman"/>
              </a:rPr>
              <a:t>. For Chiikawa Campaign Phase 2, priorities tilted toward </a:t>
            </a:r>
            <a:r>
              <a:rPr b="1" lang="zh-HK" sz="1200">
                <a:solidFill>
                  <a:srgbClr val="212121"/>
                </a:solidFill>
                <a:highlight>
                  <a:srgbClr val="FFFFFF"/>
                </a:highlight>
                <a:latin typeface="Times New Roman"/>
                <a:ea typeface="Times New Roman"/>
                <a:cs typeface="Times New Roman"/>
                <a:sym typeface="Times New Roman"/>
              </a:rPr>
              <a:t>Chiikawa‑movie promotion</a:t>
            </a:r>
            <a:r>
              <a:rPr lang="zh-HK" sz="1200">
                <a:solidFill>
                  <a:srgbClr val="212121"/>
                </a:solidFill>
                <a:highlight>
                  <a:srgbClr val="FFFFFF"/>
                </a:highlight>
                <a:latin typeface="Times New Roman"/>
                <a:ea typeface="Times New Roman"/>
                <a:cs typeface="Times New Roman"/>
                <a:sym typeface="Times New Roman"/>
              </a:rPr>
              <a:t> and </a:t>
            </a:r>
            <a:r>
              <a:rPr b="1" lang="zh-HK" sz="1200">
                <a:solidFill>
                  <a:srgbClr val="212121"/>
                </a:solidFill>
                <a:highlight>
                  <a:srgbClr val="FFFFFF"/>
                </a:highlight>
                <a:latin typeface="Times New Roman"/>
                <a:ea typeface="Times New Roman"/>
                <a:cs typeface="Times New Roman"/>
                <a:sym typeface="Times New Roman"/>
              </a:rPr>
              <a:t>general Langham Place branding</a:t>
            </a:r>
            <a:r>
              <a:rPr lang="zh-HK" sz="1200">
                <a:solidFill>
                  <a:srgbClr val="212121"/>
                </a:solidFill>
                <a:highlight>
                  <a:srgbClr val="FFFFFF"/>
                </a:highlight>
                <a:latin typeface="Times New Roman"/>
                <a:ea typeface="Times New Roman"/>
                <a:cs typeface="Times New Roman"/>
                <a:sym typeface="Times New Roman"/>
              </a:rPr>
              <a:t>. The engagement rate eased from </a:t>
            </a:r>
            <a:r>
              <a:rPr b="1" lang="zh-HK" sz="1200">
                <a:solidFill>
                  <a:srgbClr val="212121"/>
                </a:solidFill>
                <a:highlight>
                  <a:srgbClr val="FFFFFF"/>
                </a:highlight>
                <a:latin typeface="Times New Roman"/>
                <a:ea typeface="Times New Roman"/>
                <a:cs typeface="Times New Roman"/>
                <a:sym typeface="Times New Roman"/>
              </a:rPr>
              <a:t>7.89%</a:t>
            </a:r>
            <a:r>
              <a:rPr lang="zh-HK" sz="1200">
                <a:solidFill>
                  <a:srgbClr val="212121"/>
                </a:solidFill>
                <a:highlight>
                  <a:srgbClr val="FFFFFF"/>
                </a:highlight>
                <a:latin typeface="Times New Roman"/>
                <a:ea typeface="Times New Roman"/>
                <a:cs typeface="Times New Roman"/>
                <a:sym typeface="Times New Roman"/>
              </a:rPr>
              <a:t> to </a:t>
            </a:r>
            <a:r>
              <a:rPr b="1" lang="zh-HK" sz="1200">
                <a:solidFill>
                  <a:srgbClr val="212121"/>
                </a:solidFill>
                <a:highlight>
                  <a:srgbClr val="FFFFFF"/>
                </a:highlight>
                <a:latin typeface="Times New Roman"/>
                <a:ea typeface="Times New Roman"/>
                <a:cs typeface="Times New Roman"/>
                <a:sym typeface="Times New Roman"/>
              </a:rPr>
              <a:t>4.85%</a:t>
            </a:r>
            <a:r>
              <a:rPr lang="zh-HK" sz="1200">
                <a:solidFill>
                  <a:srgbClr val="212121"/>
                </a:solidFill>
                <a:highlight>
                  <a:srgbClr val="FFFFFF"/>
                </a:highlight>
                <a:latin typeface="Times New Roman"/>
                <a:ea typeface="Times New Roman"/>
                <a:cs typeface="Times New Roman"/>
                <a:sym typeface="Times New Roman"/>
              </a:rPr>
              <a:t>, reflecting this shift in campaign focus instead of purely lower post volume.</a:t>
            </a:r>
            <a:endParaRPr b="1" sz="1200">
              <a:solidFill>
                <a:srgbClr val="212121"/>
              </a:solidFill>
              <a:highlight>
                <a:srgbClr val="FFFFFF"/>
              </a:highlight>
              <a:latin typeface="Times New Roman"/>
              <a:ea typeface="Times New Roman"/>
              <a:cs typeface="Times New Roman"/>
              <a:sym typeface="Times New Roman"/>
            </a:endParaRPr>
          </a:p>
          <a:p>
            <a:pPr indent="-304800" lvl="0" marL="457200" marR="0" rtl="0" algn="l">
              <a:lnSpc>
                <a:spcPct val="115000"/>
              </a:lnSpc>
              <a:spcBef>
                <a:spcPts val="0"/>
              </a:spcBef>
              <a:spcAft>
                <a:spcPts val="0"/>
              </a:spcAft>
              <a:buClr>
                <a:srgbClr val="EC1C6B"/>
              </a:buClr>
              <a:buSzPts val="1200"/>
              <a:buFont typeface="Times New Roman"/>
              <a:buChar char="●"/>
            </a:pPr>
            <a:r>
              <a:rPr lang="zh-HK" sz="1200">
                <a:solidFill>
                  <a:srgbClr val="212121"/>
                </a:solidFill>
                <a:highlight>
                  <a:srgbClr val="FFFFFF"/>
                </a:highlight>
                <a:latin typeface="Times New Roman"/>
                <a:ea typeface="Times New Roman"/>
                <a:cs typeface="Times New Roman"/>
                <a:sym typeface="Times New Roman"/>
              </a:rPr>
              <a:t>While engagement metrics saw a moderate decline, the campaign still delivered top‑tier engagement efficiency given our limited KOL spend, resulting in robust brand activation outcomes.</a:t>
            </a:r>
            <a:endParaRPr sz="1200">
              <a:solidFill>
                <a:srgbClr val="212121"/>
              </a:solidFill>
              <a:highlight>
                <a:srgbClr val="FFFFFF"/>
              </a:highlight>
              <a:latin typeface="Times New Roman"/>
              <a:ea typeface="Times New Roman"/>
              <a:cs typeface="Times New Roman"/>
              <a:sym typeface="Times New Roman"/>
            </a:endParaRPr>
          </a:p>
        </p:txBody>
      </p:sp>
      <p:pic>
        <p:nvPicPr>
          <p:cNvPr id="608" name="Google Shape;608;g3f679a2d4e1_0_140"/>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609" name="Google Shape;609;g3f679a2d4e1_0_140"/>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610" name="Google Shape;610;g3f679a2d4e1_0_140"/>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611" name="Google Shape;611;g3f679a2d4e1_0_140"/>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612" name="Google Shape;612;g3f679a2d4e1_0_140"/>
          <p:cNvSpPr txBox="1"/>
          <p:nvPr/>
        </p:nvSpPr>
        <p:spPr>
          <a:xfrm>
            <a:off x="7265175" y="489426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Sep</a:t>
            </a:r>
            <a:r>
              <a:rPr b="0" i="0" lang="zh-HK" sz="1000" u="none" cap="none" strike="noStrike">
                <a:solidFill>
                  <a:schemeClr val="dk2"/>
                </a:solidFill>
                <a:latin typeface="Arial"/>
                <a:ea typeface="Arial"/>
                <a:cs typeface="Arial"/>
                <a:sym typeface="Arial"/>
              </a:rPr>
              <a:t> 3</a:t>
            </a:r>
            <a:endParaRPr b="0" i="0" sz="1000" u="none" cap="none" strike="noStrike">
              <a:solidFill>
                <a:schemeClr val="dk2"/>
              </a:solidFill>
              <a:latin typeface="Arial"/>
              <a:ea typeface="Arial"/>
              <a:cs typeface="Arial"/>
              <a:sym typeface="Arial"/>
            </a:endParaRPr>
          </a:p>
        </p:txBody>
      </p:sp>
      <p:pic>
        <p:nvPicPr>
          <p:cNvPr id="613" name="Google Shape;613;g3f679a2d4e1_0_140" title="Chart"/>
          <p:cNvPicPr preferRelativeResize="0"/>
          <p:nvPr/>
        </p:nvPicPr>
        <p:blipFill>
          <a:blip r:embed="rId5">
            <a:alphaModFix/>
          </a:blip>
          <a:stretch>
            <a:fillRect/>
          </a:stretch>
        </p:blipFill>
        <p:spPr>
          <a:xfrm>
            <a:off x="250975" y="1147731"/>
            <a:ext cx="4634835" cy="2072329"/>
          </a:xfrm>
          <a:prstGeom prst="rect">
            <a:avLst/>
          </a:prstGeom>
          <a:noFill/>
          <a:ln>
            <a:noFill/>
          </a:ln>
        </p:spPr>
      </p:pic>
      <p:pic>
        <p:nvPicPr>
          <p:cNvPr id="614" name="Google Shape;614;g3f679a2d4e1_0_140" title="Chart"/>
          <p:cNvPicPr preferRelativeResize="0"/>
          <p:nvPr/>
        </p:nvPicPr>
        <p:blipFill>
          <a:blip r:embed="rId6">
            <a:alphaModFix/>
          </a:blip>
          <a:stretch>
            <a:fillRect/>
          </a:stretch>
        </p:blipFill>
        <p:spPr>
          <a:xfrm>
            <a:off x="4959185" y="1329620"/>
            <a:ext cx="3953389" cy="176924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g3f679a2d4e1_0_278"/>
          <p:cNvSpPr txBox="1"/>
          <p:nvPr/>
        </p:nvSpPr>
        <p:spPr>
          <a:xfrm>
            <a:off x="1814898" y="280932"/>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KOC Performance</a:t>
            </a:r>
            <a:endParaRPr b="1" i="0" sz="2000" u="none" cap="none" strike="noStrike">
              <a:solidFill>
                <a:srgbClr val="000000"/>
              </a:solidFill>
              <a:latin typeface="Arial"/>
              <a:ea typeface="Arial"/>
              <a:cs typeface="Arial"/>
              <a:sym typeface="Arial"/>
            </a:endParaRPr>
          </a:p>
        </p:txBody>
      </p:sp>
      <p:pic>
        <p:nvPicPr>
          <p:cNvPr id="620" name="Google Shape;620;g3f679a2d4e1_0_278"/>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621" name="Google Shape;621;g3f679a2d4e1_0_27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622" name="Google Shape;622;g3f679a2d4e1_0_27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623" name="Google Shape;623;g3f679a2d4e1_0_278"/>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624" name="Google Shape;624;g3f679a2d4e1_0_278"/>
          <p:cNvSpPr txBox="1"/>
          <p:nvPr/>
        </p:nvSpPr>
        <p:spPr>
          <a:xfrm>
            <a:off x="254025" y="806850"/>
            <a:ext cx="6151500" cy="342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lang="zh-HK" sz="1200">
                <a:solidFill>
                  <a:srgbClr val="212121"/>
                </a:solidFill>
                <a:highlight>
                  <a:schemeClr val="lt1"/>
                </a:highlight>
                <a:latin typeface="Times New Roman"/>
                <a:ea typeface="Times New Roman"/>
                <a:cs typeface="Times New Roman"/>
                <a:sym typeface="Times New Roman"/>
              </a:rPr>
              <a:t>7 </a:t>
            </a:r>
            <a:r>
              <a:rPr b="1" i="0" lang="zh-HK" sz="1200" u="none" cap="none" strike="noStrike">
                <a:solidFill>
                  <a:srgbClr val="212121"/>
                </a:solidFill>
                <a:highlight>
                  <a:schemeClr val="lt1"/>
                </a:highlight>
                <a:latin typeface="Times New Roman"/>
                <a:ea typeface="Times New Roman"/>
                <a:cs typeface="Times New Roman"/>
                <a:sym typeface="Times New Roman"/>
              </a:rPr>
              <a:t>KOCs generated </a:t>
            </a:r>
            <a:r>
              <a:rPr b="1" lang="zh-HK" sz="1200">
                <a:solidFill>
                  <a:srgbClr val="212121"/>
                </a:solidFill>
                <a:highlight>
                  <a:schemeClr val="lt1"/>
                </a:highlight>
                <a:latin typeface="Times New Roman"/>
                <a:ea typeface="Times New Roman"/>
                <a:cs typeface="Times New Roman"/>
                <a:sym typeface="Times New Roman"/>
              </a:rPr>
              <a:t>96</a:t>
            </a:r>
            <a:r>
              <a:rPr b="1" i="0" lang="zh-HK" sz="1200" u="none" cap="none" strike="noStrike">
                <a:solidFill>
                  <a:srgbClr val="212121"/>
                </a:solidFill>
                <a:highlight>
                  <a:schemeClr val="lt1"/>
                </a:highlight>
                <a:latin typeface="Times New Roman"/>
                <a:ea typeface="Times New Roman"/>
                <a:cs typeface="Times New Roman"/>
                <a:sym typeface="Times New Roman"/>
              </a:rPr>
              <a:t>,</a:t>
            </a:r>
            <a:r>
              <a:rPr b="1" lang="zh-HK" sz="1200">
                <a:solidFill>
                  <a:srgbClr val="212121"/>
                </a:solidFill>
                <a:highlight>
                  <a:schemeClr val="lt1"/>
                </a:highlight>
                <a:latin typeface="Times New Roman"/>
                <a:ea typeface="Times New Roman"/>
                <a:cs typeface="Times New Roman"/>
                <a:sym typeface="Times New Roman"/>
              </a:rPr>
              <a:t>925</a:t>
            </a:r>
            <a:r>
              <a:rPr b="1" i="0" lang="zh-HK" sz="1200" u="none" cap="none" strike="noStrike">
                <a:solidFill>
                  <a:srgbClr val="212121"/>
                </a:solidFill>
                <a:highlight>
                  <a:schemeClr val="lt1"/>
                </a:highlight>
                <a:latin typeface="Times New Roman"/>
                <a:ea typeface="Times New Roman"/>
                <a:cs typeface="Times New Roman"/>
                <a:sym typeface="Times New Roman"/>
              </a:rPr>
              <a:t> views and </a:t>
            </a:r>
            <a:r>
              <a:rPr b="1" lang="zh-HK" sz="1200">
                <a:solidFill>
                  <a:srgbClr val="212121"/>
                </a:solidFill>
                <a:highlight>
                  <a:schemeClr val="lt1"/>
                </a:highlight>
                <a:latin typeface="Times New Roman"/>
                <a:ea typeface="Times New Roman"/>
                <a:cs typeface="Times New Roman"/>
                <a:sym typeface="Times New Roman"/>
              </a:rPr>
              <a:t>4</a:t>
            </a:r>
            <a:r>
              <a:rPr b="1" i="0" lang="zh-HK" sz="1200" u="none" cap="none" strike="noStrike">
                <a:solidFill>
                  <a:srgbClr val="212121"/>
                </a:solidFill>
                <a:highlight>
                  <a:schemeClr val="lt1"/>
                </a:highlight>
                <a:latin typeface="Times New Roman"/>
                <a:ea typeface="Times New Roman"/>
                <a:cs typeface="Times New Roman"/>
                <a:sym typeface="Times New Roman"/>
              </a:rPr>
              <a:t>,</a:t>
            </a:r>
            <a:r>
              <a:rPr b="1" lang="zh-HK" sz="1200">
                <a:solidFill>
                  <a:srgbClr val="212121"/>
                </a:solidFill>
                <a:highlight>
                  <a:schemeClr val="lt1"/>
                </a:highlight>
                <a:latin typeface="Times New Roman"/>
                <a:ea typeface="Times New Roman"/>
                <a:cs typeface="Times New Roman"/>
                <a:sym typeface="Times New Roman"/>
              </a:rPr>
              <a:t>32</a:t>
            </a:r>
            <a:r>
              <a:rPr b="1" i="0" lang="zh-HK" sz="1200" u="none" cap="none" strike="noStrike">
                <a:solidFill>
                  <a:srgbClr val="212121"/>
                </a:solidFill>
                <a:highlight>
                  <a:schemeClr val="lt1"/>
                </a:highlight>
                <a:latin typeface="Times New Roman"/>
                <a:ea typeface="Times New Roman"/>
                <a:cs typeface="Times New Roman"/>
                <a:sym typeface="Times New Roman"/>
              </a:rPr>
              <a:t>9 engagements.</a:t>
            </a:r>
            <a:br>
              <a:rPr b="1" i="0" lang="zh-HK" sz="1200" u="none" cap="none" strike="noStrike">
                <a:solidFill>
                  <a:srgbClr val="212121"/>
                </a:solidFill>
                <a:highlight>
                  <a:schemeClr val="lt1"/>
                </a:highlight>
                <a:latin typeface="Times New Roman"/>
                <a:ea typeface="Times New Roman"/>
                <a:cs typeface="Times New Roman"/>
                <a:sym typeface="Times New Roman"/>
              </a:rPr>
            </a:br>
            <a:r>
              <a:rPr b="1" i="0" lang="zh-HK" sz="1200" u="none" cap="none" strike="noStrike">
                <a:solidFill>
                  <a:srgbClr val="212121"/>
                </a:solidFill>
                <a:highlight>
                  <a:schemeClr val="lt1"/>
                </a:highlight>
                <a:latin typeface="Times New Roman"/>
                <a:ea typeface="Times New Roman"/>
                <a:cs typeface="Times New Roman"/>
                <a:sym typeface="Times New Roman"/>
              </a:rPr>
              <a:t> (average </a:t>
            </a:r>
            <a:r>
              <a:rPr b="1" lang="zh-HK" sz="1200">
                <a:solidFill>
                  <a:srgbClr val="212121"/>
                </a:solidFill>
                <a:highlight>
                  <a:schemeClr val="lt1"/>
                </a:highlight>
                <a:latin typeface="Times New Roman"/>
                <a:ea typeface="Times New Roman"/>
                <a:cs typeface="Times New Roman"/>
                <a:sym typeface="Times New Roman"/>
              </a:rPr>
              <a:t>13</a:t>
            </a:r>
            <a:r>
              <a:rPr b="1" i="0" lang="zh-HK" sz="1200" u="none" cap="none" strike="noStrike">
                <a:solidFill>
                  <a:srgbClr val="212121"/>
                </a:solidFill>
                <a:highlight>
                  <a:schemeClr val="lt1"/>
                </a:highlight>
                <a:latin typeface="Times New Roman"/>
                <a:ea typeface="Times New Roman"/>
                <a:cs typeface="Times New Roman"/>
                <a:sym typeface="Times New Roman"/>
              </a:rPr>
              <a:t>.8K views and </a:t>
            </a:r>
            <a:r>
              <a:rPr b="1" lang="zh-HK" sz="1200">
                <a:solidFill>
                  <a:srgbClr val="212121"/>
                </a:solidFill>
                <a:highlight>
                  <a:schemeClr val="lt1"/>
                </a:highlight>
                <a:latin typeface="Times New Roman"/>
                <a:ea typeface="Times New Roman"/>
                <a:cs typeface="Times New Roman"/>
                <a:sym typeface="Times New Roman"/>
              </a:rPr>
              <a:t>618</a:t>
            </a:r>
            <a:r>
              <a:rPr b="1" i="0" lang="zh-HK" sz="1200" u="none" cap="none" strike="noStrike">
                <a:solidFill>
                  <a:srgbClr val="212121"/>
                </a:solidFill>
                <a:highlight>
                  <a:schemeClr val="lt1"/>
                </a:highlight>
                <a:latin typeface="Times New Roman"/>
                <a:ea typeface="Times New Roman"/>
                <a:cs typeface="Times New Roman"/>
                <a:sym typeface="Times New Roman"/>
              </a:rPr>
              <a:t> engagements/KOC)</a:t>
            </a:r>
            <a:br>
              <a:rPr b="1" i="0" lang="zh-HK" sz="1200" u="none" cap="none" strike="noStrike">
                <a:solidFill>
                  <a:srgbClr val="212121"/>
                </a:solidFill>
                <a:highlight>
                  <a:schemeClr val="lt1"/>
                </a:highlight>
                <a:latin typeface="Times New Roman"/>
                <a:ea typeface="Times New Roman"/>
                <a:cs typeface="Times New Roman"/>
                <a:sym typeface="Times New Roman"/>
              </a:rPr>
            </a:br>
            <a:endParaRPr b="1" i="0" sz="1200" u="none" cap="none" strike="noStrike">
              <a:solidFill>
                <a:srgbClr val="212121"/>
              </a:solidFill>
              <a:highlight>
                <a:schemeClr val="lt1"/>
              </a:highlight>
              <a:latin typeface="Times New Roman"/>
              <a:ea typeface="Times New Roman"/>
              <a:cs typeface="Times New Roman"/>
              <a:sym typeface="Times New Roman"/>
            </a:endParaRPr>
          </a:p>
          <a:p>
            <a:pPr indent="-304800" lvl="0" marL="457200" rtl="0" algn="l">
              <a:lnSpc>
                <a:spcPct val="115000"/>
              </a:lnSpc>
              <a:spcBef>
                <a:spcPts val="1200"/>
              </a:spcBef>
              <a:spcAft>
                <a:spcPts val="0"/>
              </a:spcAft>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Aug Chiikawa phase 2 engaged</a:t>
            </a:r>
            <a:r>
              <a:rPr b="1" lang="zh-HK" sz="1200">
                <a:solidFill>
                  <a:srgbClr val="0F1115"/>
                </a:solidFill>
                <a:highlight>
                  <a:srgbClr val="FFFFFF"/>
                </a:highlight>
                <a:latin typeface="Times New Roman"/>
                <a:ea typeface="Times New Roman"/>
                <a:cs typeface="Times New Roman"/>
                <a:sym typeface="Times New Roman"/>
              </a:rPr>
              <a:t> 7 KOCs</a:t>
            </a:r>
            <a:r>
              <a:rPr lang="zh-HK" sz="1200">
                <a:solidFill>
                  <a:srgbClr val="0F1115"/>
                </a:solidFill>
                <a:highlight>
                  <a:srgbClr val="FFFFFF"/>
                </a:highlight>
                <a:latin typeface="Times New Roman"/>
                <a:ea typeface="Times New Roman"/>
                <a:cs typeface="Times New Roman"/>
                <a:sym typeface="Times New Roman"/>
              </a:rPr>
              <a:t> for </a:t>
            </a:r>
            <a:r>
              <a:rPr b="1" lang="zh-HK" sz="1200">
                <a:solidFill>
                  <a:srgbClr val="0F1115"/>
                </a:solidFill>
                <a:highlight>
                  <a:srgbClr val="FFFFFF"/>
                </a:highlight>
                <a:latin typeface="Times New Roman"/>
                <a:ea typeface="Times New Roman"/>
                <a:cs typeface="Times New Roman"/>
                <a:sym typeface="Times New Roman"/>
              </a:rPr>
              <a:t>short‑form video</a:t>
            </a:r>
            <a:r>
              <a:rPr lang="zh-HK" sz="1200">
                <a:solidFill>
                  <a:srgbClr val="0F1115"/>
                </a:solidFill>
                <a:highlight>
                  <a:srgbClr val="FFFFFF"/>
                </a:highlight>
                <a:latin typeface="Times New Roman"/>
                <a:ea typeface="Times New Roman"/>
                <a:cs typeface="Times New Roman"/>
                <a:sym typeface="Times New Roman"/>
              </a:rPr>
              <a:t> deliverables with </a:t>
            </a:r>
            <a:r>
              <a:rPr b="1" lang="zh-HK" sz="1200">
                <a:solidFill>
                  <a:srgbClr val="0F1115"/>
                </a:solidFill>
                <a:highlight>
                  <a:srgbClr val="FFFFFF"/>
                </a:highlight>
                <a:latin typeface="Times New Roman"/>
                <a:ea typeface="Times New Roman"/>
                <a:cs typeface="Times New Roman"/>
                <a:sym typeface="Times New Roman"/>
              </a:rPr>
              <a:t>no ad boosting</a:t>
            </a:r>
            <a:r>
              <a:rPr lang="zh-HK" sz="1200">
                <a:solidFill>
                  <a:srgbClr val="0F1115"/>
                </a:solidFill>
                <a:highlight>
                  <a:srgbClr val="FFFFFF"/>
                </a:highlight>
                <a:latin typeface="Times New Roman"/>
                <a:ea typeface="Times New Roman"/>
                <a:cs typeface="Times New Roman"/>
                <a:sym typeface="Times New Roman"/>
              </a:rPr>
              <a:t>. In addition to XHS, four KOCs videos were also published on </a:t>
            </a:r>
            <a:r>
              <a:rPr b="1" lang="zh-HK" sz="1200">
                <a:solidFill>
                  <a:srgbClr val="0F1115"/>
                </a:solidFill>
                <a:highlight>
                  <a:srgbClr val="FFFFFF"/>
                </a:highlight>
                <a:latin typeface="Times New Roman"/>
                <a:ea typeface="Times New Roman"/>
                <a:cs typeface="Times New Roman"/>
                <a:sym typeface="Times New Roman"/>
              </a:rPr>
              <a:t>Douyin and Instagram</a:t>
            </a:r>
            <a:r>
              <a:rPr lang="zh-HK" sz="1200">
                <a:solidFill>
                  <a:srgbClr val="0F1115"/>
                </a:solidFill>
                <a:highlight>
                  <a:srgbClr val="FFFFFF"/>
                </a:highlight>
                <a:latin typeface="Times New Roman"/>
                <a:ea typeface="Times New Roman"/>
                <a:cs typeface="Times New Roman"/>
                <a:sym typeface="Times New Roman"/>
              </a:rPr>
              <a:t> to amplify reach. </a:t>
            </a:r>
            <a:endParaRPr sz="1200">
              <a:solidFill>
                <a:srgbClr val="0F1115"/>
              </a:solidFill>
              <a:highlight>
                <a:srgbClr val="FFFFFF"/>
              </a:highlight>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The top‑performing KOC was </a:t>
            </a:r>
            <a:r>
              <a:rPr b="1" lang="zh-HK" sz="1200">
                <a:solidFill>
                  <a:srgbClr val="0F1115"/>
                </a:solidFill>
                <a:highlight>
                  <a:srgbClr val="FFFFFF"/>
                </a:highlight>
                <a:latin typeface="Times New Roman"/>
                <a:ea typeface="Times New Roman"/>
                <a:cs typeface="Times New Roman"/>
                <a:sym typeface="Times New Roman"/>
              </a:rPr>
              <a:t>陳陳Chans,</a:t>
            </a:r>
            <a:r>
              <a:rPr lang="zh-HK" sz="1200">
                <a:solidFill>
                  <a:srgbClr val="0F1115"/>
                </a:solidFill>
                <a:highlight>
                  <a:srgbClr val="FFFFFF"/>
                </a:highlight>
                <a:latin typeface="Times New Roman"/>
                <a:ea typeface="Times New Roman"/>
                <a:cs typeface="Times New Roman"/>
                <a:sym typeface="Times New Roman"/>
              </a:rPr>
              <a:t> whose </a:t>
            </a:r>
            <a:r>
              <a:rPr b="1" lang="zh-HK" sz="1200">
                <a:solidFill>
                  <a:srgbClr val="0F1115"/>
                </a:solidFill>
                <a:highlight>
                  <a:srgbClr val="FFFFFF"/>
                </a:highlight>
                <a:latin typeface="Times New Roman"/>
                <a:ea typeface="Times New Roman"/>
                <a:cs typeface="Times New Roman"/>
                <a:sym typeface="Times New Roman"/>
              </a:rPr>
              <a:t>Douyin</a:t>
            </a:r>
            <a:r>
              <a:rPr lang="zh-HK" sz="1200">
                <a:solidFill>
                  <a:srgbClr val="0F1115"/>
                </a:solidFill>
                <a:highlight>
                  <a:srgbClr val="FFFFFF"/>
                </a:highlight>
                <a:latin typeface="Times New Roman"/>
                <a:ea typeface="Times New Roman"/>
                <a:cs typeface="Times New Roman"/>
                <a:sym typeface="Times New Roman"/>
              </a:rPr>
              <a:t> post went viral organically, generating over </a:t>
            </a:r>
            <a:r>
              <a:rPr b="1" lang="zh-HK" sz="1200">
                <a:solidFill>
                  <a:srgbClr val="0F1115"/>
                </a:solidFill>
                <a:highlight>
                  <a:srgbClr val="FFFFFF"/>
                </a:highlight>
                <a:latin typeface="Times New Roman"/>
                <a:ea typeface="Times New Roman"/>
                <a:cs typeface="Times New Roman"/>
                <a:sym typeface="Times New Roman"/>
              </a:rPr>
              <a:t>58K views </a:t>
            </a:r>
            <a:r>
              <a:rPr lang="zh-HK" sz="1200">
                <a:solidFill>
                  <a:srgbClr val="0F1115"/>
                </a:solidFill>
                <a:highlight>
                  <a:srgbClr val="FFFFFF"/>
                </a:highlight>
                <a:latin typeface="Times New Roman"/>
                <a:ea typeface="Times New Roman"/>
                <a:cs typeface="Times New Roman"/>
                <a:sym typeface="Times New Roman"/>
              </a:rPr>
              <a:t>and over </a:t>
            </a:r>
            <a:r>
              <a:rPr b="1" lang="zh-HK" sz="1200">
                <a:solidFill>
                  <a:srgbClr val="0F1115"/>
                </a:solidFill>
                <a:highlight>
                  <a:srgbClr val="FFFFFF"/>
                </a:highlight>
                <a:latin typeface="Times New Roman"/>
                <a:ea typeface="Times New Roman"/>
                <a:cs typeface="Times New Roman"/>
                <a:sym typeface="Times New Roman"/>
              </a:rPr>
              <a:t>1.8K </a:t>
            </a:r>
            <a:r>
              <a:rPr lang="zh-HK" sz="1200">
                <a:solidFill>
                  <a:srgbClr val="0F1115"/>
                </a:solidFill>
                <a:highlight>
                  <a:srgbClr val="FFFFFF"/>
                </a:highlight>
                <a:latin typeface="Times New Roman"/>
                <a:ea typeface="Times New Roman"/>
                <a:cs typeface="Times New Roman"/>
                <a:sym typeface="Times New Roman"/>
              </a:rPr>
              <a:t>engagements.</a:t>
            </a:r>
            <a:endParaRPr sz="1200">
              <a:solidFill>
                <a:srgbClr val="212121"/>
              </a:solidFill>
              <a:highlight>
                <a:schemeClr val="lt1"/>
              </a:highlight>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212121"/>
              </a:buClr>
              <a:buSzPts val="1200"/>
              <a:buFont typeface="Times New Roman"/>
              <a:buChar char="●"/>
            </a:pPr>
            <a:r>
              <a:rPr lang="zh-HK" sz="1200">
                <a:solidFill>
                  <a:srgbClr val="0F1115"/>
                </a:solidFill>
                <a:latin typeface="Times New Roman"/>
                <a:ea typeface="Times New Roman"/>
                <a:cs typeface="Times New Roman"/>
                <a:sym typeface="Times New Roman"/>
              </a:rPr>
              <a:t>Unlike phase 1 (XHS only for both KOLs and KOCs), phase 2 strategically diversified </a:t>
            </a:r>
            <a:r>
              <a:rPr b="1" lang="zh-HK" sz="1200">
                <a:solidFill>
                  <a:srgbClr val="0F1115"/>
                </a:solidFill>
                <a:latin typeface="Times New Roman"/>
                <a:ea typeface="Times New Roman"/>
                <a:cs typeface="Times New Roman"/>
                <a:sym typeface="Times New Roman"/>
              </a:rPr>
              <a:t>across platforms </a:t>
            </a:r>
            <a:r>
              <a:rPr lang="zh-HK" sz="1200">
                <a:solidFill>
                  <a:srgbClr val="0F1115"/>
                </a:solidFill>
                <a:latin typeface="Times New Roman"/>
                <a:ea typeface="Times New Roman"/>
                <a:cs typeface="Times New Roman"/>
                <a:sym typeface="Times New Roman"/>
              </a:rPr>
              <a:t>to broaden campaign exposure and total views for the Chiikawa event.</a:t>
            </a:r>
            <a:endParaRPr sz="1200">
              <a:solidFill>
                <a:srgbClr val="0F1115"/>
              </a:solidFill>
              <a:highlight>
                <a:srgbClr val="FFFFFF"/>
              </a:highlight>
              <a:latin typeface="Times New Roman"/>
              <a:ea typeface="Times New Roman"/>
              <a:cs typeface="Times New Roman"/>
              <a:sym typeface="Times New Roman"/>
            </a:endParaRPr>
          </a:p>
          <a:p>
            <a:pPr indent="-304800" lvl="0" marL="457200" rtl="0" algn="l">
              <a:lnSpc>
                <a:spcPct val="115000"/>
              </a:lnSpc>
              <a:spcBef>
                <a:spcPts val="0"/>
              </a:spcBef>
              <a:spcAft>
                <a:spcPts val="0"/>
              </a:spcAft>
              <a:buClr>
                <a:srgbClr val="0F1115"/>
              </a:buClr>
              <a:buSzPts val="1200"/>
              <a:buFont typeface="Times New Roman"/>
              <a:buChar char="●"/>
            </a:pPr>
            <a:r>
              <a:rPr lang="zh-HK" sz="1200">
                <a:solidFill>
                  <a:srgbClr val="0F1115"/>
                </a:solidFill>
                <a:highlight>
                  <a:srgbClr val="FFFFFF"/>
                </a:highlight>
                <a:latin typeface="Times New Roman"/>
                <a:ea typeface="Times New Roman"/>
                <a:cs typeface="Times New Roman"/>
                <a:sym typeface="Times New Roman"/>
              </a:rPr>
              <a:t>To maximise reach, we leveraged </a:t>
            </a:r>
            <a:r>
              <a:rPr b="1" lang="zh-HK" sz="1200">
                <a:solidFill>
                  <a:srgbClr val="0F1115"/>
                </a:solidFill>
                <a:highlight>
                  <a:srgbClr val="FFFFFF"/>
                </a:highlight>
                <a:latin typeface="Times New Roman"/>
                <a:ea typeface="Times New Roman"/>
                <a:cs typeface="Times New Roman"/>
                <a:sym typeface="Times New Roman"/>
              </a:rPr>
              <a:t>summer, local, and Chiikawa‑related hashtags</a:t>
            </a:r>
            <a:r>
              <a:rPr lang="zh-HK" sz="1200">
                <a:solidFill>
                  <a:srgbClr val="0F1115"/>
                </a:solidFill>
                <a:highlight>
                  <a:srgbClr val="FFFFFF"/>
                </a:highlight>
                <a:latin typeface="Times New Roman"/>
                <a:ea typeface="Times New Roman"/>
                <a:cs typeface="Times New Roman"/>
                <a:sym typeface="Times New Roman"/>
              </a:rPr>
              <a:t> including </a:t>
            </a:r>
            <a:r>
              <a:rPr lang="zh-HK" sz="1100">
                <a:solidFill>
                  <a:srgbClr val="0F1115"/>
                </a:solidFill>
                <a:highlight>
                  <a:srgbClr val="FFFFFF"/>
                </a:highlight>
                <a:latin typeface="Times New Roman"/>
                <a:ea typeface="Times New Roman"/>
                <a:cs typeface="Times New Roman"/>
                <a:sym typeface="Times New Roman"/>
              </a:rPr>
              <a:t>#香港暑假, #朗豪坊Chiikawa, #Chiikawa大電影, #香港二次元, #香港吃谷, #香港打工人 etc</a:t>
            </a:r>
            <a:r>
              <a:rPr b="1" lang="zh-HK" sz="1200">
                <a:solidFill>
                  <a:srgbClr val="0F1115"/>
                </a:solidFill>
                <a:highlight>
                  <a:srgbClr val="FFFFFF"/>
                </a:highlight>
                <a:latin typeface="Times New Roman"/>
                <a:ea typeface="Times New Roman"/>
                <a:cs typeface="Times New Roman"/>
                <a:sym typeface="Times New Roman"/>
              </a:rPr>
              <a:t>.</a:t>
            </a:r>
            <a:endParaRPr b="1" sz="12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1200"/>
              </a:spcBef>
              <a:spcAft>
                <a:spcPts val="0"/>
              </a:spcAft>
              <a:buClr>
                <a:srgbClr val="000000"/>
              </a:buClr>
              <a:buSzPts val="1300"/>
              <a:buFont typeface="Arial"/>
              <a:buNone/>
            </a:pPr>
            <a:r>
              <a:t/>
            </a:r>
            <a:endParaRPr b="0" i="0" sz="1100" u="none" cap="none" strike="noStrike">
              <a:solidFill>
                <a:srgbClr val="212121"/>
              </a:solidFill>
              <a:highlight>
                <a:schemeClr val="lt1"/>
              </a:highlight>
              <a:latin typeface="Times New Roman"/>
              <a:ea typeface="Times New Roman"/>
              <a:cs typeface="Times New Roman"/>
              <a:sym typeface="Times New Roman"/>
            </a:endParaRPr>
          </a:p>
        </p:txBody>
      </p:sp>
      <p:sp>
        <p:nvSpPr>
          <p:cNvPr id="625" name="Google Shape;625;g3f679a2d4e1_0_278"/>
          <p:cNvSpPr txBox="1"/>
          <p:nvPr/>
        </p:nvSpPr>
        <p:spPr>
          <a:xfrm>
            <a:off x="56450" y="4826837"/>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Sep</a:t>
            </a:r>
            <a:r>
              <a:rPr b="0" i="0" lang="zh-HK" sz="1000" u="none" cap="none" strike="noStrike">
                <a:solidFill>
                  <a:schemeClr val="dk2"/>
                </a:solidFill>
                <a:latin typeface="Arial"/>
                <a:ea typeface="Arial"/>
                <a:cs typeface="Arial"/>
                <a:sym typeface="Arial"/>
              </a:rPr>
              <a:t> 3</a:t>
            </a:r>
            <a:endParaRPr b="0" i="0" sz="1000" u="none" cap="none" strike="noStrike">
              <a:solidFill>
                <a:schemeClr val="dk2"/>
              </a:solidFill>
              <a:latin typeface="Arial"/>
              <a:ea typeface="Arial"/>
              <a:cs typeface="Arial"/>
              <a:sym typeface="Arial"/>
            </a:endParaRPr>
          </a:p>
        </p:txBody>
      </p:sp>
      <p:pic>
        <p:nvPicPr>
          <p:cNvPr id="626" name="Google Shape;626;g3f679a2d4e1_0_278"/>
          <p:cNvPicPr preferRelativeResize="0"/>
          <p:nvPr/>
        </p:nvPicPr>
        <p:blipFill>
          <a:blip r:embed="rId5">
            <a:alphaModFix/>
          </a:blip>
          <a:stretch>
            <a:fillRect/>
          </a:stretch>
        </p:blipFill>
        <p:spPr>
          <a:xfrm>
            <a:off x="6466734" y="421442"/>
            <a:ext cx="1484024" cy="2437274"/>
          </a:xfrm>
          <a:prstGeom prst="rect">
            <a:avLst/>
          </a:prstGeom>
          <a:noFill/>
          <a:ln>
            <a:noFill/>
          </a:ln>
          <a:effectLst>
            <a:outerShdw blurRad="57150" rotWithShape="0" algn="bl" dir="5400000" dist="19050">
              <a:srgbClr val="000000">
                <a:alpha val="50000"/>
              </a:srgbClr>
            </a:outerShdw>
          </a:effectLst>
        </p:spPr>
      </p:pic>
      <p:sp>
        <p:nvSpPr>
          <p:cNvPr id="627" name="Google Shape;627;g3f679a2d4e1_0_278"/>
          <p:cNvSpPr txBox="1"/>
          <p:nvPr/>
        </p:nvSpPr>
        <p:spPr>
          <a:xfrm>
            <a:off x="8011531" y="1309075"/>
            <a:ext cx="10491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HK" sz="900">
                <a:solidFill>
                  <a:srgbClr val="212121"/>
                </a:solidFill>
                <a:highlight>
                  <a:schemeClr val="lt1"/>
                </a:highlight>
                <a:latin typeface="Times New Roman"/>
                <a:ea typeface="Times New Roman"/>
                <a:cs typeface="Times New Roman"/>
                <a:sym typeface="Times New Roman"/>
              </a:rPr>
              <a:t>T</a:t>
            </a:r>
            <a:r>
              <a:rPr lang="zh-HK" sz="900">
                <a:solidFill>
                  <a:srgbClr val="0F1115"/>
                </a:solidFill>
                <a:highlight>
                  <a:srgbClr val="FFFFFF"/>
                </a:highlight>
                <a:latin typeface="Times New Roman"/>
                <a:ea typeface="Times New Roman"/>
                <a:cs typeface="Times New Roman"/>
                <a:sym typeface="Times New Roman"/>
              </a:rPr>
              <a:t>he post by KOC 陳陳Chans went organically viral on </a:t>
            </a:r>
            <a:r>
              <a:rPr b="1" lang="zh-HK" sz="900">
                <a:solidFill>
                  <a:srgbClr val="0F1115"/>
                </a:solidFill>
                <a:highlight>
                  <a:srgbClr val="FFFFFF"/>
                </a:highlight>
                <a:latin typeface="Times New Roman"/>
                <a:ea typeface="Times New Roman"/>
                <a:cs typeface="Times New Roman"/>
                <a:sym typeface="Times New Roman"/>
              </a:rPr>
              <a:t>Douyin</a:t>
            </a:r>
            <a:r>
              <a:rPr lang="zh-HK" sz="900">
                <a:solidFill>
                  <a:srgbClr val="0F1115"/>
                </a:solidFill>
                <a:highlight>
                  <a:srgbClr val="FFFFFF"/>
                </a:highlight>
                <a:latin typeface="Times New Roman"/>
                <a:ea typeface="Times New Roman"/>
                <a:cs typeface="Times New Roman"/>
                <a:sym typeface="Times New Roman"/>
              </a:rPr>
              <a:t>.</a:t>
            </a:r>
            <a:endParaRPr b="1" sz="900">
              <a:solidFill>
                <a:srgbClr val="212121"/>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r>
              <a:t/>
            </a:r>
            <a:endParaRPr b="1" sz="900">
              <a:solidFill>
                <a:srgbClr val="212121"/>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br>
              <a:rPr b="1" lang="zh-HK" sz="900">
                <a:solidFill>
                  <a:srgbClr val="212121"/>
                </a:solidFill>
                <a:highlight>
                  <a:schemeClr val="lt1"/>
                </a:highlight>
                <a:latin typeface="Times New Roman"/>
                <a:ea typeface="Times New Roman"/>
                <a:cs typeface="Times New Roman"/>
                <a:sym typeface="Times New Roman"/>
              </a:rPr>
            </a:br>
            <a:endParaRPr b="1" sz="900">
              <a:solidFill>
                <a:srgbClr val="212121"/>
              </a:solidFill>
              <a:highlight>
                <a:schemeClr val="lt1"/>
              </a:highlight>
              <a:latin typeface="Times New Roman"/>
              <a:ea typeface="Times New Roman"/>
              <a:cs typeface="Times New Roman"/>
              <a:sym typeface="Times New Roman"/>
            </a:endParaRPr>
          </a:p>
        </p:txBody>
      </p:sp>
      <p:pic>
        <p:nvPicPr>
          <p:cNvPr id="628" name="Google Shape;628;g3f679a2d4e1_0_278"/>
          <p:cNvPicPr preferRelativeResize="0"/>
          <p:nvPr/>
        </p:nvPicPr>
        <p:blipFill>
          <a:blip r:embed="rId6">
            <a:alphaModFix/>
          </a:blip>
          <a:stretch>
            <a:fillRect/>
          </a:stretch>
        </p:blipFill>
        <p:spPr>
          <a:xfrm>
            <a:off x="6461625" y="3132500"/>
            <a:ext cx="2372798" cy="1906424"/>
          </a:xfrm>
          <a:prstGeom prst="rect">
            <a:avLst/>
          </a:prstGeom>
          <a:noFill/>
          <a:ln>
            <a:noFill/>
          </a:ln>
          <a:effectLst>
            <a:outerShdw blurRad="57150" rotWithShape="0" algn="bl" dir="5400000" dist="19050">
              <a:srgbClr val="000000">
                <a:alpha val="50000"/>
              </a:srgbClr>
            </a:outerShdw>
          </a:effectLst>
        </p:spPr>
      </p:pic>
      <p:pic>
        <p:nvPicPr>
          <p:cNvPr id="629" name="Google Shape;629;g3f679a2d4e1_0_278"/>
          <p:cNvPicPr preferRelativeResize="0"/>
          <p:nvPr/>
        </p:nvPicPr>
        <p:blipFill rotWithShape="1">
          <a:blip r:embed="rId7">
            <a:alphaModFix/>
          </a:blip>
          <a:srcRect b="21816" l="32542" r="32538" t="22001"/>
          <a:stretch/>
        </p:blipFill>
        <p:spPr>
          <a:xfrm>
            <a:off x="953976" y="314600"/>
            <a:ext cx="394818" cy="396999"/>
          </a:xfrm>
          <a:prstGeom prst="rect">
            <a:avLst/>
          </a:prstGeom>
          <a:noFill/>
          <a:ln>
            <a:noFill/>
          </a:ln>
        </p:spPr>
      </p:pic>
      <p:pic>
        <p:nvPicPr>
          <p:cNvPr id="630" name="Google Shape;630;g3f679a2d4e1_0_278"/>
          <p:cNvPicPr preferRelativeResize="0"/>
          <p:nvPr/>
        </p:nvPicPr>
        <p:blipFill>
          <a:blip r:embed="rId8">
            <a:alphaModFix/>
          </a:blip>
          <a:stretch>
            <a:fillRect/>
          </a:stretch>
        </p:blipFill>
        <p:spPr>
          <a:xfrm>
            <a:off x="1348800" y="232900"/>
            <a:ext cx="537775" cy="5377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f679a2d4e1_0_348"/>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636" name="Google Shape;636;g3f679a2d4e1_0_348"/>
          <p:cNvPicPr preferRelativeResize="0"/>
          <p:nvPr/>
        </p:nvPicPr>
        <p:blipFill rotWithShape="1">
          <a:blip r:embed="rId3">
            <a:alphaModFix/>
          </a:blip>
          <a:srcRect b="21020" l="14061" r="17215" t="26140"/>
          <a:stretch/>
        </p:blipFill>
        <p:spPr>
          <a:xfrm>
            <a:off x="8094845" y="170700"/>
            <a:ext cx="1049154" cy="423511"/>
          </a:xfrm>
          <a:prstGeom prst="rect">
            <a:avLst/>
          </a:prstGeom>
          <a:noFill/>
          <a:ln>
            <a:noFill/>
          </a:ln>
        </p:spPr>
      </p:pic>
      <p:sp>
        <p:nvSpPr>
          <p:cNvPr id="637" name="Google Shape;637;g3f679a2d4e1_0_348"/>
          <p:cNvSpPr txBox="1"/>
          <p:nvPr/>
        </p:nvSpPr>
        <p:spPr>
          <a:xfrm>
            <a:off x="945700" y="254050"/>
            <a:ext cx="43167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zh-HK" sz="1800" u="none" cap="none" strike="noStrike">
                <a:solidFill>
                  <a:schemeClr val="dk1"/>
                </a:solidFill>
                <a:latin typeface="Times New Roman"/>
                <a:ea typeface="Times New Roman"/>
                <a:cs typeface="Times New Roman"/>
                <a:sym typeface="Times New Roman"/>
              </a:rPr>
              <a:t>Seeding Performance</a:t>
            </a:r>
            <a:endParaRPr b="1" i="0" sz="2000" u="none" cap="none" strike="noStrike">
              <a:solidFill>
                <a:srgbClr val="000000"/>
              </a:solidFill>
              <a:latin typeface="Arial"/>
              <a:ea typeface="Arial"/>
              <a:cs typeface="Arial"/>
              <a:sym typeface="Arial"/>
            </a:endParaRPr>
          </a:p>
        </p:txBody>
      </p:sp>
      <p:pic>
        <p:nvPicPr>
          <p:cNvPr id="638" name="Google Shape;638;g3f679a2d4e1_0_348"/>
          <p:cNvPicPr preferRelativeResize="0"/>
          <p:nvPr/>
        </p:nvPicPr>
        <p:blipFill rotWithShape="1">
          <a:blip r:embed="rId4">
            <a:alphaModFix/>
          </a:blip>
          <a:srcRect b="0" l="0" r="0" t="0"/>
          <a:stretch/>
        </p:blipFill>
        <p:spPr>
          <a:xfrm>
            <a:off x="501350" y="307312"/>
            <a:ext cx="386075" cy="386075"/>
          </a:xfrm>
          <a:prstGeom prst="rect">
            <a:avLst/>
          </a:prstGeom>
          <a:noFill/>
          <a:ln>
            <a:noFill/>
          </a:ln>
        </p:spPr>
      </p:pic>
      <p:sp>
        <p:nvSpPr>
          <p:cNvPr id="639" name="Google Shape;639;g3f679a2d4e1_0_348"/>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640" name="Google Shape;640;g3f679a2d4e1_0_348"/>
          <p:cNvSpPr txBox="1"/>
          <p:nvPr/>
        </p:nvSpPr>
        <p:spPr>
          <a:xfrm>
            <a:off x="6676250" y="594188"/>
            <a:ext cx="2171100" cy="165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lang="zh-HK" sz="1100">
                <a:solidFill>
                  <a:srgbClr val="212121"/>
                </a:solidFill>
                <a:highlight>
                  <a:schemeClr val="lt1"/>
                </a:highlight>
                <a:latin typeface="Times New Roman"/>
                <a:ea typeface="Times New Roman"/>
                <a:cs typeface="Times New Roman"/>
                <a:sym typeface="Times New Roman"/>
              </a:rPr>
              <a:t>6</a:t>
            </a:r>
            <a:r>
              <a:rPr b="1" i="0" lang="zh-HK" sz="1100" u="none" cap="none" strike="noStrike">
                <a:solidFill>
                  <a:srgbClr val="212121"/>
                </a:solidFill>
                <a:highlight>
                  <a:schemeClr val="lt1"/>
                </a:highlight>
                <a:latin typeface="Times New Roman"/>
                <a:ea typeface="Times New Roman"/>
                <a:cs typeface="Times New Roman"/>
                <a:sym typeface="Times New Roman"/>
              </a:rPr>
              <a:t> Seedings generated </a:t>
            </a:r>
            <a:r>
              <a:rPr b="1" lang="zh-HK" sz="1100">
                <a:solidFill>
                  <a:srgbClr val="212121"/>
                </a:solidFill>
                <a:highlight>
                  <a:schemeClr val="lt1"/>
                </a:highlight>
                <a:latin typeface="Times New Roman"/>
                <a:ea typeface="Times New Roman"/>
                <a:cs typeface="Times New Roman"/>
                <a:sym typeface="Times New Roman"/>
              </a:rPr>
              <a:t>13</a:t>
            </a:r>
            <a:r>
              <a:rPr b="1" i="0" lang="zh-HK" sz="1100" u="none" cap="none" strike="noStrike">
                <a:solidFill>
                  <a:srgbClr val="212121"/>
                </a:solidFill>
                <a:highlight>
                  <a:schemeClr val="lt1"/>
                </a:highlight>
                <a:latin typeface="Times New Roman"/>
                <a:ea typeface="Times New Roman"/>
                <a:cs typeface="Times New Roman"/>
                <a:sym typeface="Times New Roman"/>
              </a:rPr>
              <a:t>,</a:t>
            </a:r>
            <a:r>
              <a:rPr b="1" lang="zh-HK" sz="1100">
                <a:solidFill>
                  <a:srgbClr val="212121"/>
                </a:solidFill>
                <a:highlight>
                  <a:schemeClr val="lt1"/>
                </a:highlight>
                <a:latin typeface="Times New Roman"/>
                <a:ea typeface="Times New Roman"/>
                <a:cs typeface="Times New Roman"/>
                <a:sym typeface="Times New Roman"/>
              </a:rPr>
              <a:t>294</a:t>
            </a:r>
            <a:r>
              <a:rPr b="1" i="0" lang="zh-HK" sz="1100" u="none" cap="none" strike="noStrike">
                <a:solidFill>
                  <a:srgbClr val="212121"/>
                </a:solidFill>
                <a:highlight>
                  <a:schemeClr val="lt1"/>
                </a:highlight>
                <a:latin typeface="Times New Roman"/>
                <a:ea typeface="Times New Roman"/>
                <a:cs typeface="Times New Roman"/>
                <a:sym typeface="Times New Roman"/>
              </a:rPr>
              <a:t> views and </a:t>
            </a:r>
            <a:r>
              <a:rPr b="1" lang="zh-HK" sz="1100">
                <a:solidFill>
                  <a:srgbClr val="212121"/>
                </a:solidFill>
                <a:highlight>
                  <a:schemeClr val="lt1"/>
                </a:highlight>
                <a:latin typeface="Times New Roman"/>
                <a:ea typeface="Times New Roman"/>
                <a:cs typeface="Times New Roman"/>
                <a:sym typeface="Times New Roman"/>
              </a:rPr>
              <a:t>1</a:t>
            </a:r>
            <a:r>
              <a:rPr b="1" i="0" lang="zh-HK" sz="1100" u="none" cap="none" strike="noStrike">
                <a:solidFill>
                  <a:srgbClr val="212121"/>
                </a:solidFill>
                <a:highlight>
                  <a:schemeClr val="lt1"/>
                </a:highlight>
                <a:latin typeface="Times New Roman"/>
                <a:ea typeface="Times New Roman"/>
                <a:cs typeface="Times New Roman"/>
                <a:sym typeface="Times New Roman"/>
              </a:rPr>
              <a:t>,0</a:t>
            </a:r>
            <a:r>
              <a:rPr b="1" lang="zh-HK" sz="1100">
                <a:solidFill>
                  <a:srgbClr val="212121"/>
                </a:solidFill>
                <a:highlight>
                  <a:schemeClr val="lt1"/>
                </a:highlight>
                <a:latin typeface="Times New Roman"/>
                <a:ea typeface="Times New Roman"/>
                <a:cs typeface="Times New Roman"/>
                <a:sym typeface="Times New Roman"/>
              </a:rPr>
              <a:t>21</a:t>
            </a:r>
            <a:r>
              <a:rPr b="1" i="0" lang="zh-HK" sz="1100" u="none" cap="none" strike="noStrike">
                <a:solidFill>
                  <a:srgbClr val="212121"/>
                </a:solidFill>
                <a:highlight>
                  <a:schemeClr val="lt1"/>
                </a:highlight>
                <a:latin typeface="Times New Roman"/>
                <a:ea typeface="Times New Roman"/>
                <a:cs typeface="Times New Roman"/>
                <a:sym typeface="Times New Roman"/>
              </a:rPr>
              <a:t> engagements. (average </a:t>
            </a:r>
            <a:r>
              <a:rPr b="1" lang="zh-HK" sz="1100">
                <a:solidFill>
                  <a:srgbClr val="212121"/>
                </a:solidFill>
                <a:highlight>
                  <a:schemeClr val="lt1"/>
                </a:highlight>
                <a:latin typeface="Times New Roman"/>
                <a:ea typeface="Times New Roman"/>
                <a:cs typeface="Times New Roman"/>
                <a:sym typeface="Times New Roman"/>
              </a:rPr>
              <a:t>2</a:t>
            </a:r>
            <a:r>
              <a:rPr b="1" i="0" lang="zh-HK" sz="1100" u="none" cap="none" strike="noStrike">
                <a:solidFill>
                  <a:srgbClr val="212121"/>
                </a:solidFill>
                <a:highlight>
                  <a:schemeClr val="lt1"/>
                </a:highlight>
                <a:latin typeface="Times New Roman"/>
                <a:ea typeface="Times New Roman"/>
                <a:cs typeface="Times New Roman"/>
                <a:sym typeface="Times New Roman"/>
              </a:rPr>
              <a:t>.</a:t>
            </a:r>
            <a:r>
              <a:rPr b="1" lang="zh-HK" sz="1100">
                <a:solidFill>
                  <a:srgbClr val="212121"/>
                </a:solidFill>
                <a:highlight>
                  <a:schemeClr val="lt1"/>
                </a:highlight>
                <a:latin typeface="Times New Roman"/>
                <a:ea typeface="Times New Roman"/>
                <a:cs typeface="Times New Roman"/>
                <a:sym typeface="Times New Roman"/>
              </a:rPr>
              <a:t>2</a:t>
            </a:r>
            <a:r>
              <a:rPr b="1" i="0" lang="zh-HK" sz="1100" u="none" cap="none" strike="noStrike">
                <a:solidFill>
                  <a:srgbClr val="212121"/>
                </a:solidFill>
                <a:highlight>
                  <a:schemeClr val="lt1"/>
                </a:highlight>
                <a:latin typeface="Times New Roman"/>
                <a:ea typeface="Times New Roman"/>
                <a:cs typeface="Times New Roman"/>
                <a:sym typeface="Times New Roman"/>
              </a:rPr>
              <a:t>K views and </a:t>
            </a:r>
            <a:r>
              <a:rPr b="1" lang="zh-HK" sz="1100">
                <a:solidFill>
                  <a:srgbClr val="212121"/>
                </a:solidFill>
                <a:highlight>
                  <a:schemeClr val="lt1"/>
                </a:highlight>
                <a:latin typeface="Times New Roman"/>
                <a:ea typeface="Times New Roman"/>
                <a:cs typeface="Times New Roman"/>
                <a:sym typeface="Times New Roman"/>
              </a:rPr>
              <a:t>170</a:t>
            </a:r>
            <a:r>
              <a:rPr b="1" i="0" lang="zh-HK" sz="1100" u="none" cap="none" strike="noStrike">
                <a:solidFill>
                  <a:srgbClr val="212121"/>
                </a:solidFill>
                <a:highlight>
                  <a:schemeClr val="lt1"/>
                </a:highlight>
                <a:latin typeface="Times New Roman"/>
                <a:ea typeface="Times New Roman"/>
                <a:cs typeface="Times New Roman"/>
                <a:sym typeface="Times New Roman"/>
              </a:rPr>
              <a:t> engagements/Seeding)</a:t>
            </a:r>
            <a:endParaRPr b="1" i="0" sz="1100" u="none" cap="none" strike="noStrike">
              <a:solidFill>
                <a:srgbClr val="212121"/>
              </a:solidFill>
              <a:highlight>
                <a:schemeClr val="lt1"/>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Clr>
                <a:srgbClr val="000000"/>
              </a:buClr>
              <a:buSzPts val="1200"/>
              <a:buFont typeface="Arial"/>
              <a:buNone/>
            </a:pPr>
            <a:r>
              <a:t/>
            </a:r>
            <a:endParaRPr b="1" i="0" sz="1200" u="none" cap="none" strike="noStrike">
              <a:solidFill>
                <a:srgbClr val="212121"/>
              </a:solidFill>
              <a:highlight>
                <a:schemeClr val="lt1"/>
              </a:highlight>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300"/>
              <a:buFont typeface="Arial"/>
              <a:buNone/>
            </a:pPr>
            <a:r>
              <a:t/>
            </a:r>
            <a:endParaRPr b="0" i="0" sz="1200" u="none" cap="none" strike="noStrike">
              <a:solidFill>
                <a:srgbClr val="000000"/>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300"/>
              <a:buFont typeface="Arial"/>
              <a:buNone/>
            </a:pPr>
            <a:r>
              <a:t/>
            </a:r>
            <a:endParaRPr b="0" i="0" sz="1300" u="none" cap="none" strike="noStrike">
              <a:solidFill>
                <a:srgbClr val="212121"/>
              </a:solidFill>
              <a:highlight>
                <a:schemeClr val="lt1"/>
              </a:highlight>
              <a:latin typeface="Times New Roman"/>
              <a:ea typeface="Times New Roman"/>
              <a:cs typeface="Times New Roman"/>
              <a:sym typeface="Times New Roman"/>
            </a:endParaRPr>
          </a:p>
        </p:txBody>
      </p:sp>
      <p:sp>
        <p:nvSpPr>
          <p:cNvPr id="641" name="Google Shape;641;g3f679a2d4e1_0_348"/>
          <p:cNvSpPr txBox="1"/>
          <p:nvPr/>
        </p:nvSpPr>
        <p:spPr>
          <a:xfrm>
            <a:off x="220300" y="4697419"/>
            <a:ext cx="1666200" cy="32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000"/>
              <a:buFont typeface="Arial"/>
              <a:buNone/>
            </a:pPr>
            <a:r>
              <a:rPr b="0" i="0" lang="zh-HK" sz="1000" u="none" cap="none" strike="noStrike">
                <a:solidFill>
                  <a:schemeClr val="dk2"/>
                </a:solidFill>
                <a:latin typeface="Arial"/>
                <a:ea typeface="Arial"/>
                <a:cs typeface="Arial"/>
                <a:sym typeface="Arial"/>
              </a:rPr>
              <a:t>Data collected by </a:t>
            </a:r>
            <a:r>
              <a:rPr lang="zh-HK" sz="1000">
                <a:solidFill>
                  <a:schemeClr val="dk2"/>
                </a:solidFill>
              </a:rPr>
              <a:t>Sep</a:t>
            </a:r>
            <a:r>
              <a:rPr b="0" i="0" lang="zh-HK" sz="1000" u="none" cap="none" strike="noStrike">
                <a:solidFill>
                  <a:schemeClr val="dk2"/>
                </a:solidFill>
                <a:latin typeface="Arial"/>
                <a:ea typeface="Arial"/>
                <a:cs typeface="Arial"/>
                <a:sym typeface="Arial"/>
              </a:rPr>
              <a:t> 3</a:t>
            </a:r>
            <a:endParaRPr b="0" i="0" sz="1000" u="none" cap="none" strike="noStrike">
              <a:solidFill>
                <a:schemeClr val="dk2"/>
              </a:solidFill>
              <a:latin typeface="Arial"/>
              <a:ea typeface="Arial"/>
              <a:cs typeface="Arial"/>
              <a:sym typeface="Arial"/>
            </a:endParaRPr>
          </a:p>
        </p:txBody>
      </p:sp>
      <p:sp>
        <p:nvSpPr>
          <p:cNvPr id="642" name="Google Shape;642;g3f679a2d4e1_0_348"/>
          <p:cNvSpPr txBox="1"/>
          <p:nvPr/>
        </p:nvSpPr>
        <p:spPr>
          <a:xfrm>
            <a:off x="259200" y="826200"/>
            <a:ext cx="61770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rgbClr val="0F1115"/>
              </a:buClr>
              <a:buSzPts val="1100"/>
              <a:buFont typeface="Times New Roman"/>
              <a:buChar char="●"/>
            </a:pPr>
            <a:r>
              <a:rPr b="1" i="0" lang="zh-HK" sz="1100" u="none" cap="none" strike="noStrike">
                <a:solidFill>
                  <a:srgbClr val="0F1115"/>
                </a:solidFill>
                <a:highlight>
                  <a:srgbClr val="FFFFFF"/>
                </a:highlight>
                <a:latin typeface="Times New Roman"/>
                <a:ea typeface="Times New Roman"/>
                <a:cs typeface="Times New Roman"/>
                <a:sym typeface="Times New Roman"/>
              </a:rPr>
              <a:t>Views &amp; Engagement:</a:t>
            </a:r>
            <a:r>
              <a:rPr b="0" i="0" lang="zh-HK" sz="1100" u="none" cap="none" strike="noStrike">
                <a:solidFill>
                  <a:srgbClr val="0F1115"/>
                </a:solidFill>
                <a:highlight>
                  <a:srgbClr val="FFFFFF"/>
                </a:highlight>
                <a:latin typeface="Times New Roman"/>
                <a:ea typeface="Times New Roman"/>
                <a:cs typeface="Times New Roman"/>
                <a:sym typeface="Times New Roman"/>
              </a:rPr>
              <a:t> </a:t>
            </a:r>
            <a:r>
              <a:rPr lang="zh-HK" sz="1100">
                <a:solidFill>
                  <a:srgbClr val="0F1115"/>
                </a:solidFill>
                <a:highlight>
                  <a:srgbClr val="FFFFFF"/>
                </a:highlight>
                <a:latin typeface="Times New Roman"/>
                <a:ea typeface="Times New Roman"/>
                <a:cs typeface="Times New Roman"/>
                <a:sym typeface="Times New Roman"/>
              </a:rPr>
              <a:t>Suki 大王 delivered the highest video views and the strongest total engagement among all seeding posts.</a:t>
            </a:r>
            <a:br>
              <a:rPr lang="zh-HK" sz="1100">
                <a:solidFill>
                  <a:srgbClr val="0F1115"/>
                </a:solidFill>
                <a:highlight>
                  <a:srgbClr val="FFFFFF"/>
                </a:highlight>
                <a:latin typeface="Times New Roman"/>
                <a:ea typeface="Times New Roman"/>
                <a:cs typeface="Times New Roman"/>
                <a:sym typeface="Times New Roman"/>
              </a:rPr>
            </a:br>
            <a:endParaRPr b="0" i="0" sz="1100" u="none" cap="none" strike="noStrike">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0F1115"/>
              </a:buClr>
              <a:buSzPts val="1100"/>
              <a:buFont typeface="Times New Roman"/>
              <a:buChar char="●"/>
            </a:pPr>
            <a:r>
              <a:rPr b="1" i="0" lang="zh-HK" sz="1100" u="none" cap="none" strike="noStrike">
                <a:solidFill>
                  <a:srgbClr val="0F1115"/>
                </a:solidFill>
                <a:highlight>
                  <a:srgbClr val="FFFFFF"/>
                </a:highlight>
                <a:latin typeface="Times New Roman"/>
                <a:ea typeface="Times New Roman"/>
                <a:cs typeface="Times New Roman"/>
                <a:sym typeface="Times New Roman"/>
              </a:rPr>
              <a:t>Engagement Rate:</a:t>
            </a:r>
            <a:r>
              <a:rPr b="0" i="0" lang="zh-HK" sz="1100" u="none" cap="none" strike="noStrike">
                <a:solidFill>
                  <a:srgbClr val="0F1115"/>
                </a:solidFill>
                <a:highlight>
                  <a:srgbClr val="FFFFFF"/>
                </a:highlight>
                <a:latin typeface="Times New Roman"/>
                <a:ea typeface="Times New Roman"/>
                <a:cs typeface="Times New Roman"/>
                <a:sym typeface="Times New Roman"/>
              </a:rPr>
              <a:t> </a:t>
            </a:r>
            <a:r>
              <a:rPr lang="zh-HK" sz="1100">
                <a:solidFill>
                  <a:srgbClr val="0F1115"/>
                </a:solidFill>
                <a:highlight>
                  <a:srgbClr val="FFFFFF"/>
                </a:highlight>
                <a:latin typeface="Times New Roman"/>
                <a:ea typeface="Times New Roman"/>
                <a:cs typeface="Times New Roman"/>
                <a:sym typeface="Times New Roman"/>
              </a:rPr>
              <a:t>美少女战战 achieved the highest engagement rate at </a:t>
            </a:r>
            <a:r>
              <a:rPr b="1" lang="zh-HK" sz="1100">
                <a:solidFill>
                  <a:srgbClr val="0F1115"/>
                </a:solidFill>
                <a:highlight>
                  <a:srgbClr val="FFFFFF"/>
                </a:highlight>
                <a:latin typeface="Times New Roman"/>
                <a:ea typeface="Times New Roman"/>
                <a:cs typeface="Times New Roman"/>
                <a:sym typeface="Times New Roman"/>
              </a:rPr>
              <a:t>10.57%</a:t>
            </a:r>
            <a:r>
              <a:rPr lang="zh-HK" sz="1100">
                <a:solidFill>
                  <a:srgbClr val="0F1115"/>
                </a:solidFill>
                <a:highlight>
                  <a:srgbClr val="FFFFFF"/>
                </a:highlight>
                <a:latin typeface="Times New Roman"/>
                <a:ea typeface="Times New Roman"/>
                <a:cs typeface="Times New Roman"/>
                <a:sym typeface="Times New Roman"/>
              </a:rPr>
              <a:t>. All seeding deliverables were short‑form videos, delivering a solid overall engagement rate of </a:t>
            </a:r>
            <a:r>
              <a:rPr b="1" lang="zh-HK" sz="1100">
                <a:solidFill>
                  <a:srgbClr val="0F1115"/>
                </a:solidFill>
                <a:highlight>
                  <a:srgbClr val="FFFFFF"/>
                </a:highlight>
                <a:latin typeface="Times New Roman"/>
                <a:ea typeface="Times New Roman"/>
                <a:cs typeface="Times New Roman"/>
                <a:sym typeface="Times New Roman"/>
              </a:rPr>
              <a:t>7.68%</a:t>
            </a:r>
            <a:r>
              <a:rPr lang="zh-HK" sz="1100">
                <a:solidFill>
                  <a:srgbClr val="0F1115"/>
                </a:solidFill>
                <a:highlight>
                  <a:srgbClr val="FFFFFF"/>
                </a:highlight>
                <a:latin typeface="Times New Roman"/>
                <a:ea typeface="Times New Roman"/>
                <a:cs typeface="Times New Roman"/>
                <a:sym typeface="Times New Roman"/>
              </a:rPr>
              <a:t>, demonstrating positive organic performance from nano‑creator seeded content.</a:t>
            </a:r>
            <a:endParaRPr sz="1100">
              <a:solidFill>
                <a:srgbClr val="0F1115"/>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t/>
            </a:r>
            <a:endParaRPr sz="1100">
              <a:solidFill>
                <a:srgbClr val="0F1115"/>
              </a:solidFill>
              <a:highlight>
                <a:srgbClr val="FFFFFF"/>
              </a:highlight>
              <a:latin typeface="Times New Roman"/>
              <a:ea typeface="Times New Roman"/>
              <a:cs typeface="Times New Roman"/>
              <a:sym typeface="Times New Roman"/>
            </a:endParaRPr>
          </a:p>
          <a:p>
            <a:pPr indent="-298450" lvl="0" marL="457200" marR="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Top 2 KOCs seeding notes have been indexed under </a:t>
            </a:r>
            <a:r>
              <a:rPr b="1" lang="zh-HK" sz="1100">
                <a:solidFill>
                  <a:srgbClr val="0F1115"/>
                </a:solidFill>
                <a:highlight>
                  <a:srgbClr val="FFFFFF"/>
                </a:highlight>
                <a:latin typeface="Times New Roman"/>
                <a:ea typeface="Times New Roman"/>
                <a:cs typeface="Times New Roman"/>
                <a:sym typeface="Times New Roman"/>
              </a:rPr>
              <a:t>#朗豪坊chiikawa </a:t>
            </a:r>
            <a:r>
              <a:rPr lang="zh-HK" sz="1100">
                <a:solidFill>
                  <a:srgbClr val="0F1115"/>
                </a:solidFill>
                <a:highlight>
                  <a:srgbClr val="FFFFFF"/>
                </a:highlight>
                <a:latin typeface="Times New Roman"/>
                <a:ea typeface="Times New Roman"/>
                <a:cs typeface="Times New Roman"/>
                <a:sym typeface="Times New Roman"/>
              </a:rPr>
              <a:t>topic.</a:t>
            </a:r>
            <a:endParaRPr sz="1100">
              <a:solidFill>
                <a:srgbClr val="0F1115"/>
              </a:solidFill>
              <a:highlight>
                <a:srgbClr val="FFFFFF"/>
              </a:highlight>
              <a:latin typeface="Times New Roman"/>
              <a:ea typeface="Times New Roman"/>
              <a:cs typeface="Times New Roman"/>
              <a:sym typeface="Times New Roman"/>
            </a:endParaRPr>
          </a:p>
          <a:p>
            <a:pPr indent="0" lvl="0" marL="0" marR="0" rtl="0" algn="l">
              <a:lnSpc>
                <a:spcPct val="115000"/>
              </a:lnSpc>
              <a:spcBef>
                <a:spcPts val="0"/>
              </a:spcBef>
              <a:spcAft>
                <a:spcPts val="0"/>
              </a:spcAft>
              <a:buNone/>
            </a:pPr>
            <a:r>
              <a:t/>
            </a:r>
            <a:endParaRPr sz="1100">
              <a:solidFill>
                <a:srgbClr val="0F1115"/>
              </a:solidFill>
              <a:highlight>
                <a:srgbClr val="FFFFFF"/>
              </a:highlight>
              <a:latin typeface="Times New Roman"/>
              <a:ea typeface="Times New Roman"/>
              <a:cs typeface="Times New Roman"/>
              <a:sym typeface="Times New Roman"/>
            </a:endParaRPr>
          </a:p>
        </p:txBody>
      </p:sp>
      <p:pic>
        <p:nvPicPr>
          <p:cNvPr id="643" name="Google Shape;643;g3f679a2d4e1_0_348"/>
          <p:cNvPicPr preferRelativeResize="0"/>
          <p:nvPr/>
        </p:nvPicPr>
        <p:blipFill>
          <a:blip r:embed="rId5">
            <a:alphaModFix/>
          </a:blip>
          <a:stretch>
            <a:fillRect/>
          </a:stretch>
        </p:blipFill>
        <p:spPr>
          <a:xfrm>
            <a:off x="162425" y="2678307"/>
            <a:ext cx="6147548" cy="1247525"/>
          </a:xfrm>
          <a:prstGeom prst="rect">
            <a:avLst/>
          </a:prstGeom>
          <a:noFill/>
          <a:ln>
            <a:noFill/>
          </a:ln>
        </p:spPr>
      </p:pic>
      <p:sp>
        <p:nvSpPr>
          <p:cNvPr id="644" name="Google Shape;644;g3f679a2d4e1_0_348"/>
          <p:cNvSpPr/>
          <p:nvPr/>
        </p:nvSpPr>
        <p:spPr>
          <a:xfrm>
            <a:off x="89210" y="3492350"/>
            <a:ext cx="6309900" cy="122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2400">
              <a:latin typeface="Source Code Pro"/>
              <a:ea typeface="Source Code Pro"/>
              <a:cs typeface="Source Code Pro"/>
              <a:sym typeface="Source Code Pro"/>
            </a:endParaRPr>
          </a:p>
        </p:txBody>
      </p:sp>
      <p:pic>
        <p:nvPicPr>
          <p:cNvPr id="645" name="Google Shape;645;g3f679a2d4e1_0_348"/>
          <p:cNvPicPr preferRelativeResize="0"/>
          <p:nvPr/>
        </p:nvPicPr>
        <p:blipFill>
          <a:blip r:embed="rId6">
            <a:alphaModFix/>
          </a:blip>
          <a:stretch>
            <a:fillRect/>
          </a:stretch>
        </p:blipFill>
        <p:spPr>
          <a:xfrm>
            <a:off x="6517600" y="1557337"/>
            <a:ext cx="1268726" cy="2821248"/>
          </a:xfrm>
          <a:prstGeom prst="rect">
            <a:avLst/>
          </a:prstGeom>
          <a:noFill/>
          <a:ln>
            <a:noFill/>
          </a:ln>
          <a:effectLst>
            <a:outerShdw blurRad="57150" rotWithShape="0" algn="bl" dir="5400000" dist="19050">
              <a:srgbClr val="000000">
                <a:alpha val="50000"/>
              </a:srgbClr>
            </a:outerShdw>
          </a:effectLst>
        </p:spPr>
      </p:pic>
      <p:sp>
        <p:nvSpPr>
          <p:cNvPr id="646" name="Google Shape;646;g3f679a2d4e1_0_348"/>
          <p:cNvSpPr/>
          <p:nvPr/>
        </p:nvSpPr>
        <p:spPr>
          <a:xfrm>
            <a:off x="7170225" y="2486725"/>
            <a:ext cx="660600" cy="1128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647" name="Google Shape;647;g3f679a2d4e1_0_348"/>
          <p:cNvPicPr preferRelativeResize="0"/>
          <p:nvPr/>
        </p:nvPicPr>
        <p:blipFill>
          <a:blip r:embed="rId7">
            <a:alphaModFix/>
          </a:blip>
          <a:stretch>
            <a:fillRect/>
          </a:stretch>
        </p:blipFill>
        <p:spPr>
          <a:xfrm>
            <a:off x="7830825" y="1557325"/>
            <a:ext cx="1268724" cy="2821248"/>
          </a:xfrm>
          <a:prstGeom prst="rect">
            <a:avLst/>
          </a:prstGeom>
          <a:noFill/>
          <a:ln>
            <a:noFill/>
          </a:ln>
          <a:effectLst>
            <a:outerShdw blurRad="57150" rotWithShape="0" algn="bl" dir="5400000" dist="19050">
              <a:srgbClr val="000000">
                <a:alpha val="50000"/>
              </a:srgbClr>
            </a:outerShdw>
          </a:effectLst>
        </p:spPr>
      </p:pic>
      <p:sp>
        <p:nvSpPr>
          <p:cNvPr id="648" name="Google Shape;648;g3f679a2d4e1_0_348"/>
          <p:cNvSpPr/>
          <p:nvPr/>
        </p:nvSpPr>
        <p:spPr>
          <a:xfrm>
            <a:off x="7813279" y="2929057"/>
            <a:ext cx="660600" cy="1128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f997c9d9d1_1_2"/>
          <p:cNvSpPr txBox="1"/>
          <p:nvPr/>
        </p:nvSpPr>
        <p:spPr>
          <a:xfrm>
            <a:off x="945700" y="254050"/>
            <a:ext cx="61659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zh-HK" sz="2000" u="none" cap="none" strike="noStrike">
                <a:solidFill>
                  <a:schemeClr val="dk1"/>
                </a:solidFill>
                <a:latin typeface="Times New Roman"/>
                <a:ea typeface="Times New Roman"/>
                <a:cs typeface="Times New Roman"/>
                <a:sym typeface="Times New Roman"/>
              </a:rPr>
              <a:t>Learnings &amp; Insights</a:t>
            </a:r>
            <a:endParaRPr b="1" i="0" sz="2000" u="none" cap="none" strike="noStrike">
              <a:solidFill>
                <a:srgbClr val="000000"/>
              </a:solidFill>
              <a:latin typeface="Arial"/>
              <a:ea typeface="Arial"/>
              <a:cs typeface="Arial"/>
              <a:sym typeface="Arial"/>
            </a:endParaRPr>
          </a:p>
        </p:txBody>
      </p:sp>
      <p:pic>
        <p:nvPicPr>
          <p:cNvPr id="654" name="Google Shape;654;g3f997c9d9d1_1_2"/>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655" name="Google Shape;655;g3f997c9d9d1_1_2"/>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656" name="Google Shape;656;g3f997c9d9d1_1_2"/>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657" name="Google Shape;657;g3f997c9d9d1_1_2"/>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658" name="Google Shape;658;g3f997c9d9d1_1_2"/>
          <p:cNvSpPr txBox="1"/>
          <p:nvPr/>
        </p:nvSpPr>
        <p:spPr>
          <a:xfrm>
            <a:off x="61650" y="918675"/>
            <a:ext cx="4118700" cy="378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t/>
            </a:r>
            <a:endParaRPr i="0" sz="1100" u="none" cap="none" strike="noStrike">
              <a:solidFill>
                <a:srgbClr val="212121"/>
              </a:solidFill>
              <a:highlight>
                <a:srgbClr val="FFFFFF"/>
              </a:highlight>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b="1" lang="zh-HK" sz="1200">
                <a:latin typeface="Times New Roman"/>
                <a:ea typeface="Times New Roman"/>
                <a:cs typeface="Times New Roman"/>
                <a:sym typeface="Times New Roman"/>
              </a:rPr>
              <a:t>Cross‑platform Distribution</a:t>
            </a:r>
            <a:r>
              <a:rPr lang="zh-HK" sz="1200">
                <a:latin typeface="Times New Roman"/>
                <a:ea typeface="Times New Roman"/>
                <a:cs typeface="Times New Roman"/>
                <a:sym typeface="Times New Roman"/>
              </a:rPr>
              <a:t>: </a:t>
            </a:r>
            <a:br>
              <a:rPr lang="zh-HK" sz="1200">
                <a:latin typeface="Times New Roman"/>
                <a:ea typeface="Times New Roman"/>
                <a:cs typeface="Times New Roman"/>
                <a:sym typeface="Times New Roman"/>
              </a:rPr>
            </a:br>
            <a:r>
              <a:rPr lang="zh-HK" sz="1200">
                <a:latin typeface="Times New Roman"/>
                <a:ea typeface="Times New Roman"/>
                <a:cs typeface="Times New Roman"/>
                <a:sym typeface="Times New Roman"/>
              </a:rPr>
              <a:t>Identical content yields vastly different results across platforms. For future </a:t>
            </a:r>
            <a:r>
              <a:rPr b="1" lang="zh-HK" sz="1200">
                <a:latin typeface="Times New Roman"/>
                <a:ea typeface="Times New Roman"/>
                <a:cs typeface="Times New Roman"/>
                <a:sym typeface="Times New Roman"/>
              </a:rPr>
              <a:t>XHS</a:t>
            </a:r>
            <a:r>
              <a:rPr lang="zh-HK" sz="1200">
                <a:latin typeface="Times New Roman"/>
                <a:ea typeface="Times New Roman"/>
                <a:cs typeface="Times New Roman"/>
                <a:sym typeface="Times New Roman"/>
              </a:rPr>
              <a:t> creator partnerships, we will ask influencers to repost content to additional channels including </a:t>
            </a:r>
            <a:r>
              <a:rPr b="1" lang="zh-HK" sz="1200">
                <a:latin typeface="Times New Roman"/>
                <a:ea typeface="Times New Roman"/>
                <a:cs typeface="Times New Roman"/>
                <a:sym typeface="Times New Roman"/>
              </a:rPr>
              <a:t>Douyin,</a:t>
            </a:r>
            <a:r>
              <a:rPr lang="zh-HK" sz="1200">
                <a:latin typeface="Times New Roman"/>
                <a:ea typeface="Times New Roman"/>
                <a:cs typeface="Times New Roman"/>
                <a:sym typeface="Times New Roman"/>
              </a:rPr>
              <a:t> </a:t>
            </a:r>
            <a:r>
              <a:rPr b="1" lang="zh-HK" sz="1200">
                <a:latin typeface="Times New Roman"/>
                <a:ea typeface="Times New Roman"/>
                <a:cs typeface="Times New Roman"/>
                <a:sym typeface="Times New Roman"/>
              </a:rPr>
              <a:t>Instagram</a:t>
            </a:r>
            <a:r>
              <a:rPr lang="zh-HK" sz="1200">
                <a:latin typeface="Times New Roman"/>
                <a:ea typeface="Times New Roman"/>
                <a:cs typeface="Times New Roman"/>
                <a:sym typeface="Times New Roman"/>
              </a:rPr>
              <a:t> where material has strong potential to go viral.</a:t>
            </a:r>
            <a:endParaRPr sz="1200">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200">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rgbClr val="0F1115"/>
              </a:buClr>
              <a:buSzPts val="1200"/>
              <a:buFont typeface="Times New Roman"/>
              <a:buChar char="●"/>
            </a:pPr>
            <a:r>
              <a:rPr b="1" lang="zh-HK" sz="1200">
                <a:latin typeface="Times New Roman"/>
                <a:ea typeface="Times New Roman"/>
                <a:cs typeface="Times New Roman"/>
                <a:sym typeface="Times New Roman"/>
              </a:rPr>
              <a:t>IP Thematic Positioning</a:t>
            </a:r>
            <a:r>
              <a:rPr lang="zh-HK" sz="1200">
                <a:latin typeface="Times New Roman"/>
                <a:ea typeface="Times New Roman"/>
                <a:cs typeface="Times New Roman"/>
                <a:sym typeface="Times New Roman"/>
              </a:rPr>
              <a:t>: </a:t>
            </a:r>
            <a:br>
              <a:rPr lang="zh-HK" sz="1200">
                <a:latin typeface="Times New Roman"/>
                <a:ea typeface="Times New Roman"/>
                <a:cs typeface="Times New Roman"/>
                <a:sym typeface="Times New Roman"/>
              </a:rPr>
            </a:br>
            <a:r>
              <a:rPr lang="zh-HK" sz="1200">
                <a:solidFill>
                  <a:srgbClr val="0F1115"/>
                </a:solidFill>
                <a:latin typeface="Times New Roman"/>
                <a:ea typeface="Times New Roman"/>
                <a:cs typeface="Times New Roman"/>
                <a:sym typeface="Times New Roman"/>
              </a:rPr>
              <a:t>Throughout the Chiikawa campaign, KOCs consistently reinforced the </a:t>
            </a:r>
            <a:r>
              <a:rPr b="1" lang="zh-HK" sz="1200">
                <a:solidFill>
                  <a:srgbClr val="0F1115"/>
                </a:solidFill>
                <a:latin typeface="Times New Roman"/>
                <a:ea typeface="Times New Roman"/>
                <a:cs typeface="Times New Roman"/>
                <a:sym typeface="Times New Roman"/>
              </a:rPr>
              <a:t>"Chiikawa痛樓"</a:t>
            </a:r>
            <a:r>
              <a:rPr lang="zh-HK" sz="1200">
                <a:solidFill>
                  <a:srgbClr val="0F1115"/>
                </a:solidFill>
                <a:latin typeface="Times New Roman"/>
                <a:ea typeface="Times New Roman"/>
                <a:cs typeface="Times New Roman"/>
                <a:sym typeface="Times New Roman"/>
              </a:rPr>
              <a:t> theme in their content, successfully building a strong audience perception that "Langham Place is the </a:t>
            </a:r>
            <a:r>
              <a:rPr b="1" lang="zh-HK" sz="1150">
                <a:solidFill>
                  <a:srgbClr val="0F1115"/>
                </a:solidFill>
                <a:latin typeface="Times New Roman"/>
                <a:ea typeface="Times New Roman"/>
                <a:cs typeface="Times New Roman"/>
                <a:sym typeface="Times New Roman"/>
              </a:rPr>
              <a:t>must-visit</a:t>
            </a:r>
            <a:r>
              <a:rPr lang="zh-HK" sz="1200">
                <a:solidFill>
                  <a:srgbClr val="0F1115"/>
                </a:solidFill>
                <a:latin typeface="Times New Roman"/>
                <a:ea typeface="Times New Roman"/>
                <a:cs typeface="Times New Roman"/>
                <a:sym typeface="Times New Roman"/>
              </a:rPr>
              <a:t> destination for Chiikawa." This proven  </a:t>
            </a:r>
            <a:r>
              <a:rPr b="1" lang="zh-HK" sz="1150">
                <a:solidFill>
                  <a:srgbClr val="0F1115"/>
                </a:solidFill>
                <a:highlight>
                  <a:srgbClr val="FFFFFF"/>
                </a:highlight>
                <a:latin typeface="Times New Roman"/>
                <a:ea typeface="Times New Roman"/>
                <a:cs typeface="Times New Roman"/>
                <a:sym typeface="Times New Roman"/>
              </a:rPr>
              <a:t>thematic anchoring</a:t>
            </a:r>
            <a:r>
              <a:rPr b="1" lang="zh-HK" sz="1200">
                <a:solidFill>
                  <a:srgbClr val="0F1115"/>
                </a:solidFill>
                <a:latin typeface="Times New Roman"/>
                <a:ea typeface="Times New Roman"/>
                <a:cs typeface="Times New Roman"/>
                <a:sym typeface="Times New Roman"/>
              </a:rPr>
              <a:t> strategy</a:t>
            </a:r>
            <a:r>
              <a:rPr lang="zh-HK" sz="1200">
                <a:solidFill>
                  <a:srgbClr val="0F1115"/>
                </a:solidFill>
                <a:latin typeface="Times New Roman"/>
                <a:ea typeface="Times New Roman"/>
                <a:cs typeface="Times New Roman"/>
                <a:sym typeface="Times New Roman"/>
              </a:rPr>
              <a:t> can be extended to future IP campaign.</a:t>
            </a:r>
            <a:endParaRPr i="0" sz="1200" u="none" cap="none" strike="noStrike">
              <a:solidFill>
                <a:srgbClr val="212121"/>
              </a:solidFill>
              <a:highlight>
                <a:srgbClr val="00FFFF"/>
              </a:highlight>
              <a:latin typeface="Times New Roman"/>
              <a:ea typeface="Times New Roman"/>
              <a:cs typeface="Times New Roman"/>
              <a:sym typeface="Times New Roman"/>
            </a:endParaRPr>
          </a:p>
        </p:txBody>
      </p:sp>
      <p:pic>
        <p:nvPicPr>
          <p:cNvPr id="659" name="Google Shape;659;g3f997c9d9d1_1_2"/>
          <p:cNvPicPr preferRelativeResize="0"/>
          <p:nvPr/>
        </p:nvPicPr>
        <p:blipFill>
          <a:blip r:embed="rId5">
            <a:alphaModFix/>
          </a:blip>
          <a:stretch>
            <a:fillRect/>
          </a:stretch>
        </p:blipFill>
        <p:spPr>
          <a:xfrm>
            <a:off x="5226850" y="518050"/>
            <a:ext cx="3189351" cy="2292048"/>
          </a:xfrm>
          <a:prstGeom prst="rect">
            <a:avLst/>
          </a:prstGeom>
          <a:noFill/>
          <a:ln>
            <a:noFill/>
          </a:ln>
        </p:spPr>
      </p:pic>
      <p:pic>
        <p:nvPicPr>
          <p:cNvPr id="660" name="Google Shape;660;g3f997c9d9d1_1_2"/>
          <p:cNvPicPr preferRelativeResize="0"/>
          <p:nvPr/>
        </p:nvPicPr>
        <p:blipFill>
          <a:blip r:embed="rId6">
            <a:alphaModFix/>
          </a:blip>
          <a:stretch>
            <a:fillRect/>
          </a:stretch>
        </p:blipFill>
        <p:spPr>
          <a:xfrm>
            <a:off x="5226850" y="2932775"/>
            <a:ext cx="3189352" cy="2058327"/>
          </a:xfrm>
          <a:prstGeom prst="rect">
            <a:avLst/>
          </a:prstGeom>
          <a:noFill/>
          <a:ln>
            <a:noFill/>
          </a:ln>
        </p:spPr>
      </p:pic>
      <p:sp>
        <p:nvSpPr>
          <p:cNvPr id="661" name="Google Shape;661;g3f997c9d9d1_1_2"/>
          <p:cNvSpPr/>
          <p:nvPr/>
        </p:nvSpPr>
        <p:spPr>
          <a:xfrm>
            <a:off x="7783550" y="758275"/>
            <a:ext cx="189600" cy="11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662" name="Google Shape;662;g3f997c9d9d1_1_2"/>
          <p:cNvSpPr/>
          <p:nvPr/>
        </p:nvSpPr>
        <p:spPr>
          <a:xfrm>
            <a:off x="7761248" y="3129781"/>
            <a:ext cx="189600" cy="11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663" name="Google Shape;663;g3f997c9d9d1_1_2"/>
          <p:cNvSpPr/>
          <p:nvPr/>
        </p:nvSpPr>
        <p:spPr>
          <a:xfrm>
            <a:off x="7634867" y="932977"/>
            <a:ext cx="189600" cy="1116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fa1a1a2c2b_0_0"/>
          <p:cNvSpPr txBox="1"/>
          <p:nvPr/>
        </p:nvSpPr>
        <p:spPr>
          <a:xfrm>
            <a:off x="945700" y="254050"/>
            <a:ext cx="6165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2000"/>
              <a:buFont typeface="Arial"/>
              <a:buNone/>
            </a:pPr>
            <a:r>
              <a:rPr b="1" lang="zh-HK" sz="2000">
                <a:solidFill>
                  <a:schemeClr val="dk1"/>
                </a:solidFill>
                <a:latin typeface="Times New Roman"/>
                <a:ea typeface="Times New Roman"/>
                <a:cs typeface="Times New Roman"/>
                <a:sym typeface="Times New Roman"/>
              </a:rPr>
              <a:t>金庸艺术雕像 </a:t>
            </a:r>
            <a:r>
              <a:rPr b="1" lang="zh-HK" sz="2000">
                <a:solidFill>
                  <a:schemeClr val="dk1"/>
                </a:solidFill>
                <a:latin typeface="Times New Roman"/>
                <a:ea typeface="Times New Roman"/>
                <a:cs typeface="Times New Roman"/>
                <a:sym typeface="Times New Roman"/>
              </a:rPr>
              <a:t>KOL Campaign</a:t>
            </a:r>
            <a:endParaRPr b="1" i="0" sz="2000" u="none" cap="none" strike="noStrike">
              <a:solidFill>
                <a:srgbClr val="000000"/>
              </a:solidFill>
              <a:latin typeface="Arial"/>
              <a:ea typeface="Arial"/>
              <a:cs typeface="Arial"/>
              <a:sym typeface="Arial"/>
            </a:endParaRPr>
          </a:p>
        </p:txBody>
      </p:sp>
      <p:pic>
        <p:nvPicPr>
          <p:cNvPr id="669" name="Google Shape;669;g3fa1a1a2c2b_0_0"/>
          <p:cNvPicPr preferRelativeResize="0"/>
          <p:nvPr/>
        </p:nvPicPr>
        <p:blipFill rotWithShape="1">
          <a:blip r:embed="rId3">
            <a:alphaModFix/>
          </a:blip>
          <a:srcRect b="0" l="0" r="0" t="0"/>
          <a:stretch/>
        </p:blipFill>
        <p:spPr>
          <a:xfrm>
            <a:off x="501350" y="307312"/>
            <a:ext cx="386075" cy="386075"/>
          </a:xfrm>
          <a:prstGeom prst="rect">
            <a:avLst/>
          </a:prstGeom>
          <a:noFill/>
          <a:ln>
            <a:noFill/>
          </a:ln>
        </p:spPr>
      </p:pic>
      <p:sp>
        <p:nvSpPr>
          <p:cNvPr id="670" name="Google Shape;670;g3fa1a1a2c2b_0_0"/>
          <p:cNvSpPr/>
          <p:nvPr/>
        </p:nvSpPr>
        <p:spPr>
          <a:xfrm>
            <a:off x="395027" y="359057"/>
            <a:ext cx="42900" cy="282600"/>
          </a:xfrm>
          <a:prstGeom prst="rect">
            <a:avLst/>
          </a:prstGeom>
          <a:solidFill>
            <a:srgbClr val="CC0000"/>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icrosoft YaHei"/>
              <a:ea typeface="Microsoft YaHei"/>
              <a:cs typeface="Microsoft YaHei"/>
              <a:sym typeface="Microsoft YaHei"/>
            </a:endParaRPr>
          </a:p>
        </p:txBody>
      </p:sp>
      <p:sp>
        <p:nvSpPr>
          <p:cNvPr id="671" name="Google Shape;671;g3fa1a1a2c2b_0_0"/>
          <p:cNvSpPr/>
          <p:nvPr/>
        </p:nvSpPr>
        <p:spPr>
          <a:xfrm>
            <a:off x="0" y="-62133"/>
            <a:ext cx="9188400" cy="210300"/>
          </a:xfrm>
          <a:prstGeom prst="rect">
            <a:avLst/>
          </a:prstGeom>
          <a:solidFill>
            <a:srgbClr val="E91C63"/>
          </a:solidFill>
          <a:ln>
            <a:noFill/>
          </a:ln>
        </p:spPr>
        <p:txBody>
          <a:bodyPr anchorCtr="0" anchor="ctr" bIns="45700" lIns="457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bout | Langham Place" id="672" name="Google Shape;672;g3fa1a1a2c2b_0_0"/>
          <p:cNvPicPr preferRelativeResize="0"/>
          <p:nvPr/>
        </p:nvPicPr>
        <p:blipFill rotWithShape="1">
          <a:blip r:embed="rId4">
            <a:alphaModFix/>
          </a:blip>
          <a:srcRect b="21020" l="14061" r="17215" t="26140"/>
          <a:stretch/>
        </p:blipFill>
        <p:spPr>
          <a:xfrm>
            <a:off x="8094845" y="170700"/>
            <a:ext cx="1049154" cy="423511"/>
          </a:xfrm>
          <a:prstGeom prst="rect">
            <a:avLst/>
          </a:prstGeom>
          <a:noFill/>
          <a:ln>
            <a:noFill/>
          </a:ln>
        </p:spPr>
      </p:pic>
      <p:sp>
        <p:nvSpPr>
          <p:cNvPr id="673" name="Google Shape;673;g3fa1a1a2c2b_0_0"/>
          <p:cNvSpPr txBox="1"/>
          <p:nvPr/>
        </p:nvSpPr>
        <p:spPr>
          <a:xfrm>
            <a:off x="2605225" y="1188225"/>
            <a:ext cx="2999700" cy="303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zh-HK" sz="1100">
                <a:solidFill>
                  <a:srgbClr val="0F1115"/>
                </a:solidFill>
                <a:highlight>
                  <a:srgbClr val="FFFFFF"/>
                </a:highlight>
                <a:latin typeface="Times New Roman"/>
                <a:ea typeface="Times New Roman"/>
                <a:cs typeface="Times New Roman"/>
                <a:sym typeface="Times New Roman"/>
              </a:rPr>
              <a:t> 1 KOL（100k+ fans）and 7 KOCS in 金庸 campaign.</a:t>
            </a:r>
            <a:endParaRPr b="1"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120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Model: KOL‑led + KOC matrix amplification</a:t>
            </a:r>
            <a:br>
              <a:rPr lang="zh-HK" sz="1100">
                <a:solidFill>
                  <a:srgbClr val="0F1115"/>
                </a:solidFill>
                <a:highlight>
                  <a:srgbClr val="FFFFFF"/>
                </a:highlight>
                <a:latin typeface="Times New Roman"/>
                <a:ea typeface="Times New Roman"/>
                <a:cs typeface="Times New Roman"/>
                <a:sym typeface="Times New Roman"/>
              </a:rPr>
            </a:b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Content Strategy: Feature Jin Yong Art Sculptures as key cultural highlight; combine Hong Kong deep‑travel routes (油麻地，旺角), embed Langham Place IP &amp; Cordis Hotel, to build integrated culture‑art &amp; travel content.</a:t>
            </a:r>
            <a:br>
              <a:rPr lang="zh-HK" sz="1100">
                <a:solidFill>
                  <a:srgbClr val="0F1115"/>
                </a:solidFill>
                <a:highlight>
                  <a:srgbClr val="FFFFFF"/>
                </a:highlight>
                <a:latin typeface="Times New Roman"/>
                <a:ea typeface="Times New Roman"/>
                <a:cs typeface="Times New Roman"/>
                <a:sym typeface="Times New Roman"/>
              </a:rPr>
            </a:br>
            <a:endParaRPr sz="1100">
              <a:solidFill>
                <a:srgbClr val="0F1115"/>
              </a:solidFill>
              <a:highlight>
                <a:srgbClr val="FFFFFF"/>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rgbClr val="0F1115"/>
              </a:buClr>
              <a:buSzPts val="1100"/>
              <a:buFont typeface="Times New Roman"/>
              <a:buChar char="●"/>
            </a:pPr>
            <a:r>
              <a:rPr lang="zh-HK" sz="1100">
                <a:solidFill>
                  <a:srgbClr val="0F1115"/>
                </a:solidFill>
                <a:highlight>
                  <a:srgbClr val="FFFFFF"/>
                </a:highlight>
                <a:latin typeface="Times New Roman"/>
                <a:ea typeface="Times New Roman"/>
                <a:cs typeface="Times New Roman"/>
                <a:sym typeface="Times New Roman"/>
              </a:rPr>
              <a:t> Core Objective: Increase exposure and discussion for #朗豪坊金庸艺术雕塑）</a:t>
            </a:r>
            <a:endParaRPr sz="1100">
              <a:solidFill>
                <a:srgbClr val="0F1115"/>
              </a:solidFill>
              <a:highlight>
                <a:srgbClr val="FFFFFF"/>
              </a:highlight>
              <a:latin typeface="Times New Roman"/>
              <a:ea typeface="Times New Roman"/>
              <a:cs typeface="Times New Roman"/>
              <a:sym typeface="Times New Roman"/>
            </a:endParaRPr>
          </a:p>
        </p:txBody>
      </p:sp>
      <p:pic>
        <p:nvPicPr>
          <p:cNvPr id="674" name="Google Shape;674;g3fa1a1a2c2b_0_0"/>
          <p:cNvPicPr preferRelativeResize="0"/>
          <p:nvPr/>
        </p:nvPicPr>
        <p:blipFill>
          <a:blip r:embed="rId5">
            <a:alphaModFix/>
          </a:blip>
          <a:stretch>
            <a:fillRect/>
          </a:stretch>
        </p:blipFill>
        <p:spPr>
          <a:xfrm>
            <a:off x="5698775" y="901245"/>
            <a:ext cx="2999700" cy="1687329"/>
          </a:xfrm>
          <a:prstGeom prst="rect">
            <a:avLst/>
          </a:prstGeom>
          <a:noFill/>
          <a:ln>
            <a:noFill/>
          </a:ln>
        </p:spPr>
      </p:pic>
      <p:pic>
        <p:nvPicPr>
          <p:cNvPr id="675" name="Google Shape;675;g3fa1a1a2c2b_0_0"/>
          <p:cNvPicPr preferRelativeResize="0"/>
          <p:nvPr/>
        </p:nvPicPr>
        <p:blipFill>
          <a:blip r:embed="rId6">
            <a:alphaModFix/>
          </a:blip>
          <a:stretch>
            <a:fillRect/>
          </a:stretch>
        </p:blipFill>
        <p:spPr>
          <a:xfrm>
            <a:off x="5698793" y="2743175"/>
            <a:ext cx="2999670" cy="1687326"/>
          </a:xfrm>
          <a:prstGeom prst="rect">
            <a:avLst/>
          </a:prstGeom>
          <a:noFill/>
          <a:ln>
            <a:noFill/>
          </a:ln>
        </p:spPr>
      </p:pic>
      <p:pic>
        <p:nvPicPr>
          <p:cNvPr id="676" name="Google Shape;676;g3fa1a1a2c2b_0_0"/>
          <p:cNvPicPr preferRelativeResize="0"/>
          <p:nvPr/>
        </p:nvPicPr>
        <p:blipFill rotWithShape="1">
          <a:blip r:embed="rId7">
            <a:alphaModFix/>
          </a:blip>
          <a:srcRect b="5406" l="0" r="0" t="6975"/>
          <a:stretch/>
        </p:blipFill>
        <p:spPr>
          <a:xfrm>
            <a:off x="395025" y="852525"/>
            <a:ext cx="1948049" cy="371070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20"/>
          <p:cNvSpPr txBox="1"/>
          <p:nvPr>
            <p:ph type="title"/>
          </p:nvPr>
        </p:nvSpPr>
        <p:spPr>
          <a:xfrm>
            <a:off x="430800" y="1523940"/>
            <a:ext cx="8282400" cy="1516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3600"/>
              <a:buNone/>
            </a:pPr>
            <a:br>
              <a:rPr lang="zh-HK"/>
            </a:br>
            <a:r>
              <a:rPr b="1" lang="zh-HK" sz="3200">
                <a:solidFill>
                  <a:schemeClr val="lt1"/>
                </a:solidFill>
              </a:rPr>
              <a:t>Thank You</a:t>
            </a:r>
            <a:br>
              <a:rPr b="1" lang="zh-HK" sz="3200">
                <a:solidFill>
                  <a:schemeClr val="lt1"/>
                </a:solidFill>
              </a:rPr>
            </a:br>
            <a:br>
              <a:rPr lang="zh-HK" sz="3200">
                <a:solidFill>
                  <a:schemeClr val="lt1"/>
                </a:solidFill>
              </a:rPr>
            </a:br>
            <a:r>
              <a:rPr lang="zh-HK" sz="1400">
                <a:solidFill>
                  <a:schemeClr val="lt1"/>
                </a:solidFill>
                <a:latin typeface="Lato"/>
                <a:ea typeface="Lato"/>
                <a:cs typeface="Lato"/>
                <a:sym typeface="Lato"/>
              </a:rPr>
              <a:t>Contact: </a:t>
            </a:r>
            <a:r>
              <a:rPr lang="zh-HK" sz="1400">
                <a:solidFill>
                  <a:schemeClr val="hlink"/>
                </a:solidFill>
                <a:uFill>
                  <a:noFill/>
                </a:uFill>
                <a:latin typeface="Lato"/>
                <a:ea typeface="Lato"/>
                <a:cs typeface="Lato"/>
                <a:sym typeface="Lato"/>
                <a:hlinkClick r:id="rId3"/>
              </a:rPr>
              <a:t>info@dichat.hk</a:t>
            </a:r>
            <a:endParaRPr>
              <a:solidFill>
                <a:schemeClr val="lt1"/>
              </a:solidFill>
            </a:endParaRPr>
          </a:p>
        </p:txBody>
      </p:sp>
      <p:pic>
        <p:nvPicPr>
          <p:cNvPr descr="About | Langham Place" id="682" name="Google Shape;682;p20"/>
          <p:cNvPicPr preferRelativeResize="0"/>
          <p:nvPr/>
        </p:nvPicPr>
        <p:blipFill rotWithShape="1">
          <a:blip r:embed="rId4">
            <a:alphaModFix/>
          </a:blip>
          <a:srcRect b="21020" l="14063" r="17215" t="26140"/>
          <a:stretch/>
        </p:blipFill>
        <p:spPr>
          <a:xfrm>
            <a:off x="8094845" y="170700"/>
            <a:ext cx="1049155" cy="4235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1AFD1"/>
      </a:accent5>
      <a:accent6>
        <a:srgbClr val="F8E71C"/>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Jessica Liu</dc:creator>
</cp:coreProperties>
</file>