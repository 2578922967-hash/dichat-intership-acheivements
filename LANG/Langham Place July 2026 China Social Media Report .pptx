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Inter"/>
      <p:regular r:id="rId37"/>
      <p:bold r:id="rId38"/>
      <p:italic r:id="rId39"/>
      <p:boldItalic r:id="rId40"/>
    </p:embeddedFont>
    <p:embeddedFont>
      <p:font typeface="Lato"/>
      <p:regular r:id="rId41"/>
      <p:bold r:id="rId42"/>
      <p:italic r:id="rId43"/>
      <p:boldItalic r:id="rId44"/>
    </p:embeddedFont>
    <p:embeddedFont>
      <p:font typeface="Source Code Pro"/>
      <p:regular r:id="rId45"/>
      <p:bold r:id="rId46"/>
      <p:italic r:id="rId47"/>
      <p:boldItalic r:id="rId48"/>
    </p:embeddedFont>
    <p:embeddedFont>
      <p:font typeface="Oswald"/>
      <p:regular r:id="rId49"/>
      <p:bold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1" roundtripDataSignature="AMtx7mg6BOV2gliEz01fTfO2Xtg0TV0n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1739E71-98CB-4F31-BA75-B360A44B9F01}">
  <a:tblStyle styleId="{E1739E71-98CB-4F31-BA75-B360A44B9F01}"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873EBEE7-B6FE-475A-94F5-F896A97D1A76}"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boldItalic.fntdata"/><Relationship Id="rId42" Type="http://schemas.openxmlformats.org/officeDocument/2006/relationships/font" Target="fonts/Lato-bold.fntdata"/><Relationship Id="rId41" Type="http://schemas.openxmlformats.org/officeDocument/2006/relationships/font" Target="fonts/Lato-regular.fntdata"/><Relationship Id="rId44" Type="http://schemas.openxmlformats.org/officeDocument/2006/relationships/font" Target="fonts/Lato-boldItalic.fntdata"/><Relationship Id="rId43" Type="http://schemas.openxmlformats.org/officeDocument/2006/relationships/font" Target="fonts/Lato-italic.fntdata"/><Relationship Id="rId46" Type="http://schemas.openxmlformats.org/officeDocument/2006/relationships/font" Target="fonts/SourceCodePro-bold.fntdata"/><Relationship Id="rId45" Type="http://schemas.openxmlformats.org/officeDocument/2006/relationships/font" Target="fonts/SourceCodePr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SourceCodePro-boldItalic.fntdata"/><Relationship Id="rId47" Type="http://schemas.openxmlformats.org/officeDocument/2006/relationships/font" Target="fonts/SourceCodePro-italic.fntdata"/><Relationship Id="rId49" Type="http://schemas.openxmlformats.org/officeDocument/2006/relationships/font" Target="fonts/Oswal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Inter-regular.fntdata"/><Relationship Id="rId36" Type="http://schemas.openxmlformats.org/officeDocument/2006/relationships/slide" Target="slides/slide30.xml"/><Relationship Id="rId39" Type="http://schemas.openxmlformats.org/officeDocument/2006/relationships/font" Target="fonts/Inter-italic.fntdata"/><Relationship Id="rId38" Type="http://schemas.openxmlformats.org/officeDocument/2006/relationships/font" Target="fonts/Inter-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font" Target="fonts/Oswald-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 name="Google Shape;7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zh-HK" sz="1050">
                <a:solidFill>
                  <a:schemeClr val="dk1"/>
                </a:solidFill>
                <a:latin typeface="Times New Roman"/>
                <a:ea typeface="Times New Roman"/>
                <a:cs typeface="Times New Roman"/>
                <a:sym typeface="Times New Roman"/>
              </a:rPr>
              <a:t>Total Cost: </a:t>
            </a:r>
            <a:r>
              <a:rPr b="1" lang="zh-HK" sz="1050">
                <a:solidFill>
                  <a:schemeClr val="dk1"/>
                </a:solidFill>
                <a:latin typeface="Times New Roman"/>
                <a:ea typeface="Times New Roman"/>
                <a:cs typeface="Times New Roman"/>
                <a:sym typeface="Times New Roman"/>
              </a:rPr>
              <a:t>3,414.66 HKD (3,006.90 RMB)</a:t>
            </a:r>
            <a:br>
              <a:rPr b="1" lang="zh-HK" sz="1050">
                <a:solidFill>
                  <a:schemeClr val="dk1"/>
                </a:solidFill>
                <a:latin typeface="Times New Roman"/>
                <a:ea typeface="Times New Roman"/>
                <a:cs typeface="Times New Roman"/>
                <a:sym typeface="Times New Roman"/>
              </a:rPr>
            </a:br>
            <a:r>
              <a:rPr lang="zh-HK" sz="1050">
                <a:solidFill>
                  <a:schemeClr val="dk1"/>
                </a:solidFill>
                <a:latin typeface="Times New Roman"/>
                <a:ea typeface="Times New Roman"/>
                <a:cs typeface="Times New Roman"/>
                <a:sym typeface="Times New Roman"/>
              </a:rPr>
              <a:t>CPE: 3,414.66 / 3,196 = </a:t>
            </a:r>
            <a:r>
              <a:rPr b="1" lang="zh-HK" sz="1050">
                <a:solidFill>
                  <a:schemeClr val="dk1"/>
                </a:solidFill>
                <a:latin typeface="Times New Roman"/>
                <a:ea typeface="Times New Roman"/>
                <a:cs typeface="Times New Roman"/>
                <a:sym typeface="Times New Roman"/>
              </a:rPr>
              <a:t>1.07 HKD (0.94 RMB)</a:t>
            </a:r>
            <a:br>
              <a:rPr b="1" lang="zh-HK" sz="1050">
                <a:solidFill>
                  <a:schemeClr val="dk1"/>
                </a:solidFill>
                <a:latin typeface="Times New Roman"/>
                <a:ea typeface="Times New Roman"/>
                <a:cs typeface="Times New Roman"/>
                <a:sym typeface="Times New Roman"/>
              </a:rPr>
            </a:br>
            <a:r>
              <a:rPr lang="zh-HK" sz="1050">
                <a:solidFill>
                  <a:schemeClr val="dk1"/>
                </a:solidFill>
                <a:latin typeface="Times New Roman"/>
                <a:ea typeface="Times New Roman"/>
                <a:cs typeface="Times New Roman"/>
                <a:sym typeface="Times New Roman"/>
              </a:rPr>
              <a:t>CPM: 3,414.66 / 44,431 x 1000 </a:t>
            </a:r>
            <a:r>
              <a:rPr b="1" lang="zh-HK" sz="1050">
                <a:solidFill>
                  <a:schemeClr val="dk1"/>
                </a:solidFill>
                <a:latin typeface="Times New Roman"/>
                <a:ea typeface="Times New Roman"/>
                <a:cs typeface="Times New Roman"/>
                <a:sym typeface="Times New Roman"/>
              </a:rPr>
              <a:t>= 76.84 HKD (67.67 RMB)</a:t>
            </a:r>
            <a:br>
              <a:rPr b="1" lang="zh-HK" sz="1050">
                <a:solidFill>
                  <a:schemeClr val="dk1"/>
                </a:solidFill>
                <a:latin typeface="Times New Roman"/>
                <a:ea typeface="Times New Roman"/>
                <a:cs typeface="Times New Roman"/>
                <a:sym typeface="Times New Roman"/>
              </a:rPr>
            </a:br>
            <a:r>
              <a:rPr lang="zh-HK" sz="1050">
                <a:solidFill>
                  <a:schemeClr val="dk1"/>
                </a:solidFill>
                <a:latin typeface="Times New Roman"/>
                <a:ea typeface="Times New Roman"/>
                <a:cs typeface="Times New Roman"/>
                <a:sym typeface="Times New Roman"/>
              </a:rPr>
              <a:t>CTR: 5,017 / 44,431 x 100 </a:t>
            </a:r>
            <a:r>
              <a:rPr b="1" lang="zh-HK" sz="1050">
                <a:solidFill>
                  <a:schemeClr val="dk1"/>
                </a:solidFill>
                <a:latin typeface="Times New Roman"/>
                <a:ea typeface="Times New Roman"/>
                <a:cs typeface="Times New Roman"/>
                <a:sym typeface="Times New Roman"/>
              </a:rPr>
              <a:t>= 11.29%</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e72db23f1e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3e72db23f1e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2" name="Google Shape;34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e0a25aff75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8" name="Google Shape;358;g3e0a25aff75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1" name="Google Shape;39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9" name="Google Shape;40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6" name="Google Shape;42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6" name="Google Shape;44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f478e7f549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3" name="Google Shape;463;g3f478e7f549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e0a6527a63_6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g3e0a6527a63_6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f478e7f549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3" name="Google Shape;483;g3f478e7f549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f679a2d4e1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9" name="Google Shape;499;g3f679a2d4e1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f679a2d4e1_0_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5" name="Google Shape;515;g3f679a2d4e1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f679a2d4e1_0_2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8" name="Google Shape;528;g3f679a2d4e1_0_2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f679a2d4e1_0_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3" name="Google Shape;543;g3f679a2d4e1_0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f679a2d4e1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8" name="Google Shape;558;g3f679a2d4e1_0_3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f997c9d9d1_1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3" name="Google Shape;573;g3f997c9d9d1_1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5" name="Google Shape;58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2"/>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3" name="Google Shape;13;p22"/>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15" name="Google Shape;15;p22"/>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6" name="Shape 16"/>
        <p:cNvGrpSpPr/>
        <p:nvPr/>
      </p:nvGrpSpPr>
      <p:grpSpPr>
        <a:xfrm>
          <a:off x="0" y="0"/>
          <a:ext cx="0" cy="0"/>
          <a:chOff x="0" y="0"/>
          <a:chExt cx="0" cy="0"/>
        </a:xfrm>
      </p:grpSpPr>
      <p:sp>
        <p:nvSpPr>
          <p:cNvPr id="17" name="Google Shape;17;p23"/>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 name="Google Shape;18;p23"/>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9" name="Google Shape;19;p23"/>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20" name="Google Shape;20;p23"/>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21" name="Google Shape;21;p23"/>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2" name="Google Shape;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23" name="Google Shape;23;p23"/>
          <p:cNvPicPr preferRelativeResize="0"/>
          <p:nvPr/>
        </p:nvPicPr>
        <p:blipFill rotWithShape="1">
          <a:blip r:embed="rId2">
            <a:alphaModFix/>
          </a:blip>
          <a:srcRect b="10251" l="11546" r="10431" t="12545"/>
          <a:stretch/>
        </p:blipFill>
        <p:spPr>
          <a:xfrm>
            <a:off x="4572000" y="4860017"/>
            <a:ext cx="946700" cy="26662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 name="Shape 24"/>
        <p:cNvGrpSpPr/>
        <p:nvPr/>
      </p:nvGrpSpPr>
      <p:grpSpPr>
        <a:xfrm>
          <a:off x="0" y="0"/>
          <a:ext cx="0" cy="0"/>
          <a:chOff x="0" y="0"/>
          <a:chExt cx="0" cy="0"/>
        </a:xfrm>
      </p:grpSpPr>
      <p:sp>
        <p:nvSpPr>
          <p:cNvPr id="25" name="Google Shape;25;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26" name="Google Shape;2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27" name="Google Shape;27;p24"/>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30" name="Google Shape;30;p25"/>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type="tx">
  <p:cSld name="TITLE_AND_BODY">
    <p:spTree>
      <p:nvGrpSpPr>
        <p:cNvPr id="31" name="Shape 31"/>
        <p:cNvGrpSpPr/>
        <p:nvPr/>
      </p:nvGrpSpPr>
      <p:grpSpPr>
        <a:xfrm>
          <a:off x="0" y="0"/>
          <a:ext cx="0" cy="0"/>
          <a:chOff x="0" y="0"/>
          <a:chExt cx="0" cy="0"/>
        </a:xfrm>
      </p:grpSpPr>
      <p:sp>
        <p:nvSpPr>
          <p:cNvPr id="32" name="Google Shape;32;p26"/>
          <p:cNvSpPr txBox="1"/>
          <p:nvPr>
            <p:ph idx="12" type="sldNum"/>
          </p:nvPr>
        </p:nvSpPr>
        <p:spPr>
          <a:xfrm>
            <a:off x="6348407" y="4661536"/>
            <a:ext cx="204794" cy="211454"/>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33" name="Google Shape;33;p26"/>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7"/>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7"/>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37" name="Google Shape;3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38" name="Google Shape;38;p27"/>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cxnSp>
        <p:nvCxnSpPr>
          <p:cNvPr id="40" name="Google Shape;40;p28"/>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41" name="Google Shape;41;p2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2" name="Google Shape;42;p28"/>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3" name="Google Shape;43;p28"/>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4" name="Google Shape;4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45" name="Google Shape;45;p28"/>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cxnSp>
        <p:nvCxnSpPr>
          <p:cNvPr id="47" name="Google Shape;47;p2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8" name="Google Shape;48;p2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9" name="Google Shape;49;p2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0" name="Google Shape;5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51" name="Google Shape;51;p29"/>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52" name="Shape 52"/>
        <p:cNvGrpSpPr/>
        <p:nvPr/>
      </p:nvGrpSpPr>
      <p:grpSpPr>
        <a:xfrm>
          <a:off x="0" y="0"/>
          <a:ext cx="0" cy="0"/>
          <a:chOff x="0" y="0"/>
          <a:chExt cx="0" cy="0"/>
        </a:xfrm>
      </p:grpSpPr>
      <p:sp>
        <p:nvSpPr>
          <p:cNvPr id="53" name="Google Shape;53;p3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54" name="Google Shape;5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55" name="Google Shape;55;p30"/>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cxnSp>
        <p:nvCxnSpPr>
          <p:cNvPr id="57" name="Google Shape;57;p3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8" name="Google Shape;58;p3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59" name="Google Shape;59;p3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0" name="Google Shape;60;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61" name="Google Shape;61;p31"/>
          <p:cNvPicPr preferRelativeResize="0"/>
          <p:nvPr/>
        </p:nvPicPr>
        <p:blipFill rotWithShape="1">
          <a:blip r:embed="rId2">
            <a:alphaModFix/>
          </a:blip>
          <a:srcRect b="10251" l="11546" r="10431" t="12545"/>
          <a:stretch/>
        </p:blipFill>
        <p:spPr>
          <a:xfrm>
            <a:off x="4098649" y="4844716"/>
            <a:ext cx="946700" cy="26662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 showMasterSp="0">
  <p:cSld name="CUSTOM_11">
    <p:spTree>
      <p:nvGrpSpPr>
        <p:cNvPr id="62" name="Shape 62"/>
        <p:cNvGrpSpPr/>
        <p:nvPr/>
      </p:nvGrpSpPr>
      <p:grpSpPr>
        <a:xfrm>
          <a:off x="0" y="0"/>
          <a:ext cx="0" cy="0"/>
          <a:chOff x="0" y="0"/>
          <a:chExt cx="0" cy="0"/>
        </a:xfrm>
      </p:grpSpPr>
      <p:sp>
        <p:nvSpPr>
          <p:cNvPr id="63" name="Google Shape;63;g3f6c672e547_6_10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4" name="Google Shape;64;g3f6c672e547_6_10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HK"/>
              <a:t>‹#›</a:t>
            </a:fld>
            <a:endParaRPr/>
          </a:p>
        </p:txBody>
      </p:sp>
      <p:pic>
        <p:nvPicPr>
          <p:cNvPr descr="A black and white logo&#10;&#10;Description automatically generated" id="65" name="Google Shape;65;g3f6c672e547_6_103"/>
          <p:cNvPicPr preferRelativeResize="0"/>
          <p:nvPr/>
        </p:nvPicPr>
        <p:blipFill rotWithShape="1">
          <a:blip r:embed="rId2">
            <a:alphaModFix/>
          </a:blip>
          <a:srcRect b="0" l="0" r="0" t="0"/>
          <a:stretch/>
        </p:blipFill>
        <p:spPr>
          <a:xfrm>
            <a:off x="4034758" y="4931426"/>
            <a:ext cx="769689" cy="18761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 name="Google Shape;7;p2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1600"/>
              </a:spcBef>
              <a:spcAft>
                <a:spcPts val="160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8" name="Google Shape;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4.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20" Type="http://schemas.openxmlformats.org/officeDocument/2006/relationships/image" Target="../media/image15.jpg"/><Relationship Id="rId11" Type="http://schemas.openxmlformats.org/officeDocument/2006/relationships/image" Target="../media/image68.png"/><Relationship Id="rId22" Type="http://schemas.openxmlformats.org/officeDocument/2006/relationships/image" Target="../media/image12.jpg"/><Relationship Id="rId10" Type="http://schemas.openxmlformats.org/officeDocument/2006/relationships/image" Target="../media/image58.png"/><Relationship Id="rId21" Type="http://schemas.openxmlformats.org/officeDocument/2006/relationships/image" Target="../media/image10.jpg"/><Relationship Id="rId13" Type="http://schemas.openxmlformats.org/officeDocument/2006/relationships/image" Target="../media/image59.png"/><Relationship Id="rId24" Type="http://schemas.openxmlformats.org/officeDocument/2006/relationships/image" Target="../media/image19.png"/><Relationship Id="rId12" Type="http://schemas.openxmlformats.org/officeDocument/2006/relationships/image" Target="../media/image39.png"/><Relationship Id="rId23" Type="http://schemas.openxmlformats.org/officeDocument/2006/relationships/image" Target="../media/image8.jpg"/><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89.png"/><Relationship Id="rId9" Type="http://schemas.openxmlformats.org/officeDocument/2006/relationships/image" Target="../media/image64.png"/><Relationship Id="rId15" Type="http://schemas.openxmlformats.org/officeDocument/2006/relationships/image" Target="../media/image11.jpg"/><Relationship Id="rId14" Type="http://schemas.openxmlformats.org/officeDocument/2006/relationships/image" Target="../media/image51.png"/><Relationship Id="rId17" Type="http://schemas.openxmlformats.org/officeDocument/2006/relationships/image" Target="../media/image13.png"/><Relationship Id="rId16" Type="http://schemas.openxmlformats.org/officeDocument/2006/relationships/image" Target="../media/image24.jpg"/><Relationship Id="rId5" Type="http://schemas.openxmlformats.org/officeDocument/2006/relationships/image" Target="../media/image6.png"/><Relationship Id="rId19" Type="http://schemas.openxmlformats.org/officeDocument/2006/relationships/image" Target="../media/image9.jpg"/><Relationship Id="rId6" Type="http://schemas.openxmlformats.org/officeDocument/2006/relationships/image" Target="../media/image3.png"/><Relationship Id="rId18" Type="http://schemas.openxmlformats.org/officeDocument/2006/relationships/image" Target="../media/image14.png"/><Relationship Id="rId7" Type="http://schemas.openxmlformats.org/officeDocument/2006/relationships/image" Target="../media/image5.png"/><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4.png"/><Relationship Id="rId6" Type="http://schemas.openxmlformats.org/officeDocument/2006/relationships/image" Target="../media/image6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6.jpg"/><Relationship Id="rId6" Type="http://schemas.openxmlformats.org/officeDocument/2006/relationships/image" Target="../media/image55.jpg"/><Relationship Id="rId7" Type="http://schemas.openxmlformats.org/officeDocument/2006/relationships/image" Target="../media/image8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0.jpg"/><Relationship Id="rId6" Type="http://schemas.openxmlformats.org/officeDocument/2006/relationships/image" Target="../media/image2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2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2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5.png"/><Relationship Id="rId9" Type="http://schemas.openxmlformats.org/officeDocument/2006/relationships/image" Target="../media/image31.jpg"/><Relationship Id="rId5" Type="http://schemas.openxmlformats.org/officeDocument/2006/relationships/image" Target="../media/image2.png"/><Relationship Id="rId6" Type="http://schemas.openxmlformats.org/officeDocument/2006/relationships/image" Target="../media/image26.png"/><Relationship Id="rId7" Type="http://schemas.openxmlformats.org/officeDocument/2006/relationships/image" Target="../media/image41.jpg"/><Relationship Id="rId8" Type="http://schemas.openxmlformats.org/officeDocument/2006/relationships/image" Target="../media/image2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3.png"/><Relationship Id="rId5" Type="http://schemas.openxmlformats.org/officeDocument/2006/relationships/hyperlink" Target="https://www.huitun.com/" TargetMode="External"/><Relationship Id="rId6" Type="http://schemas.openxmlformats.org/officeDocument/2006/relationships/image" Target="../media/image2.png"/><Relationship Id="rId7"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hyperlink" Target="https://www.huitun.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2.png"/><Relationship Id="rId4" Type="http://schemas.openxmlformats.org/officeDocument/2006/relationships/image" Target="../media/image37.png"/><Relationship Id="rId5" Type="http://schemas.openxmlformats.org/officeDocument/2006/relationships/image" Target="../media/image3.png"/><Relationship Id="rId6" Type="http://schemas.openxmlformats.org/officeDocument/2006/relationships/hyperlink" Target="https://www.huitun.com/" TargetMode="External"/><Relationship Id="rId7" Type="http://schemas.openxmlformats.org/officeDocument/2006/relationships/image" Target="../media/image2.png"/></Relationships>
</file>

<file path=ppt/slides/_rels/slide15.xml.rels><?xml version="1.0" encoding="UTF-8" standalone="yes"?><Relationships xmlns="http://schemas.openxmlformats.org/package/2006/relationships"><Relationship Id="rId10" Type="http://schemas.openxmlformats.org/officeDocument/2006/relationships/image" Target="../media/image45.jpg"/><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34.jpg"/><Relationship Id="rId9" Type="http://schemas.openxmlformats.org/officeDocument/2006/relationships/image" Target="../media/image4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image" Target="../media/image38.jpg"/><Relationship Id="rId8" Type="http://schemas.openxmlformats.org/officeDocument/2006/relationships/image" Target="../media/image4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47.png"/><Relationship Id="rId5" Type="http://schemas.openxmlformats.org/officeDocument/2006/relationships/image" Target="../media/image42.png"/><Relationship Id="rId6" Type="http://schemas.openxmlformats.org/officeDocument/2006/relationships/image" Target="../media/image46.png"/><Relationship Id="rId7" Type="http://schemas.openxmlformats.org/officeDocument/2006/relationships/image" Target="../media/image49.png"/><Relationship Id="rId8" Type="http://schemas.openxmlformats.org/officeDocument/2006/relationships/image" Target="../media/image43.png"/></Relationships>
</file>

<file path=ppt/slides/_rels/slide17.xml.rels><?xml version="1.0" encoding="UTF-8" standalone="yes"?><Relationships xmlns="http://schemas.openxmlformats.org/package/2006/relationships"><Relationship Id="rId11" Type="http://schemas.openxmlformats.org/officeDocument/2006/relationships/image" Target="../media/image88.jpg"/><Relationship Id="rId10" Type="http://schemas.openxmlformats.org/officeDocument/2006/relationships/image" Target="../media/image53.png"/><Relationship Id="rId12" Type="http://schemas.openxmlformats.org/officeDocument/2006/relationships/image" Target="../media/image52.jpg"/><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s://www.xiaohongshu.com/explore/6a6347f400000000100292e8?xsec_token=AB2JgqeKeegICO_xweioL-2IMdQxhadWm9HXd7Ca0_wv0=&amp;xsec_source=pc_search" TargetMode="External"/><Relationship Id="rId4" Type="http://schemas.openxmlformats.org/officeDocument/2006/relationships/hyperlink" Target="https://www.xiaohongshu.com/explore/6a642b94000000000101c2f3?xsec_token=ABIJ0idS_BFFkOSqwrJ34XamCbpQSj0E3JCJ4oIGGn7C8=&amp;xsec_source=pc_search" TargetMode="External"/><Relationship Id="rId9" Type="http://schemas.openxmlformats.org/officeDocument/2006/relationships/image" Target="../media/image60.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8.png"/><Relationship Id="rId8" Type="http://schemas.openxmlformats.org/officeDocument/2006/relationships/image" Target="../media/image50.png"/></Relationships>
</file>

<file path=ppt/slides/_rels/slide18.xml.rels><?xml version="1.0" encoding="UTF-8" standalone="yes"?><Relationships xmlns="http://schemas.openxmlformats.org/package/2006/relationships"><Relationship Id="rId11" Type="http://schemas.openxmlformats.org/officeDocument/2006/relationships/image" Target="../media/image93.jpg"/><Relationship Id="rId10" Type="http://schemas.openxmlformats.org/officeDocument/2006/relationships/image" Target="../media/image90.jpg"/><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s://mp.weixin.qq.com/s/AzV40RS3JHRYEKMuw8gv5g" TargetMode="External"/><Relationship Id="rId4" Type="http://schemas.openxmlformats.org/officeDocument/2006/relationships/image" Target="../media/image6.png"/><Relationship Id="rId9" Type="http://schemas.openxmlformats.org/officeDocument/2006/relationships/image" Target="../media/image54.jpg"/><Relationship Id="rId5" Type="http://schemas.openxmlformats.org/officeDocument/2006/relationships/hyperlink" Target="https://mp.weixin.qq.com/s/K0MQmB-gTCsmBWWYMGaqAw" TargetMode="External"/><Relationship Id="rId6" Type="http://schemas.openxmlformats.org/officeDocument/2006/relationships/image" Target="../media/image2.png"/><Relationship Id="rId7" Type="http://schemas.openxmlformats.org/officeDocument/2006/relationships/image" Target="../media/image57.jpg"/><Relationship Id="rId8" Type="http://schemas.openxmlformats.org/officeDocument/2006/relationships/image" Target="../media/image56.jpg"/></Relationships>
</file>

<file path=ppt/slides/_rels/slide19.xml.rels><?xml version="1.0" encoding="UTF-8" standalone="yes"?><Relationships xmlns="http://schemas.openxmlformats.org/package/2006/relationships"><Relationship Id="rId10" Type="http://schemas.openxmlformats.org/officeDocument/2006/relationships/image" Target="../media/image94.jpg"/><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2.png"/><Relationship Id="rId9" Type="http://schemas.openxmlformats.org/officeDocument/2006/relationships/image" Target="../media/image81.jpg"/><Relationship Id="rId5" Type="http://schemas.openxmlformats.org/officeDocument/2006/relationships/image" Target="../media/image63.jpg"/><Relationship Id="rId6" Type="http://schemas.openxmlformats.org/officeDocument/2006/relationships/image" Target="../media/image92.jpg"/><Relationship Id="rId7" Type="http://schemas.openxmlformats.org/officeDocument/2006/relationships/image" Target="../media/image87.jpg"/><Relationship Id="rId8" Type="http://schemas.openxmlformats.org/officeDocument/2006/relationships/image" Target="../media/image9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91.jpg"/><Relationship Id="rId6" Type="http://schemas.openxmlformats.org/officeDocument/2006/relationships/image" Target="../media/image61.png"/><Relationship Id="rId7" Type="http://schemas.openxmlformats.org/officeDocument/2006/relationships/image" Target="../media/image95.jpg"/><Relationship Id="rId8" Type="http://schemas.openxmlformats.org/officeDocument/2006/relationships/image" Target="../media/image6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66.png"/><Relationship Id="rId5" Type="http://schemas.openxmlformats.org/officeDocument/2006/relationships/image" Target="../media/image7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67.png"/><Relationship Id="rId5" Type="http://schemas.openxmlformats.org/officeDocument/2006/relationships/image" Target="../media/image7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70.png"/><Relationship Id="rId9" Type="http://schemas.openxmlformats.org/officeDocument/2006/relationships/image" Target="../media/image79.png"/><Relationship Id="rId5" Type="http://schemas.openxmlformats.org/officeDocument/2006/relationships/image" Target="../media/image71.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8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80.png"/><Relationship Id="rId6" Type="http://schemas.openxmlformats.org/officeDocument/2006/relationships/image" Target="../media/image8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hyperlink" Target="https://www.xiaohongshu.com/discovery/item/6a4f46a2000000002003bb59?source=webshare&amp;xhsshare=pc_web&amp;xsec_token=AB1StKjf1ByZfwsZjWTzhwqru0TK_L7NXtyCH0nSvwcq8=&amp;xsec_source=pc_share" TargetMode="External"/><Relationship Id="rId6" Type="http://schemas.openxmlformats.org/officeDocument/2006/relationships/hyperlink" Target="https://www.xiaohongshu.com/explore/6a54bb120000000021016e71?xsec_token=ABPI8z_i0iLSUJLna1stFWxwFB6J_wVD0OgGi_Y-xn2OY=&amp;xsec_source=pc_user" TargetMode="External"/><Relationship Id="rId7" Type="http://schemas.openxmlformats.org/officeDocument/2006/relationships/image" Target="../media/image101.png"/><Relationship Id="rId8" Type="http://schemas.openxmlformats.org/officeDocument/2006/relationships/image" Target="../media/image102.png"/></Relationships>
</file>

<file path=ppt/slides/_rels/slide27.xml.rels><?xml version="1.0" encoding="UTF-8" standalone="yes"?><Relationships xmlns="http://schemas.openxmlformats.org/package/2006/relationships"><Relationship Id="rId11" Type="http://schemas.openxmlformats.org/officeDocument/2006/relationships/hyperlink" Target="https://www.xiaohongshu.com/explore/6a5a41c5000000000503b462?xsec_token=ABXt8rjP2aRh-X5AbfHvnP9RK82SHiWpAl_37V2e081ys=&amp;xsec_source=pc_search" TargetMode="External"/><Relationship Id="rId10" Type="http://schemas.openxmlformats.org/officeDocument/2006/relationships/hyperlink" Target="http://xhslink.com/o/8D1F4g53CJV" TargetMode="External"/><Relationship Id="rId13" Type="http://schemas.openxmlformats.org/officeDocument/2006/relationships/image" Target="../media/image99.png"/><Relationship Id="rId12" Type="http://schemas.openxmlformats.org/officeDocument/2006/relationships/image" Target="../media/image104.png"/><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hyperlink" Target="https://www.xiaohongshu.com/explore/6a4f51040000000022014be8?xsec_token=ABYDON0nC1F8Z-OmyjIh12yrXCsf0q_rKLCu3K9DRGlA8=&amp;xsec_source=pc_user" TargetMode="External"/><Relationship Id="rId5" Type="http://schemas.openxmlformats.org/officeDocument/2006/relationships/hyperlink" Target="https://www.xiaohongshu.com/explore/6a54590e00000000060308a5?xsec_token=ABPI8z_i0iLSUJLna1stFWxwXmGHw9qOHrwXSo79pFz2Q=&amp;xsec_source=pc_user" TargetMode="External"/><Relationship Id="rId6" Type="http://schemas.openxmlformats.org/officeDocument/2006/relationships/hyperlink" Target="https://www.xiaohongshu.com/discovery/item/6a4f6063000000001102e63b?source=webshare&amp;xhsshare=pc_web&amp;xsec_token=AB1StKjf1ByZfwsZjWTzhwqpt9b5fAg35Hcpw7fjR7hJs=&amp;xsec_source=pc_sharee" TargetMode="External"/><Relationship Id="rId7" Type="http://schemas.openxmlformats.org/officeDocument/2006/relationships/hyperlink" Target="http://xhslink.com/o/7Eq9rzfWLN4" TargetMode="External"/><Relationship Id="rId8" Type="http://schemas.openxmlformats.org/officeDocument/2006/relationships/hyperlink" Target="https://www.xiaohongshu.com/explore/6a50d0e40000000007011233?xsec_token=ABqc0RKty1JqWEos57qQURvV6HEQK31STHzku58AEh39o=&amp;xsec_source=pc_user"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00.png"/><Relationship Id="rId6" Type="http://schemas.openxmlformats.org/officeDocument/2006/relationships/image" Target="../media/image103.png"/><Relationship Id="rId7" Type="http://schemas.openxmlformats.org/officeDocument/2006/relationships/image" Target="../media/image8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98.png"/><Relationship Id="rId6" Type="http://schemas.openxmlformats.org/officeDocument/2006/relationships/image" Target="../media/image9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hyperlink" Target="mailto:info@dichat.hk"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6000"/>
              <a:buNone/>
            </a:pPr>
            <a:r>
              <a:rPr lang="zh-HK" sz="4800"/>
              <a:t>Langham Place</a:t>
            </a:r>
            <a:br>
              <a:rPr lang="zh-HK" sz="4800"/>
            </a:br>
            <a:r>
              <a:rPr lang="zh-HK" sz="4800"/>
              <a:t>China Social Media Report</a:t>
            </a:r>
            <a:endParaRPr sz="4800"/>
          </a:p>
        </p:txBody>
      </p:sp>
      <p:sp>
        <p:nvSpPr>
          <p:cNvPr id="71" name="Google Shape;71;p1"/>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t/>
            </a:r>
            <a:endParaRPr sz="2800"/>
          </a:p>
          <a:p>
            <a:pPr indent="0" lvl="0" marL="0" rtl="0" algn="ctr">
              <a:lnSpc>
                <a:spcPct val="100000"/>
              </a:lnSpc>
              <a:spcBef>
                <a:spcPts val="0"/>
              </a:spcBef>
              <a:spcAft>
                <a:spcPts val="0"/>
              </a:spcAft>
              <a:buSzPts val="3600"/>
              <a:buNone/>
            </a:pPr>
            <a:r>
              <a:rPr lang="zh-HK" sz="2800"/>
              <a:t>July 2026</a:t>
            </a:r>
            <a:endParaRPr sz="2800"/>
          </a:p>
        </p:txBody>
      </p:sp>
      <p:pic>
        <p:nvPicPr>
          <p:cNvPr descr="About | Langham Place" id="72" name="Google Shape;72;p1"/>
          <p:cNvPicPr preferRelativeResize="0"/>
          <p:nvPr/>
        </p:nvPicPr>
        <p:blipFill rotWithShape="1">
          <a:blip r:embed="rId3">
            <a:alphaModFix/>
          </a:blip>
          <a:srcRect b="21020" l="14063" r="17215" t="26140"/>
          <a:stretch/>
        </p:blipFill>
        <p:spPr>
          <a:xfrm>
            <a:off x="4027797" y="3498385"/>
            <a:ext cx="1049155" cy="423511"/>
          </a:xfrm>
          <a:prstGeom prst="rect">
            <a:avLst/>
          </a:prstGeom>
          <a:noFill/>
          <a:ln>
            <a:noFill/>
          </a:ln>
        </p:spPr>
      </p:pic>
      <p:pic>
        <p:nvPicPr>
          <p:cNvPr id="73" name="Google Shape;73;p1"/>
          <p:cNvPicPr preferRelativeResize="0"/>
          <p:nvPr/>
        </p:nvPicPr>
        <p:blipFill rotWithShape="1">
          <a:blip r:embed="rId4">
            <a:alphaModFix/>
          </a:blip>
          <a:srcRect b="0" l="0" r="0" t="0"/>
          <a:stretch/>
        </p:blipFill>
        <p:spPr>
          <a:xfrm>
            <a:off x="3535664" y="3095715"/>
            <a:ext cx="379728" cy="379728"/>
          </a:xfrm>
          <a:prstGeom prst="rect">
            <a:avLst/>
          </a:prstGeom>
          <a:noFill/>
          <a:ln>
            <a:noFill/>
          </a:ln>
        </p:spPr>
      </p:pic>
      <p:pic>
        <p:nvPicPr>
          <p:cNvPr id="74" name="Google Shape;74;p1"/>
          <p:cNvPicPr preferRelativeResize="0"/>
          <p:nvPr/>
        </p:nvPicPr>
        <p:blipFill rotWithShape="1">
          <a:blip r:embed="rId5">
            <a:alphaModFix/>
          </a:blip>
          <a:srcRect b="0" l="0" r="0" t="0"/>
          <a:stretch/>
        </p:blipFill>
        <p:spPr>
          <a:xfrm>
            <a:off x="4026114" y="3095707"/>
            <a:ext cx="379725" cy="379744"/>
          </a:xfrm>
          <a:prstGeom prst="rect">
            <a:avLst/>
          </a:prstGeom>
          <a:noFill/>
          <a:ln>
            <a:noFill/>
          </a:ln>
        </p:spPr>
      </p:pic>
      <p:pic>
        <p:nvPicPr>
          <p:cNvPr id="75" name="Google Shape;75;p1"/>
          <p:cNvPicPr preferRelativeResize="0"/>
          <p:nvPr/>
        </p:nvPicPr>
        <p:blipFill rotWithShape="1">
          <a:blip r:embed="rId6">
            <a:alphaModFix/>
          </a:blip>
          <a:srcRect b="24248" l="33990" r="33993" t="24257"/>
          <a:stretch/>
        </p:blipFill>
        <p:spPr>
          <a:xfrm>
            <a:off x="4755489" y="3094780"/>
            <a:ext cx="379800" cy="381600"/>
          </a:xfrm>
          <a:prstGeom prst="roundRect">
            <a:avLst>
              <a:gd fmla="val 16667" name="adj"/>
            </a:avLst>
          </a:prstGeom>
          <a:noFill/>
          <a:ln>
            <a:noFill/>
          </a:ln>
        </p:spPr>
      </p:pic>
      <p:pic>
        <p:nvPicPr>
          <p:cNvPr id="76" name="Google Shape;76;p1"/>
          <p:cNvPicPr preferRelativeResize="0"/>
          <p:nvPr/>
        </p:nvPicPr>
        <p:blipFill rotWithShape="1">
          <a:blip r:embed="rId7">
            <a:alphaModFix/>
          </a:blip>
          <a:srcRect b="0" l="0" r="0" t="0"/>
          <a:stretch/>
        </p:blipFill>
        <p:spPr>
          <a:xfrm>
            <a:off x="5319750" y="3095713"/>
            <a:ext cx="379800" cy="379800"/>
          </a:xfrm>
          <a:prstGeom prst="roundRect">
            <a:avLst>
              <a:gd fmla="val 16667"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2"/>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lt1"/>
              </a:buClr>
              <a:buSzPts val="4600"/>
              <a:buNone/>
            </a:pPr>
            <a:r>
              <a:rPr lang="zh-HK"/>
              <a:t>Agenda</a:t>
            </a:r>
            <a:endParaRPr/>
          </a:p>
        </p:txBody>
      </p:sp>
      <p:sp>
        <p:nvSpPr>
          <p:cNvPr id="82" name="Google Shape;82;p2"/>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p>
            <a:pPr indent="0" lvl="0" marL="0" rtl="0" algn="l">
              <a:lnSpc>
                <a:spcPct val="200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317500" lvl="0" marL="457200" rtl="0" algn="l">
              <a:lnSpc>
                <a:spcPct val="200000"/>
              </a:lnSpc>
              <a:spcBef>
                <a:spcPts val="0"/>
              </a:spcBef>
              <a:spcAft>
                <a:spcPts val="0"/>
              </a:spcAft>
              <a:buClr>
                <a:srgbClr val="000000"/>
              </a:buClr>
              <a:buSzPts val="1400"/>
              <a:buFont typeface="Times New Roman"/>
              <a:buChar char="●"/>
            </a:pPr>
            <a:r>
              <a:rPr b="1" lang="zh-HK">
                <a:solidFill>
                  <a:schemeClr val="dk1"/>
                </a:solidFill>
                <a:latin typeface="Times New Roman"/>
                <a:ea typeface="Times New Roman"/>
                <a:cs typeface="Times New Roman"/>
                <a:sym typeface="Times New Roman"/>
              </a:rPr>
              <a:t>July Summary</a:t>
            </a:r>
            <a:endParaRPr b="1">
              <a:solidFill>
                <a:schemeClr val="dk1"/>
              </a:solidFill>
              <a:latin typeface="Times New Roman"/>
              <a:ea typeface="Times New Roman"/>
              <a:cs typeface="Times New Roman"/>
              <a:sym typeface="Times New Roman"/>
            </a:endParaRPr>
          </a:p>
          <a:p>
            <a:pPr indent="-317500" lvl="1" marL="914400" rtl="0" algn="l">
              <a:lnSpc>
                <a:spcPct val="200000"/>
              </a:lnSpc>
              <a:spcBef>
                <a:spcPts val="0"/>
              </a:spcBef>
              <a:spcAft>
                <a:spcPts val="0"/>
              </a:spcAft>
              <a:buSzPts val="1400"/>
              <a:buFont typeface="Times New Roman"/>
              <a:buChar char="○"/>
            </a:pPr>
            <a:r>
              <a:rPr b="1" lang="zh-HK">
                <a:latin typeface="Times New Roman"/>
                <a:ea typeface="Times New Roman"/>
                <a:cs typeface="Times New Roman"/>
                <a:sym typeface="Times New Roman"/>
              </a:rPr>
              <a:t>Followers Analysis </a:t>
            </a:r>
            <a:endParaRPr/>
          </a:p>
          <a:p>
            <a:pPr indent="-317500" lvl="1" marL="914400" rtl="0" algn="l">
              <a:lnSpc>
                <a:spcPct val="200000"/>
              </a:lnSpc>
              <a:spcBef>
                <a:spcPts val="0"/>
              </a:spcBef>
              <a:spcAft>
                <a:spcPts val="0"/>
              </a:spcAft>
              <a:buSzPts val="1400"/>
              <a:buFont typeface="Times New Roman"/>
              <a:buChar char="○"/>
            </a:pPr>
            <a:r>
              <a:rPr b="1" lang="zh-HK">
                <a:latin typeface="Times New Roman"/>
                <a:ea typeface="Times New Roman"/>
                <a:cs typeface="Times New Roman"/>
                <a:sym typeface="Times New Roman"/>
              </a:rPr>
              <a:t>Content Analysis </a:t>
            </a:r>
            <a:endParaRPr/>
          </a:p>
          <a:p>
            <a:pPr indent="-317500" lvl="1" marL="914400" rtl="0" algn="l">
              <a:lnSpc>
                <a:spcPct val="200000"/>
              </a:lnSpc>
              <a:spcBef>
                <a:spcPts val="0"/>
              </a:spcBef>
              <a:spcAft>
                <a:spcPts val="0"/>
              </a:spcAft>
              <a:buSzPts val="1400"/>
              <a:buFont typeface="Times New Roman"/>
              <a:buChar char="○"/>
            </a:pPr>
            <a:r>
              <a:rPr b="1" lang="zh-HK">
                <a:latin typeface="Times New Roman"/>
                <a:ea typeface="Times New Roman"/>
                <a:cs typeface="Times New Roman"/>
                <a:sym typeface="Times New Roman"/>
              </a:rPr>
              <a:t>Competitor Insights </a:t>
            </a:r>
            <a:endParaRPr b="1">
              <a:latin typeface="Times New Roman"/>
              <a:ea typeface="Times New Roman"/>
              <a:cs typeface="Times New Roman"/>
              <a:sym typeface="Times New Roman"/>
            </a:endParaRPr>
          </a:p>
          <a:p>
            <a:pPr indent="-317500" lvl="1" marL="914400" rtl="0" algn="l">
              <a:lnSpc>
                <a:spcPct val="200000"/>
              </a:lnSpc>
              <a:spcBef>
                <a:spcPts val="0"/>
              </a:spcBef>
              <a:spcAft>
                <a:spcPts val="0"/>
              </a:spcAft>
              <a:buSzPts val="1400"/>
              <a:buFont typeface="Times New Roman"/>
              <a:buChar char="○"/>
            </a:pPr>
            <a:r>
              <a:rPr b="1" lang="zh-HK">
                <a:latin typeface="Times New Roman"/>
                <a:ea typeface="Times New Roman"/>
                <a:cs typeface="Times New Roman"/>
                <a:sym typeface="Times New Roman"/>
              </a:rPr>
              <a:t>KOL Campaign Analysis</a:t>
            </a:r>
            <a:endParaRPr b="1">
              <a:latin typeface="Times New Roman"/>
              <a:ea typeface="Times New Roman"/>
              <a:cs typeface="Times New Roman"/>
              <a:sym typeface="Times New Roman"/>
            </a:endParaRPr>
          </a:p>
          <a:p>
            <a:pPr indent="-317500" lvl="0" marL="457200" rtl="0" algn="l">
              <a:lnSpc>
                <a:spcPct val="200000"/>
              </a:lnSpc>
              <a:spcBef>
                <a:spcPts val="0"/>
              </a:spcBef>
              <a:spcAft>
                <a:spcPts val="0"/>
              </a:spcAft>
              <a:buSzPts val="1400"/>
              <a:buFont typeface="Times New Roman"/>
              <a:buChar char="●"/>
            </a:pPr>
            <a:r>
              <a:rPr b="1" lang="zh-HK">
                <a:latin typeface="Times New Roman"/>
                <a:ea typeface="Times New Roman"/>
                <a:cs typeface="Times New Roman"/>
                <a:sym typeface="Times New Roman"/>
              </a:rPr>
              <a:t>Learnings</a:t>
            </a:r>
            <a:r>
              <a:rPr b="1" lang="zh-HK" sz="1400">
                <a:solidFill>
                  <a:srgbClr val="000000"/>
                </a:solidFill>
                <a:latin typeface="Times New Roman"/>
                <a:ea typeface="Times New Roman"/>
                <a:cs typeface="Times New Roman"/>
                <a:sym typeface="Times New Roman"/>
              </a:rPr>
              <a:t> </a:t>
            </a:r>
            <a:r>
              <a:rPr b="1" lang="zh-HK">
                <a:latin typeface="Times New Roman"/>
                <a:ea typeface="Times New Roman"/>
                <a:cs typeface="Times New Roman"/>
                <a:sym typeface="Times New Roman"/>
              </a:rPr>
              <a:t>&amp; Suggestions</a:t>
            </a:r>
            <a:endParaRPr/>
          </a:p>
        </p:txBody>
      </p:sp>
      <p:pic>
        <p:nvPicPr>
          <p:cNvPr descr="About | Langham Place" id="83" name="Google Shape;83;p2"/>
          <p:cNvPicPr preferRelativeResize="0"/>
          <p:nvPr/>
        </p:nvPicPr>
        <p:blipFill rotWithShape="1">
          <a:blip r:embed="rId3">
            <a:alphaModFix/>
          </a:blip>
          <a:srcRect b="21020" l="14063" r="17215" t="26140"/>
          <a:stretch/>
        </p:blipFill>
        <p:spPr>
          <a:xfrm>
            <a:off x="8094845" y="170700"/>
            <a:ext cx="1049155" cy="42351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graphicFrame>
        <p:nvGraphicFramePr>
          <p:cNvPr id="88" name="Google Shape;88;p3"/>
          <p:cNvGraphicFramePr/>
          <p:nvPr/>
        </p:nvGraphicFramePr>
        <p:xfrm>
          <a:off x="210684" y="2058485"/>
          <a:ext cx="3000000" cy="3000000"/>
        </p:xfrm>
        <a:graphic>
          <a:graphicData uri="http://schemas.openxmlformats.org/drawingml/2006/table">
            <a:tbl>
              <a:tblPr>
                <a:noFill/>
                <a:tableStyleId>{E1739E71-98CB-4F31-BA75-B360A44B9F01}</a:tableStyleId>
              </a:tblPr>
              <a:tblGrid>
                <a:gridCol w="881200"/>
                <a:gridCol w="764000"/>
                <a:gridCol w="630350"/>
                <a:gridCol w="630350"/>
                <a:gridCol w="630350"/>
              </a:tblGrid>
              <a:tr h="446875">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solidFill>
                            <a:srgbClr val="1F1F1F"/>
                          </a:solidFill>
                          <a:latin typeface="Times New Roman"/>
                          <a:ea typeface="Times New Roman"/>
                          <a:cs typeface="Times New Roman"/>
                          <a:sym typeface="Times New Roman"/>
                        </a:rPr>
                        <a:t>July</a:t>
                      </a:r>
                      <a:r>
                        <a:rPr b="1" lang="zh-HK" sz="1000" u="none" cap="none" strike="noStrike">
                          <a:solidFill>
                            <a:srgbClr val="1F1F1F"/>
                          </a:solidFill>
                          <a:latin typeface="Times New Roman"/>
                          <a:ea typeface="Times New Roman"/>
                          <a:cs typeface="Times New Roman"/>
                          <a:sym typeface="Times New Roman"/>
                        </a:rPr>
                        <a:t> 2026</a:t>
                      </a:r>
                      <a:endParaRPr b="1"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r>
              <a:tr h="3720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Fans Number</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Times New Roman"/>
                          <a:ea typeface="Times New Roman"/>
                          <a:cs typeface="Times New Roman"/>
                          <a:sym typeface="Times New Roman"/>
                        </a:rPr>
                        <a:t>22,</a:t>
                      </a:r>
                      <a:r>
                        <a:rPr lang="zh-HK" sz="1000">
                          <a:latin typeface="Times New Roman"/>
                          <a:ea typeface="Times New Roman"/>
                          <a:cs typeface="Times New Roman"/>
                          <a:sym typeface="Times New Roman"/>
                        </a:rPr>
                        <a:t>885</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Times New Roman"/>
                          <a:ea typeface="Times New Roman"/>
                          <a:cs typeface="Times New Roman"/>
                          <a:sym typeface="Times New Roman"/>
                        </a:rPr>
                        <a:t>41,</a:t>
                      </a:r>
                      <a:r>
                        <a:rPr lang="zh-HK" sz="1000">
                          <a:latin typeface="Times New Roman"/>
                          <a:ea typeface="Times New Roman"/>
                          <a:cs typeface="Times New Roman"/>
                          <a:sym typeface="Times New Roman"/>
                        </a:rPr>
                        <a:t>554</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Times New Roman"/>
                          <a:ea typeface="Times New Roman"/>
                          <a:cs typeface="Times New Roman"/>
                          <a:sym typeface="Times New Roman"/>
                        </a:rPr>
                        <a:t>5</a:t>
                      </a:r>
                      <a:r>
                        <a:rPr lang="zh-HK" sz="1000">
                          <a:latin typeface="Times New Roman"/>
                          <a:ea typeface="Times New Roman"/>
                          <a:cs typeface="Times New Roman"/>
                          <a:sym typeface="Times New Roman"/>
                        </a:rPr>
                        <a:t>29</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2,</a:t>
                      </a:r>
                      <a:r>
                        <a:rPr lang="zh-HK" sz="1000">
                          <a:solidFill>
                            <a:srgbClr val="1F1F1F"/>
                          </a:solidFill>
                          <a:latin typeface="Times New Roman"/>
                          <a:ea typeface="Times New Roman"/>
                          <a:cs typeface="Times New Roman"/>
                          <a:sym typeface="Times New Roman"/>
                        </a:rPr>
                        <a:t>653</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0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Fans Net growth</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782</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extLst>
                            <a:ext uri="http://customooxmlschemas.google.com/">
                              <go:slidesCustomData xmlns:go="http://customooxmlschemas.google.com/" textRoundtripDataId="0"/>
                            </a:ext>
                          </a:extLst>
                        </a:rPr>
                        <a:t>3</a:t>
                      </a:r>
                      <a:r>
                        <a:rPr lang="zh-HK" sz="1000">
                          <a:solidFill>
                            <a:srgbClr val="1F1F1F"/>
                          </a:solidFill>
                          <a:latin typeface="Times New Roman"/>
                          <a:ea typeface="Times New Roman"/>
                          <a:cs typeface="Times New Roman"/>
                          <a:sym typeface="Times New Roman"/>
                        </a:rPr>
                        <a:t>16</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13</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F1F1F"/>
                          </a:solidFill>
                          <a:latin typeface="Times New Roman"/>
                          <a:ea typeface="Times New Roman"/>
                          <a:cs typeface="Times New Roman"/>
                          <a:sym typeface="Times New Roman"/>
                        </a:rPr>
                        <a:t>385</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0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No. of Post</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6</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2</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5</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F1F1F"/>
                          </a:solidFill>
                          <a:latin typeface="Times New Roman"/>
                          <a:ea typeface="Times New Roman"/>
                          <a:cs typeface="Times New Roman"/>
                          <a:sym typeface="Times New Roman"/>
                        </a:rPr>
                        <a:t>5</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0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Total Views</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39,177</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1</a:t>
                      </a:r>
                      <a:r>
                        <a:rPr lang="zh-HK" sz="1000" u="none" cap="none" strike="noStrike">
                          <a:latin typeface="Times New Roman"/>
                          <a:ea typeface="Times New Roman"/>
                          <a:cs typeface="Times New Roman"/>
                          <a:sym typeface="Times New Roman"/>
                        </a:rPr>
                        <a:t>,1</a:t>
                      </a:r>
                      <a:r>
                        <a:rPr lang="zh-HK" sz="1000">
                          <a:latin typeface="Times New Roman"/>
                          <a:ea typeface="Times New Roman"/>
                          <a:cs typeface="Times New Roman"/>
                          <a:sym typeface="Times New Roman"/>
                        </a:rPr>
                        <a:t>38</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Times New Roman"/>
                          <a:ea typeface="Times New Roman"/>
                          <a:cs typeface="Times New Roman"/>
                          <a:sym typeface="Times New Roman"/>
                        </a:rPr>
                        <a:t>1</a:t>
                      </a:r>
                      <a:r>
                        <a:rPr lang="zh-HK" sz="1000">
                          <a:latin typeface="Times New Roman"/>
                          <a:ea typeface="Times New Roman"/>
                          <a:cs typeface="Times New Roman"/>
                          <a:sym typeface="Times New Roman"/>
                        </a:rPr>
                        <a:t>1</a:t>
                      </a:r>
                      <a:r>
                        <a:rPr lang="zh-HK" sz="1000" u="none" cap="none" strike="noStrike">
                          <a:latin typeface="Times New Roman"/>
                          <a:ea typeface="Times New Roman"/>
                          <a:cs typeface="Times New Roman"/>
                          <a:sym typeface="Times New Roman"/>
                        </a:rPr>
                        <a:t>,1</a:t>
                      </a:r>
                      <a:r>
                        <a:rPr lang="zh-HK" sz="1000">
                          <a:latin typeface="Times New Roman"/>
                          <a:ea typeface="Times New Roman"/>
                          <a:cs typeface="Times New Roman"/>
                          <a:sym typeface="Times New Roman"/>
                        </a:rPr>
                        <a:t>13</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F1F1F"/>
                          </a:solidFill>
                          <a:latin typeface="Times New Roman"/>
                          <a:ea typeface="Times New Roman"/>
                          <a:cs typeface="Times New Roman"/>
                          <a:sym typeface="Times New Roman"/>
                        </a:rPr>
                        <a:t>39,083</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0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Total Engagement</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5,164</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43</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57</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2,</a:t>
                      </a:r>
                      <a:r>
                        <a:rPr lang="zh-HK" sz="1000">
                          <a:solidFill>
                            <a:srgbClr val="1F1F1F"/>
                          </a:solidFill>
                          <a:latin typeface="Times New Roman"/>
                          <a:ea typeface="Times New Roman"/>
                          <a:cs typeface="Times New Roman"/>
                          <a:sym typeface="Times New Roman"/>
                        </a:rPr>
                        <a:t>219</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0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Engagement Rate</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Times New Roman"/>
                          <a:ea typeface="Times New Roman"/>
                          <a:cs typeface="Times New Roman"/>
                          <a:sym typeface="Times New Roman"/>
                        </a:rPr>
                        <a:t>1</a:t>
                      </a:r>
                      <a:r>
                        <a:rPr b="1" lang="zh-HK" sz="1000">
                          <a:latin typeface="Times New Roman"/>
                          <a:ea typeface="Times New Roman"/>
                          <a:cs typeface="Times New Roman"/>
                          <a:sym typeface="Times New Roman"/>
                        </a:rPr>
                        <a:t>3</a:t>
                      </a:r>
                      <a:r>
                        <a:rPr b="1" lang="zh-HK" sz="1000" u="none" cap="none" strike="noStrike">
                          <a:latin typeface="Times New Roman"/>
                          <a:ea typeface="Times New Roman"/>
                          <a:cs typeface="Times New Roman"/>
                          <a:sym typeface="Times New Roman"/>
                        </a:rPr>
                        <a:t>.</a:t>
                      </a:r>
                      <a:r>
                        <a:rPr b="1" lang="zh-HK" sz="1000">
                          <a:latin typeface="Times New Roman"/>
                          <a:ea typeface="Times New Roman"/>
                          <a:cs typeface="Times New Roman"/>
                          <a:sym typeface="Times New Roman"/>
                        </a:rPr>
                        <a:t>18</a:t>
                      </a:r>
                      <a:r>
                        <a:rPr b="1" lang="zh-HK" sz="1000" u="none" cap="none" strike="noStrike">
                          <a:latin typeface="Times New Roman"/>
                          <a:ea typeface="Times New Roman"/>
                          <a:cs typeface="Times New Roman"/>
                          <a:sym typeface="Times New Roman"/>
                        </a:rPr>
                        <a:t>%</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latin typeface="Times New Roman"/>
                          <a:ea typeface="Times New Roman"/>
                          <a:cs typeface="Times New Roman"/>
                          <a:sym typeface="Times New Roman"/>
                        </a:rPr>
                        <a:t>3</a:t>
                      </a:r>
                      <a:r>
                        <a:rPr b="1" lang="zh-HK" sz="1000" u="none" cap="none" strike="noStrike">
                          <a:latin typeface="Times New Roman"/>
                          <a:ea typeface="Times New Roman"/>
                          <a:cs typeface="Times New Roman"/>
                          <a:sym typeface="Times New Roman"/>
                        </a:rPr>
                        <a:t>.</a:t>
                      </a:r>
                      <a:r>
                        <a:rPr b="1" lang="zh-HK" sz="1000">
                          <a:latin typeface="Times New Roman"/>
                          <a:ea typeface="Times New Roman"/>
                          <a:cs typeface="Times New Roman"/>
                          <a:sym typeface="Times New Roman"/>
                        </a:rPr>
                        <a:t>78</a:t>
                      </a:r>
                      <a:r>
                        <a:rPr b="1" lang="zh-HK" sz="1000" u="none" cap="none" strike="noStrike">
                          <a:latin typeface="Times New Roman"/>
                          <a:ea typeface="Times New Roman"/>
                          <a:cs typeface="Times New Roman"/>
                          <a:sym typeface="Times New Roman"/>
                        </a:rPr>
                        <a:t>%</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Times New Roman"/>
                          <a:ea typeface="Times New Roman"/>
                          <a:cs typeface="Times New Roman"/>
                          <a:sym typeface="Times New Roman"/>
                        </a:rPr>
                        <a:t>0.</a:t>
                      </a:r>
                      <a:r>
                        <a:rPr b="1" lang="zh-HK" sz="1000">
                          <a:latin typeface="Times New Roman"/>
                          <a:ea typeface="Times New Roman"/>
                          <a:cs typeface="Times New Roman"/>
                          <a:sym typeface="Times New Roman"/>
                        </a:rPr>
                        <a:t>51</a:t>
                      </a:r>
                      <a:r>
                        <a:rPr b="1" lang="zh-HK" sz="1000" u="none" cap="none" strike="noStrike">
                          <a:latin typeface="Times New Roman"/>
                          <a:ea typeface="Times New Roman"/>
                          <a:cs typeface="Times New Roman"/>
                          <a:sym typeface="Times New Roman"/>
                        </a:rPr>
                        <a:t>%</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solidFill>
                            <a:srgbClr val="1F1F1F"/>
                          </a:solidFill>
                          <a:latin typeface="Times New Roman"/>
                          <a:ea typeface="Times New Roman"/>
                          <a:cs typeface="Times New Roman"/>
                          <a:sym typeface="Times New Roman"/>
                        </a:rPr>
                        <a:t>5.68</a:t>
                      </a:r>
                      <a:r>
                        <a:rPr b="1" lang="zh-HK" sz="1000" u="none" cap="none" strike="noStrike">
                          <a:solidFill>
                            <a:srgbClr val="1F1F1F"/>
                          </a:solidFill>
                          <a:latin typeface="Times New Roman"/>
                          <a:ea typeface="Times New Roman"/>
                          <a:cs typeface="Times New Roman"/>
                          <a:sym typeface="Times New Roman"/>
                        </a:rPr>
                        <a:t>%</a:t>
                      </a:r>
                      <a:endParaRPr b="1"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9" name="Google Shape;89;p3"/>
          <p:cNvSpPr txBox="1"/>
          <p:nvPr/>
        </p:nvSpPr>
        <p:spPr>
          <a:xfrm>
            <a:off x="371225" y="128683"/>
            <a:ext cx="5852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Ju</a:t>
            </a:r>
            <a:r>
              <a:rPr b="1" lang="zh-HK" sz="2000">
                <a:solidFill>
                  <a:schemeClr val="dk1"/>
                </a:solidFill>
                <a:latin typeface="Times New Roman"/>
                <a:ea typeface="Times New Roman"/>
                <a:cs typeface="Times New Roman"/>
                <a:sym typeface="Times New Roman"/>
              </a:rPr>
              <a:t>ly</a:t>
            </a:r>
            <a:r>
              <a:rPr b="1" i="0" lang="zh-HK" sz="2000" u="none" cap="none" strike="noStrike">
                <a:solidFill>
                  <a:schemeClr val="dk1"/>
                </a:solidFill>
                <a:latin typeface="Times New Roman"/>
                <a:ea typeface="Times New Roman"/>
                <a:cs typeface="Times New Roman"/>
                <a:sym typeface="Times New Roman"/>
              </a:rPr>
              <a:t> Performance Summary</a:t>
            </a:r>
            <a:endParaRPr b="1" i="0" sz="2000" u="none" cap="none" strike="noStrike">
              <a:solidFill>
                <a:schemeClr val="dk1"/>
              </a:solidFill>
              <a:latin typeface="Times New Roman"/>
              <a:ea typeface="Times New Roman"/>
              <a:cs typeface="Times New Roman"/>
              <a:sym typeface="Times New Roman"/>
            </a:endParaRPr>
          </a:p>
        </p:txBody>
      </p:sp>
      <p:sp>
        <p:nvSpPr>
          <p:cNvPr id="90" name="Google Shape;90;p3"/>
          <p:cNvSpPr txBox="1"/>
          <p:nvPr/>
        </p:nvSpPr>
        <p:spPr>
          <a:xfrm>
            <a:off x="6584895" y="1715596"/>
            <a:ext cx="2225100" cy="3630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1200" u="none" cap="none" strike="noStrike">
                <a:solidFill>
                  <a:schemeClr val="dk1"/>
                </a:solidFill>
                <a:latin typeface="Times New Roman"/>
                <a:ea typeface="Times New Roman"/>
                <a:cs typeface="Times New Roman"/>
                <a:sym typeface="Times New Roman"/>
              </a:rPr>
              <a:t>KPI Achievement</a:t>
            </a:r>
            <a:endParaRPr b="1" i="0" sz="965" u="sng" cap="none" strike="noStrike">
              <a:solidFill>
                <a:srgbClr val="FFFFFF"/>
              </a:solidFill>
              <a:highlight>
                <a:srgbClr val="595959"/>
              </a:highlight>
              <a:latin typeface="Times New Roman"/>
              <a:ea typeface="Times New Roman"/>
              <a:cs typeface="Times New Roman"/>
              <a:sym typeface="Times New Roman"/>
            </a:endParaRPr>
          </a:p>
        </p:txBody>
      </p:sp>
      <p:pic>
        <p:nvPicPr>
          <p:cNvPr id="91" name="Google Shape;91;p3"/>
          <p:cNvPicPr preferRelativeResize="0"/>
          <p:nvPr/>
        </p:nvPicPr>
        <p:blipFill rotWithShape="1">
          <a:blip r:embed="rId3">
            <a:alphaModFix/>
          </a:blip>
          <a:srcRect b="0" l="0" r="0" t="0"/>
          <a:stretch/>
        </p:blipFill>
        <p:spPr>
          <a:xfrm>
            <a:off x="6448239" y="2543471"/>
            <a:ext cx="174039" cy="515142"/>
          </a:xfrm>
          <a:prstGeom prst="rect">
            <a:avLst/>
          </a:prstGeom>
          <a:noFill/>
          <a:ln>
            <a:noFill/>
          </a:ln>
        </p:spPr>
      </p:pic>
      <p:pic>
        <p:nvPicPr>
          <p:cNvPr id="92" name="Google Shape;92;p3"/>
          <p:cNvPicPr preferRelativeResize="0"/>
          <p:nvPr/>
        </p:nvPicPr>
        <p:blipFill rotWithShape="1">
          <a:blip r:embed="rId3">
            <a:alphaModFix/>
          </a:blip>
          <a:srcRect b="0" l="0" r="0" t="0"/>
          <a:stretch/>
        </p:blipFill>
        <p:spPr>
          <a:xfrm>
            <a:off x="8595309" y="2818679"/>
            <a:ext cx="174039" cy="515142"/>
          </a:xfrm>
          <a:prstGeom prst="rect">
            <a:avLst/>
          </a:prstGeom>
          <a:noFill/>
          <a:ln>
            <a:noFill/>
          </a:ln>
        </p:spPr>
      </p:pic>
      <p:sp>
        <p:nvSpPr>
          <p:cNvPr id="93" name="Google Shape;93;p3"/>
          <p:cNvSpPr txBox="1"/>
          <p:nvPr/>
        </p:nvSpPr>
        <p:spPr>
          <a:xfrm>
            <a:off x="6452184" y="2291064"/>
            <a:ext cx="2266200" cy="579000"/>
          </a:xfrm>
          <a:prstGeom prst="rect">
            <a:avLst/>
          </a:prstGeom>
          <a:noFill/>
          <a:ln>
            <a:noFill/>
          </a:ln>
        </p:spPr>
        <p:txBody>
          <a:bodyPr anchorCtr="0" anchor="t" bIns="88250" lIns="88250" spcFirstLastPara="1" rIns="88250" wrap="square" tIns="88250">
            <a:spAutoFit/>
          </a:bodyPr>
          <a:lstStyle/>
          <a:p>
            <a:pPr indent="0" lvl="0" marL="0" marR="0" rtl="0" algn="l">
              <a:lnSpc>
                <a:spcPct val="100000"/>
              </a:lnSpc>
              <a:spcBef>
                <a:spcPts val="0"/>
              </a:spcBef>
              <a:spcAft>
                <a:spcPts val="0"/>
              </a:spcAft>
              <a:buClr>
                <a:srgbClr val="000000"/>
              </a:buClr>
              <a:buSzPts val="868"/>
              <a:buFont typeface="Arial"/>
              <a:buNone/>
            </a:pPr>
            <a:r>
              <a:rPr b="0" i="0" lang="zh-HK" sz="868" u="none" cap="none" strike="noStrike">
                <a:solidFill>
                  <a:srgbClr val="595959"/>
                </a:solidFill>
                <a:latin typeface="Inter"/>
                <a:ea typeface="Inter"/>
                <a:cs typeface="Inter"/>
                <a:sym typeface="Inter"/>
              </a:rPr>
              <a:t>Fans Growth  (</a:t>
            </a:r>
            <a:r>
              <a:rPr b="1" lang="zh-HK" sz="868">
                <a:solidFill>
                  <a:srgbClr val="0F7E99"/>
                </a:solidFill>
                <a:latin typeface="Inter"/>
                <a:ea typeface="Inter"/>
                <a:cs typeface="Inter"/>
                <a:sym typeface="Inter"/>
              </a:rPr>
              <a:t>4</a:t>
            </a:r>
            <a:r>
              <a:rPr b="1" i="0" lang="zh-HK" sz="868" u="none" cap="none" strike="noStrike">
                <a:solidFill>
                  <a:srgbClr val="0F7E99"/>
                </a:solidFill>
                <a:latin typeface="Inter"/>
                <a:ea typeface="Inter"/>
                <a:cs typeface="Inter"/>
                <a:sym typeface="Inter"/>
              </a:rPr>
              <a:t>,</a:t>
            </a:r>
            <a:r>
              <a:rPr b="1" lang="zh-HK" sz="868">
                <a:solidFill>
                  <a:srgbClr val="0F7E99"/>
                </a:solidFill>
                <a:latin typeface="Inter"/>
                <a:ea typeface="Inter"/>
                <a:cs typeface="Inter"/>
                <a:sym typeface="Inter"/>
              </a:rPr>
              <a:t>670</a:t>
            </a:r>
            <a:r>
              <a:rPr b="0" i="0" lang="zh-HK" sz="868" u="none" cap="none" strike="noStrike">
                <a:solidFill>
                  <a:srgbClr val="595959"/>
                </a:solidFill>
                <a:latin typeface="Inter"/>
                <a:ea typeface="Inter"/>
                <a:cs typeface="Inter"/>
                <a:sym typeface="Inter"/>
              </a:rPr>
              <a:t>/ 6,000)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0" i="0" lang="zh-HK" sz="868" u="none" cap="none" strike="noStrike">
                <a:solidFill>
                  <a:srgbClr val="595959"/>
                </a:solidFill>
                <a:latin typeface="Inter"/>
                <a:ea typeface="Inter"/>
                <a:cs typeface="Inter"/>
                <a:sym typeface="Inter"/>
              </a:rPr>
              <a:t>Engagement Rate (</a:t>
            </a:r>
            <a:r>
              <a:rPr b="1" i="0" lang="zh-HK" sz="868" u="none" cap="none" strike="noStrike">
                <a:solidFill>
                  <a:srgbClr val="0F7E99"/>
                </a:solidFill>
                <a:latin typeface="Inter"/>
                <a:ea typeface="Inter"/>
                <a:cs typeface="Inter"/>
                <a:sym typeface="Inter"/>
              </a:rPr>
              <a:t>1</a:t>
            </a:r>
            <a:r>
              <a:rPr b="1" lang="zh-HK" sz="868">
                <a:solidFill>
                  <a:srgbClr val="0F7E99"/>
                </a:solidFill>
                <a:latin typeface="Inter"/>
                <a:ea typeface="Inter"/>
                <a:cs typeface="Inter"/>
                <a:sym typeface="Inter"/>
              </a:rPr>
              <a:t>3</a:t>
            </a:r>
            <a:r>
              <a:rPr b="1" i="0" lang="zh-HK" sz="868" u="none" cap="none" strike="noStrike">
                <a:solidFill>
                  <a:srgbClr val="0F7E99"/>
                </a:solidFill>
                <a:latin typeface="Inter"/>
                <a:ea typeface="Inter"/>
                <a:cs typeface="Inter"/>
                <a:sym typeface="Inter"/>
              </a:rPr>
              <a:t>.</a:t>
            </a:r>
            <a:r>
              <a:rPr b="1" lang="zh-HK" sz="868">
                <a:solidFill>
                  <a:srgbClr val="0F7E99"/>
                </a:solidFill>
                <a:latin typeface="Inter"/>
                <a:ea typeface="Inter"/>
                <a:cs typeface="Inter"/>
                <a:sym typeface="Inter"/>
              </a:rPr>
              <a:t>18</a:t>
            </a:r>
            <a:r>
              <a:rPr b="1" i="0" lang="zh-HK" sz="868" u="none" cap="none" strike="noStrike">
                <a:solidFill>
                  <a:srgbClr val="0F7E99"/>
                </a:solidFill>
                <a:latin typeface="Inter"/>
                <a:ea typeface="Inter"/>
                <a:cs typeface="Inter"/>
                <a:sym typeface="Inter"/>
              </a:rPr>
              <a:t>%</a:t>
            </a:r>
            <a:r>
              <a:rPr b="0" i="0" lang="zh-HK" sz="868" u="none" cap="none" strike="noStrike">
                <a:solidFill>
                  <a:srgbClr val="595959"/>
                </a:solidFill>
                <a:latin typeface="Inter"/>
                <a:ea typeface="Inter"/>
                <a:cs typeface="Inter"/>
                <a:sym typeface="Inter"/>
              </a:rPr>
              <a:t> / 15%)</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0" i="0" lang="zh-HK" sz="868" u="none" cap="none" strike="noStrike">
                <a:solidFill>
                  <a:srgbClr val="595959"/>
                </a:solidFill>
                <a:latin typeface="Inter"/>
                <a:ea typeface="Inter"/>
                <a:cs typeface="Inter"/>
                <a:sym typeface="Inter"/>
              </a:rPr>
              <a:t>Fans Community (</a:t>
            </a:r>
            <a:r>
              <a:rPr b="1" i="0" lang="zh-HK" sz="868" u="none" cap="none" strike="noStrike">
                <a:solidFill>
                  <a:srgbClr val="0F7E99"/>
                </a:solidFill>
                <a:latin typeface="Inter"/>
                <a:ea typeface="Inter"/>
                <a:cs typeface="Inter"/>
                <a:sym typeface="Inter"/>
              </a:rPr>
              <a:t>43</a:t>
            </a:r>
            <a:r>
              <a:rPr b="1" lang="zh-HK" sz="868">
                <a:solidFill>
                  <a:srgbClr val="0F7E99"/>
                </a:solidFill>
                <a:latin typeface="Inter"/>
                <a:ea typeface="Inter"/>
                <a:cs typeface="Inter"/>
                <a:sym typeface="Inter"/>
              </a:rPr>
              <a:t>1</a:t>
            </a:r>
            <a:r>
              <a:rPr b="0" i="0" lang="zh-HK" sz="868" u="none" cap="none" strike="noStrike">
                <a:solidFill>
                  <a:srgbClr val="595959"/>
                </a:solidFill>
                <a:latin typeface="Inter"/>
                <a:ea typeface="Inter"/>
                <a:cs typeface="Inter"/>
                <a:sym typeface="Inter"/>
              </a:rPr>
              <a:t> / 500)</a:t>
            </a:r>
            <a:endParaRPr b="0" i="0" sz="868" u="none" cap="none" strike="noStrike">
              <a:solidFill>
                <a:srgbClr val="595959"/>
              </a:solidFill>
              <a:latin typeface="Inter"/>
              <a:ea typeface="Inter"/>
              <a:cs typeface="Inter"/>
              <a:sym typeface="Inter"/>
            </a:endParaRPr>
          </a:p>
        </p:txBody>
      </p:sp>
      <p:sp>
        <p:nvSpPr>
          <p:cNvPr id="94" name="Google Shape;94;p3"/>
          <p:cNvSpPr txBox="1"/>
          <p:nvPr/>
        </p:nvSpPr>
        <p:spPr>
          <a:xfrm>
            <a:off x="8302962" y="2263328"/>
            <a:ext cx="696000" cy="579000"/>
          </a:xfrm>
          <a:prstGeom prst="rect">
            <a:avLst/>
          </a:prstGeom>
          <a:noFill/>
          <a:ln>
            <a:noFill/>
          </a:ln>
        </p:spPr>
        <p:txBody>
          <a:bodyPr anchorCtr="0" anchor="t" bIns="88250" lIns="88250" spcFirstLastPara="1" rIns="88250" wrap="square" tIns="88250">
            <a:spAutoFit/>
          </a:bodyPr>
          <a:lstStyle/>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latin typeface="Inter"/>
                <a:ea typeface="Inter"/>
                <a:cs typeface="Inter"/>
                <a:sym typeface="Inter"/>
              </a:rPr>
              <a:t>77</a:t>
            </a:r>
            <a:r>
              <a:rPr b="1" i="0" lang="zh-HK" sz="868" u="none" cap="none" strike="noStrike">
                <a:solidFill>
                  <a:schemeClr val="dk1"/>
                </a:solidFill>
                <a:latin typeface="Inter"/>
                <a:ea typeface="Inter"/>
                <a:cs typeface="Inter"/>
                <a:sym typeface="Inter"/>
              </a:rPr>
              <a:t>.8</a:t>
            </a:r>
            <a:r>
              <a:rPr b="1" lang="zh-HK" sz="868">
                <a:solidFill>
                  <a:schemeClr val="dk1"/>
                </a:solidFill>
                <a:latin typeface="Inter"/>
                <a:ea typeface="Inter"/>
                <a:cs typeface="Inter"/>
                <a:sym typeface="Inter"/>
              </a:rPr>
              <a:t>3</a:t>
            </a:r>
            <a:r>
              <a:rPr b="1" i="0" lang="zh-HK" sz="868" u="none" cap="none" strike="noStrike">
                <a:solidFill>
                  <a:schemeClr val="dk1"/>
                </a:solidFill>
                <a:latin typeface="Inter"/>
                <a:ea typeface="Inter"/>
                <a:cs typeface="Inter"/>
                <a:sym typeface="Inter"/>
              </a:rPr>
              <a:t>%</a:t>
            </a:r>
            <a:endParaRPr b="1" i="0" sz="868"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latin typeface="Inter"/>
                <a:ea typeface="Inter"/>
                <a:cs typeface="Inter"/>
                <a:sym typeface="Inter"/>
              </a:rPr>
              <a:t>87</a:t>
            </a:r>
            <a:r>
              <a:rPr b="1" i="0" lang="zh-HK" sz="868" u="none" cap="none" strike="noStrike">
                <a:solidFill>
                  <a:schemeClr val="dk1"/>
                </a:solidFill>
                <a:latin typeface="Inter"/>
                <a:ea typeface="Inter"/>
                <a:cs typeface="Inter"/>
                <a:sym typeface="Inter"/>
              </a:rPr>
              <a:t>.</a:t>
            </a:r>
            <a:r>
              <a:rPr b="1" lang="zh-HK" sz="868">
                <a:solidFill>
                  <a:schemeClr val="dk1"/>
                </a:solidFill>
                <a:latin typeface="Inter"/>
                <a:ea typeface="Inter"/>
                <a:cs typeface="Inter"/>
                <a:sym typeface="Inter"/>
              </a:rPr>
              <a:t>87</a:t>
            </a:r>
            <a:r>
              <a:rPr b="1" i="0" lang="zh-HK" sz="868" u="none" cap="none" strike="noStrike">
                <a:solidFill>
                  <a:schemeClr val="dk1"/>
                </a:solidFill>
                <a:latin typeface="Inter"/>
                <a:ea typeface="Inter"/>
                <a:cs typeface="Inter"/>
                <a:sym typeface="Inter"/>
              </a:rPr>
              <a:t>%</a:t>
            </a:r>
            <a:endParaRPr b="1" i="0" sz="868"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1" i="0" lang="zh-HK" sz="868" u="none" cap="none" strike="noStrike">
                <a:solidFill>
                  <a:schemeClr val="dk1"/>
                </a:solidFill>
                <a:latin typeface="Inter"/>
                <a:ea typeface="Inter"/>
                <a:cs typeface="Inter"/>
                <a:sym typeface="Inter"/>
              </a:rPr>
              <a:t>86.</a:t>
            </a:r>
            <a:r>
              <a:rPr b="1" lang="zh-HK" sz="868">
                <a:solidFill>
                  <a:schemeClr val="dk1"/>
                </a:solidFill>
                <a:latin typeface="Inter"/>
                <a:ea typeface="Inter"/>
                <a:cs typeface="Inter"/>
                <a:sym typeface="Inter"/>
              </a:rPr>
              <a:t>2</a:t>
            </a:r>
            <a:r>
              <a:rPr b="1" i="0" lang="zh-HK" sz="868" u="none" cap="none" strike="noStrike">
                <a:solidFill>
                  <a:schemeClr val="dk1"/>
                </a:solidFill>
                <a:latin typeface="Inter"/>
                <a:ea typeface="Inter"/>
                <a:cs typeface="Inter"/>
                <a:sym typeface="Inter"/>
              </a:rPr>
              <a:t>0%</a:t>
            </a:r>
            <a:endParaRPr b="1" i="0" sz="868" u="none" cap="none" strike="noStrike">
              <a:solidFill>
                <a:schemeClr val="dk1"/>
              </a:solidFill>
              <a:latin typeface="Inter"/>
              <a:ea typeface="Inter"/>
              <a:cs typeface="Inter"/>
              <a:sym typeface="Inter"/>
            </a:endParaRPr>
          </a:p>
        </p:txBody>
      </p:sp>
      <p:sp>
        <p:nvSpPr>
          <p:cNvPr id="95" name="Google Shape;95;p3"/>
          <p:cNvSpPr txBox="1"/>
          <p:nvPr/>
        </p:nvSpPr>
        <p:spPr>
          <a:xfrm>
            <a:off x="0" y="522645"/>
            <a:ext cx="9144000" cy="12225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rgbClr val="0F1115"/>
              </a:buClr>
              <a:buSzPts val="1100"/>
              <a:buFont typeface="Times New Roman"/>
              <a:buChar char="●"/>
            </a:pPr>
            <a:r>
              <a:rPr lang="zh-HK" sz="1100">
                <a:solidFill>
                  <a:srgbClr val="0F1115"/>
                </a:solidFill>
                <a:latin typeface="Times New Roman"/>
                <a:ea typeface="Times New Roman"/>
                <a:cs typeface="Times New Roman"/>
                <a:sym typeface="Times New Roman"/>
              </a:rPr>
              <a:t>Driven by the </a:t>
            </a:r>
            <a:r>
              <a:rPr b="1" lang="zh-HK" sz="1100">
                <a:solidFill>
                  <a:srgbClr val="0F1115"/>
                </a:solidFill>
                <a:latin typeface="Times New Roman"/>
                <a:ea typeface="Times New Roman"/>
                <a:cs typeface="Times New Roman"/>
                <a:sym typeface="Times New Roman"/>
              </a:rPr>
              <a:t>Sanrio and Chiikawa</a:t>
            </a:r>
            <a:r>
              <a:rPr lang="zh-HK" sz="1100">
                <a:solidFill>
                  <a:srgbClr val="0F1115"/>
                </a:solidFill>
                <a:latin typeface="Times New Roman"/>
                <a:ea typeface="Times New Roman"/>
                <a:cs typeface="Times New Roman"/>
                <a:sym typeface="Times New Roman"/>
              </a:rPr>
              <a:t> IP campaigns, all channels recorded notable </a:t>
            </a:r>
            <a:r>
              <a:rPr lang="zh-HK" sz="1100">
                <a:solidFill>
                  <a:srgbClr val="0F1115"/>
                </a:solidFill>
                <a:latin typeface="Times New Roman"/>
                <a:ea typeface="Times New Roman"/>
                <a:cs typeface="Times New Roman"/>
                <a:sym typeface="Times New Roman"/>
              </a:rPr>
              <a:t>fan</a:t>
            </a:r>
            <a:r>
              <a:rPr lang="zh-HK" sz="1100">
                <a:solidFill>
                  <a:srgbClr val="0F1115"/>
                </a:solidFill>
                <a:latin typeface="Times New Roman"/>
                <a:ea typeface="Times New Roman"/>
                <a:cs typeface="Times New Roman"/>
                <a:sym typeface="Times New Roman"/>
              </a:rPr>
              <a:t> growth and engagement in July.</a:t>
            </a:r>
            <a:endParaRPr sz="1100">
              <a:solidFill>
                <a:srgbClr val="0F1115"/>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b="1" lang="zh-HK" sz="1100">
                <a:solidFill>
                  <a:srgbClr val="0F1115"/>
                </a:solidFill>
                <a:latin typeface="Times New Roman"/>
                <a:ea typeface="Times New Roman"/>
                <a:cs typeface="Times New Roman"/>
                <a:sym typeface="Times New Roman"/>
              </a:rPr>
              <a:t>XHS </a:t>
            </a:r>
            <a:r>
              <a:rPr lang="zh-HK" sz="1100">
                <a:solidFill>
                  <a:srgbClr val="0F1115"/>
                </a:solidFill>
                <a:latin typeface="Times New Roman"/>
                <a:ea typeface="Times New Roman"/>
                <a:cs typeface="Times New Roman"/>
                <a:sym typeface="Times New Roman"/>
              </a:rPr>
              <a:t>continued to lead in </a:t>
            </a:r>
            <a:r>
              <a:rPr b="1" lang="zh-HK" sz="1100">
                <a:solidFill>
                  <a:srgbClr val="0F1115"/>
                </a:solidFill>
                <a:latin typeface="Times New Roman"/>
                <a:ea typeface="Times New Roman"/>
                <a:cs typeface="Times New Roman"/>
                <a:sym typeface="Times New Roman"/>
              </a:rPr>
              <a:t>engagement rate</a:t>
            </a:r>
            <a:r>
              <a:rPr lang="zh-HK" sz="1100">
                <a:solidFill>
                  <a:srgbClr val="0F1115"/>
                </a:solidFill>
                <a:latin typeface="Times New Roman"/>
                <a:ea typeface="Times New Roman"/>
                <a:cs typeface="Times New Roman"/>
                <a:sym typeface="Times New Roman"/>
              </a:rPr>
              <a:t> and recorded the </a:t>
            </a:r>
            <a:r>
              <a:rPr b="1" lang="zh-HK" sz="1100">
                <a:solidFill>
                  <a:srgbClr val="0F1115"/>
                </a:solidFill>
                <a:latin typeface="Times New Roman"/>
                <a:ea typeface="Times New Roman"/>
                <a:cs typeface="Times New Roman"/>
                <a:sym typeface="Times New Roman"/>
              </a:rPr>
              <a:t>highest net f</a:t>
            </a:r>
            <a:r>
              <a:rPr b="1" lang="zh-HK" sz="1100">
                <a:solidFill>
                  <a:srgbClr val="0F1115"/>
                </a:solidFill>
                <a:latin typeface="Times New Roman"/>
                <a:ea typeface="Times New Roman"/>
                <a:cs typeface="Times New Roman"/>
                <a:sym typeface="Times New Roman"/>
              </a:rPr>
              <a:t>an</a:t>
            </a:r>
            <a:r>
              <a:rPr b="1" lang="zh-HK" sz="1100">
                <a:solidFill>
                  <a:srgbClr val="0F1115"/>
                </a:solidFill>
                <a:latin typeface="Times New Roman"/>
                <a:ea typeface="Times New Roman"/>
                <a:cs typeface="Times New Roman"/>
                <a:sym typeface="Times New Roman"/>
              </a:rPr>
              <a:t> growth</a:t>
            </a:r>
            <a:r>
              <a:rPr lang="zh-HK" sz="1100">
                <a:solidFill>
                  <a:srgbClr val="0F1115"/>
                </a:solidFill>
                <a:latin typeface="Times New Roman"/>
                <a:ea typeface="Times New Roman"/>
                <a:cs typeface="Times New Roman"/>
                <a:sym typeface="Times New Roman"/>
              </a:rPr>
              <a:t> among all channels.</a:t>
            </a:r>
            <a:endParaRPr sz="1100">
              <a:solidFill>
                <a:srgbClr val="0F1115"/>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b="1" lang="zh-HK" sz="1100">
                <a:solidFill>
                  <a:srgbClr val="0F1115"/>
                </a:solidFill>
                <a:latin typeface="Times New Roman"/>
                <a:ea typeface="Times New Roman"/>
                <a:cs typeface="Times New Roman"/>
                <a:sym typeface="Times New Roman"/>
              </a:rPr>
              <a:t>WeChat</a:t>
            </a:r>
            <a:r>
              <a:rPr lang="zh-HK" sz="1100">
                <a:solidFill>
                  <a:srgbClr val="0F1115"/>
                </a:solidFill>
                <a:latin typeface="Times New Roman"/>
                <a:ea typeface="Times New Roman"/>
                <a:cs typeface="Times New Roman"/>
                <a:sym typeface="Times New Roman"/>
              </a:rPr>
              <a:t> recorded its </a:t>
            </a:r>
            <a:r>
              <a:rPr b="1" lang="zh-HK" sz="1100">
                <a:solidFill>
                  <a:srgbClr val="0F1115"/>
                </a:solidFill>
                <a:latin typeface="Times New Roman"/>
                <a:ea typeface="Times New Roman"/>
                <a:cs typeface="Times New Roman"/>
                <a:sym typeface="Times New Roman"/>
              </a:rPr>
              <a:t>highest f</a:t>
            </a:r>
            <a:r>
              <a:rPr b="1" lang="zh-HK" sz="1100">
                <a:solidFill>
                  <a:srgbClr val="0F1115"/>
                </a:solidFill>
                <a:latin typeface="Times New Roman"/>
                <a:ea typeface="Times New Roman"/>
                <a:cs typeface="Times New Roman"/>
                <a:sym typeface="Times New Roman"/>
              </a:rPr>
              <a:t>an</a:t>
            </a:r>
            <a:r>
              <a:rPr b="1" lang="zh-HK" sz="1100">
                <a:solidFill>
                  <a:srgbClr val="0F1115"/>
                </a:solidFill>
                <a:latin typeface="Times New Roman"/>
                <a:ea typeface="Times New Roman"/>
                <a:cs typeface="Times New Roman"/>
                <a:sym typeface="Times New Roman"/>
              </a:rPr>
              <a:t> net growth</a:t>
            </a:r>
            <a:r>
              <a:rPr lang="zh-HK" sz="1100">
                <a:solidFill>
                  <a:srgbClr val="0F1115"/>
                </a:solidFill>
                <a:latin typeface="Times New Roman"/>
                <a:ea typeface="Times New Roman"/>
                <a:cs typeface="Times New Roman"/>
                <a:sym typeface="Times New Roman"/>
              </a:rPr>
              <a:t> since the beginning of the year, while </a:t>
            </a:r>
            <a:r>
              <a:rPr b="1" lang="zh-HK" sz="1100">
                <a:solidFill>
                  <a:srgbClr val="0F1115"/>
                </a:solidFill>
                <a:latin typeface="Times New Roman"/>
                <a:ea typeface="Times New Roman"/>
                <a:cs typeface="Times New Roman"/>
                <a:sym typeface="Times New Roman"/>
              </a:rPr>
              <a:t>Channel </a:t>
            </a:r>
            <a:r>
              <a:rPr lang="zh-HK" sz="1100">
                <a:solidFill>
                  <a:srgbClr val="0F1115"/>
                </a:solidFill>
                <a:latin typeface="Times New Roman"/>
                <a:ea typeface="Times New Roman"/>
                <a:cs typeface="Times New Roman"/>
                <a:sym typeface="Times New Roman"/>
              </a:rPr>
              <a:t>maintained steady fan growth and total views, and </a:t>
            </a:r>
            <a:r>
              <a:rPr b="1" lang="zh-HK" sz="1100">
                <a:solidFill>
                  <a:srgbClr val="0F1115"/>
                </a:solidFill>
                <a:latin typeface="Times New Roman"/>
                <a:ea typeface="Times New Roman"/>
                <a:cs typeface="Times New Roman"/>
                <a:sym typeface="Times New Roman"/>
              </a:rPr>
              <a:t>Douyin </a:t>
            </a:r>
            <a:r>
              <a:rPr lang="zh-HK" sz="1100">
                <a:solidFill>
                  <a:srgbClr val="0F1115"/>
                </a:solidFill>
                <a:latin typeface="Times New Roman"/>
                <a:ea typeface="Times New Roman"/>
                <a:cs typeface="Times New Roman"/>
                <a:sym typeface="Times New Roman"/>
              </a:rPr>
              <a:t>reached its </a:t>
            </a:r>
            <a:r>
              <a:rPr b="1" lang="zh-HK" sz="1100">
                <a:solidFill>
                  <a:srgbClr val="0F1115"/>
                </a:solidFill>
                <a:latin typeface="Times New Roman"/>
                <a:ea typeface="Times New Roman"/>
                <a:cs typeface="Times New Roman"/>
                <a:sym typeface="Times New Roman"/>
              </a:rPr>
              <a:t>highest fan growth and total engagement</a:t>
            </a:r>
            <a:r>
              <a:rPr lang="zh-HK" sz="1100">
                <a:solidFill>
                  <a:srgbClr val="0F1115"/>
                </a:solidFill>
                <a:latin typeface="Times New Roman"/>
                <a:ea typeface="Times New Roman"/>
                <a:cs typeface="Times New Roman"/>
                <a:sym typeface="Times New Roman"/>
              </a:rPr>
              <a:t> since January.</a:t>
            </a:r>
            <a:endParaRPr sz="1100">
              <a:solidFill>
                <a:srgbClr val="0F1115"/>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lang="zh-HK" sz="1100">
                <a:solidFill>
                  <a:srgbClr val="0F1115"/>
                </a:solidFill>
                <a:latin typeface="Times New Roman"/>
                <a:ea typeface="Times New Roman"/>
                <a:cs typeface="Times New Roman"/>
                <a:sym typeface="Times New Roman"/>
              </a:rPr>
              <a:t>A total of </a:t>
            </a:r>
            <a:r>
              <a:rPr b="1" lang="zh-HK" sz="1100">
                <a:solidFill>
                  <a:srgbClr val="0F1115"/>
                </a:solidFill>
                <a:latin typeface="Times New Roman"/>
                <a:ea typeface="Times New Roman"/>
                <a:cs typeface="Times New Roman"/>
                <a:sym typeface="Times New Roman"/>
              </a:rPr>
              <a:t>4,935 RMB</a:t>
            </a:r>
            <a:r>
              <a:rPr lang="zh-HK" sz="1100">
                <a:solidFill>
                  <a:srgbClr val="0F1115"/>
                </a:solidFill>
                <a:latin typeface="Times New Roman"/>
                <a:ea typeface="Times New Roman"/>
                <a:cs typeface="Times New Roman"/>
                <a:sym typeface="Times New Roman"/>
              </a:rPr>
              <a:t> was spent on ad boosting, primarily on </a:t>
            </a:r>
            <a:r>
              <a:rPr b="1" lang="zh-HK" sz="1100">
                <a:solidFill>
                  <a:srgbClr val="0F1115"/>
                </a:solidFill>
                <a:latin typeface="Times New Roman"/>
                <a:ea typeface="Times New Roman"/>
                <a:cs typeface="Times New Roman"/>
                <a:sym typeface="Times New Roman"/>
              </a:rPr>
              <a:t>XHS</a:t>
            </a:r>
            <a:r>
              <a:rPr lang="zh-HK" sz="1100">
                <a:solidFill>
                  <a:srgbClr val="0F1115"/>
                </a:solidFill>
                <a:latin typeface="Times New Roman"/>
                <a:ea typeface="Times New Roman"/>
                <a:cs typeface="Times New Roman"/>
                <a:sym typeface="Times New Roman"/>
              </a:rPr>
              <a:t> to maximize reach for </a:t>
            </a:r>
            <a:r>
              <a:rPr b="1" lang="zh-HK" sz="1100">
                <a:solidFill>
                  <a:srgbClr val="0F1115"/>
                </a:solidFill>
                <a:latin typeface="Times New Roman"/>
                <a:ea typeface="Times New Roman"/>
                <a:cs typeface="Times New Roman"/>
                <a:sym typeface="Times New Roman"/>
              </a:rPr>
              <a:t>IP campaign</a:t>
            </a:r>
            <a:r>
              <a:rPr lang="zh-HK" sz="1100">
                <a:solidFill>
                  <a:srgbClr val="0F1115"/>
                </a:solidFill>
                <a:latin typeface="Times New Roman"/>
                <a:ea typeface="Times New Roman"/>
                <a:cs typeface="Times New Roman"/>
                <a:sym typeface="Times New Roman"/>
              </a:rPr>
              <a:t> posts and drive engagement.</a:t>
            </a:r>
            <a:endParaRPr sz="1100">
              <a:solidFill>
                <a:srgbClr val="0F1115"/>
              </a:solidFill>
              <a:latin typeface="Times New Roman"/>
              <a:ea typeface="Times New Roman"/>
              <a:cs typeface="Times New Roman"/>
              <a:sym typeface="Times New Roman"/>
            </a:endParaRPr>
          </a:p>
          <a:p>
            <a:pPr indent="0" lvl="0" marL="0" rtl="0" algn="l">
              <a:lnSpc>
                <a:spcPct val="115000"/>
              </a:lnSpc>
              <a:spcBef>
                <a:spcPts val="1700"/>
              </a:spcBef>
              <a:spcAft>
                <a:spcPts val="1200"/>
              </a:spcAft>
              <a:buNone/>
            </a:pPr>
            <a:r>
              <a:t/>
            </a:r>
            <a:endParaRPr sz="1200">
              <a:solidFill>
                <a:srgbClr val="0F1115"/>
              </a:solidFill>
              <a:latin typeface="Inter"/>
              <a:ea typeface="Inter"/>
              <a:cs typeface="Inter"/>
              <a:sym typeface="Inter"/>
            </a:endParaRPr>
          </a:p>
        </p:txBody>
      </p:sp>
      <p:graphicFrame>
        <p:nvGraphicFramePr>
          <p:cNvPr id="96" name="Google Shape;96;p3"/>
          <p:cNvGraphicFramePr/>
          <p:nvPr/>
        </p:nvGraphicFramePr>
        <p:xfrm>
          <a:off x="3802150" y="2066079"/>
          <a:ext cx="3000000" cy="3000000"/>
        </p:xfrm>
        <a:graphic>
          <a:graphicData uri="http://schemas.openxmlformats.org/drawingml/2006/table">
            <a:tbl>
              <a:tblPr>
                <a:noFill/>
                <a:tableStyleId>{E1739E71-98CB-4F31-BA75-B360A44B9F01}</a:tableStyleId>
              </a:tblPr>
              <a:tblGrid>
                <a:gridCol w="694850"/>
                <a:gridCol w="602450"/>
                <a:gridCol w="602450"/>
                <a:gridCol w="602450"/>
              </a:tblGrid>
              <a:tr h="447250">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solidFill>
                            <a:srgbClr val="1F1F1F"/>
                          </a:solidFill>
                          <a:latin typeface="Times New Roman"/>
                          <a:ea typeface="Times New Roman"/>
                          <a:cs typeface="Times New Roman"/>
                          <a:sym typeface="Times New Roman"/>
                        </a:rPr>
                        <a:t>Channel</a:t>
                      </a:r>
                      <a:endParaRPr b="1"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Times New Roman"/>
                          <a:ea typeface="Times New Roman"/>
                          <a:cs typeface="Times New Roman"/>
                          <a:sym typeface="Times New Roman"/>
                        </a:rPr>
                        <a:t>Cost</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700" u="none" cap="none" strike="noStrike">
                          <a:latin typeface="Times New Roman"/>
                          <a:ea typeface="Times New Roman"/>
                          <a:cs typeface="Times New Roman"/>
                          <a:sym typeface="Times New Roman"/>
                        </a:rPr>
                        <a:t>Total Impressions</a:t>
                      </a:r>
                      <a:endParaRPr b="1" sz="7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700" u="none" cap="none" strike="noStrike">
                          <a:latin typeface="Times New Roman"/>
                          <a:ea typeface="Times New Roman"/>
                          <a:cs typeface="Times New Roman"/>
                          <a:sym typeface="Times New Roman"/>
                        </a:rPr>
                        <a:t>Total </a:t>
                      </a:r>
                      <a:br>
                        <a:rPr b="1" lang="zh-HK" sz="700" u="none" cap="none" strike="noStrike">
                          <a:latin typeface="Times New Roman"/>
                          <a:ea typeface="Times New Roman"/>
                          <a:cs typeface="Times New Roman"/>
                          <a:sym typeface="Times New Roman"/>
                        </a:rPr>
                      </a:br>
                      <a:r>
                        <a:rPr b="1" lang="zh-HK" sz="700" u="none" cap="none" strike="noStrike">
                          <a:latin typeface="Times New Roman"/>
                          <a:ea typeface="Times New Roman"/>
                          <a:cs typeface="Times New Roman"/>
                          <a:sym typeface="Times New Roman"/>
                        </a:rPr>
                        <a:t>Engagement </a:t>
                      </a:r>
                      <a:endParaRPr b="1" sz="7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r>
              <a:tr h="544425">
                <a:tc>
                  <a:txBody>
                    <a:bodyPr/>
                    <a:lstStyle/>
                    <a:p>
                      <a:pPr indent="0" lvl="0" marL="0" marR="0" rtl="0" algn="ctr">
                        <a:lnSpc>
                          <a:spcPct val="115000"/>
                        </a:lnSpc>
                        <a:spcBef>
                          <a:spcPts val="0"/>
                        </a:spcBef>
                        <a:spcAft>
                          <a:spcPts val="0"/>
                        </a:spcAft>
                        <a:buClr>
                          <a:srgbClr val="000000"/>
                        </a:buClr>
                        <a:buSzPts val="1000"/>
                        <a:buFont typeface="Arial"/>
                        <a:buNone/>
                      </a:pPr>
                      <a:r>
                        <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100"/>
                        <a:buFont typeface="Arial"/>
                        <a:buNone/>
                      </a:pPr>
                      <a:r>
                        <a:rPr lang="zh-HK" sz="1000" u="none" cap="none" strike="noStrike">
                          <a:solidFill>
                            <a:schemeClr val="dk2"/>
                          </a:solidFill>
                          <a:latin typeface="Times New Roman"/>
                          <a:ea typeface="Times New Roman"/>
                          <a:cs typeface="Times New Roman"/>
                          <a:sym typeface="Times New Roman"/>
                        </a:rPr>
                        <a:t>¥2,</a:t>
                      </a:r>
                      <a:r>
                        <a:rPr lang="zh-HK" sz="1000">
                          <a:solidFill>
                            <a:schemeClr val="dk2"/>
                          </a:solidFill>
                          <a:latin typeface="Times New Roman"/>
                          <a:ea typeface="Times New Roman"/>
                          <a:cs typeface="Times New Roman"/>
                          <a:sym typeface="Times New Roman"/>
                        </a:rPr>
                        <a:t>97</a:t>
                      </a:r>
                      <a:r>
                        <a:rPr lang="zh-HK" sz="1000" u="none" cap="none" strike="noStrike">
                          <a:solidFill>
                            <a:schemeClr val="dk2"/>
                          </a:solidFill>
                          <a:latin typeface="Times New Roman"/>
                          <a:ea typeface="Times New Roman"/>
                          <a:cs typeface="Times New Roman"/>
                          <a:sym typeface="Times New Roman"/>
                        </a:rPr>
                        <a:t>5.</a:t>
                      </a:r>
                      <a:r>
                        <a:rPr lang="zh-HK" sz="1000">
                          <a:solidFill>
                            <a:schemeClr val="dk2"/>
                          </a:solidFill>
                          <a:latin typeface="Times New Roman"/>
                          <a:ea typeface="Times New Roman"/>
                          <a:cs typeface="Times New Roman"/>
                          <a:sym typeface="Times New Roman"/>
                        </a:rPr>
                        <a:t>01</a:t>
                      </a:r>
                      <a:endParaRPr sz="1000" u="none" cap="none" strike="noStrike">
                        <a:solidFill>
                          <a:schemeClr val="dk2"/>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33</a:t>
                      </a:r>
                      <a:r>
                        <a:rPr lang="zh-HK" sz="1000" u="none" cap="none" strike="noStrike">
                          <a:latin typeface="Times New Roman"/>
                          <a:ea typeface="Times New Roman"/>
                          <a:cs typeface="Times New Roman"/>
                          <a:sym typeface="Times New Roman"/>
                        </a:rPr>
                        <a:t>,</a:t>
                      </a:r>
                      <a:r>
                        <a:rPr lang="zh-HK" sz="1000">
                          <a:latin typeface="Times New Roman"/>
                          <a:ea typeface="Times New Roman"/>
                          <a:cs typeface="Times New Roman"/>
                          <a:sym typeface="Times New Roman"/>
                        </a:rPr>
                        <a:t>983</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Times New Roman"/>
                          <a:ea typeface="Times New Roman"/>
                          <a:cs typeface="Times New Roman"/>
                          <a:sym typeface="Times New Roman"/>
                        </a:rPr>
                        <a:t>1,</a:t>
                      </a:r>
                      <a:r>
                        <a:rPr lang="zh-HK" sz="1000">
                          <a:latin typeface="Times New Roman"/>
                          <a:ea typeface="Times New Roman"/>
                          <a:cs typeface="Times New Roman"/>
                          <a:sym typeface="Times New Roman"/>
                        </a:rPr>
                        <a:t>965</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98325">
                <a:tc>
                  <a:txBody>
                    <a:bodyPr/>
                    <a:lstStyle/>
                    <a:p>
                      <a:pPr indent="0" lvl="0" marL="0" marR="0" rtl="0" algn="ctr">
                        <a:lnSpc>
                          <a:spcPct val="115000"/>
                        </a:lnSpc>
                        <a:spcBef>
                          <a:spcPts val="0"/>
                        </a:spcBef>
                        <a:spcAft>
                          <a:spcPts val="0"/>
                        </a:spcAft>
                        <a:buClr>
                          <a:srgbClr val="000000"/>
                        </a:buClr>
                        <a:buSzPts val="1000"/>
                        <a:buFont typeface="Arial"/>
                        <a:buNone/>
                      </a:pPr>
                      <a:r>
                        <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C1C1C"/>
                          </a:solidFill>
                          <a:latin typeface="Times New Roman"/>
                          <a:ea typeface="Times New Roman"/>
                          <a:cs typeface="Times New Roman"/>
                          <a:sym typeface="Times New Roman"/>
                        </a:rPr>
                        <a:t>¥</a:t>
                      </a:r>
                      <a:r>
                        <a:rPr lang="zh-HK" sz="1000">
                          <a:solidFill>
                            <a:srgbClr val="1C1C1C"/>
                          </a:solidFill>
                          <a:latin typeface="Times New Roman"/>
                          <a:ea typeface="Times New Roman"/>
                          <a:cs typeface="Times New Roman"/>
                          <a:sym typeface="Times New Roman"/>
                        </a:rPr>
                        <a:t>250</a:t>
                      </a:r>
                      <a:endParaRPr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C1C1C"/>
                          </a:solidFill>
                          <a:latin typeface="Times New Roman"/>
                          <a:ea typeface="Times New Roman"/>
                          <a:cs typeface="Times New Roman"/>
                          <a:sym typeface="Times New Roman"/>
                        </a:rPr>
                        <a:t>14,791</a:t>
                      </a:r>
                      <a:endParaRPr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C1C1C"/>
                          </a:solidFill>
                          <a:latin typeface="Times New Roman"/>
                          <a:ea typeface="Times New Roman"/>
                          <a:cs typeface="Times New Roman"/>
                          <a:sym typeface="Times New Roman"/>
                        </a:rPr>
                        <a:t>1</a:t>
                      </a:r>
                      <a:r>
                        <a:rPr lang="zh-HK" sz="1000">
                          <a:solidFill>
                            <a:srgbClr val="1C1C1C"/>
                          </a:solidFill>
                          <a:latin typeface="Times New Roman"/>
                          <a:ea typeface="Times New Roman"/>
                          <a:cs typeface="Times New Roman"/>
                          <a:sym typeface="Times New Roman"/>
                        </a:rPr>
                        <a:t>7</a:t>
                      </a:r>
                      <a:endParaRPr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4425">
                <a:tc>
                  <a:txBody>
                    <a:bodyPr/>
                    <a:lstStyle/>
                    <a:p>
                      <a:pPr indent="0" lvl="0" marL="0" marR="0" rtl="0" algn="l">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    </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C1C1C"/>
                          </a:solidFill>
                          <a:latin typeface="Times New Roman"/>
                          <a:ea typeface="Times New Roman"/>
                          <a:cs typeface="Times New Roman"/>
                          <a:sym typeface="Times New Roman"/>
                        </a:rPr>
                        <a:t>¥1,</a:t>
                      </a:r>
                      <a:r>
                        <a:rPr lang="zh-HK" sz="1000">
                          <a:solidFill>
                            <a:srgbClr val="1C1C1C"/>
                          </a:solidFill>
                          <a:latin typeface="Times New Roman"/>
                          <a:ea typeface="Times New Roman"/>
                          <a:cs typeface="Times New Roman"/>
                          <a:sym typeface="Times New Roman"/>
                        </a:rPr>
                        <a:t>710</a:t>
                      </a:r>
                      <a:endParaRPr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C1C1C"/>
                          </a:solidFill>
                          <a:latin typeface="Times New Roman"/>
                          <a:ea typeface="Times New Roman"/>
                          <a:cs typeface="Times New Roman"/>
                          <a:sym typeface="Times New Roman"/>
                        </a:rPr>
                        <a:t>41,259</a:t>
                      </a:r>
                      <a:endParaRPr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C1C1C"/>
                          </a:solidFill>
                          <a:latin typeface="Times New Roman"/>
                          <a:ea typeface="Times New Roman"/>
                          <a:cs typeface="Times New Roman"/>
                          <a:sym typeface="Times New Roman"/>
                        </a:rPr>
                        <a:t>2.217</a:t>
                      </a:r>
                      <a:endParaRPr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4425">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solidFill>
                            <a:srgbClr val="1F1F1F"/>
                          </a:solidFill>
                          <a:latin typeface="Times New Roman"/>
                          <a:ea typeface="Times New Roman"/>
                          <a:cs typeface="Times New Roman"/>
                          <a:sym typeface="Times New Roman"/>
                        </a:rPr>
                        <a:t>Total </a:t>
                      </a:r>
                      <a:endParaRPr b="1"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solidFill>
                            <a:srgbClr val="1C1C1C"/>
                          </a:solidFill>
                          <a:latin typeface="Times New Roman"/>
                          <a:ea typeface="Times New Roman"/>
                          <a:cs typeface="Times New Roman"/>
                          <a:sym typeface="Times New Roman"/>
                        </a:rPr>
                        <a:t>¥</a:t>
                      </a:r>
                      <a:r>
                        <a:rPr b="1" lang="zh-HK" sz="1000">
                          <a:solidFill>
                            <a:srgbClr val="1C1C1C"/>
                          </a:solidFill>
                          <a:latin typeface="Times New Roman"/>
                          <a:ea typeface="Times New Roman"/>
                          <a:cs typeface="Times New Roman"/>
                          <a:sym typeface="Times New Roman"/>
                        </a:rPr>
                        <a:t>4,935.01</a:t>
                      </a:r>
                      <a:endParaRPr b="1"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solidFill>
                            <a:srgbClr val="1C1C1C"/>
                          </a:solidFill>
                          <a:latin typeface="Times New Roman"/>
                          <a:ea typeface="Times New Roman"/>
                          <a:cs typeface="Times New Roman"/>
                          <a:sym typeface="Times New Roman"/>
                        </a:rPr>
                        <a:t>90,033</a:t>
                      </a:r>
                      <a:endParaRPr b="1" sz="1400" u="none" cap="none" strike="noStrike">
                        <a:solidFill>
                          <a:srgbClr val="1C1C1C"/>
                        </a:solidFill>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solidFill>
                            <a:srgbClr val="1C1C1C"/>
                          </a:solidFill>
                          <a:latin typeface="Times New Roman"/>
                          <a:ea typeface="Times New Roman"/>
                          <a:cs typeface="Times New Roman"/>
                          <a:sym typeface="Times New Roman"/>
                        </a:rPr>
                        <a:t>4,199</a:t>
                      </a:r>
                      <a:endParaRPr b="1" sz="1400" u="none" cap="none" strike="noStrike">
                        <a:solidFill>
                          <a:srgbClr val="1C1C1C"/>
                        </a:solidFill>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7" name="Google Shape;97;p3"/>
          <p:cNvSpPr txBox="1"/>
          <p:nvPr/>
        </p:nvSpPr>
        <p:spPr>
          <a:xfrm>
            <a:off x="3915822" y="1714057"/>
            <a:ext cx="2225100" cy="3630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1200" u="none" cap="none" strike="noStrike">
                <a:solidFill>
                  <a:schemeClr val="dk1"/>
                </a:solidFill>
                <a:latin typeface="Times New Roman"/>
                <a:ea typeface="Times New Roman"/>
                <a:cs typeface="Times New Roman"/>
                <a:sym typeface="Times New Roman"/>
              </a:rPr>
              <a:t>Paid Performance</a:t>
            </a:r>
            <a:endParaRPr b="1" i="0" sz="965" u="sng" cap="none" strike="noStrike">
              <a:solidFill>
                <a:srgbClr val="FFFFFF"/>
              </a:solidFill>
              <a:highlight>
                <a:srgbClr val="595959"/>
              </a:highlight>
              <a:latin typeface="Times New Roman"/>
              <a:ea typeface="Times New Roman"/>
              <a:cs typeface="Times New Roman"/>
              <a:sym typeface="Times New Roman"/>
            </a:endParaRPr>
          </a:p>
        </p:txBody>
      </p:sp>
      <p:sp>
        <p:nvSpPr>
          <p:cNvPr id="98" name="Google Shape;98;p3"/>
          <p:cNvSpPr txBox="1"/>
          <p:nvPr/>
        </p:nvSpPr>
        <p:spPr>
          <a:xfrm>
            <a:off x="829547" y="1711557"/>
            <a:ext cx="2225100" cy="3630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1200" u="none" cap="none" strike="noStrike">
                <a:solidFill>
                  <a:schemeClr val="dk1"/>
                </a:solidFill>
                <a:latin typeface="Times New Roman"/>
                <a:ea typeface="Times New Roman"/>
                <a:cs typeface="Times New Roman"/>
                <a:sym typeface="Times New Roman"/>
              </a:rPr>
              <a:t>Total Performance</a:t>
            </a:r>
            <a:endParaRPr b="1" i="0" sz="965" u="sng" cap="none" strike="noStrike">
              <a:solidFill>
                <a:srgbClr val="FFFFFF"/>
              </a:solidFill>
              <a:highlight>
                <a:srgbClr val="595959"/>
              </a:highlight>
              <a:latin typeface="Times New Roman"/>
              <a:ea typeface="Times New Roman"/>
              <a:cs typeface="Times New Roman"/>
              <a:sym typeface="Times New Roman"/>
            </a:endParaRPr>
          </a:p>
        </p:txBody>
      </p:sp>
      <p:pic>
        <p:nvPicPr>
          <p:cNvPr id="99" name="Google Shape;99;p3"/>
          <p:cNvPicPr preferRelativeResize="0"/>
          <p:nvPr/>
        </p:nvPicPr>
        <p:blipFill rotWithShape="1">
          <a:blip r:embed="rId4">
            <a:alphaModFix/>
          </a:blip>
          <a:srcRect b="0" l="0" r="0" t="0"/>
          <a:stretch/>
        </p:blipFill>
        <p:spPr>
          <a:xfrm>
            <a:off x="1277625" y="2096709"/>
            <a:ext cx="386075" cy="386075"/>
          </a:xfrm>
          <a:prstGeom prst="rect">
            <a:avLst/>
          </a:prstGeom>
          <a:noFill/>
          <a:ln>
            <a:noFill/>
          </a:ln>
        </p:spPr>
      </p:pic>
      <p:pic>
        <p:nvPicPr>
          <p:cNvPr id="100" name="Google Shape;100;p3"/>
          <p:cNvPicPr preferRelativeResize="0"/>
          <p:nvPr/>
        </p:nvPicPr>
        <p:blipFill rotWithShape="1">
          <a:blip r:embed="rId5">
            <a:alphaModFix/>
          </a:blip>
          <a:srcRect b="21816" l="32544" r="32537" t="22001"/>
          <a:stretch/>
        </p:blipFill>
        <p:spPr>
          <a:xfrm>
            <a:off x="3259525" y="2101850"/>
            <a:ext cx="363000" cy="364800"/>
          </a:xfrm>
          <a:prstGeom prst="roundRect">
            <a:avLst>
              <a:gd fmla="val 16667" name="adj"/>
            </a:avLst>
          </a:prstGeom>
          <a:noFill/>
          <a:ln>
            <a:noFill/>
          </a:ln>
        </p:spPr>
      </p:pic>
      <p:pic>
        <p:nvPicPr>
          <p:cNvPr id="101" name="Google Shape;101;p3"/>
          <p:cNvPicPr preferRelativeResize="0"/>
          <p:nvPr/>
        </p:nvPicPr>
        <p:blipFill rotWithShape="1">
          <a:blip r:embed="rId6">
            <a:alphaModFix/>
          </a:blip>
          <a:srcRect b="0" l="0" r="0" t="0"/>
          <a:stretch/>
        </p:blipFill>
        <p:spPr>
          <a:xfrm>
            <a:off x="1994999" y="2100366"/>
            <a:ext cx="363000" cy="363000"/>
          </a:xfrm>
          <a:prstGeom prst="rect">
            <a:avLst/>
          </a:prstGeom>
          <a:noFill/>
          <a:ln>
            <a:noFill/>
          </a:ln>
        </p:spPr>
      </p:pic>
      <p:pic>
        <p:nvPicPr>
          <p:cNvPr id="102" name="Google Shape;102;p3"/>
          <p:cNvPicPr preferRelativeResize="0"/>
          <p:nvPr/>
        </p:nvPicPr>
        <p:blipFill rotWithShape="1">
          <a:blip r:embed="rId4">
            <a:alphaModFix/>
          </a:blip>
          <a:srcRect b="0" l="0" r="0" t="0"/>
          <a:stretch/>
        </p:blipFill>
        <p:spPr>
          <a:xfrm>
            <a:off x="3968250" y="2608016"/>
            <a:ext cx="386075" cy="386075"/>
          </a:xfrm>
          <a:prstGeom prst="rect">
            <a:avLst/>
          </a:prstGeom>
          <a:noFill/>
          <a:ln>
            <a:noFill/>
          </a:ln>
        </p:spPr>
      </p:pic>
      <p:pic>
        <p:nvPicPr>
          <p:cNvPr id="103" name="Google Shape;103;p3" title="a697a07488e44c8c8c06bebbaeb5ef46.png"/>
          <p:cNvPicPr preferRelativeResize="0"/>
          <p:nvPr/>
        </p:nvPicPr>
        <p:blipFill rotWithShape="1">
          <a:blip r:embed="rId7">
            <a:alphaModFix/>
          </a:blip>
          <a:srcRect b="0" l="278" r="269" t="0"/>
          <a:stretch/>
        </p:blipFill>
        <p:spPr>
          <a:xfrm>
            <a:off x="3963875" y="3197905"/>
            <a:ext cx="394818" cy="397000"/>
          </a:xfrm>
          <a:prstGeom prst="rect">
            <a:avLst/>
          </a:prstGeom>
          <a:noFill/>
          <a:ln>
            <a:noFill/>
          </a:ln>
        </p:spPr>
      </p:pic>
      <p:pic>
        <p:nvPicPr>
          <p:cNvPr id="104" name="Google Shape;104;p3"/>
          <p:cNvPicPr preferRelativeResize="0"/>
          <p:nvPr/>
        </p:nvPicPr>
        <p:blipFill rotWithShape="1">
          <a:blip r:embed="rId5">
            <a:alphaModFix/>
          </a:blip>
          <a:srcRect b="21816" l="32544" r="32537" t="22001"/>
          <a:stretch/>
        </p:blipFill>
        <p:spPr>
          <a:xfrm>
            <a:off x="3963888" y="3761848"/>
            <a:ext cx="394800" cy="396900"/>
          </a:xfrm>
          <a:prstGeom prst="roundRect">
            <a:avLst>
              <a:gd fmla="val 16667" name="adj"/>
            </a:avLst>
          </a:prstGeom>
          <a:noFill/>
          <a:ln>
            <a:noFill/>
          </a:ln>
        </p:spPr>
      </p:pic>
      <p:pic>
        <p:nvPicPr>
          <p:cNvPr id="105" name="Google Shape;105;p3" title="a697a07488e44c8c8c06bebbaeb5ef46.png"/>
          <p:cNvPicPr preferRelativeResize="0"/>
          <p:nvPr/>
        </p:nvPicPr>
        <p:blipFill rotWithShape="1">
          <a:blip r:embed="rId7">
            <a:alphaModFix/>
          </a:blip>
          <a:srcRect b="0" l="278" r="269" t="0"/>
          <a:stretch/>
        </p:blipFill>
        <p:spPr>
          <a:xfrm>
            <a:off x="2611350" y="2083379"/>
            <a:ext cx="394818" cy="397000"/>
          </a:xfrm>
          <a:prstGeom prst="rect">
            <a:avLst/>
          </a:prstGeom>
          <a:noFill/>
          <a:ln>
            <a:noFill/>
          </a:ln>
        </p:spPr>
      </p:pic>
      <p:sp>
        <p:nvSpPr>
          <p:cNvPr id="106" name="Google Shape;106;p3"/>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txBox="1"/>
          <p:nvPr/>
        </p:nvSpPr>
        <p:spPr>
          <a:xfrm>
            <a:off x="6452175" y="2025049"/>
            <a:ext cx="13014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zh-HK" sz="1000" u="none" cap="none" strike="noStrike">
                <a:solidFill>
                  <a:srgbClr val="0C7E99"/>
                </a:solidFill>
                <a:latin typeface="Georgia"/>
                <a:ea typeface="Georgia"/>
                <a:cs typeface="Georgia"/>
                <a:sym typeface="Georgia"/>
              </a:rPr>
              <a:t>XHS</a:t>
            </a:r>
            <a:r>
              <a:rPr b="1" i="0" lang="zh-HK" sz="1500" u="none" cap="none" strike="noStrike">
                <a:solidFill>
                  <a:srgbClr val="0C7E99"/>
                </a:solidFill>
                <a:latin typeface="Georgia"/>
                <a:ea typeface="Georgia"/>
                <a:cs typeface="Georgia"/>
                <a:sym typeface="Georgia"/>
              </a:rPr>
              <a:t> </a:t>
            </a:r>
            <a:endParaRPr b="0" i="0" sz="1400" u="none" cap="none" strike="noStrike">
              <a:solidFill>
                <a:srgbClr val="000000"/>
              </a:solidFill>
              <a:latin typeface="Arial"/>
              <a:ea typeface="Arial"/>
              <a:cs typeface="Arial"/>
              <a:sym typeface="Arial"/>
            </a:endParaRPr>
          </a:p>
        </p:txBody>
      </p:sp>
      <p:pic>
        <p:nvPicPr>
          <p:cNvPr descr="About | Langham Place" id="108" name="Google Shape;108;p3"/>
          <p:cNvPicPr preferRelativeResize="0"/>
          <p:nvPr/>
        </p:nvPicPr>
        <p:blipFill rotWithShape="1">
          <a:blip r:embed="rId8">
            <a:alphaModFix/>
          </a:blip>
          <a:srcRect b="21020" l="14061" r="17215" t="26140"/>
          <a:stretch/>
        </p:blipFill>
        <p:spPr>
          <a:xfrm>
            <a:off x="8094845" y="170700"/>
            <a:ext cx="1049154" cy="423511"/>
          </a:xfrm>
          <a:prstGeom prst="rect">
            <a:avLst/>
          </a:prstGeom>
          <a:noFill/>
          <a:ln>
            <a:noFill/>
          </a:ln>
        </p:spPr>
      </p:pic>
      <p:sp>
        <p:nvSpPr>
          <p:cNvPr id="109" name="Google Shape;109;p3"/>
          <p:cNvSpPr/>
          <p:nvPr/>
        </p:nvSpPr>
        <p:spPr>
          <a:xfrm>
            <a:off x="6501108" y="4352425"/>
            <a:ext cx="1535700" cy="128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7E99"/>
              </a:buClr>
              <a:buSzPts val="1250"/>
              <a:buFont typeface="Georgia"/>
              <a:buNone/>
            </a:pPr>
            <a:r>
              <a:rPr b="1" i="0" lang="zh-HK" sz="1000" u="none" cap="none" strike="noStrike">
                <a:solidFill>
                  <a:srgbClr val="0C7E99"/>
                </a:solidFill>
                <a:latin typeface="Georgia"/>
                <a:ea typeface="Georgia"/>
                <a:cs typeface="Georgia"/>
                <a:sym typeface="Georgia"/>
              </a:rPr>
              <a:t>KOL Campaign</a:t>
            </a:r>
            <a:endParaRPr b="0" i="0" sz="1000" u="none" cap="none" strike="noStrike">
              <a:solidFill>
                <a:srgbClr val="000000"/>
              </a:solidFill>
              <a:latin typeface="Georgia"/>
              <a:ea typeface="Georgia"/>
              <a:cs typeface="Georgia"/>
              <a:sym typeface="Georgia"/>
            </a:endParaRPr>
          </a:p>
        </p:txBody>
      </p:sp>
      <p:sp>
        <p:nvSpPr>
          <p:cNvPr id="110" name="Google Shape;110;p3"/>
          <p:cNvSpPr/>
          <p:nvPr/>
        </p:nvSpPr>
        <p:spPr>
          <a:xfrm>
            <a:off x="6507513" y="4557462"/>
            <a:ext cx="20322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Total Views</a:t>
            </a:r>
            <a:r>
              <a:rPr b="0" i="0" lang="zh-HK" sz="868" u="none" cap="none" strike="noStrike">
                <a:solidFill>
                  <a:srgbClr val="595959"/>
                </a:solidFill>
                <a:highlight>
                  <a:schemeClr val="lt1"/>
                </a:highlight>
                <a:latin typeface="Inter"/>
                <a:ea typeface="Inter"/>
                <a:cs typeface="Inter"/>
                <a:sym typeface="Inter"/>
              </a:rPr>
              <a:t>: </a:t>
            </a:r>
            <a:r>
              <a:rPr b="1" lang="zh-HK" sz="868">
                <a:solidFill>
                  <a:srgbClr val="0F7E99"/>
                </a:solidFill>
                <a:highlight>
                  <a:schemeClr val="lt1"/>
                </a:highlight>
                <a:latin typeface="Inter"/>
                <a:ea typeface="Inter"/>
                <a:cs typeface="Inter"/>
                <a:sym typeface="Inter"/>
              </a:rPr>
              <a:t>814</a:t>
            </a:r>
            <a:r>
              <a:rPr b="1" i="0" lang="zh-HK" sz="868" u="none" cap="none" strike="noStrike">
                <a:solidFill>
                  <a:srgbClr val="0F7E99"/>
                </a:solidFill>
                <a:highlight>
                  <a:schemeClr val="lt1"/>
                </a:highlight>
                <a:latin typeface="Inter"/>
                <a:ea typeface="Inter"/>
                <a:cs typeface="Inter"/>
                <a:sym typeface="Inter"/>
              </a:rPr>
              <a:t>,</a:t>
            </a:r>
            <a:r>
              <a:rPr b="1" lang="zh-HK" sz="868">
                <a:solidFill>
                  <a:srgbClr val="0F7E99"/>
                </a:solidFill>
                <a:highlight>
                  <a:schemeClr val="lt1"/>
                </a:highlight>
                <a:latin typeface="Inter"/>
                <a:ea typeface="Inter"/>
                <a:cs typeface="Inter"/>
                <a:sym typeface="Inter"/>
              </a:rPr>
              <a:t>453</a:t>
            </a:r>
            <a:r>
              <a:rPr b="0" i="0" lang="zh-HK" sz="868" u="none" cap="none" strike="noStrike">
                <a:solidFill>
                  <a:srgbClr val="595959"/>
                </a:solidFill>
                <a:latin typeface="Inter"/>
                <a:ea typeface="Inter"/>
                <a:cs typeface="Inter"/>
                <a:sym typeface="Inter"/>
              </a:rPr>
              <a:t>/1800,000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Avg Engagment:</a:t>
            </a:r>
            <a:r>
              <a:rPr b="0" i="0" lang="zh-HK" sz="868" u="none" cap="none" strike="noStrike">
                <a:solidFill>
                  <a:srgbClr val="595959"/>
                </a:solidFill>
                <a:highlight>
                  <a:schemeClr val="lt1"/>
                </a:highlight>
                <a:latin typeface="Inter"/>
                <a:ea typeface="Inter"/>
                <a:cs typeface="Inter"/>
                <a:sym typeface="Inter"/>
              </a:rPr>
              <a:t> </a:t>
            </a:r>
            <a:r>
              <a:rPr b="1" lang="zh-HK" sz="868">
                <a:solidFill>
                  <a:srgbClr val="0F7E99"/>
                </a:solidFill>
                <a:highlight>
                  <a:schemeClr val="lt1"/>
                </a:highlight>
                <a:latin typeface="Inter"/>
                <a:ea typeface="Inter"/>
                <a:cs typeface="Inter"/>
                <a:sym typeface="Inter"/>
              </a:rPr>
              <a:t>7</a:t>
            </a:r>
            <a:r>
              <a:rPr b="1" i="0" lang="zh-HK" sz="868" u="none" cap="none" strike="noStrike">
                <a:solidFill>
                  <a:srgbClr val="0F7E99"/>
                </a:solidFill>
                <a:highlight>
                  <a:schemeClr val="lt1"/>
                </a:highlight>
                <a:latin typeface="Inter"/>
                <a:ea typeface="Inter"/>
                <a:cs typeface="Inter"/>
                <a:sym typeface="Inter"/>
              </a:rPr>
              <a:t>,</a:t>
            </a:r>
            <a:r>
              <a:rPr b="1" lang="zh-HK" sz="868">
                <a:solidFill>
                  <a:srgbClr val="0F7E99"/>
                </a:solidFill>
                <a:highlight>
                  <a:schemeClr val="lt1"/>
                </a:highlight>
                <a:latin typeface="Inter"/>
                <a:ea typeface="Inter"/>
                <a:cs typeface="Inter"/>
                <a:sym typeface="Inter"/>
              </a:rPr>
              <a:t>7</a:t>
            </a:r>
            <a:r>
              <a:rPr b="1" i="0" lang="zh-HK" sz="868" u="none" cap="none" strike="noStrike">
                <a:solidFill>
                  <a:srgbClr val="0F7E99"/>
                </a:solidFill>
                <a:highlight>
                  <a:schemeClr val="lt1"/>
                </a:highlight>
                <a:latin typeface="Inter"/>
                <a:ea typeface="Inter"/>
                <a:cs typeface="Inter"/>
                <a:sym typeface="Inter"/>
              </a:rPr>
              <a:t>6</a:t>
            </a:r>
            <a:r>
              <a:rPr b="1" lang="zh-HK" sz="868">
                <a:solidFill>
                  <a:srgbClr val="0F7E99"/>
                </a:solidFill>
                <a:highlight>
                  <a:schemeClr val="lt1"/>
                </a:highlight>
                <a:latin typeface="Inter"/>
                <a:ea typeface="Inter"/>
                <a:cs typeface="Inter"/>
                <a:sym typeface="Inter"/>
              </a:rPr>
              <a:t>4</a:t>
            </a:r>
            <a:r>
              <a:rPr b="0" i="0" lang="zh-HK" sz="868" u="none" cap="none" strike="noStrike">
                <a:solidFill>
                  <a:srgbClr val="595959"/>
                </a:solidFill>
                <a:highlight>
                  <a:schemeClr val="lt1"/>
                </a:highlight>
                <a:latin typeface="Inter"/>
                <a:ea typeface="Inter"/>
                <a:cs typeface="Inter"/>
                <a:sym typeface="Inter"/>
              </a:rPr>
              <a:t>/</a:t>
            </a:r>
            <a:r>
              <a:rPr b="0" i="0" lang="zh-HK" sz="868" u="none" cap="none" strike="noStrike">
                <a:solidFill>
                  <a:srgbClr val="595959"/>
                </a:solidFill>
                <a:latin typeface="Inter"/>
                <a:ea typeface="Inter"/>
                <a:cs typeface="Inter"/>
                <a:sym typeface="Inter"/>
              </a:rPr>
              <a:t>4,200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t/>
            </a:r>
            <a:endParaRPr b="0" i="0" sz="868" u="none" cap="none" strike="noStrike">
              <a:solidFill>
                <a:srgbClr val="595959"/>
              </a:solidFill>
              <a:latin typeface="Inter"/>
              <a:ea typeface="Inter"/>
              <a:cs typeface="Inter"/>
              <a:sym typeface="Inter"/>
            </a:endParaRPr>
          </a:p>
        </p:txBody>
      </p:sp>
      <p:sp>
        <p:nvSpPr>
          <p:cNvPr id="111" name="Google Shape;111;p3"/>
          <p:cNvSpPr/>
          <p:nvPr/>
        </p:nvSpPr>
        <p:spPr>
          <a:xfrm>
            <a:off x="6472213" y="3360606"/>
            <a:ext cx="1206900" cy="128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7E99"/>
              </a:buClr>
              <a:buSzPts val="1250"/>
              <a:buFont typeface="Georgia"/>
              <a:buNone/>
            </a:pPr>
            <a:r>
              <a:rPr b="1" i="0" lang="zh-HK" sz="1000" u="none" cap="none" strike="noStrike">
                <a:solidFill>
                  <a:srgbClr val="0C7E99"/>
                </a:solidFill>
                <a:latin typeface="Georgia"/>
                <a:ea typeface="Georgia"/>
                <a:cs typeface="Georgia"/>
                <a:sym typeface="Georgia"/>
              </a:rPr>
              <a:t>Channel</a:t>
            </a:r>
            <a:endParaRPr b="0" i="0" sz="1000" u="none" cap="none" strike="noStrike">
              <a:solidFill>
                <a:srgbClr val="000000"/>
              </a:solidFill>
              <a:latin typeface="Georgia"/>
              <a:ea typeface="Georgia"/>
              <a:cs typeface="Georgia"/>
              <a:sym typeface="Georgia"/>
            </a:endParaRPr>
          </a:p>
        </p:txBody>
      </p:sp>
      <p:sp>
        <p:nvSpPr>
          <p:cNvPr id="112" name="Google Shape;112;p3"/>
          <p:cNvSpPr/>
          <p:nvPr/>
        </p:nvSpPr>
        <p:spPr>
          <a:xfrm>
            <a:off x="6475936" y="3547100"/>
            <a:ext cx="22662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Monthly Views: </a:t>
            </a:r>
            <a:r>
              <a:rPr b="1" i="0" lang="zh-HK" sz="868" u="none" cap="none" strike="noStrike">
                <a:solidFill>
                  <a:srgbClr val="0F7E99"/>
                </a:solidFill>
                <a:latin typeface="Inter"/>
                <a:ea typeface="Inter"/>
                <a:cs typeface="Inter"/>
                <a:sym typeface="Inter"/>
              </a:rPr>
              <a:t>1</a:t>
            </a:r>
            <a:r>
              <a:rPr b="1" lang="zh-HK" sz="868">
                <a:solidFill>
                  <a:srgbClr val="0F7E99"/>
                </a:solidFill>
                <a:latin typeface="Inter"/>
                <a:ea typeface="Inter"/>
                <a:cs typeface="Inter"/>
                <a:sym typeface="Inter"/>
              </a:rPr>
              <a:t>1</a:t>
            </a:r>
            <a:r>
              <a:rPr b="1" i="0" lang="zh-HK" sz="868" u="none" cap="none" strike="noStrike">
                <a:solidFill>
                  <a:srgbClr val="0F7E99"/>
                </a:solidFill>
                <a:latin typeface="Inter"/>
                <a:ea typeface="Inter"/>
                <a:cs typeface="Inter"/>
                <a:sym typeface="Inter"/>
              </a:rPr>
              <a:t>,1</a:t>
            </a:r>
            <a:r>
              <a:rPr b="1" lang="zh-HK" sz="868">
                <a:solidFill>
                  <a:srgbClr val="0F7E99"/>
                </a:solidFill>
                <a:latin typeface="Inter"/>
                <a:ea typeface="Inter"/>
                <a:cs typeface="Inter"/>
                <a:sym typeface="Inter"/>
              </a:rPr>
              <a:t>13</a:t>
            </a:r>
            <a:r>
              <a:rPr b="0" i="0" lang="zh-HK" sz="868" u="none" cap="none" strike="noStrike">
                <a:solidFill>
                  <a:srgbClr val="595959"/>
                </a:solidFill>
                <a:latin typeface="Inter"/>
                <a:ea typeface="Inter"/>
                <a:cs typeface="Inter"/>
                <a:sym typeface="Inter"/>
              </a:rPr>
              <a:t>/5,000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Yearly Views: </a:t>
            </a:r>
            <a:r>
              <a:rPr b="1" lang="zh-HK" sz="868">
                <a:solidFill>
                  <a:srgbClr val="0F7E99"/>
                </a:solidFill>
                <a:latin typeface="Inter"/>
                <a:ea typeface="Inter"/>
                <a:cs typeface="Inter"/>
                <a:sym typeface="Inter"/>
              </a:rPr>
              <a:t>59</a:t>
            </a:r>
            <a:r>
              <a:rPr b="1" i="0" lang="zh-HK" sz="868" u="none" cap="none" strike="noStrike">
                <a:solidFill>
                  <a:srgbClr val="0F7E99"/>
                </a:solidFill>
                <a:latin typeface="Inter"/>
                <a:ea typeface="Inter"/>
                <a:cs typeface="Inter"/>
                <a:sym typeface="Inter"/>
              </a:rPr>
              <a:t>,</a:t>
            </a:r>
            <a:r>
              <a:rPr b="1" lang="zh-HK" sz="868">
                <a:solidFill>
                  <a:srgbClr val="0F7E99"/>
                </a:solidFill>
                <a:latin typeface="Inter"/>
                <a:ea typeface="Inter"/>
                <a:cs typeface="Inter"/>
                <a:sym typeface="Inter"/>
              </a:rPr>
              <a:t>686</a:t>
            </a:r>
            <a:r>
              <a:rPr b="0" i="0" lang="zh-HK" sz="868" u="none" cap="none" strike="noStrike">
                <a:solidFill>
                  <a:srgbClr val="595959"/>
                </a:solidFill>
                <a:latin typeface="Inter"/>
                <a:ea typeface="Inter"/>
                <a:cs typeface="Inter"/>
                <a:sym typeface="Inter"/>
              </a:rPr>
              <a:t>/60,000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t/>
            </a:r>
            <a:endParaRPr b="0" i="0" sz="868" u="none" cap="none" strike="noStrike">
              <a:solidFill>
                <a:srgbClr val="595959"/>
              </a:solidFill>
              <a:latin typeface="Inter"/>
              <a:ea typeface="Inter"/>
              <a:cs typeface="Inter"/>
              <a:sym typeface="Inter"/>
            </a:endParaRPr>
          </a:p>
        </p:txBody>
      </p:sp>
      <p:sp>
        <p:nvSpPr>
          <p:cNvPr id="113" name="Google Shape;113;p3"/>
          <p:cNvSpPr/>
          <p:nvPr/>
        </p:nvSpPr>
        <p:spPr>
          <a:xfrm>
            <a:off x="6465021" y="2863924"/>
            <a:ext cx="1206900" cy="128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7E99"/>
              </a:buClr>
              <a:buSzPts val="1250"/>
              <a:buFont typeface="Georgia"/>
              <a:buNone/>
            </a:pPr>
            <a:r>
              <a:rPr b="1" i="0" lang="zh-HK" sz="1000" u="none" cap="none" strike="noStrike">
                <a:solidFill>
                  <a:srgbClr val="0C7E99"/>
                </a:solidFill>
                <a:latin typeface="Georgia"/>
                <a:ea typeface="Georgia"/>
                <a:cs typeface="Georgia"/>
                <a:sym typeface="Georgia"/>
              </a:rPr>
              <a:t>WeChat</a:t>
            </a:r>
            <a:endParaRPr b="0" i="0" sz="1000" u="none" cap="none" strike="noStrike">
              <a:solidFill>
                <a:srgbClr val="000000"/>
              </a:solidFill>
              <a:latin typeface="Georgia"/>
              <a:ea typeface="Georgia"/>
              <a:cs typeface="Georgia"/>
              <a:sym typeface="Georgia"/>
            </a:endParaRPr>
          </a:p>
        </p:txBody>
      </p:sp>
      <p:sp>
        <p:nvSpPr>
          <p:cNvPr id="114" name="Google Shape;114;p3"/>
          <p:cNvSpPr/>
          <p:nvPr/>
        </p:nvSpPr>
        <p:spPr>
          <a:xfrm>
            <a:off x="6494482" y="3034855"/>
            <a:ext cx="2058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Total Views: </a:t>
            </a:r>
            <a:r>
              <a:rPr b="1" lang="zh-HK" sz="868">
                <a:solidFill>
                  <a:srgbClr val="0F7E99"/>
                </a:solidFill>
                <a:latin typeface="Inter"/>
                <a:ea typeface="Inter"/>
                <a:cs typeface="Inter"/>
                <a:sym typeface="Inter"/>
              </a:rPr>
              <a:t>8</a:t>
            </a:r>
            <a:r>
              <a:rPr b="1" i="0" lang="zh-HK" sz="868" u="none" cap="none" strike="noStrike">
                <a:solidFill>
                  <a:srgbClr val="0F7E99"/>
                </a:solidFill>
                <a:latin typeface="Inter"/>
                <a:ea typeface="Inter"/>
                <a:cs typeface="Inter"/>
                <a:sym typeface="Inter"/>
              </a:rPr>
              <a:t>,</a:t>
            </a:r>
            <a:r>
              <a:rPr b="1" lang="zh-HK" sz="868">
                <a:solidFill>
                  <a:srgbClr val="0F7E99"/>
                </a:solidFill>
                <a:latin typeface="Inter"/>
                <a:ea typeface="Inter"/>
                <a:cs typeface="Inter"/>
                <a:sym typeface="Inter"/>
              </a:rPr>
              <a:t>048</a:t>
            </a:r>
            <a:r>
              <a:rPr b="0" i="0" lang="zh-HK" sz="868" u="none" cap="none" strike="noStrike">
                <a:solidFill>
                  <a:srgbClr val="595959"/>
                </a:solidFill>
                <a:latin typeface="Inter"/>
                <a:ea typeface="Inter"/>
                <a:cs typeface="Inter"/>
                <a:sym typeface="Inter"/>
              </a:rPr>
              <a:t>/15,000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Monthly Views: </a:t>
            </a:r>
            <a:r>
              <a:rPr b="1" lang="zh-HK" sz="868">
                <a:solidFill>
                  <a:srgbClr val="0F7E99"/>
                </a:solidFill>
                <a:latin typeface="Inter"/>
                <a:ea typeface="Inter"/>
                <a:cs typeface="Inter"/>
                <a:sym typeface="Inter"/>
              </a:rPr>
              <a:t>1</a:t>
            </a:r>
            <a:r>
              <a:rPr b="1" i="0" lang="zh-HK" sz="868" u="none" cap="none" strike="noStrike">
                <a:solidFill>
                  <a:srgbClr val="0F7E99"/>
                </a:solidFill>
                <a:latin typeface="Inter"/>
                <a:ea typeface="Inter"/>
                <a:cs typeface="Inter"/>
                <a:sym typeface="Inter"/>
              </a:rPr>
              <a:t>,1</a:t>
            </a:r>
            <a:r>
              <a:rPr b="1" lang="zh-HK" sz="868">
                <a:solidFill>
                  <a:srgbClr val="0F7E99"/>
                </a:solidFill>
                <a:latin typeface="Inter"/>
                <a:ea typeface="Inter"/>
                <a:cs typeface="Inter"/>
                <a:sym typeface="Inter"/>
              </a:rPr>
              <a:t>38</a:t>
            </a:r>
            <a:r>
              <a:rPr b="0" i="0" lang="zh-HK" sz="868" u="none" cap="none" strike="noStrike">
                <a:solidFill>
                  <a:srgbClr val="595959"/>
                </a:solidFill>
                <a:latin typeface="Inter"/>
                <a:ea typeface="Inter"/>
                <a:cs typeface="Inter"/>
                <a:sym typeface="Inter"/>
              </a:rPr>
              <a:t>/1,250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t/>
            </a:r>
            <a:endParaRPr b="0" i="0" sz="868" u="none" cap="none" strike="noStrike">
              <a:solidFill>
                <a:srgbClr val="595959"/>
              </a:solidFill>
              <a:latin typeface="Inter"/>
              <a:ea typeface="Inter"/>
              <a:cs typeface="Inter"/>
              <a:sym typeface="Inter"/>
            </a:endParaRPr>
          </a:p>
        </p:txBody>
      </p:sp>
      <p:sp>
        <p:nvSpPr>
          <p:cNvPr id="115" name="Google Shape;115;p3"/>
          <p:cNvSpPr/>
          <p:nvPr/>
        </p:nvSpPr>
        <p:spPr>
          <a:xfrm>
            <a:off x="6479031" y="3865329"/>
            <a:ext cx="1206900" cy="128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7E99"/>
              </a:buClr>
              <a:buSzPts val="1250"/>
              <a:buFont typeface="Georgia"/>
              <a:buNone/>
            </a:pPr>
            <a:r>
              <a:rPr b="1" i="0" lang="zh-HK" sz="1000" u="none" cap="none" strike="noStrike">
                <a:solidFill>
                  <a:srgbClr val="0C7E99"/>
                </a:solidFill>
                <a:latin typeface="Georgia"/>
                <a:ea typeface="Georgia"/>
                <a:cs typeface="Georgia"/>
                <a:sym typeface="Georgia"/>
              </a:rPr>
              <a:t>Douyin</a:t>
            </a:r>
            <a:endParaRPr b="0" i="0" sz="1000" u="none" cap="none" strike="noStrike">
              <a:solidFill>
                <a:srgbClr val="000000"/>
              </a:solidFill>
              <a:latin typeface="Georgia"/>
              <a:ea typeface="Georgia"/>
              <a:cs typeface="Georgia"/>
              <a:sym typeface="Georgia"/>
            </a:endParaRPr>
          </a:p>
        </p:txBody>
      </p:sp>
      <p:sp>
        <p:nvSpPr>
          <p:cNvPr id="116" name="Google Shape;116;p3"/>
          <p:cNvSpPr/>
          <p:nvPr/>
        </p:nvSpPr>
        <p:spPr>
          <a:xfrm>
            <a:off x="6485014" y="4037095"/>
            <a:ext cx="19677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68"/>
              <a:buFont typeface="Arial"/>
              <a:buNone/>
            </a:pPr>
            <a:r>
              <a:rPr b="0" i="0" lang="zh-HK" sz="868" u="none" cap="none" strike="noStrike">
                <a:solidFill>
                  <a:srgbClr val="595959"/>
                </a:solidFill>
                <a:latin typeface="Inter"/>
                <a:ea typeface="Inter"/>
                <a:cs typeface="Inter"/>
                <a:sym typeface="Inter"/>
              </a:rPr>
              <a:t>Fans growth: </a:t>
            </a:r>
            <a:r>
              <a:rPr b="1" lang="zh-HK" sz="868">
                <a:solidFill>
                  <a:srgbClr val="0F7E99"/>
                </a:solidFill>
                <a:latin typeface="Inter"/>
                <a:ea typeface="Inter"/>
                <a:cs typeface="Inter"/>
                <a:sym typeface="Inter"/>
              </a:rPr>
              <a:t>871</a:t>
            </a:r>
            <a:r>
              <a:rPr b="0" i="0" lang="zh-HK" sz="868" u="none" cap="none" strike="noStrike">
                <a:solidFill>
                  <a:srgbClr val="595959"/>
                </a:solidFill>
                <a:latin typeface="Inter"/>
                <a:ea typeface="Inter"/>
                <a:cs typeface="Inter"/>
                <a:sym typeface="Inter"/>
              </a:rPr>
              <a:t>/1,500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Monthly Views: </a:t>
            </a:r>
            <a:r>
              <a:rPr b="1" lang="zh-HK" sz="868">
                <a:solidFill>
                  <a:srgbClr val="0F7E99"/>
                </a:solidFill>
                <a:latin typeface="Inter"/>
                <a:ea typeface="Inter"/>
                <a:cs typeface="Inter"/>
                <a:sym typeface="Inter"/>
              </a:rPr>
              <a:t>39,083</a:t>
            </a:r>
            <a:r>
              <a:rPr b="0" i="0" lang="zh-HK" sz="868" u="none" cap="none" strike="noStrike">
                <a:solidFill>
                  <a:srgbClr val="595959"/>
                </a:solidFill>
                <a:latin typeface="Inter"/>
                <a:ea typeface="Inter"/>
                <a:cs typeface="Inter"/>
                <a:sym typeface="Inter"/>
              </a:rPr>
              <a:t>/6,000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t/>
            </a:r>
            <a:endParaRPr b="0" i="0" sz="868" u="none" cap="none" strike="noStrike">
              <a:solidFill>
                <a:srgbClr val="595959"/>
              </a:solidFill>
              <a:latin typeface="Inter"/>
              <a:ea typeface="Inter"/>
              <a:cs typeface="Inter"/>
              <a:sym typeface="Inter"/>
            </a:endParaRPr>
          </a:p>
        </p:txBody>
      </p:sp>
      <p:sp>
        <p:nvSpPr>
          <p:cNvPr id="117" name="Google Shape;117;p3"/>
          <p:cNvSpPr txBox="1"/>
          <p:nvPr/>
        </p:nvSpPr>
        <p:spPr>
          <a:xfrm>
            <a:off x="8343803" y="4406826"/>
            <a:ext cx="696000" cy="45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highlight>
                  <a:schemeClr val="lt1"/>
                </a:highlight>
                <a:latin typeface="Inter"/>
                <a:ea typeface="Inter"/>
                <a:cs typeface="Inter"/>
                <a:sym typeface="Inter"/>
              </a:rPr>
              <a:t>45</a:t>
            </a:r>
            <a:r>
              <a:rPr b="1" i="0" lang="zh-HK" sz="868" u="none" cap="none" strike="noStrike">
                <a:solidFill>
                  <a:schemeClr val="dk1"/>
                </a:solidFill>
                <a:highlight>
                  <a:schemeClr val="lt1"/>
                </a:highlight>
                <a:latin typeface="Inter"/>
                <a:ea typeface="Inter"/>
                <a:cs typeface="Inter"/>
                <a:sym typeface="Inter"/>
              </a:rPr>
              <a:t>.</a:t>
            </a:r>
            <a:r>
              <a:rPr b="1" lang="zh-HK" sz="868">
                <a:solidFill>
                  <a:schemeClr val="dk1"/>
                </a:solidFill>
                <a:highlight>
                  <a:schemeClr val="lt1"/>
                </a:highlight>
                <a:latin typeface="Inter"/>
                <a:ea typeface="Inter"/>
                <a:cs typeface="Inter"/>
                <a:sym typeface="Inter"/>
              </a:rPr>
              <a:t>25</a:t>
            </a:r>
            <a:r>
              <a:rPr b="1" i="0" lang="zh-HK" sz="868" u="none" cap="none" strike="noStrike">
                <a:solidFill>
                  <a:schemeClr val="dk1"/>
                </a:solidFill>
                <a:highlight>
                  <a:schemeClr val="lt1"/>
                </a:highlight>
                <a:latin typeface="Inter"/>
                <a:ea typeface="Inter"/>
                <a:cs typeface="Inter"/>
                <a:sym typeface="Inter"/>
              </a:rPr>
              <a:t>%</a:t>
            </a:r>
            <a:endParaRPr b="1" i="0" sz="868" u="none" cap="none" strike="noStrike">
              <a:solidFill>
                <a:schemeClr val="dk1"/>
              </a:solidFill>
              <a:highlight>
                <a:schemeClr val="lt1"/>
              </a:highlight>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highlight>
                  <a:schemeClr val="lt1"/>
                </a:highlight>
                <a:latin typeface="Inter"/>
                <a:ea typeface="Inter"/>
                <a:cs typeface="Inter"/>
                <a:sym typeface="Inter"/>
              </a:rPr>
              <a:t>184</a:t>
            </a:r>
            <a:r>
              <a:rPr b="1" i="0" lang="zh-HK" sz="868" u="none" cap="none" strike="noStrike">
                <a:solidFill>
                  <a:schemeClr val="dk1"/>
                </a:solidFill>
                <a:highlight>
                  <a:schemeClr val="lt1"/>
                </a:highlight>
                <a:latin typeface="Inter"/>
                <a:ea typeface="Inter"/>
                <a:cs typeface="Inter"/>
                <a:sym typeface="Inter"/>
              </a:rPr>
              <a:t>.</a:t>
            </a:r>
            <a:r>
              <a:rPr b="1" lang="zh-HK" sz="868">
                <a:solidFill>
                  <a:schemeClr val="dk1"/>
                </a:solidFill>
                <a:highlight>
                  <a:schemeClr val="lt1"/>
                </a:highlight>
                <a:latin typeface="Inter"/>
                <a:ea typeface="Inter"/>
                <a:cs typeface="Inter"/>
                <a:sym typeface="Inter"/>
              </a:rPr>
              <a:t>86</a:t>
            </a:r>
            <a:r>
              <a:rPr b="1" i="0" lang="zh-HK" sz="868" u="none" cap="none" strike="noStrike">
                <a:solidFill>
                  <a:schemeClr val="dk1"/>
                </a:solidFill>
                <a:highlight>
                  <a:schemeClr val="lt1"/>
                </a:highlight>
                <a:latin typeface="Inter"/>
                <a:ea typeface="Inter"/>
                <a:cs typeface="Inter"/>
                <a:sym typeface="Inter"/>
              </a:rPr>
              <a:t>%</a:t>
            </a:r>
            <a:endParaRPr b="0" i="0" sz="1400" u="none" cap="none" strike="noStrike">
              <a:solidFill>
                <a:srgbClr val="000000"/>
              </a:solidFill>
              <a:highlight>
                <a:schemeClr val="lt1"/>
              </a:highlight>
              <a:latin typeface="Arial"/>
              <a:ea typeface="Arial"/>
              <a:cs typeface="Arial"/>
              <a:sym typeface="Arial"/>
            </a:endParaRPr>
          </a:p>
        </p:txBody>
      </p:sp>
      <p:sp>
        <p:nvSpPr>
          <p:cNvPr id="118" name="Google Shape;118;p3"/>
          <p:cNvSpPr txBox="1"/>
          <p:nvPr/>
        </p:nvSpPr>
        <p:spPr>
          <a:xfrm>
            <a:off x="8316571" y="2892038"/>
            <a:ext cx="696000" cy="45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latin typeface="Inter"/>
                <a:ea typeface="Inter"/>
                <a:cs typeface="Inter"/>
                <a:sym typeface="Inter"/>
              </a:rPr>
              <a:t>53</a:t>
            </a:r>
            <a:r>
              <a:rPr b="1" i="0" lang="zh-HK" sz="868" u="none" cap="none" strike="noStrike">
                <a:solidFill>
                  <a:schemeClr val="dk1"/>
                </a:solidFill>
                <a:latin typeface="Inter"/>
                <a:ea typeface="Inter"/>
                <a:cs typeface="Inter"/>
                <a:sym typeface="Inter"/>
              </a:rPr>
              <a:t>.</a:t>
            </a:r>
            <a:r>
              <a:rPr b="1" lang="zh-HK" sz="868">
                <a:solidFill>
                  <a:schemeClr val="dk1"/>
                </a:solidFill>
                <a:latin typeface="Inter"/>
                <a:ea typeface="Inter"/>
                <a:cs typeface="Inter"/>
                <a:sym typeface="Inter"/>
              </a:rPr>
              <a:t>65</a:t>
            </a:r>
            <a:r>
              <a:rPr b="1" i="0" lang="zh-HK" sz="868" u="none" cap="none" strike="noStrike">
                <a:solidFill>
                  <a:schemeClr val="dk1"/>
                </a:solidFill>
                <a:latin typeface="Inter"/>
                <a:ea typeface="Inter"/>
                <a:cs typeface="Inter"/>
                <a:sym typeface="Inter"/>
              </a:rPr>
              <a:t>%</a:t>
            </a:r>
            <a:endParaRPr b="1" i="0" sz="868"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latin typeface="Inter"/>
                <a:ea typeface="Inter"/>
                <a:cs typeface="Inter"/>
                <a:sym typeface="Inter"/>
              </a:rPr>
              <a:t>91</a:t>
            </a:r>
            <a:r>
              <a:rPr b="1" i="0" lang="zh-HK" sz="868" u="none" cap="none" strike="noStrike">
                <a:solidFill>
                  <a:schemeClr val="dk1"/>
                </a:solidFill>
                <a:latin typeface="Inter"/>
                <a:ea typeface="Inter"/>
                <a:cs typeface="Inter"/>
                <a:sym typeface="Inter"/>
              </a:rPr>
              <a:t>.</a:t>
            </a:r>
            <a:r>
              <a:rPr b="1" lang="zh-HK" sz="868">
                <a:solidFill>
                  <a:schemeClr val="dk1"/>
                </a:solidFill>
                <a:latin typeface="Inter"/>
                <a:ea typeface="Inter"/>
                <a:cs typeface="Inter"/>
                <a:sym typeface="Inter"/>
              </a:rPr>
              <a:t>04</a:t>
            </a:r>
            <a:r>
              <a:rPr b="1" i="0" lang="zh-HK" sz="868" u="none" cap="none" strike="noStrike">
                <a:solidFill>
                  <a:schemeClr val="dk1"/>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9" name="Google Shape;119;p3"/>
          <p:cNvSpPr txBox="1"/>
          <p:nvPr/>
        </p:nvSpPr>
        <p:spPr>
          <a:xfrm>
            <a:off x="8327517" y="3413971"/>
            <a:ext cx="696000" cy="45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68"/>
              <a:buFont typeface="Arial"/>
              <a:buNone/>
            </a:pPr>
            <a:r>
              <a:rPr b="1" i="0" lang="zh-HK" sz="868" u="none" cap="none" strike="noStrike">
                <a:solidFill>
                  <a:schemeClr val="dk1"/>
                </a:solidFill>
                <a:latin typeface="Inter"/>
                <a:ea typeface="Inter"/>
                <a:cs typeface="Inter"/>
                <a:sym typeface="Inter"/>
              </a:rPr>
              <a:t>2</a:t>
            </a:r>
            <a:r>
              <a:rPr b="1" lang="zh-HK" sz="868">
                <a:solidFill>
                  <a:schemeClr val="dk1"/>
                </a:solidFill>
                <a:latin typeface="Inter"/>
                <a:ea typeface="Inter"/>
                <a:cs typeface="Inter"/>
                <a:sym typeface="Inter"/>
              </a:rPr>
              <a:t>22</a:t>
            </a:r>
            <a:r>
              <a:rPr b="1" i="0" lang="zh-HK" sz="868" u="none" cap="none" strike="noStrike">
                <a:solidFill>
                  <a:schemeClr val="dk1"/>
                </a:solidFill>
                <a:latin typeface="Inter"/>
                <a:ea typeface="Inter"/>
                <a:cs typeface="Inter"/>
                <a:sym typeface="Inter"/>
              </a:rPr>
              <a:t>.</a:t>
            </a:r>
            <a:r>
              <a:rPr b="1" lang="zh-HK" sz="868">
                <a:solidFill>
                  <a:schemeClr val="dk1"/>
                </a:solidFill>
                <a:latin typeface="Inter"/>
                <a:ea typeface="Inter"/>
                <a:cs typeface="Inter"/>
                <a:sym typeface="Inter"/>
              </a:rPr>
              <a:t>2</a:t>
            </a:r>
            <a:r>
              <a:rPr b="1" i="0" lang="zh-HK" sz="868" u="none" cap="none" strike="noStrike">
                <a:solidFill>
                  <a:schemeClr val="dk1"/>
                </a:solidFill>
                <a:latin typeface="Inter"/>
                <a:ea typeface="Inter"/>
                <a:cs typeface="Inter"/>
                <a:sym typeface="Inter"/>
              </a:rPr>
              <a:t>6%</a:t>
            </a:r>
            <a:endParaRPr b="1" i="0" sz="868"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latin typeface="Inter"/>
                <a:ea typeface="Inter"/>
                <a:cs typeface="Inter"/>
                <a:sym typeface="Inter"/>
              </a:rPr>
              <a:t>99</a:t>
            </a:r>
            <a:r>
              <a:rPr b="1" i="0" lang="zh-HK" sz="868" u="none" cap="none" strike="noStrike">
                <a:solidFill>
                  <a:schemeClr val="dk1"/>
                </a:solidFill>
                <a:latin typeface="Inter"/>
                <a:ea typeface="Inter"/>
                <a:cs typeface="Inter"/>
                <a:sym typeface="Inter"/>
              </a:rPr>
              <a:t>.</a:t>
            </a:r>
            <a:r>
              <a:rPr b="1" lang="zh-HK" sz="868">
                <a:solidFill>
                  <a:schemeClr val="dk1"/>
                </a:solidFill>
                <a:latin typeface="Inter"/>
                <a:ea typeface="Inter"/>
                <a:cs typeface="Inter"/>
                <a:sym typeface="Inter"/>
              </a:rPr>
              <a:t>49</a:t>
            </a:r>
            <a:r>
              <a:rPr b="1" i="0" lang="zh-HK" sz="868" u="none" cap="none" strike="noStrike">
                <a:solidFill>
                  <a:schemeClr val="dk1"/>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20" name="Google Shape;120;p3"/>
          <p:cNvSpPr txBox="1"/>
          <p:nvPr/>
        </p:nvSpPr>
        <p:spPr>
          <a:xfrm>
            <a:off x="8336964" y="3906988"/>
            <a:ext cx="696000" cy="45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latin typeface="Inter"/>
                <a:ea typeface="Inter"/>
                <a:cs typeface="Inter"/>
                <a:sym typeface="Inter"/>
              </a:rPr>
              <a:t>58</a:t>
            </a:r>
            <a:r>
              <a:rPr b="1" i="0" lang="zh-HK" sz="868" u="none" cap="none" strike="noStrike">
                <a:solidFill>
                  <a:schemeClr val="dk1"/>
                </a:solidFill>
                <a:latin typeface="Inter"/>
                <a:ea typeface="Inter"/>
                <a:cs typeface="Inter"/>
                <a:sym typeface="Inter"/>
              </a:rPr>
              <a:t>.07%</a:t>
            </a:r>
            <a:endParaRPr b="1" i="0" sz="868"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latin typeface="Inter"/>
                <a:ea typeface="Inter"/>
                <a:cs typeface="Inter"/>
                <a:sym typeface="Inter"/>
              </a:rPr>
              <a:t>651</a:t>
            </a:r>
            <a:r>
              <a:rPr b="1" i="0" lang="zh-HK" sz="868" u="none" cap="none" strike="noStrike">
                <a:solidFill>
                  <a:schemeClr val="dk1"/>
                </a:solidFill>
                <a:latin typeface="Inter"/>
                <a:ea typeface="Inter"/>
                <a:cs typeface="Inter"/>
                <a:sym typeface="Inter"/>
              </a:rPr>
              <a:t>.</a:t>
            </a:r>
            <a:r>
              <a:rPr b="1" lang="zh-HK" sz="868">
                <a:solidFill>
                  <a:schemeClr val="dk1"/>
                </a:solidFill>
                <a:latin typeface="Inter"/>
                <a:ea typeface="Inter"/>
                <a:cs typeface="Inter"/>
                <a:sym typeface="Inter"/>
              </a:rPr>
              <a:t>38</a:t>
            </a:r>
            <a:r>
              <a:rPr b="1" i="0" lang="zh-HK" sz="868" u="none" cap="none" strike="noStrike">
                <a:solidFill>
                  <a:schemeClr val="dk1"/>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4" title="截屏2026-08-06 16.58.18.png"/>
          <p:cNvPicPr preferRelativeResize="0"/>
          <p:nvPr/>
        </p:nvPicPr>
        <p:blipFill>
          <a:blip r:embed="rId3">
            <a:alphaModFix/>
          </a:blip>
          <a:stretch>
            <a:fillRect/>
          </a:stretch>
        </p:blipFill>
        <p:spPr>
          <a:xfrm>
            <a:off x="5270974" y="1602625"/>
            <a:ext cx="3669275" cy="1635463"/>
          </a:xfrm>
          <a:prstGeom prst="rect">
            <a:avLst/>
          </a:prstGeom>
          <a:noFill/>
          <a:ln>
            <a:noFill/>
          </a:ln>
        </p:spPr>
      </p:pic>
      <p:pic>
        <p:nvPicPr>
          <p:cNvPr id="126" name="Google Shape;126;p4" title="截屏2026-08-06 16.22.37.png"/>
          <p:cNvPicPr preferRelativeResize="0"/>
          <p:nvPr/>
        </p:nvPicPr>
        <p:blipFill>
          <a:blip r:embed="rId4">
            <a:alphaModFix/>
          </a:blip>
          <a:stretch>
            <a:fillRect/>
          </a:stretch>
        </p:blipFill>
        <p:spPr>
          <a:xfrm>
            <a:off x="551413" y="1528500"/>
            <a:ext cx="4084415" cy="1778025"/>
          </a:xfrm>
          <a:prstGeom prst="rect">
            <a:avLst/>
          </a:prstGeom>
          <a:noFill/>
          <a:ln>
            <a:noFill/>
          </a:ln>
        </p:spPr>
      </p:pic>
      <p:sp>
        <p:nvSpPr>
          <p:cNvPr id="127" name="Google Shape;127;p4"/>
          <p:cNvSpPr txBox="1"/>
          <p:nvPr/>
        </p:nvSpPr>
        <p:spPr>
          <a:xfrm>
            <a:off x="371225" y="149094"/>
            <a:ext cx="5852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Fans Acquisition - Daily</a:t>
            </a:r>
            <a:endParaRPr b="1" i="0" sz="2000" u="none" cap="none" strike="noStrike">
              <a:solidFill>
                <a:schemeClr val="dk1"/>
              </a:solidFill>
              <a:latin typeface="Times New Roman"/>
              <a:ea typeface="Times New Roman"/>
              <a:cs typeface="Times New Roman"/>
              <a:sym typeface="Times New Roman"/>
            </a:endParaRPr>
          </a:p>
        </p:txBody>
      </p:sp>
      <p:pic>
        <p:nvPicPr>
          <p:cNvPr id="128" name="Google Shape;128;p4"/>
          <p:cNvPicPr preferRelativeResize="0"/>
          <p:nvPr/>
        </p:nvPicPr>
        <p:blipFill rotWithShape="1">
          <a:blip r:embed="rId5">
            <a:alphaModFix/>
          </a:blip>
          <a:srcRect b="0" l="0" r="0" t="0"/>
          <a:stretch/>
        </p:blipFill>
        <p:spPr>
          <a:xfrm>
            <a:off x="4997497" y="1709410"/>
            <a:ext cx="246380" cy="246400"/>
          </a:xfrm>
          <a:prstGeom prst="rect">
            <a:avLst/>
          </a:prstGeom>
          <a:noFill/>
          <a:ln>
            <a:noFill/>
          </a:ln>
        </p:spPr>
      </p:pic>
      <p:pic>
        <p:nvPicPr>
          <p:cNvPr id="129" name="Google Shape;129;p4"/>
          <p:cNvPicPr preferRelativeResize="0"/>
          <p:nvPr/>
        </p:nvPicPr>
        <p:blipFill rotWithShape="1">
          <a:blip r:embed="rId6">
            <a:alphaModFix/>
          </a:blip>
          <a:srcRect b="0" l="0" r="0" t="0"/>
          <a:stretch/>
        </p:blipFill>
        <p:spPr>
          <a:xfrm>
            <a:off x="223408" y="1738270"/>
            <a:ext cx="246375" cy="246348"/>
          </a:xfrm>
          <a:prstGeom prst="rect">
            <a:avLst/>
          </a:prstGeom>
          <a:noFill/>
          <a:ln>
            <a:noFill/>
          </a:ln>
        </p:spPr>
      </p:pic>
      <p:pic>
        <p:nvPicPr>
          <p:cNvPr id="130" name="Google Shape;130;p4"/>
          <p:cNvPicPr preferRelativeResize="0"/>
          <p:nvPr/>
        </p:nvPicPr>
        <p:blipFill rotWithShape="1">
          <a:blip r:embed="rId7">
            <a:alphaModFix/>
          </a:blip>
          <a:srcRect b="24253" l="33991" r="33991" t="24253"/>
          <a:stretch/>
        </p:blipFill>
        <p:spPr>
          <a:xfrm>
            <a:off x="241744" y="3401092"/>
            <a:ext cx="246375" cy="247583"/>
          </a:xfrm>
          <a:prstGeom prst="rect">
            <a:avLst/>
          </a:prstGeom>
          <a:noFill/>
          <a:ln>
            <a:noFill/>
          </a:ln>
        </p:spPr>
      </p:pic>
      <p:sp>
        <p:nvSpPr>
          <p:cNvPr id="131" name="Google Shape;131;p4"/>
          <p:cNvSpPr txBox="1"/>
          <p:nvPr/>
        </p:nvSpPr>
        <p:spPr>
          <a:xfrm>
            <a:off x="21459" y="596937"/>
            <a:ext cx="8838600" cy="930900"/>
          </a:xfrm>
          <a:prstGeom prst="rect">
            <a:avLst/>
          </a:prstGeom>
          <a:noFill/>
          <a:ln>
            <a:noFill/>
          </a:ln>
        </p:spPr>
        <p:txBody>
          <a:bodyPr anchorCtr="0" anchor="t" bIns="91425" lIns="91425" spcFirstLastPara="1" rIns="91425" wrap="square" tIns="91425">
            <a:noAutofit/>
          </a:bodyPr>
          <a:lstStyle/>
          <a:p>
            <a:pPr indent="-298450" lvl="0" marL="457200" marR="0" rtl="0" algn="just">
              <a:lnSpc>
                <a:spcPct val="115000"/>
              </a:lnSpc>
              <a:spcBef>
                <a:spcPts val="0"/>
              </a:spcBef>
              <a:spcAft>
                <a:spcPts val="0"/>
              </a:spcAft>
              <a:buClr>
                <a:schemeClr val="dk1"/>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In July, </a:t>
            </a:r>
            <a:r>
              <a:rPr b="1" lang="zh-HK" sz="1100">
                <a:solidFill>
                  <a:srgbClr val="0F1115"/>
                </a:solidFill>
                <a:highlight>
                  <a:srgbClr val="FFFFFF"/>
                </a:highlight>
                <a:latin typeface="Times New Roman"/>
                <a:ea typeface="Times New Roman"/>
                <a:cs typeface="Times New Roman"/>
                <a:sym typeface="Times New Roman"/>
              </a:rPr>
              <a:t>XHS's fan growth</a:t>
            </a:r>
            <a:r>
              <a:rPr lang="zh-HK" sz="1100">
                <a:solidFill>
                  <a:srgbClr val="0F1115"/>
                </a:solidFill>
                <a:highlight>
                  <a:srgbClr val="FFFFFF"/>
                </a:highlight>
                <a:latin typeface="Times New Roman"/>
                <a:ea typeface="Times New Roman"/>
                <a:cs typeface="Times New Roman"/>
                <a:sym typeface="Times New Roman"/>
              </a:rPr>
              <a:t> was driven by the </a:t>
            </a:r>
            <a:r>
              <a:rPr b="1" lang="zh-HK" sz="1100">
                <a:solidFill>
                  <a:srgbClr val="0F1115"/>
                </a:solidFill>
                <a:highlight>
                  <a:srgbClr val="FFFFFF"/>
                </a:highlight>
                <a:latin typeface="Times New Roman"/>
                <a:ea typeface="Times New Roman"/>
                <a:cs typeface="Times New Roman"/>
                <a:sym typeface="Times New Roman"/>
              </a:rPr>
              <a:t>Sanrio and Chiikawa IP campaigns</a:t>
            </a:r>
            <a:r>
              <a:rPr lang="zh-HK" sz="1100">
                <a:solidFill>
                  <a:srgbClr val="0F1115"/>
                </a:solidFill>
                <a:highlight>
                  <a:srgbClr val="FFFFFF"/>
                </a:highlight>
                <a:latin typeface="Times New Roman"/>
                <a:ea typeface="Times New Roman"/>
                <a:cs typeface="Times New Roman"/>
                <a:sym typeface="Times New Roman"/>
              </a:rPr>
              <a:t>, with multiple spikes recorded in mid and late July, attributed to</a:t>
            </a:r>
            <a:r>
              <a:rPr b="1" lang="zh-HK" sz="1100">
                <a:solidFill>
                  <a:srgbClr val="0F1115"/>
                </a:solidFill>
                <a:highlight>
                  <a:srgbClr val="FFFFFF"/>
                </a:highlight>
                <a:latin typeface="Times New Roman"/>
                <a:ea typeface="Times New Roman"/>
                <a:cs typeface="Times New Roman"/>
                <a:sym typeface="Times New Roman"/>
              </a:rPr>
              <a:t> IP campaign, 飾品店 种草post, and </a:t>
            </a:r>
            <a:r>
              <a:rPr b="1" lang="zh-HK" sz="1100">
                <a:solidFill>
                  <a:srgbClr val="0F1115"/>
                </a:solidFill>
                <a:highlight>
                  <a:schemeClr val="lt1"/>
                </a:highlight>
                <a:latin typeface="Times New Roman"/>
                <a:ea typeface="Times New Roman"/>
                <a:cs typeface="Times New Roman"/>
                <a:sym typeface="Times New Roman"/>
              </a:rPr>
              <a:t>金庸武俠世界</a:t>
            </a:r>
            <a:r>
              <a:rPr b="1" lang="zh-HK" sz="1100">
                <a:solidFill>
                  <a:srgbClr val="0F1115"/>
                </a:solidFill>
                <a:highlight>
                  <a:srgbClr val="FFFFFF"/>
                </a:highlight>
                <a:latin typeface="Times New Roman"/>
                <a:ea typeface="Times New Roman"/>
                <a:cs typeface="Times New Roman"/>
                <a:sym typeface="Times New Roman"/>
              </a:rPr>
              <a:t> </a:t>
            </a:r>
            <a:r>
              <a:rPr b="1" lang="zh-HK" sz="1100">
                <a:solidFill>
                  <a:srgbClr val="0F1115"/>
                </a:solidFill>
                <a:highlight>
                  <a:srgbClr val="FFFFFF"/>
                </a:highlight>
                <a:latin typeface="Times New Roman"/>
                <a:ea typeface="Times New Roman"/>
                <a:cs typeface="Times New Roman"/>
                <a:sym typeface="Times New Roman"/>
              </a:rPr>
              <a:t>video</a:t>
            </a:r>
            <a:r>
              <a:rPr lang="zh-HK" sz="1100">
                <a:solidFill>
                  <a:srgbClr val="0F1115"/>
                </a:solidFill>
                <a:highlight>
                  <a:srgbClr val="FFFFFF"/>
                </a:highlight>
                <a:latin typeface="Times New Roman"/>
                <a:ea typeface="Times New Roman"/>
                <a:cs typeface="Times New Roman"/>
                <a:sym typeface="Times New Roman"/>
              </a:rPr>
              <a:t>, contributing to significant overall growth for the month.</a:t>
            </a:r>
            <a:endParaRPr sz="1100">
              <a:solidFill>
                <a:srgbClr val="0F1115"/>
              </a:solidFill>
              <a:highlight>
                <a:srgbClr val="FFFFFF"/>
              </a:highlight>
              <a:latin typeface="Times New Roman"/>
              <a:ea typeface="Times New Roman"/>
              <a:cs typeface="Times New Roman"/>
              <a:sym typeface="Times New Roman"/>
            </a:endParaRPr>
          </a:p>
          <a:p>
            <a:pPr indent="-298450" lvl="0" marL="457200" marR="0" rtl="0" algn="just">
              <a:lnSpc>
                <a:spcPct val="115000"/>
              </a:lnSpc>
              <a:spcBef>
                <a:spcPts val="0"/>
              </a:spcBef>
              <a:spcAft>
                <a:spcPts val="0"/>
              </a:spcAft>
              <a:buClr>
                <a:schemeClr val="dk1"/>
              </a:buClr>
              <a:buSzPts val="1100"/>
              <a:buFont typeface="Times New Roman"/>
              <a:buChar char="●"/>
            </a:pPr>
            <a:r>
              <a:rPr b="1" lang="zh-HK" sz="1100">
                <a:solidFill>
                  <a:srgbClr val="0F1115"/>
                </a:solidFill>
                <a:highlight>
                  <a:srgbClr val="FFFFFF"/>
                </a:highlight>
                <a:latin typeface="Times New Roman"/>
                <a:ea typeface="Times New Roman"/>
                <a:cs typeface="Times New Roman"/>
                <a:sym typeface="Times New Roman"/>
              </a:rPr>
              <a:t>WeChat (+316) and Douyin (+385)</a:t>
            </a:r>
            <a:r>
              <a:rPr lang="zh-HK" sz="1100">
                <a:solidFill>
                  <a:srgbClr val="0F1115"/>
                </a:solidFill>
                <a:highlight>
                  <a:srgbClr val="FFFFFF"/>
                </a:highlight>
                <a:latin typeface="Times New Roman"/>
                <a:ea typeface="Times New Roman"/>
                <a:cs typeface="Times New Roman"/>
                <a:sym typeface="Times New Roman"/>
              </a:rPr>
              <a:t> both recorded their </a:t>
            </a:r>
            <a:r>
              <a:rPr b="1" lang="zh-HK" sz="1100">
                <a:solidFill>
                  <a:srgbClr val="0F1115"/>
                </a:solidFill>
                <a:highlight>
                  <a:srgbClr val="FFFFFF"/>
                </a:highlight>
                <a:latin typeface="Times New Roman"/>
                <a:ea typeface="Times New Roman"/>
                <a:cs typeface="Times New Roman"/>
                <a:sym typeface="Times New Roman"/>
              </a:rPr>
              <a:t>highest fan growth in six months</a:t>
            </a:r>
            <a:r>
              <a:rPr lang="zh-HK" sz="1100">
                <a:solidFill>
                  <a:srgbClr val="0F1115"/>
                </a:solidFill>
                <a:highlight>
                  <a:srgbClr val="FFFFFF"/>
                </a:highlight>
                <a:latin typeface="Times New Roman"/>
                <a:ea typeface="Times New Roman"/>
                <a:cs typeface="Times New Roman"/>
                <a:sym typeface="Times New Roman"/>
              </a:rPr>
              <a:t>. Douyin's growth was fueled by IP campaigns, local lifestyle and cultural content, supported by ad strategy that </a:t>
            </a:r>
            <a:r>
              <a:rPr b="1" lang="zh-HK" sz="1100">
                <a:solidFill>
                  <a:srgbClr val="0F1115"/>
                </a:solidFill>
                <a:highlight>
                  <a:srgbClr val="FFFFFF"/>
                </a:highlight>
                <a:latin typeface="Times New Roman"/>
                <a:ea typeface="Times New Roman"/>
                <a:cs typeface="Times New Roman"/>
                <a:sym typeface="Times New Roman"/>
              </a:rPr>
              <a:t>combines engagement optimization with followers.</a:t>
            </a:r>
            <a:endParaRPr i="0" sz="1100" u="none" cap="none" strike="noStrike">
              <a:solidFill>
                <a:schemeClr val="dk1"/>
              </a:solidFill>
              <a:highlight>
                <a:schemeClr val="lt1"/>
              </a:highlight>
              <a:latin typeface="Times New Roman"/>
              <a:ea typeface="Times New Roman"/>
              <a:cs typeface="Times New Roman"/>
              <a:sym typeface="Times New Roman"/>
            </a:endParaRPr>
          </a:p>
        </p:txBody>
      </p:sp>
      <p:sp>
        <p:nvSpPr>
          <p:cNvPr id="132" name="Google Shape;132;p4"/>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133" name="Google Shape;133;p4"/>
          <p:cNvPicPr preferRelativeResize="0"/>
          <p:nvPr/>
        </p:nvPicPr>
        <p:blipFill rotWithShape="1">
          <a:blip r:embed="rId8">
            <a:alphaModFix/>
          </a:blip>
          <a:srcRect b="21020" l="14063" r="17215" t="26140"/>
          <a:stretch/>
        </p:blipFill>
        <p:spPr>
          <a:xfrm>
            <a:off x="8094845" y="162433"/>
            <a:ext cx="1049155" cy="423511"/>
          </a:xfrm>
          <a:prstGeom prst="rect">
            <a:avLst/>
          </a:prstGeom>
          <a:noFill/>
          <a:ln>
            <a:noFill/>
          </a:ln>
        </p:spPr>
      </p:pic>
      <p:sp>
        <p:nvSpPr>
          <p:cNvPr id="134" name="Google Shape;134;p4"/>
          <p:cNvSpPr txBox="1"/>
          <p:nvPr/>
        </p:nvSpPr>
        <p:spPr>
          <a:xfrm>
            <a:off x="459563" y="2161677"/>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7</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31</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35" name="Google Shape;135;p4"/>
          <p:cNvSpPr txBox="1"/>
          <p:nvPr/>
        </p:nvSpPr>
        <p:spPr>
          <a:xfrm>
            <a:off x="3091088" y="2094352"/>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2</a:t>
            </a:r>
            <a:r>
              <a:rPr b="1" lang="zh-HK" sz="800">
                <a:solidFill>
                  <a:schemeClr val="dk1"/>
                </a:solidFill>
                <a:latin typeface="Times New Roman"/>
                <a:ea typeface="Times New Roman"/>
                <a:cs typeface="Times New Roman"/>
                <a:sym typeface="Times New Roman"/>
              </a:rPr>
              <a:t>8</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41</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36" name="Google Shape;136;p4"/>
          <p:cNvSpPr txBox="1"/>
          <p:nvPr/>
        </p:nvSpPr>
        <p:spPr>
          <a:xfrm>
            <a:off x="3812039" y="2072815"/>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3</a:t>
            </a:r>
            <a:r>
              <a:rPr b="1" lang="zh-HK" sz="800">
                <a:solidFill>
                  <a:schemeClr val="dk1"/>
                </a:solidFill>
                <a:latin typeface="Times New Roman"/>
                <a:ea typeface="Times New Roman"/>
                <a:cs typeface="Times New Roman"/>
                <a:sym typeface="Times New Roman"/>
              </a:rPr>
              <a:t>1</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49</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37" name="Google Shape;137;p4"/>
          <p:cNvSpPr txBox="1"/>
          <p:nvPr/>
        </p:nvSpPr>
        <p:spPr>
          <a:xfrm>
            <a:off x="2186364" y="2254502"/>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21</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35</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38" name="Google Shape;138;p4"/>
          <p:cNvSpPr txBox="1"/>
          <p:nvPr/>
        </p:nvSpPr>
        <p:spPr>
          <a:xfrm>
            <a:off x="7914964" y="1701415"/>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2</a:t>
            </a:r>
            <a:r>
              <a:rPr b="1" lang="zh-HK" sz="800">
                <a:solidFill>
                  <a:schemeClr val="dk1"/>
                </a:solidFill>
                <a:latin typeface="Times New Roman"/>
                <a:ea typeface="Times New Roman"/>
                <a:cs typeface="Times New Roman"/>
                <a:sym typeface="Times New Roman"/>
              </a:rPr>
              <a:t>4</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37</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39" name="Google Shape;139;p4"/>
          <p:cNvSpPr txBox="1"/>
          <p:nvPr/>
        </p:nvSpPr>
        <p:spPr>
          <a:xfrm>
            <a:off x="5417639" y="3401014"/>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1 June</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+ 3</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40" name="Google Shape;140;p4"/>
          <p:cNvSpPr txBox="1"/>
          <p:nvPr/>
        </p:nvSpPr>
        <p:spPr>
          <a:xfrm>
            <a:off x="5757889" y="3469944"/>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6 June</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+ 2</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41" name="Google Shape;141;p4"/>
          <p:cNvSpPr txBox="1"/>
          <p:nvPr/>
        </p:nvSpPr>
        <p:spPr>
          <a:xfrm>
            <a:off x="6328582" y="3438251"/>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9 June</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+ 2</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42" name="Google Shape;142;p4"/>
          <p:cNvSpPr txBox="1"/>
          <p:nvPr/>
        </p:nvSpPr>
        <p:spPr>
          <a:xfrm>
            <a:off x="6885057" y="4085151"/>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15 June</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+ 1</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43" name="Google Shape;143;p4"/>
          <p:cNvSpPr txBox="1"/>
          <p:nvPr/>
        </p:nvSpPr>
        <p:spPr>
          <a:xfrm>
            <a:off x="7749632" y="4029419"/>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22 June</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+ 1</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44" name="Google Shape;144;p4"/>
          <p:cNvSpPr txBox="1"/>
          <p:nvPr/>
        </p:nvSpPr>
        <p:spPr>
          <a:xfrm>
            <a:off x="1281613" y="2254565"/>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15</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37</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pic>
        <p:nvPicPr>
          <p:cNvPr id="145" name="Google Shape;145;p4" title="截屏2026-08-06 16.25.01.png"/>
          <p:cNvPicPr preferRelativeResize="0"/>
          <p:nvPr/>
        </p:nvPicPr>
        <p:blipFill>
          <a:blip r:embed="rId9">
            <a:alphaModFix/>
          </a:blip>
          <a:stretch>
            <a:fillRect/>
          </a:stretch>
        </p:blipFill>
        <p:spPr>
          <a:xfrm>
            <a:off x="736975" y="1752869"/>
            <a:ext cx="365699" cy="484381"/>
          </a:xfrm>
          <a:prstGeom prst="rect">
            <a:avLst/>
          </a:prstGeom>
          <a:noFill/>
          <a:ln>
            <a:noFill/>
          </a:ln>
        </p:spPr>
      </p:pic>
      <p:pic>
        <p:nvPicPr>
          <p:cNvPr id="146" name="Google Shape;146;p4" title="截屏2026-08-06 16.37.29.png"/>
          <p:cNvPicPr preferRelativeResize="0"/>
          <p:nvPr/>
        </p:nvPicPr>
        <p:blipFill>
          <a:blip r:embed="rId10">
            <a:alphaModFix/>
          </a:blip>
          <a:stretch>
            <a:fillRect/>
          </a:stretch>
        </p:blipFill>
        <p:spPr>
          <a:xfrm>
            <a:off x="1369875" y="1618969"/>
            <a:ext cx="365700" cy="484953"/>
          </a:xfrm>
          <a:prstGeom prst="rect">
            <a:avLst/>
          </a:prstGeom>
          <a:noFill/>
          <a:ln>
            <a:noFill/>
          </a:ln>
        </p:spPr>
      </p:pic>
      <p:pic>
        <p:nvPicPr>
          <p:cNvPr id="147" name="Google Shape;147;p4" title="截屏2026-08-06 16.40.23.png"/>
          <p:cNvPicPr preferRelativeResize="0"/>
          <p:nvPr/>
        </p:nvPicPr>
        <p:blipFill>
          <a:blip r:embed="rId11">
            <a:alphaModFix/>
          </a:blip>
          <a:stretch>
            <a:fillRect/>
          </a:stretch>
        </p:blipFill>
        <p:spPr>
          <a:xfrm>
            <a:off x="2002775" y="1615801"/>
            <a:ext cx="365699" cy="490826"/>
          </a:xfrm>
          <a:prstGeom prst="rect">
            <a:avLst/>
          </a:prstGeom>
          <a:noFill/>
          <a:ln>
            <a:noFill/>
          </a:ln>
        </p:spPr>
      </p:pic>
      <p:pic>
        <p:nvPicPr>
          <p:cNvPr id="148" name="Google Shape;148;p4" title="截屏2026-08-06 16.41.49.png"/>
          <p:cNvPicPr preferRelativeResize="0"/>
          <p:nvPr/>
        </p:nvPicPr>
        <p:blipFill>
          <a:blip r:embed="rId12">
            <a:alphaModFix/>
          </a:blip>
          <a:stretch>
            <a:fillRect/>
          </a:stretch>
        </p:blipFill>
        <p:spPr>
          <a:xfrm>
            <a:off x="2592863" y="1669875"/>
            <a:ext cx="365699" cy="487590"/>
          </a:xfrm>
          <a:prstGeom prst="rect">
            <a:avLst/>
          </a:prstGeom>
          <a:noFill/>
          <a:ln>
            <a:noFill/>
          </a:ln>
        </p:spPr>
      </p:pic>
      <p:pic>
        <p:nvPicPr>
          <p:cNvPr id="149" name="Google Shape;149;p4" title="截屏2026-08-06 16.42.32.png"/>
          <p:cNvPicPr preferRelativeResize="0"/>
          <p:nvPr/>
        </p:nvPicPr>
        <p:blipFill>
          <a:blip r:embed="rId13">
            <a:alphaModFix/>
          </a:blip>
          <a:stretch>
            <a:fillRect/>
          </a:stretch>
        </p:blipFill>
        <p:spPr>
          <a:xfrm>
            <a:off x="3136921" y="1606459"/>
            <a:ext cx="365700" cy="489747"/>
          </a:xfrm>
          <a:prstGeom prst="rect">
            <a:avLst/>
          </a:prstGeom>
          <a:noFill/>
          <a:ln>
            <a:noFill/>
          </a:ln>
        </p:spPr>
      </p:pic>
      <p:pic>
        <p:nvPicPr>
          <p:cNvPr id="150" name="Google Shape;150;p4" title="截屏2026-08-06 16.43.06.png"/>
          <p:cNvPicPr preferRelativeResize="0"/>
          <p:nvPr/>
        </p:nvPicPr>
        <p:blipFill>
          <a:blip r:embed="rId14">
            <a:alphaModFix/>
          </a:blip>
          <a:stretch>
            <a:fillRect/>
          </a:stretch>
        </p:blipFill>
        <p:spPr>
          <a:xfrm>
            <a:off x="3732475" y="1606400"/>
            <a:ext cx="365700" cy="457525"/>
          </a:xfrm>
          <a:prstGeom prst="rect">
            <a:avLst/>
          </a:prstGeom>
          <a:noFill/>
          <a:ln>
            <a:noFill/>
          </a:ln>
        </p:spPr>
      </p:pic>
      <p:sp>
        <p:nvSpPr>
          <p:cNvPr id="151" name="Google Shape;151;p4"/>
          <p:cNvSpPr txBox="1"/>
          <p:nvPr/>
        </p:nvSpPr>
        <p:spPr>
          <a:xfrm>
            <a:off x="6582014" y="2299090"/>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1</a:t>
            </a:r>
            <a:r>
              <a:rPr b="1" lang="zh-HK" sz="800">
                <a:solidFill>
                  <a:schemeClr val="dk1"/>
                </a:solidFill>
                <a:latin typeface="Times New Roman"/>
                <a:ea typeface="Times New Roman"/>
                <a:cs typeface="Times New Roman"/>
                <a:sym typeface="Times New Roman"/>
              </a:rPr>
              <a:t>4</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14</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pic>
        <p:nvPicPr>
          <p:cNvPr id="152" name="Google Shape;152;p4"/>
          <p:cNvPicPr preferRelativeResize="0"/>
          <p:nvPr/>
        </p:nvPicPr>
        <p:blipFill>
          <a:blip r:embed="rId15">
            <a:alphaModFix/>
          </a:blip>
          <a:stretch>
            <a:fillRect/>
          </a:stretch>
        </p:blipFill>
        <p:spPr>
          <a:xfrm>
            <a:off x="7411437" y="1803890"/>
            <a:ext cx="426226" cy="569825"/>
          </a:xfrm>
          <a:prstGeom prst="rect">
            <a:avLst/>
          </a:prstGeom>
          <a:noFill/>
          <a:ln>
            <a:noFill/>
          </a:ln>
        </p:spPr>
      </p:pic>
      <p:pic>
        <p:nvPicPr>
          <p:cNvPr id="153" name="Google Shape;153;p4"/>
          <p:cNvPicPr preferRelativeResize="0"/>
          <p:nvPr/>
        </p:nvPicPr>
        <p:blipFill>
          <a:blip r:embed="rId16">
            <a:alphaModFix/>
          </a:blip>
          <a:stretch>
            <a:fillRect/>
          </a:stretch>
        </p:blipFill>
        <p:spPr>
          <a:xfrm>
            <a:off x="6057437" y="1838670"/>
            <a:ext cx="540426" cy="784965"/>
          </a:xfrm>
          <a:prstGeom prst="rect">
            <a:avLst/>
          </a:prstGeom>
          <a:noFill/>
          <a:ln>
            <a:noFill/>
          </a:ln>
        </p:spPr>
      </p:pic>
      <p:pic>
        <p:nvPicPr>
          <p:cNvPr id="154" name="Google Shape;154;p4" title="截屏2026-08-06 17.05.03.png"/>
          <p:cNvPicPr preferRelativeResize="0"/>
          <p:nvPr/>
        </p:nvPicPr>
        <p:blipFill>
          <a:blip r:embed="rId17">
            <a:alphaModFix/>
          </a:blip>
          <a:stretch>
            <a:fillRect/>
          </a:stretch>
        </p:blipFill>
        <p:spPr>
          <a:xfrm>
            <a:off x="5315550" y="3554850"/>
            <a:ext cx="3754450" cy="1248700"/>
          </a:xfrm>
          <a:prstGeom prst="rect">
            <a:avLst/>
          </a:prstGeom>
          <a:noFill/>
          <a:ln>
            <a:noFill/>
          </a:ln>
        </p:spPr>
      </p:pic>
      <p:pic>
        <p:nvPicPr>
          <p:cNvPr id="155" name="Google Shape;155;p4" title="a697a07488e44c8c8c06bebbaeb5ef46.png"/>
          <p:cNvPicPr preferRelativeResize="0"/>
          <p:nvPr/>
        </p:nvPicPr>
        <p:blipFill rotWithShape="1">
          <a:blip r:embed="rId18">
            <a:alphaModFix/>
          </a:blip>
          <a:srcRect b="0" l="278" r="268" t="0"/>
          <a:stretch/>
        </p:blipFill>
        <p:spPr>
          <a:xfrm>
            <a:off x="5024599" y="3372874"/>
            <a:ext cx="246375" cy="247732"/>
          </a:xfrm>
          <a:prstGeom prst="rect">
            <a:avLst/>
          </a:prstGeom>
          <a:noFill/>
          <a:ln>
            <a:noFill/>
          </a:ln>
        </p:spPr>
      </p:pic>
      <p:pic>
        <p:nvPicPr>
          <p:cNvPr id="156" name="Google Shape;156;p4"/>
          <p:cNvPicPr preferRelativeResize="0"/>
          <p:nvPr/>
        </p:nvPicPr>
        <p:blipFill>
          <a:blip r:embed="rId19">
            <a:alphaModFix/>
          </a:blip>
          <a:stretch>
            <a:fillRect/>
          </a:stretch>
        </p:blipFill>
        <p:spPr>
          <a:xfrm>
            <a:off x="5633325" y="3729084"/>
            <a:ext cx="365700" cy="485641"/>
          </a:xfrm>
          <a:prstGeom prst="rect">
            <a:avLst/>
          </a:prstGeom>
          <a:noFill/>
          <a:ln>
            <a:noFill/>
          </a:ln>
        </p:spPr>
      </p:pic>
      <p:pic>
        <p:nvPicPr>
          <p:cNvPr id="157" name="Google Shape;157;p4"/>
          <p:cNvPicPr preferRelativeResize="0"/>
          <p:nvPr/>
        </p:nvPicPr>
        <p:blipFill>
          <a:blip r:embed="rId20">
            <a:alphaModFix/>
          </a:blip>
          <a:stretch>
            <a:fillRect/>
          </a:stretch>
        </p:blipFill>
        <p:spPr>
          <a:xfrm>
            <a:off x="6660875" y="3504892"/>
            <a:ext cx="365675" cy="487560"/>
          </a:xfrm>
          <a:prstGeom prst="rect">
            <a:avLst/>
          </a:prstGeom>
          <a:noFill/>
          <a:ln>
            <a:noFill/>
          </a:ln>
        </p:spPr>
      </p:pic>
      <p:pic>
        <p:nvPicPr>
          <p:cNvPr id="158" name="Google Shape;158;p4"/>
          <p:cNvPicPr preferRelativeResize="0"/>
          <p:nvPr/>
        </p:nvPicPr>
        <p:blipFill>
          <a:blip r:embed="rId21">
            <a:alphaModFix/>
          </a:blip>
          <a:stretch>
            <a:fillRect/>
          </a:stretch>
        </p:blipFill>
        <p:spPr>
          <a:xfrm>
            <a:off x="7103425" y="3727777"/>
            <a:ext cx="365700" cy="488260"/>
          </a:xfrm>
          <a:prstGeom prst="rect">
            <a:avLst/>
          </a:prstGeom>
          <a:noFill/>
          <a:ln>
            <a:noFill/>
          </a:ln>
        </p:spPr>
      </p:pic>
      <p:pic>
        <p:nvPicPr>
          <p:cNvPr id="159" name="Google Shape;159;p4"/>
          <p:cNvPicPr preferRelativeResize="0"/>
          <p:nvPr/>
        </p:nvPicPr>
        <p:blipFill>
          <a:blip r:embed="rId22">
            <a:alphaModFix/>
          </a:blip>
          <a:stretch>
            <a:fillRect/>
          </a:stretch>
        </p:blipFill>
        <p:spPr>
          <a:xfrm>
            <a:off x="7749625" y="3470150"/>
            <a:ext cx="365700" cy="487936"/>
          </a:xfrm>
          <a:prstGeom prst="rect">
            <a:avLst/>
          </a:prstGeom>
          <a:noFill/>
          <a:ln>
            <a:noFill/>
          </a:ln>
        </p:spPr>
      </p:pic>
      <p:pic>
        <p:nvPicPr>
          <p:cNvPr id="160" name="Google Shape;160;p4"/>
          <p:cNvPicPr preferRelativeResize="0"/>
          <p:nvPr/>
        </p:nvPicPr>
        <p:blipFill>
          <a:blip r:embed="rId23">
            <a:alphaModFix/>
          </a:blip>
          <a:stretch>
            <a:fillRect/>
          </a:stretch>
        </p:blipFill>
        <p:spPr>
          <a:xfrm>
            <a:off x="8395825" y="3811700"/>
            <a:ext cx="365700" cy="487614"/>
          </a:xfrm>
          <a:prstGeom prst="rect">
            <a:avLst/>
          </a:prstGeom>
          <a:noFill/>
          <a:ln>
            <a:noFill/>
          </a:ln>
        </p:spPr>
      </p:pic>
      <p:sp>
        <p:nvSpPr>
          <p:cNvPr id="161" name="Google Shape;161;p4"/>
          <p:cNvSpPr txBox="1"/>
          <p:nvPr/>
        </p:nvSpPr>
        <p:spPr>
          <a:xfrm>
            <a:off x="5831889" y="3469940"/>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10</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2</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62" name="Google Shape;162;p4"/>
          <p:cNvSpPr txBox="1"/>
          <p:nvPr/>
        </p:nvSpPr>
        <p:spPr>
          <a:xfrm>
            <a:off x="6467652" y="4062890"/>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13</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1</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63" name="Google Shape;163;p4"/>
          <p:cNvSpPr txBox="1"/>
          <p:nvPr/>
        </p:nvSpPr>
        <p:spPr>
          <a:xfrm>
            <a:off x="7177427" y="3312640"/>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20</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2</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pic>
        <p:nvPicPr>
          <p:cNvPr id="164" name="Google Shape;164;p4"/>
          <p:cNvPicPr preferRelativeResize="0"/>
          <p:nvPr/>
        </p:nvPicPr>
        <p:blipFill>
          <a:blip r:embed="rId24">
            <a:alphaModFix/>
          </a:blip>
          <a:stretch>
            <a:fillRect/>
          </a:stretch>
        </p:blipFill>
        <p:spPr>
          <a:xfrm>
            <a:off x="591083" y="3367175"/>
            <a:ext cx="3754450" cy="1479423"/>
          </a:xfrm>
          <a:prstGeom prst="rect">
            <a:avLst/>
          </a:prstGeom>
          <a:noFill/>
          <a:ln>
            <a:noFill/>
          </a:ln>
        </p:spPr>
      </p:pic>
      <p:sp>
        <p:nvSpPr>
          <p:cNvPr id="165" name="Google Shape;165;p4"/>
          <p:cNvSpPr txBox="1"/>
          <p:nvPr/>
        </p:nvSpPr>
        <p:spPr>
          <a:xfrm>
            <a:off x="7469127" y="4029440"/>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22</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1</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66" name="Google Shape;166;p4"/>
          <p:cNvSpPr txBox="1"/>
          <p:nvPr/>
        </p:nvSpPr>
        <p:spPr>
          <a:xfrm>
            <a:off x="8080402" y="3421503"/>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25</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2</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67" name="Google Shape;167;p4"/>
          <p:cNvSpPr txBox="1"/>
          <p:nvPr/>
        </p:nvSpPr>
        <p:spPr>
          <a:xfrm>
            <a:off x="2882605" y="3314269"/>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29</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+ 1</a:t>
            </a:r>
            <a:r>
              <a:rPr b="1" lang="zh-HK" sz="800">
                <a:solidFill>
                  <a:schemeClr val="dk1"/>
                </a:solidFill>
                <a:highlight>
                  <a:schemeClr val="lt1"/>
                </a:highlight>
                <a:latin typeface="Times New Roman"/>
                <a:ea typeface="Times New Roman"/>
                <a:cs typeface="Times New Roman"/>
                <a:sym typeface="Times New Roman"/>
              </a:rPr>
              <a:t>24</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68" name="Google Shape;168;p4"/>
          <p:cNvSpPr txBox="1"/>
          <p:nvPr/>
        </p:nvSpPr>
        <p:spPr>
          <a:xfrm>
            <a:off x="591080" y="3894636"/>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1</a:t>
            </a:r>
            <a:r>
              <a:rPr b="1" lang="zh-HK" sz="800">
                <a:solidFill>
                  <a:schemeClr val="dk1"/>
                </a:solidFill>
                <a:latin typeface="Times New Roman"/>
                <a:ea typeface="Times New Roman"/>
                <a:cs typeface="Times New Roman"/>
                <a:sym typeface="Times New Roman"/>
              </a:rPr>
              <a:t>0</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+ 1</a:t>
            </a:r>
            <a:r>
              <a:rPr b="1" lang="zh-HK" sz="800">
                <a:solidFill>
                  <a:schemeClr val="dk1"/>
                </a:solidFill>
                <a:highlight>
                  <a:schemeClr val="lt1"/>
                </a:highlight>
                <a:latin typeface="Times New Roman"/>
                <a:ea typeface="Times New Roman"/>
                <a:cs typeface="Times New Roman"/>
                <a:sym typeface="Times New Roman"/>
              </a:rPr>
              <a:t>9</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69" name="Google Shape;169;p4"/>
          <p:cNvSpPr txBox="1"/>
          <p:nvPr/>
        </p:nvSpPr>
        <p:spPr>
          <a:xfrm>
            <a:off x="1281630" y="3966961"/>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1</a:t>
            </a:r>
            <a:r>
              <a:rPr b="1" lang="zh-HK" sz="800">
                <a:solidFill>
                  <a:schemeClr val="dk1"/>
                </a:solidFill>
                <a:latin typeface="Times New Roman"/>
                <a:ea typeface="Times New Roman"/>
                <a:cs typeface="Times New Roman"/>
                <a:sym typeface="Times New Roman"/>
              </a:rPr>
              <a:t>6</a:t>
            </a:r>
            <a:r>
              <a:rPr b="1" i="0" lang="zh-HK" sz="800" u="none" cap="none" strike="noStrike">
                <a:solidFill>
                  <a:schemeClr val="dk1"/>
                </a:solidFill>
                <a:latin typeface="Times New Roman"/>
                <a:ea typeface="Times New Roman"/>
                <a:cs typeface="Times New Roman"/>
                <a:sym typeface="Times New Roman"/>
              </a:rPr>
              <a:t> Ju</a:t>
            </a:r>
            <a:r>
              <a:rPr b="1" lang="zh-HK" sz="800">
                <a:solidFill>
                  <a:schemeClr val="dk1"/>
                </a:solidFill>
                <a:latin typeface="Times New Roman"/>
                <a:ea typeface="Times New Roman"/>
                <a:cs typeface="Times New Roman"/>
                <a:sym typeface="Times New Roman"/>
              </a:rPr>
              <a:t>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+ 1</a:t>
            </a:r>
            <a:r>
              <a:rPr b="1" lang="zh-HK" sz="800">
                <a:solidFill>
                  <a:schemeClr val="dk1"/>
                </a:solidFill>
                <a:highlight>
                  <a:schemeClr val="lt1"/>
                </a:highlight>
                <a:latin typeface="Times New Roman"/>
                <a:ea typeface="Times New Roman"/>
                <a:cs typeface="Times New Roman"/>
                <a:sym typeface="Times New Roman"/>
              </a:rPr>
              <a:t>2</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70" name="Google Shape;170;p4"/>
          <p:cNvSpPr txBox="1"/>
          <p:nvPr/>
        </p:nvSpPr>
        <p:spPr>
          <a:xfrm>
            <a:off x="2033730" y="3843273"/>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22</a:t>
            </a:r>
            <a:r>
              <a:rPr b="1" i="0" lang="zh-HK" sz="800" u="none" cap="none" strike="noStrike">
                <a:solidFill>
                  <a:schemeClr val="dk1"/>
                </a:solidFill>
                <a:latin typeface="Times New Roman"/>
                <a:ea typeface="Times New Roman"/>
                <a:cs typeface="Times New Roman"/>
                <a:sym typeface="Times New Roman"/>
              </a:rPr>
              <a:t> J</a:t>
            </a:r>
            <a:r>
              <a:rPr b="1" lang="zh-HK" sz="800">
                <a:solidFill>
                  <a:schemeClr val="dk1"/>
                </a:solidFill>
                <a:latin typeface="Times New Roman"/>
                <a:ea typeface="Times New Roman"/>
                <a:cs typeface="Times New Roman"/>
                <a:sym typeface="Times New Roman"/>
              </a:rPr>
              <a:t>uly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32</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pic>
        <p:nvPicPr>
          <p:cNvPr id="171" name="Google Shape;171;p4" title="截屏2026-08-06 16.42.32.png"/>
          <p:cNvPicPr preferRelativeResize="0"/>
          <p:nvPr/>
        </p:nvPicPr>
        <p:blipFill>
          <a:blip r:embed="rId13">
            <a:alphaModFix/>
          </a:blip>
          <a:stretch>
            <a:fillRect/>
          </a:stretch>
        </p:blipFill>
        <p:spPr>
          <a:xfrm>
            <a:off x="2226921" y="3405684"/>
            <a:ext cx="365700" cy="489747"/>
          </a:xfrm>
          <a:prstGeom prst="rect">
            <a:avLst/>
          </a:prstGeom>
          <a:noFill/>
          <a:ln>
            <a:noFill/>
          </a:ln>
        </p:spPr>
      </p:pic>
      <p:pic>
        <p:nvPicPr>
          <p:cNvPr id="172" name="Google Shape;172;p4" title="截屏2026-08-06 16.40.23.png"/>
          <p:cNvPicPr preferRelativeResize="0"/>
          <p:nvPr/>
        </p:nvPicPr>
        <p:blipFill>
          <a:blip r:embed="rId11">
            <a:alphaModFix/>
          </a:blip>
          <a:stretch>
            <a:fillRect/>
          </a:stretch>
        </p:blipFill>
        <p:spPr>
          <a:xfrm>
            <a:off x="784275" y="3468701"/>
            <a:ext cx="365699" cy="490826"/>
          </a:xfrm>
          <a:prstGeom prst="rect">
            <a:avLst/>
          </a:prstGeom>
          <a:noFill/>
          <a:ln>
            <a:noFill/>
          </a:ln>
        </p:spPr>
      </p:pic>
      <p:pic>
        <p:nvPicPr>
          <p:cNvPr id="173" name="Google Shape;173;p4" title="截屏2026-08-06 16.41.49.png"/>
          <p:cNvPicPr preferRelativeResize="0"/>
          <p:nvPr/>
        </p:nvPicPr>
        <p:blipFill>
          <a:blip r:embed="rId12">
            <a:alphaModFix/>
          </a:blip>
          <a:stretch>
            <a:fillRect/>
          </a:stretch>
        </p:blipFill>
        <p:spPr>
          <a:xfrm>
            <a:off x="1505600" y="3470312"/>
            <a:ext cx="365699" cy="487590"/>
          </a:xfrm>
          <a:prstGeom prst="rect">
            <a:avLst/>
          </a:prstGeom>
          <a:noFill/>
          <a:ln>
            <a:noFill/>
          </a:ln>
        </p:spPr>
      </p:pic>
      <p:pic>
        <p:nvPicPr>
          <p:cNvPr id="174" name="Google Shape;174;p4"/>
          <p:cNvPicPr preferRelativeResize="0"/>
          <p:nvPr/>
        </p:nvPicPr>
        <p:blipFill>
          <a:blip r:embed="rId23">
            <a:alphaModFix/>
          </a:blip>
          <a:stretch>
            <a:fillRect/>
          </a:stretch>
        </p:blipFill>
        <p:spPr>
          <a:xfrm>
            <a:off x="3490200" y="3369475"/>
            <a:ext cx="365700" cy="48761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5"/>
          <p:cNvSpPr txBox="1"/>
          <p:nvPr/>
        </p:nvSpPr>
        <p:spPr>
          <a:xfrm>
            <a:off x="950850" y="254025"/>
            <a:ext cx="4521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XHS Content Performance </a:t>
            </a:r>
            <a:endParaRPr b="1" i="0" sz="2000" u="none" cap="none" strike="noStrike">
              <a:solidFill>
                <a:schemeClr val="dk1"/>
              </a:solidFill>
              <a:latin typeface="Times New Roman"/>
              <a:ea typeface="Times New Roman"/>
              <a:cs typeface="Times New Roman"/>
              <a:sym typeface="Times New Roman"/>
            </a:endParaRPr>
          </a:p>
        </p:txBody>
      </p:sp>
      <p:pic>
        <p:nvPicPr>
          <p:cNvPr id="180" name="Google Shape;180;p5"/>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181" name="Google Shape;181;p5"/>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182" name="Google Shape;182;p5"/>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5"/>
          <p:cNvSpPr txBox="1"/>
          <p:nvPr/>
        </p:nvSpPr>
        <p:spPr>
          <a:xfrm>
            <a:off x="-69625" y="665300"/>
            <a:ext cx="9039000" cy="11538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15000"/>
              </a:lnSpc>
              <a:spcBef>
                <a:spcPts val="1200"/>
              </a:spcBef>
              <a:spcAft>
                <a:spcPts val="0"/>
              </a:spcAft>
              <a:buClr>
                <a:srgbClr val="1C1C1C"/>
              </a:buClr>
              <a:buSzPts val="1000"/>
              <a:buFont typeface="Times New Roman"/>
              <a:buChar char="●"/>
            </a:pPr>
            <a:r>
              <a:rPr lang="zh-HK" sz="1000">
                <a:solidFill>
                  <a:srgbClr val="0F1115"/>
                </a:solidFill>
                <a:highlight>
                  <a:srgbClr val="FFFFFF"/>
                </a:highlight>
                <a:latin typeface="Times New Roman"/>
                <a:ea typeface="Times New Roman"/>
                <a:cs typeface="Times New Roman"/>
                <a:sym typeface="Times New Roman"/>
              </a:rPr>
              <a:t>In July,</a:t>
            </a:r>
            <a:r>
              <a:rPr b="1" lang="zh-HK" sz="1000">
                <a:solidFill>
                  <a:srgbClr val="0F1115"/>
                </a:solidFill>
                <a:highlight>
                  <a:srgbClr val="FFFFFF"/>
                </a:highlight>
                <a:latin typeface="Times New Roman"/>
                <a:ea typeface="Times New Roman"/>
                <a:cs typeface="Times New Roman"/>
                <a:sym typeface="Times New Roman"/>
              </a:rPr>
              <a:t> Chiikawa-related posts</a:t>
            </a:r>
            <a:r>
              <a:rPr lang="zh-HK" sz="1000">
                <a:solidFill>
                  <a:srgbClr val="0F1115"/>
                </a:solidFill>
                <a:highlight>
                  <a:srgbClr val="FFFFFF"/>
                </a:highlight>
                <a:latin typeface="Times New Roman"/>
                <a:ea typeface="Times New Roman"/>
                <a:cs typeface="Times New Roman"/>
                <a:sym typeface="Times New Roman"/>
              </a:rPr>
              <a:t> were the month's highlight. They recorded the </a:t>
            </a:r>
            <a:r>
              <a:rPr b="1" lang="zh-HK" sz="1000">
                <a:solidFill>
                  <a:srgbClr val="0F1115"/>
                </a:solidFill>
                <a:highlight>
                  <a:srgbClr val="FFFFFF"/>
                </a:highlight>
                <a:latin typeface="Times New Roman"/>
                <a:ea typeface="Times New Roman"/>
                <a:cs typeface="Times New Roman"/>
                <a:sym typeface="Times New Roman"/>
              </a:rPr>
              <a:t>highest total engagement and generated the highest views</a:t>
            </a:r>
            <a:r>
              <a:rPr lang="zh-HK" sz="1000">
                <a:solidFill>
                  <a:srgbClr val="0F1115"/>
                </a:solidFill>
                <a:highlight>
                  <a:srgbClr val="FFFFFF"/>
                </a:highlight>
                <a:latin typeface="Times New Roman"/>
                <a:ea typeface="Times New Roman"/>
                <a:cs typeface="Times New Roman"/>
                <a:sym typeface="Times New Roman"/>
              </a:rPr>
              <a:t>, while also driving the most fan growth, reflecting audience preference for real-time content that amplifies IP campaign momentum.</a:t>
            </a:r>
            <a:r>
              <a:rPr lang="zh-HK" sz="1000">
                <a:latin typeface="Times New Roman"/>
                <a:ea typeface="Times New Roman"/>
                <a:cs typeface="Times New Roman"/>
                <a:sym typeface="Times New Roman"/>
              </a:rPr>
              <a:t> </a:t>
            </a:r>
            <a:endParaRPr sz="1000">
              <a:solidFill>
                <a:srgbClr val="1C1C1C"/>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1C1C1C"/>
              </a:buClr>
              <a:buSzPts val="1000"/>
              <a:buFont typeface="Times New Roman"/>
              <a:buChar char="●"/>
            </a:pPr>
            <a:r>
              <a:rPr lang="zh-HK" sz="1000">
                <a:solidFill>
                  <a:srgbClr val="1C1C1C"/>
                </a:solidFill>
                <a:latin typeface="Times New Roman"/>
                <a:ea typeface="Times New Roman"/>
                <a:cs typeface="Times New Roman"/>
                <a:sym typeface="Times New Roman"/>
              </a:rPr>
              <a:t>In terms of </a:t>
            </a:r>
            <a:r>
              <a:rPr b="1" lang="zh-HK" sz="1000">
                <a:solidFill>
                  <a:srgbClr val="1C1C1C"/>
                </a:solidFill>
                <a:latin typeface="Times New Roman"/>
                <a:ea typeface="Times New Roman"/>
                <a:cs typeface="Times New Roman"/>
                <a:sym typeface="Times New Roman"/>
              </a:rPr>
              <a:t>engagement rate,</a:t>
            </a:r>
            <a:r>
              <a:rPr lang="zh-HK" sz="1000">
                <a:solidFill>
                  <a:srgbClr val="1C1C1C"/>
                </a:solidFill>
                <a:latin typeface="Times New Roman"/>
                <a:ea typeface="Times New Roman"/>
                <a:cs typeface="Times New Roman"/>
                <a:sym typeface="Times New Roman"/>
              </a:rPr>
              <a:t> local cultural content </a:t>
            </a:r>
            <a:r>
              <a:rPr b="1" lang="zh-HK" sz="1000">
                <a:solidFill>
                  <a:srgbClr val="1C1C1C"/>
                </a:solidFill>
                <a:latin typeface="Times New Roman"/>
                <a:ea typeface="Times New Roman"/>
                <a:cs typeface="Times New Roman"/>
                <a:sym typeface="Times New Roman"/>
              </a:rPr>
              <a:t>"粵語文創" </a:t>
            </a:r>
            <a:r>
              <a:rPr lang="zh-HK" sz="1000">
                <a:solidFill>
                  <a:srgbClr val="1C1C1C"/>
                </a:solidFill>
                <a:latin typeface="Times New Roman"/>
                <a:ea typeface="Times New Roman"/>
                <a:cs typeface="Times New Roman"/>
                <a:sym typeface="Times New Roman"/>
              </a:rPr>
              <a:t>led at </a:t>
            </a:r>
            <a:r>
              <a:rPr b="1" lang="zh-HK" sz="1000">
                <a:solidFill>
                  <a:srgbClr val="1C1C1C"/>
                </a:solidFill>
                <a:latin typeface="Times New Roman"/>
                <a:ea typeface="Times New Roman"/>
                <a:cs typeface="Times New Roman"/>
                <a:sym typeface="Times New Roman"/>
              </a:rPr>
              <a:t>28.70%</a:t>
            </a:r>
            <a:r>
              <a:rPr lang="zh-HK" sz="1000">
                <a:solidFill>
                  <a:srgbClr val="1C1C1C"/>
                </a:solidFill>
                <a:latin typeface="Times New Roman"/>
                <a:ea typeface="Times New Roman"/>
                <a:cs typeface="Times New Roman"/>
                <a:sym typeface="Times New Roman"/>
              </a:rPr>
              <a:t>, proving that </a:t>
            </a:r>
            <a:r>
              <a:rPr b="1" lang="zh-HK" sz="1000">
                <a:solidFill>
                  <a:srgbClr val="1C1C1C"/>
                </a:solidFill>
                <a:latin typeface="Times New Roman"/>
                <a:ea typeface="Times New Roman"/>
                <a:cs typeface="Times New Roman"/>
                <a:sym typeface="Times New Roman"/>
              </a:rPr>
              <a:t>Cantonese and local topics</a:t>
            </a:r>
            <a:r>
              <a:rPr lang="zh-HK" sz="1000">
                <a:solidFill>
                  <a:srgbClr val="1C1C1C"/>
                </a:solidFill>
                <a:latin typeface="Times New Roman"/>
                <a:ea typeface="Times New Roman"/>
                <a:cs typeface="Times New Roman"/>
                <a:sym typeface="Times New Roman"/>
              </a:rPr>
              <a:t> resonate deeply and drive </a:t>
            </a:r>
            <a:r>
              <a:rPr b="1" lang="zh-HK" sz="1000">
                <a:solidFill>
                  <a:srgbClr val="1C1C1C"/>
                </a:solidFill>
                <a:latin typeface="Times New Roman"/>
                <a:ea typeface="Times New Roman"/>
                <a:cs typeface="Times New Roman"/>
                <a:sym typeface="Times New Roman"/>
              </a:rPr>
              <a:t>meaningful interactions.</a:t>
            </a:r>
            <a:endParaRPr b="1" sz="1000">
              <a:solidFill>
                <a:srgbClr val="1C1C1C"/>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1C1C1C"/>
              </a:buClr>
              <a:buSzPts val="1000"/>
              <a:buFont typeface="Times New Roman"/>
              <a:buChar char="●"/>
            </a:pPr>
            <a:r>
              <a:rPr lang="zh-HK" sz="1000">
                <a:solidFill>
                  <a:srgbClr val="1C1C1C"/>
                </a:solidFill>
                <a:latin typeface="Times New Roman"/>
                <a:ea typeface="Times New Roman"/>
                <a:cs typeface="Times New Roman"/>
                <a:sym typeface="Times New Roman"/>
              </a:rPr>
              <a:t>Other </a:t>
            </a:r>
            <a:r>
              <a:rPr b="1" lang="zh-HK" sz="1000">
                <a:solidFill>
                  <a:srgbClr val="1C1C1C"/>
                </a:solidFill>
                <a:latin typeface="Times New Roman"/>
                <a:ea typeface="Times New Roman"/>
                <a:cs typeface="Times New Roman"/>
                <a:sym typeface="Times New Roman"/>
              </a:rPr>
              <a:t>lifestyle and culture posts</a:t>
            </a:r>
            <a:r>
              <a:rPr lang="zh-HK" sz="1000">
                <a:solidFill>
                  <a:srgbClr val="1C1C1C"/>
                </a:solidFill>
                <a:latin typeface="Times New Roman"/>
                <a:ea typeface="Times New Roman"/>
                <a:cs typeface="Times New Roman"/>
                <a:sym typeface="Times New Roman"/>
              </a:rPr>
              <a:t> delivered </a:t>
            </a:r>
            <a:r>
              <a:rPr b="1" lang="zh-HK" sz="1000">
                <a:solidFill>
                  <a:srgbClr val="1C1C1C"/>
                </a:solidFill>
                <a:latin typeface="Times New Roman"/>
                <a:ea typeface="Times New Roman"/>
                <a:cs typeface="Times New Roman"/>
                <a:sym typeface="Times New Roman"/>
              </a:rPr>
              <a:t>steady performance.</a:t>
            </a:r>
            <a:endParaRPr b="1" sz="1000">
              <a:solidFill>
                <a:srgbClr val="1C1C1C"/>
              </a:solidFill>
              <a:highlight>
                <a:srgbClr val="FFFFFF"/>
              </a:highlight>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1150"/>
              <a:buFont typeface="Arial"/>
              <a:buNone/>
            </a:pPr>
            <a:r>
              <a:t/>
            </a:r>
            <a:endParaRPr b="0" i="0" sz="1150" u="none" cap="none" strike="noStrike">
              <a:solidFill>
                <a:schemeClr val="dk1"/>
              </a:solidFill>
              <a:highlight>
                <a:srgbClr val="FFFFFF"/>
              </a:highlight>
              <a:latin typeface="Times New Roman"/>
              <a:ea typeface="Times New Roman"/>
              <a:cs typeface="Times New Roman"/>
              <a:sym typeface="Times New Roman"/>
            </a:endParaRPr>
          </a:p>
        </p:txBody>
      </p:sp>
      <p:pic>
        <p:nvPicPr>
          <p:cNvPr descr="About | Langham Place" id="184" name="Google Shape;184;p5"/>
          <p:cNvPicPr preferRelativeResize="0"/>
          <p:nvPr/>
        </p:nvPicPr>
        <p:blipFill rotWithShape="1">
          <a:blip r:embed="rId4">
            <a:alphaModFix/>
          </a:blip>
          <a:srcRect b="21020" l="14063" r="17215" t="26140"/>
          <a:stretch/>
        </p:blipFill>
        <p:spPr>
          <a:xfrm>
            <a:off x="8094845" y="162433"/>
            <a:ext cx="1049155" cy="423511"/>
          </a:xfrm>
          <a:prstGeom prst="rect">
            <a:avLst/>
          </a:prstGeom>
          <a:noFill/>
          <a:ln>
            <a:noFill/>
          </a:ln>
        </p:spPr>
      </p:pic>
      <p:graphicFrame>
        <p:nvGraphicFramePr>
          <p:cNvPr id="185" name="Google Shape;185;p5"/>
          <p:cNvGraphicFramePr/>
          <p:nvPr/>
        </p:nvGraphicFramePr>
        <p:xfrm>
          <a:off x="230952" y="1959594"/>
          <a:ext cx="3000000" cy="3000000"/>
        </p:xfrm>
        <a:graphic>
          <a:graphicData uri="http://schemas.openxmlformats.org/drawingml/2006/table">
            <a:tbl>
              <a:tblPr>
                <a:noFill/>
                <a:tableStyleId>{E1739E71-98CB-4F31-BA75-B360A44B9F01}</a:tableStyleId>
              </a:tblPr>
              <a:tblGrid>
                <a:gridCol w="456050"/>
                <a:gridCol w="560975"/>
                <a:gridCol w="1286400"/>
                <a:gridCol w="594525"/>
                <a:gridCol w="540725"/>
                <a:gridCol w="585225"/>
                <a:gridCol w="550075"/>
                <a:gridCol w="448350"/>
                <a:gridCol w="719375"/>
                <a:gridCol w="737075"/>
                <a:gridCol w="652800"/>
              </a:tblGrid>
              <a:tr h="516825">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XHS</a:t>
                      </a:r>
                      <a:endParaRPr b="1" sz="1000" u="none" cap="none" strike="noStrike">
                        <a:latin typeface="Calibri"/>
                        <a:ea typeface="Calibri"/>
                        <a:cs typeface="Calibri"/>
                        <a:sym typeface="Calibri"/>
                      </a:endParaRPr>
                    </a:p>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Post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Publish Date</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Subject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View</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Like</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Comment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Saved</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Share</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Total Engagement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Total Engagement Rate</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Fans Increased</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r>
              <a:tr h="2868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Calibri"/>
                          <a:ea typeface="Calibri"/>
                          <a:cs typeface="Calibri"/>
                          <a:sym typeface="Calibri"/>
                        </a:rPr>
                        <a:t>1</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Jul 3</a:t>
                      </a:r>
                      <a:endParaRPr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800">
                          <a:latin typeface="Calibri"/>
                          <a:ea typeface="Calibri"/>
                          <a:cs typeface="Calibri"/>
                          <a:sym typeface="Calibri"/>
                        </a:rPr>
                        <a:t>香港速冲🔥Sanrio新系列可爱爆炸⚽️</a:t>
                      </a:r>
                      <a:endParaRPr sz="8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2,681</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149</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28</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42</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220</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8.21%</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7</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57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Calibri"/>
                          <a:ea typeface="Calibri"/>
                          <a:cs typeface="Calibri"/>
                          <a:sym typeface="Calibri"/>
                        </a:rPr>
                        <a:t>2</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Jul 6</a:t>
                      </a:r>
                      <a:endParaRPr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800">
                          <a:latin typeface="Calibri"/>
                          <a:ea typeface="Calibri"/>
                          <a:cs typeface="Calibri"/>
                          <a:sym typeface="Calibri"/>
                        </a:rPr>
                        <a:t>确定了⚠️7月CHIIKAWA要在香港登岛啦！！</a:t>
                      </a:r>
                      <a:endParaRPr sz="8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14,359</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599</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34</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116</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463</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1,212</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8.44%</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137</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075">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Calibri"/>
                          <a:ea typeface="Calibri"/>
                          <a:cs typeface="Calibri"/>
                          <a:sym typeface="Calibri"/>
                        </a:rPr>
                        <a:t>3</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Jul 10</a:t>
                      </a:r>
                      <a:endParaRPr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800">
                          <a:latin typeface="Calibri"/>
                          <a:ea typeface="Calibri"/>
                          <a:cs typeface="Calibri"/>
                          <a:sym typeface="Calibri"/>
                        </a:rPr>
                        <a:t>现场突发⚠️chiikawa真的在香港登岛了！！</a:t>
                      </a:r>
                      <a:endParaRPr sz="8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9,233</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1,135</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27</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124</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256</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1,542</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16.70%</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137</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075">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Calibri"/>
                          <a:ea typeface="Calibri"/>
                          <a:cs typeface="Calibri"/>
                          <a:sym typeface="Calibri"/>
                        </a:rPr>
                        <a:t>4</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Jul 16</a:t>
                      </a:r>
                      <a:endParaRPr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800">
                          <a:latin typeface="Calibri"/>
                          <a:ea typeface="Calibri"/>
                          <a:cs typeface="Calibri"/>
                          <a:sym typeface="Calibri"/>
                        </a:rPr>
                        <a:t>香港粤语文创...我真的没空陪你闹了！😂</a:t>
                      </a:r>
                      <a:endParaRPr sz="8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4,154</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529</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0</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67</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596</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1,192</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28.70%</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12</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075">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Calibri"/>
                          <a:ea typeface="Calibri"/>
                          <a:cs typeface="Calibri"/>
                          <a:sym typeface="Calibri"/>
                        </a:rPr>
                        <a:t>5</a:t>
                      </a:r>
                      <a:endParaRPr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Jul 21</a:t>
                      </a:r>
                      <a:endParaRPr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800">
                          <a:latin typeface="Calibri"/>
                          <a:ea typeface="Calibri"/>
                          <a:cs typeface="Calibri"/>
                          <a:sym typeface="Calibri"/>
                        </a:rPr>
                        <a:t>后悔没买😭谁知道朗豪坊这家饰品叫什么？</a:t>
                      </a:r>
                      <a:endParaRPr sz="8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5,472</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167</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11</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106</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284</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568</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10.38%</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29</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68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Calibri"/>
                          <a:ea typeface="Calibri"/>
                          <a:cs typeface="Calibri"/>
                          <a:sym typeface="Calibri"/>
                        </a:rPr>
                        <a:t>6</a:t>
                      </a:r>
                      <a:endParaRPr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Jul30</a:t>
                      </a:r>
                      <a:endParaRPr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800">
                          <a:latin typeface="Calibri"/>
                          <a:ea typeface="Calibri"/>
                          <a:cs typeface="Calibri"/>
                          <a:sym typeface="Calibri"/>
                        </a:rPr>
                        <a:t>『香港避暑』旺角邂逅金庸的武侠世界</a:t>
                      </a:r>
                      <a:endParaRPr sz="8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3,278</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184</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30</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215</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430</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13.12%</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latin typeface="Calibri"/>
                          <a:ea typeface="Calibri"/>
                          <a:cs typeface="Calibri"/>
                          <a:sym typeface="Calibri"/>
                        </a:rPr>
                        <a:t>28</a:t>
                      </a:r>
                      <a:endParaRPr sz="10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6525">
                <a:tc gridSpan="3">
                  <a:txBody>
                    <a:bodyPr/>
                    <a:lstStyle/>
                    <a:p>
                      <a:pPr indent="0" lvl="0" marL="0" marR="0" rtl="0" algn="ctr">
                        <a:lnSpc>
                          <a:spcPct val="115000"/>
                        </a:lnSpc>
                        <a:spcBef>
                          <a:spcPts val="0"/>
                        </a:spcBef>
                        <a:spcAft>
                          <a:spcPts val="0"/>
                        </a:spcAft>
                        <a:buClr>
                          <a:srgbClr val="000000"/>
                        </a:buClr>
                        <a:buSzPts val="1000"/>
                        <a:buFont typeface="Arial"/>
                        <a:buNone/>
                      </a:pPr>
                      <a:r>
                        <a:rPr b="1" lang="zh-HK" sz="1000">
                          <a:latin typeface="Calibri"/>
                          <a:ea typeface="Calibri"/>
                          <a:cs typeface="Calibri"/>
                          <a:sym typeface="Calibri"/>
                        </a:rPr>
                        <a:t>Jul</a:t>
                      </a:r>
                      <a:r>
                        <a:rPr b="1" lang="zh-HK" sz="1000" u="none" cap="none" strike="noStrike">
                          <a:latin typeface="Calibri"/>
                          <a:ea typeface="Calibri"/>
                          <a:cs typeface="Calibri"/>
                          <a:sym typeface="Calibri"/>
                        </a:rPr>
                        <a:t> Total</a:t>
                      </a:r>
                      <a:endParaRPr b="1" sz="1000" u="none" cap="none" strike="noStrike">
                        <a:latin typeface="Calibri"/>
                        <a:ea typeface="Calibri"/>
                        <a:cs typeface="Calibri"/>
                        <a:sym typeface="Calibri"/>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hMerge="1"/>
                <a:tc hMerge="1"/>
                <a:tc>
                  <a:txBody>
                    <a:bodyPr/>
                    <a:lstStyle/>
                    <a:p>
                      <a:pPr indent="0" lvl="0" marL="0" rtl="0" algn="ctr">
                        <a:lnSpc>
                          <a:spcPct val="115000"/>
                        </a:lnSpc>
                        <a:spcBef>
                          <a:spcPts val="0"/>
                        </a:spcBef>
                        <a:spcAft>
                          <a:spcPts val="0"/>
                        </a:spcAft>
                        <a:buNone/>
                      </a:pPr>
                      <a:r>
                        <a:rPr b="1" lang="zh-HK" sz="1100">
                          <a:latin typeface="Calibri"/>
                          <a:ea typeface="Calibri"/>
                          <a:cs typeface="Calibri"/>
                          <a:sym typeface="Calibri"/>
                        </a:rPr>
                        <a:t>39,177</a:t>
                      </a:r>
                      <a:endParaRPr b="1"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zh-HK" sz="1100">
                          <a:latin typeface="Calibri"/>
                          <a:ea typeface="Calibri"/>
                          <a:cs typeface="Calibri"/>
                          <a:sym typeface="Calibri"/>
                        </a:rPr>
                        <a:t>2,763</a:t>
                      </a:r>
                      <a:endParaRPr b="1"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zh-HK" sz="1100">
                          <a:latin typeface="Calibri"/>
                          <a:ea typeface="Calibri"/>
                          <a:cs typeface="Calibri"/>
                          <a:sym typeface="Calibri"/>
                        </a:rPr>
                        <a:t>74</a:t>
                      </a:r>
                      <a:endParaRPr b="1"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zh-HK" sz="1100">
                          <a:latin typeface="Calibri"/>
                          <a:ea typeface="Calibri"/>
                          <a:cs typeface="Calibri"/>
                          <a:sym typeface="Calibri"/>
                        </a:rPr>
                        <a:t>471</a:t>
                      </a:r>
                      <a:endParaRPr b="1"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zh-HK" sz="1100">
                          <a:latin typeface="Calibri"/>
                          <a:ea typeface="Calibri"/>
                          <a:cs typeface="Calibri"/>
                          <a:sym typeface="Calibri"/>
                        </a:rPr>
                        <a:t>1,856</a:t>
                      </a:r>
                      <a:endParaRPr b="1"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zh-HK" sz="1100">
                          <a:latin typeface="Calibri"/>
                          <a:ea typeface="Calibri"/>
                          <a:cs typeface="Calibri"/>
                          <a:sym typeface="Calibri"/>
                        </a:rPr>
                        <a:t>5,164</a:t>
                      </a:r>
                      <a:endParaRPr b="1"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zh-HK" sz="1100">
                          <a:latin typeface="Calibri"/>
                          <a:ea typeface="Calibri"/>
                          <a:cs typeface="Calibri"/>
                          <a:sym typeface="Calibri"/>
                        </a:rPr>
                        <a:t>13.18%</a:t>
                      </a:r>
                      <a:endParaRPr b="1"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zh-HK" sz="1100">
                          <a:latin typeface="Calibri"/>
                          <a:ea typeface="Calibri"/>
                          <a:cs typeface="Calibri"/>
                          <a:sym typeface="Calibri"/>
                        </a:rPr>
                        <a:t>350</a:t>
                      </a:r>
                      <a:endParaRPr b="1" sz="1100">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r>
            </a:tbl>
          </a:graphicData>
        </a:graphic>
      </p:graphicFrame>
      <p:sp>
        <p:nvSpPr>
          <p:cNvPr id="186" name="Google Shape;186;p5"/>
          <p:cNvSpPr/>
          <p:nvPr/>
        </p:nvSpPr>
        <p:spPr>
          <a:xfrm>
            <a:off x="205525" y="2800825"/>
            <a:ext cx="7180800" cy="670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p5"/>
          <p:cNvPicPr preferRelativeResize="0"/>
          <p:nvPr/>
        </p:nvPicPr>
        <p:blipFill>
          <a:blip r:embed="rId5">
            <a:alphaModFix/>
          </a:blip>
          <a:stretch>
            <a:fillRect/>
          </a:stretch>
        </p:blipFill>
        <p:spPr>
          <a:xfrm>
            <a:off x="7407853" y="1905161"/>
            <a:ext cx="1631090" cy="2597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6"/>
          <p:cNvSpPr txBox="1"/>
          <p:nvPr/>
        </p:nvSpPr>
        <p:spPr>
          <a:xfrm>
            <a:off x="982002" y="312475"/>
            <a:ext cx="3256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XHS Boosting performance </a:t>
            </a:r>
            <a:endParaRPr b="1" i="0" sz="2000" u="none" cap="none" strike="noStrike">
              <a:solidFill>
                <a:schemeClr val="dk1"/>
              </a:solidFill>
              <a:latin typeface="Times New Roman"/>
              <a:ea typeface="Times New Roman"/>
              <a:cs typeface="Times New Roman"/>
              <a:sym typeface="Times New Roman"/>
            </a:endParaRPr>
          </a:p>
        </p:txBody>
      </p:sp>
      <p:pic>
        <p:nvPicPr>
          <p:cNvPr id="193" name="Google Shape;193;p6"/>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194" name="Google Shape;194;p6"/>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195" name="Google Shape;195;p6"/>
          <p:cNvSpPr txBox="1"/>
          <p:nvPr/>
        </p:nvSpPr>
        <p:spPr>
          <a:xfrm>
            <a:off x="240156" y="1358420"/>
            <a:ext cx="3723600" cy="346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50"/>
              <a:buFont typeface="Arial"/>
              <a:buNone/>
            </a:pPr>
            <a:r>
              <a:t/>
            </a:r>
            <a:endParaRPr b="1" i="0" sz="1050" u="none" cap="none" strike="noStrike">
              <a:solidFill>
                <a:srgbClr val="212121"/>
              </a:solidFill>
              <a:latin typeface="Times New Roman"/>
              <a:ea typeface="Times New Roman"/>
              <a:cs typeface="Times New Roman"/>
              <a:sym typeface="Times New Roman"/>
            </a:endParaRPr>
          </a:p>
        </p:txBody>
      </p:sp>
      <p:graphicFrame>
        <p:nvGraphicFramePr>
          <p:cNvPr id="196" name="Google Shape;196;p6"/>
          <p:cNvGraphicFramePr/>
          <p:nvPr/>
        </p:nvGraphicFramePr>
        <p:xfrm>
          <a:off x="137792" y="2312469"/>
          <a:ext cx="3000000" cy="3000000"/>
        </p:xfrm>
        <a:graphic>
          <a:graphicData uri="http://schemas.openxmlformats.org/drawingml/2006/table">
            <a:tbl>
              <a:tblPr>
                <a:noFill/>
                <a:tableStyleId>{E1739E71-98CB-4F31-BA75-B360A44B9F01}</a:tableStyleId>
              </a:tblPr>
              <a:tblGrid>
                <a:gridCol w="443150"/>
                <a:gridCol w="1616475"/>
                <a:gridCol w="382850"/>
                <a:gridCol w="481550"/>
                <a:gridCol w="476550"/>
                <a:gridCol w="447575"/>
                <a:gridCol w="353300"/>
                <a:gridCol w="469250"/>
                <a:gridCol w="396075"/>
                <a:gridCol w="321050"/>
                <a:gridCol w="371900"/>
                <a:gridCol w="455150"/>
              </a:tblGrid>
              <a:tr h="275475">
                <a:tc>
                  <a:txBody>
                    <a:bodyPr/>
                    <a:lstStyle/>
                    <a:p>
                      <a:pPr indent="0" lvl="0" marL="0" marR="0" rtl="0" algn="ctr">
                        <a:lnSpc>
                          <a:spcPct val="115000"/>
                        </a:lnSpc>
                        <a:spcBef>
                          <a:spcPts val="0"/>
                        </a:spcBef>
                        <a:spcAft>
                          <a:spcPts val="0"/>
                        </a:spcAft>
                        <a:buClr>
                          <a:srgbClr val="000000"/>
                        </a:buClr>
                        <a:buSzPts val="600"/>
                        <a:buFont typeface="Arial"/>
                        <a:buNone/>
                      </a:pPr>
                      <a:r>
                        <a:rPr b="1" lang="zh-HK" sz="600" u="none" cap="none" strike="noStrike">
                          <a:latin typeface="Calibri"/>
                          <a:ea typeface="Calibri"/>
                          <a:cs typeface="Calibri"/>
                          <a:sym typeface="Calibri"/>
                        </a:rPr>
                        <a:t>Category</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XHS Subject</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Period</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Objectives</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Cost￥</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Impressions</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Clicks</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Total</a:t>
                      </a:r>
                      <a:endParaRPr b="1" sz="600" u="none" cap="none" strike="noStrike">
                        <a:latin typeface="Calibri"/>
                        <a:ea typeface="Calibri"/>
                        <a:cs typeface="Calibri"/>
                        <a:sym typeface="Calibri"/>
                      </a:endParaRPr>
                    </a:p>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Engagement</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CTR</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CPC ¥</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CPE ¥</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CPM ¥</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61800">
                <a:tc rowSpan="6">
                  <a:txBody>
                    <a:bodyPr/>
                    <a:lstStyle/>
                    <a:p>
                      <a:pPr indent="0" lvl="0" marL="0" marR="0" rtl="0" algn="ctr">
                        <a:lnSpc>
                          <a:spcPct val="115000"/>
                        </a:lnSpc>
                        <a:spcBef>
                          <a:spcPts val="0"/>
                        </a:spcBef>
                        <a:spcAft>
                          <a:spcPts val="0"/>
                        </a:spcAft>
                        <a:buClr>
                          <a:srgbClr val="000000"/>
                        </a:buClr>
                        <a:buSzPts val="1100"/>
                        <a:buFont typeface="Arial"/>
                        <a:buNone/>
                      </a:pPr>
                      <a:r>
                        <a:rPr b="1" lang="zh-HK" sz="1100"/>
                        <a:t>聚光</a:t>
                      </a:r>
                      <a:endParaRPr sz="6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700"/>
                        <a:t>宠粉福利选中了你🔔请领取美丽眼影胭脂盘</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700"/>
                        <a:t>7/1</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互动量</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zh-HK" sz="700" u="none" cap="none" strike="noStrike"/>
                        <a:t>¥</a:t>
                      </a:r>
                      <a:r>
                        <a:rPr lang="zh-HK" sz="700"/>
                        <a:t>204.78</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zh-HK" sz="700"/>
                        <a:t>3,101</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zh-HK" sz="700"/>
                        <a:t>114</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zh-HK" sz="700"/>
                        <a:t>97</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zh-HK" sz="700"/>
                        <a:t>3.68%</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¥0</a:t>
                      </a:r>
                      <a:r>
                        <a:rPr lang="zh-HK" sz="700"/>
                        <a:t>1.8</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2.11</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66.04</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100">
                <a:tc vMerge="1"/>
                <a:tc>
                  <a:txBody>
                    <a:bodyPr/>
                    <a:lstStyle/>
                    <a:p>
                      <a:pPr indent="0" lvl="0" marL="0" marR="0" rtl="0" algn="ctr">
                        <a:lnSpc>
                          <a:spcPct val="115000"/>
                        </a:lnSpc>
                        <a:spcBef>
                          <a:spcPts val="0"/>
                        </a:spcBef>
                        <a:spcAft>
                          <a:spcPts val="0"/>
                        </a:spcAft>
                        <a:buClr>
                          <a:srgbClr val="000000"/>
                        </a:buClr>
                        <a:buSzPts val="800"/>
                        <a:buFont typeface="Arial"/>
                        <a:buNone/>
                      </a:pPr>
                      <a:r>
                        <a:rPr lang="zh-HK" sz="700"/>
                        <a:t>确定了⚠️7月CHIIKAWA要在香港登岛啦</a:t>
                      </a:r>
                      <a:endParaRPr sz="7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700"/>
                        <a:t>7</a:t>
                      </a:r>
                      <a:r>
                        <a:rPr lang="zh-HK" sz="700" u="none" cap="none" strike="noStrike"/>
                        <a:t>/</a:t>
                      </a:r>
                      <a:r>
                        <a:rPr lang="zh-HK" sz="700"/>
                        <a:t>6</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互动量</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455.32</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a:t>4,176</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a:t>319</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zh-HK" sz="700"/>
                        <a:t>216</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a:t>7.64%</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1.43</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2.11</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109.03</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800">
                <a:tc vMerge="1"/>
                <a:tc>
                  <a:txBody>
                    <a:bodyPr/>
                    <a:lstStyle/>
                    <a:p>
                      <a:pPr indent="0" lvl="0" marL="0" marR="0" rtl="0" algn="ctr">
                        <a:lnSpc>
                          <a:spcPct val="115000"/>
                        </a:lnSpc>
                        <a:spcBef>
                          <a:spcPts val="0"/>
                        </a:spcBef>
                        <a:spcAft>
                          <a:spcPts val="0"/>
                        </a:spcAft>
                        <a:buClr>
                          <a:srgbClr val="000000"/>
                        </a:buClr>
                        <a:buSzPts val="800"/>
                        <a:buFont typeface="Arial"/>
                        <a:buNone/>
                      </a:pPr>
                      <a:r>
                        <a:rPr lang="zh-HK" sz="700"/>
                        <a:t>现场突发⚠️chiikawa真的在香港登岛了</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zh-HK" sz="700"/>
                        <a:t>7</a:t>
                      </a:r>
                      <a:r>
                        <a:rPr lang="zh-HK" sz="700" u="none" cap="none" strike="noStrike"/>
                        <a:t>/</a:t>
                      </a:r>
                      <a:r>
                        <a:rPr lang="zh-HK" sz="700"/>
                        <a:t>10</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t>互动量</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660.23</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zh-HK" sz="700"/>
                        <a:t>10,198</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zh-HK" sz="700"/>
                        <a:t>1,032</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zh-HK" sz="700"/>
                        <a:t>710</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zh-HK" sz="700" u="none" cap="none" strike="noStrike"/>
                        <a:t>1</a:t>
                      </a:r>
                      <a:r>
                        <a:rPr lang="zh-HK" sz="700"/>
                        <a:t>0</a:t>
                      </a:r>
                      <a:r>
                        <a:rPr lang="zh-HK" sz="700" u="none" cap="none" strike="noStrike"/>
                        <a:t>.1</a:t>
                      </a:r>
                      <a:r>
                        <a:rPr lang="zh-HK" sz="700"/>
                        <a:t>2</a:t>
                      </a:r>
                      <a:r>
                        <a:rPr lang="zh-HK" sz="700" u="none" cap="none" strike="noStrike"/>
                        <a:t>%</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¥0.</a:t>
                      </a:r>
                      <a:r>
                        <a:rPr lang="zh-HK" sz="700"/>
                        <a:t>6</a:t>
                      </a:r>
                      <a:r>
                        <a:rPr lang="zh-HK" sz="700" u="none" cap="none" strike="noStrike"/>
                        <a:t>4</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¥0.</a:t>
                      </a:r>
                      <a:r>
                        <a:rPr lang="zh-HK" sz="700"/>
                        <a:t>9</a:t>
                      </a:r>
                      <a:r>
                        <a:rPr lang="zh-HK" sz="700" u="none" cap="none" strike="noStrike"/>
                        <a:t>3</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64</a:t>
                      </a:r>
                      <a:r>
                        <a:rPr lang="zh-HK" sz="700" u="none" cap="none" strike="noStrike"/>
                        <a:t>.7</a:t>
                      </a:r>
                      <a:r>
                        <a:rPr lang="zh-HK" sz="700"/>
                        <a:t>4</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800">
                <a:tc vMerge="1"/>
                <a:tc>
                  <a:txBody>
                    <a:bodyPr/>
                    <a:lstStyle/>
                    <a:p>
                      <a:pPr indent="0" lvl="0" marL="0" marR="0" rtl="0" algn="ctr">
                        <a:lnSpc>
                          <a:spcPct val="115000"/>
                        </a:lnSpc>
                        <a:spcBef>
                          <a:spcPts val="0"/>
                        </a:spcBef>
                        <a:spcAft>
                          <a:spcPts val="0"/>
                        </a:spcAft>
                        <a:buClr>
                          <a:srgbClr val="000000"/>
                        </a:buClr>
                        <a:buSzPts val="600"/>
                        <a:buFont typeface="Arial"/>
                        <a:buNone/>
                      </a:pPr>
                      <a:r>
                        <a:rPr lang="zh-HK" sz="700"/>
                        <a:t>香港粤语文创...我真的没空陪你闹了！😂</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zh-HK" sz="700"/>
                        <a:t>7</a:t>
                      </a:r>
                      <a:r>
                        <a:rPr lang="zh-HK" sz="700" u="none" cap="none" strike="noStrike"/>
                        <a:t>/</a:t>
                      </a:r>
                      <a:r>
                        <a:rPr lang="zh-HK" sz="700"/>
                        <a:t>16</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t>互动量</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656</a:t>
                      </a:r>
                      <a:r>
                        <a:rPr lang="zh-HK" sz="700" u="none" cap="none" strike="noStrike"/>
                        <a:t>.7</a:t>
                      </a:r>
                      <a:r>
                        <a:rPr lang="zh-HK" sz="700"/>
                        <a:t>1</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a:t>3,779</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a:t>615</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a:t>630</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1</a:t>
                      </a:r>
                      <a:r>
                        <a:rPr lang="zh-HK" sz="700"/>
                        <a:t>6</a:t>
                      </a:r>
                      <a:r>
                        <a:rPr lang="zh-HK" sz="700" u="none" cap="none" strike="noStrike"/>
                        <a:t>.</a:t>
                      </a:r>
                      <a:r>
                        <a:rPr lang="zh-HK" sz="700"/>
                        <a:t>27</a:t>
                      </a:r>
                      <a:r>
                        <a:rPr lang="zh-HK" sz="700" u="none" cap="none" strike="noStrike"/>
                        <a:t>%</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1</a:t>
                      </a:r>
                      <a:r>
                        <a:rPr lang="zh-HK" sz="700" u="none" cap="none" strike="noStrike"/>
                        <a:t>.</a:t>
                      </a:r>
                      <a:r>
                        <a:rPr lang="zh-HK" sz="700"/>
                        <a:t>07</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1</a:t>
                      </a:r>
                      <a:r>
                        <a:rPr lang="zh-HK" sz="700" u="none" cap="none" strike="noStrike"/>
                        <a:t>.</a:t>
                      </a:r>
                      <a:r>
                        <a:rPr lang="zh-HK" sz="700"/>
                        <a:t>04</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173</a:t>
                      </a:r>
                      <a:r>
                        <a:rPr lang="zh-HK" sz="700" u="none" cap="none" strike="noStrike"/>
                        <a:t>.</a:t>
                      </a:r>
                      <a:r>
                        <a:rPr lang="zh-HK" sz="700"/>
                        <a:t>78</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800">
                <a:tc vMerge="1"/>
                <a:tc>
                  <a:txBody>
                    <a:bodyPr/>
                    <a:lstStyle/>
                    <a:p>
                      <a:pPr indent="0" lvl="0" marL="0" marR="0" rtl="0" algn="l">
                        <a:lnSpc>
                          <a:spcPct val="115000"/>
                        </a:lnSpc>
                        <a:spcBef>
                          <a:spcPts val="0"/>
                        </a:spcBef>
                        <a:spcAft>
                          <a:spcPts val="0"/>
                        </a:spcAft>
                        <a:buClr>
                          <a:srgbClr val="000000"/>
                        </a:buClr>
                        <a:buSzPts val="600"/>
                        <a:buFont typeface="Arial"/>
                        <a:buNone/>
                      </a:pPr>
                      <a:r>
                        <a:rPr lang="zh-HK" sz="700"/>
                        <a:t>后悔没买😭谁知道朗豪坊这家饰品叫什么？</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zh-HK" sz="700"/>
                        <a:t>7</a:t>
                      </a:r>
                      <a:r>
                        <a:rPr lang="zh-HK" sz="700" u="none" cap="none" strike="noStrike"/>
                        <a:t>/</a:t>
                      </a:r>
                      <a:r>
                        <a:rPr lang="zh-HK" sz="700"/>
                        <a:t>21</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t>互动量</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480</a:t>
                      </a:r>
                      <a:r>
                        <a:rPr lang="zh-HK" sz="700" u="none" cap="none" strike="noStrike"/>
                        <a:t>.</a:t>
                      </a:r>
                      <a:r>
                        <a:rPr lang="zh-HK" sz="700"/>
                        <a:t>79</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a:t>7,574</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a:t>919</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1</a:t>
                      </a:r>
                      <a:r>
                        <a:rPr lang="zh-HK" sz="700"/>
                        <a:t>41</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a:t>12</a:t>
                      </a:r>
                      <a:r>
                        <a:rPr lang="zh-HK" sz="700" u="none" cap="none" strike="noStrike"/>
                        <a:t>.</a:t>
                      </a:r>
                      <a:r>
                        <a:rPr lang="zh-HK" sz="700"/>
                        <a:t>13</a:t>
                      </a:r>
                      <a:r>
                        <a:rPr lang="zh-HK" sz="700" u="none" cap="none" strike="noStrike"/>
                        <a:t>%</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0</a:t>
                      </a:r>
                      <a:r>
                        <a:rPr lang="zh-HK" sz="700" u="none" cap="none" strike="noStrike"/>
                        <a:t>.</a:t>
                      </a:r>
                      <a:r>
                        <a:rPr lang="zh-HK" sz="700"/>
                        <a:t>53</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3</a:t>
                      </a:r>
                      <a:r>
                        <a:rPr lang="zh-HK" sz="700" u="none" cap="none" strike="noStrike"/>
                        <a:t>.</a:t>
                      </a:r>
                      <a:r>
                        <a:rPr lang="zh-HK" sz="700"/>
                        <a:t>41</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63</a:t>
                      </a:r>
                      <a:r>
                        <a:rPr lang="zh-HK" sz="700" u="none" cap="none" strike="noStrike"/>
                        <a:t>.</a:t>
                      </a:r>
                      <a:r>
                        <a:rPr lang="zh-HK" sz="700"/>
                        <a:t>48</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800">
                <a:tc vMerge="1"/>
                <a:tc>
                  <a:txBody>
                    <a:bodyPr/>
                    <a:lstStyle/>
                    <a:p>
                      <a:pPr indent="0" lvl="0" marL="0" marR="0" rtl="0" algn="ctr">
                        <a:lnSpc>
                          <a:spcPct val="115000"/>
                        </a:lnSpc>
                        <a:spcBef>
                          <a:spcPts val="0"/>
                        </a:spcBef>
                        <a:spcAft>
                          <a:spcPts val="0"/>
                        </a:spcAft>
                        <a:buClr>
                          <a:srgbClr val="000000"/>
                        </a:buClr>
                        <a:buSzPts val="800"/>
                        <a:buFont typeface="Arial"/>
                        <a:buNone/>
                      </a:pPr>
                      <a:r>
                        <a:rPr lang="zh-HK" sz="700"/>
                        <a:t>『香港避暑』旺角邂逅金庸的武侠世界</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700"/>
                        <a:t>7</a:t>
                      </a:r>
                      <a:r>
                        <a:rPr lang="zh-HK" sz="700" u="none" cap="none" strike="noStrike"/>
                        <a:t>/</a:t>
                      </a:r>
                      <a:r>
                        <a:rPr lang="zh-HK" sz="700"/>
                        <a:t>31</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t>互动量</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142</a:t>
                      </a:r>
                      <a:r>
                        <a:rPr lang="zh-HK" sz="700" u="none" cap="none" strike="noStrike"/>
                        <a:t>.</a:t>
                      </a:r>
                      <a:r>
                        <a:rPr lang="zh-HK" sz="700"/>
                        <a:t>18</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3,500</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a:t>147</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zh-HK" sz="700"/>
                        <a:t>10</a:t>
                      </a:r>
                      <a:r>
                        <a:rPr lang="zh-HK" sz="700" u="none" cap="none" strike="noStrike"/>
                        <a:t>8</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zh-HK" sz="700" u="none" cap="none" strike="noStrike"/>
                        <a:t>8.31%</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¥1.53</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¥1.95</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¥127.06</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0700">
                <a:tc>
                  <a:txBody>
                    <a:bodyPr/>
                    <a:lstStyle/>
                    <a:p>
                      <a:pPr indent="0" lvl="0" marL="0" marR="0" rtl="0" algn="ctr">
                        <a:lnSpc>
                          <a:spcPct val="115000"/>
                        </a:lnSpc>
                        <a:spcBef>
                          <a:spcPts val="0"/>
                        </a:spcBef>
                        <a:spcAft>
                          <a:spcPts val="0"/>
                        </a:spcAft>
                        <a:buClr>
                          <a:srgbClr val="000000"/>
                        </a:buClr>
                        <a:buSzPts val="1100"/>
                        <a:buFont typeface="Arial"/>
                        <a:buNone/>
                      </a:pPr>
                      <a:r>
                        <a:rPr b="1" lang="zh-HK" sz="1100" u="none" cap="none" strike="noStrike"/>
                        <a:t>薯條</a:t>
                      </a:r>
                      <a:endParaRPr b="1" sz="11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zh-HK" sz="700"/>
                        <a:t>香港速冲🔥Sanrio新系列可爱爆炸⚽️</a:t>
                      </a:r>
                      <a:endParaRPr sz="700" u="none" cap="none" strike="noStrike"/>
                    </a:p>
                  </a:txBody>
                  <a:tcPr marT="19050" marB="19050" marR="28575" marL="28575" anchor="ctr">
                    <a:lnL cap="flat" cmpd="sng" w="9525">
                      <a:solidFill>
                        <a:schemeClr val="dk2"/>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zh-HK" sz="700"/>
                        <a:t>7</a:t>
                      </a:r>
                      <a:r>
                        <a:rPr lang="zh-HK" sz="700" u="none" cap="none" strike="noStrike"/>
                        <a:t>/</a:t>
                      </a:r>
                      <a:r>
                        <a:rPr lang="zh-HK" sz="700"/>
                        <a:t>6</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t>讚與收藏</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¥375.00</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a:t>3155</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2</a:t>
                      </a:r>
                      <a:r>
                        <a:rPr lang="zh-HK" sz="700"/>
                        <a:t>58</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a:t>63</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a:t>8</a:t>
                      </a:r>
                      <a:r>
                        <a:rPr lang="zh-HK" sz="700" u="none" cap="none" strike="noStrike"/>
                        <a:t>.</a:t>
                      </a:r>
                      <a:r>
                        <a:rPr lang="zh-HK" sz="700"/>
                        <a:t>18</a:t>
                      </a:r>
                      <a:r>
                        <a:rPr lang="zh-HK" sz="700" u="none" cap="none" strike="noStrike"/>
                        <a:t>%</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¥0.</a:t>
                      </a:r>
                      <a:r>
                        <a:rPr lang="zh-HK" sz="700"/>
                        <a:t>97</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1</a:t>
                      </a:r>
                      <a:r>
                        <a:rPr lang="zh-HK" sz="700" u="none" cap="none" strike="noStrike"/>
                        <a:t>.</a:t>
                      </a:r>
                      <a:r>
                        <a:rPr lang="zh-HK" sz="700"/>
                        <a:t>32</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t>¥</a:t>
                      </a:r>
                      <a:r>
                        <a:rPr lang="zh-HK" sz="700"/>
                        <a:t>71</a:t>
                      </a:r>
                      <a:r>
                        <a:rPr lang="zh-HK" sz="700" u="none" cap="none" strike="noStrike"/>
                        <a:t>.</a:t>
                      </a:r>
                      <a:r>
                        <a:rPr lang="zh-HK" sz="700"/>
                        <a:t>09</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5900">
                <a:tc gridSpan="4">
                  <a:txBody>
                    <a:bodyPr/>
                    <a:lstStyle/>
                    <a:p>
                      <a:pPr indent="0" lvl="0" marL="0" marR="0" rtl="0" algn="ctr">
                        <a:lnSpc>
                          <a:spcPct val="115000"/>
                        </a:lnSpc>
                        <a:spcBef>
                          <a:spcPts val="0"/>
                        </a:spcBef>
                        <a:spcAft>
                          <a:spcPts val="0"/>
                        </a:spcAft>
                        <a:buClr>
                          <a:srgbClr val="000000"/>
                        </a:buClr>
                        <a:buSzPts val="700"/>
                        <a:buFont typeface="Arial"/>
                        <a:buNone/>
                      </a:pPr>
                      <a:r>
                        <a:rPr b="1" lang="zh-HK" sz="700" u="none" cap="none" strike="noStrike"/>
                        <a:t>Ju</a:t>
                      </a:r>
                      <a:r>
                        <a:rPr b="1" lang="zh-HK" sz="700"/>
                        <a:t>l</a:t>
                      </a:r>
                      <a:r>
                        <a:rPr b="1" lang="zh-HK" sz="700" u="none" cap="none" strike="noStrike"/>
                        <a:t> Total</a:t>
                      </a:r>
                      <a:endParaRPr b="1"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hMerge="1"/>
                <a:tc hMerge="1"/>
                <a:tc hMerge="1"/>
                <a:tc>
                  <a:txBody>
                    <a:bodyPr/>
                    <a:lstStyle/>
                    <a:p>
                      <a:pPr indent="0" lvl="0" marL="0" marR="0" rtl="0" algn="ctr">
                        <a:lnSpc>
                          <a:spcPct val="115000"/>
                        </a:lnSpc>
                        <a:spcBef>
                          <a:spcPts val="0"/>
                        </a:spcBef>
                        <a:spcAft>
                          <a:spcPts val="0"/>
                        </a:spcAft>
                        <a:buClr>
                          <a:srgbClr val="000000"/>
                        </a:buClr>
                        <a:buSzPts val="700"/>
                        <a:buFont typeface="Arial"/>
                        <a:buNone/>
                      </a:pPr>
                      <a:r>
                        <a:rPr b="1" lang="zh-HK" sz="700" u="none" cap="none" strike="noStrike"/>
                        <a:t>¥2</a:t>
                      </a:r>
                      <a:r>
                        <a:rPr b="1" lang="zh-HK" sz="700"/>
                        <a:t>975</a:t>
                      </a:r>
                      <a:r>
                        <a:rPr b="1" lang="zh-HK" sz="700" u="none" cap="none" strike="noStrike"/>
                        <a:t>.</a:t>
                      </a:r>
                      <a:r>
                        <a:rPr b="1" lang="zh-HK" sz="700"/>
                        <a:t>01</a:t>
                      </a:r>
                      <a:endParaRPr b="1"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700"/>
                        <a:t>33,983</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700"/>
                        <a:t>3,404</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700" u="none" cap="none" strike="noStrike"/>
                        <a:t>1,</a:t>
                      </a:r>
                      <a:r>
                        <a:rPr b="1" lang="zh-HK" sz="700"/>
                        <a:t>965</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700" u="none" cap="none" strike="noStrike"/>
                        <a:t>10.</a:t>
                      </a:r>
                      <a:r>
                        <a:rPr b="1" lang="zh-HK" sz="700"/>
                        <a:t>01</a:t>
                      </a:r>
                      <a:r>
                        <a:rPr b="1" lang="zh-HK" sz="700" u="none" cap="none" strike="noStrike"/>
                        <a:t>%</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700" u="none" cap="none" strike="noStrike"/>
                        <a:t>¥</a:t>
                      </a:r>
                      <a:r>
                        <a:rPr b="1" lang="zh-HK" sz="700"/>
                        <a:t>0</a:t>
                      </a:r>
                      <a:r>
                        <a:rPr b="1" lang="zh-HK" sz="700" u="none" cap="none" strike="noStrike"/>
                        <a:t>.</a:t>
                      </a:r>
                      <a:r>
                        <a:rPr b="1" lang="zh-HK" sz="700"/>
                        <a:t>87</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700" u="none" cap="none" strike="noStrike"/>
                        <a:t>¥</a:t>
                      </a:r>
                      <a:r>
                        <a:rPr b="1" lang="zh-HK" sz="700"/>
                        <a:t>1</a:t>
                      </a:r>
                      <a:r>
                        <a:rPr b="1" lang="zh-HK" sz="700" u="none" cap="none" strike="noStrike"/>
                        <a:t>.</a:t>
                      </a:r>
                      <a:r>
                        <a:rPr b="1" lang="zh-HK" sz="700"/>
                        <a:t>51</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700" u="none" cap="none" strike="noStrike"/>
                        <a:t>¥</a:t>
                      </a:r>
                      <a:r>
                        <a:rPr b="1" lang="zh-HK" sz="700"/>
                        <a:t>87</a:t>
                      </a:r>
                      <a:r>
                        <a:rPr b="1" lang="zh-HK" sz="700" u="none" cap="none" strike="noStrike"/>
                        <a:t>.</a:t>
                      </a:r>
                      <a:r>
                        <a:rPr b="1" lang="zh-HK" sz="700"/>
                        <a:t>54</a:t>
                      </a:r>
                      <a:endParaRPr b="1"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bl>
          </a:graphicData>
        </a:graphic>
      </p:graphicFrame>
      <p:sp>
        <p:nvSpPr>
          <p:cNvPr id="197" name="Google Shape;197;p6"/>
          <p:cNvSpPr txBox="1"/>
          <p:nvPr/>
        </p:nvSpPr>
        <p:spPr>
          <a:xfrm>
            <a:off x="54750" y="755326"/>
            <a:ext cx="4094400" cy="1495200"/>
          </a:xfrm>
          <a:prstGeom prst="rect">
            <a:avLst/>
          </a:prstGeom>
          <a:noFill/>
          <a:ln>
            <a:noFill/>
          </a:ln>
        </p:spPr>
        <p:txBody>
          <a:bodyPr anchorCtr="0" anchor="t" bIns="91425" lIns="91425" spcFirstLastPara="1" rIns="91425" wrap="square" tIns="91425">
            <a:noAutofit/>
          </a:bodyPr>
          <a:lstStyle/>
          <a:p>
            <a:pPr indent="0" lvl="0" marL="457200" marR="0" rtl="0" algn="just">
              <a:lnSpc>
                <a:spcPct val="115000"/>
              </a:lnSpc>
              <a:spcBef>
                <a:spcPts val="0"/>
              </a:spcBef>
              <a:spcAft>
                <a:spcPts val="0"/>
              </a:spcAft>
              <a:buClr>
                <a:srgbClr val="000000"/>
              </a:buClr>
              <a:buSzPts val="1200"/>
              <a:buFont typeface="Arial"/>
              <a:buNone/>
            </a:pPr>
            <a:r>
              <a:rPr b="1" i="0" lang="zh-HK" sz="1100" u="none" cap="none" strike="noStrike">
                <a:solidFill>
                  <a:srgbClr val="1C1C1C"/>
                </a:solidFill>
                <a:latin typeface="Times New Roman"/>
                <a:ea typeface="Times New Roman"/>
                <a:cs typeface="Times New Roman"/>
                <a:sym typeface="Times New Roman"/>
              </a:rPr>
              <a:t>Ju</a:t>
            </a:r>
            <a:r>
              <a:rPr b="1" lang="zh-HK" sz="1100">
                <a:solidFill>
                  <a:srgbClr val="1C1C1C"/>
                </a:solidFill>
                <a:latin typeface="Times New Roman"/>
                <a:ea typeface="Times New Roman"/>
                <a:cs typeface="Times New Roman"/>
                <a:sym typeface="Times New Roman"/>
              </a:rPr>
              <a:t>ly</a:t>
            </a:r>
            <a:r>
              <a:rPr b="1" i="0" lang="zh-HK" sz="1100" u="none" cap="none" strike="noStrike">
                <a:solidFill>
                  <a:srgbClr val="1C1C1C"/>
                </a:solidFill>
                <a:latin typeface="Times New Roman"/>
                <a:ea typeface="Times New Roman"/>
                <a:cs typeface="Times New Roman"/>
                <a:sym typeface="Times New Roman"/>
              </a:rPr>
              <a:t> XHS Boosting Performance:</a:t>
            </a:r>
            <a:endParaRPr i="0" sz="1100" u="none" cap="none" strike="noStrike">
              <a:solidFill>
                <a:srgbClr val="1C1C1C"/>
              </a:solidFill>
              <a:latin typeface="Times New Roman"/>
              <a:ea typeface="Times New Roman"/>
              <a:cs typeface="Times New Roman"/>
              <a:sym typeface="Times New Roman"/>
            </a:endParaRPr>
          </a:p>
          <a:p>
            <a:pPr indent="-298450" lvl="0" marL="457200" marR="0" rtl="0" algn="just">
              <a:lnSpc>
                <a:spcPct val="115000"/>
              </a:lnSpc>
              <a:spcBef>
                <a:spcPts val="0"/>
              </a:spcBef>
              <a:spcAft>
                <a:spcPts val="0"/>
              </a:spcAft>
              <a:buClr>
                <a:srgbClr val="1C1C1C"/>
              </a:buClr>
              <a:buSzPts val="1100"/>
              <a:buFont typeface="Times New Roman"/>
              <a:buChar char="●"/>
            </a:pPr>
            <a:r>
              <a:rPr b="1" i="0" lang="zh-HK" sz="1100" u="none" cap="none" strike="noStrike">
                <a:solidFill>
                  <a:srgbClr val="1C1C1C"/>
                </a:solidFill>
                <a:latin typeface="Times New Roman"/>
                <a:ea typeface="Times New Roman"/>
                <a:cs typeface="Times New Roman"/>
                <a:sym typeface="Times New Roman"/>
              </a:rPr>
              <a:t>CPE:</a:t>
            </a:r>
            <a:r>
              <a:rPr i="0" lang="zh-HK" sz="1100" u="none" cap="none" strike="noStrike">
                <a:solidFill>
                  <a:srgbClr val="1C1C1C"/>
                </a:solidFill>
                <a:latin typeface="Times New Roman"/>
                <a:ea typeface="Times New Roman"/>
                <a:cs typeface="Times New Roman"/>
                <a:sym typeface="Times New Roman"/>
              </a:rPr>
              <a:t> </a:t>
            </a:r>
            <a:r>
              <a:rPr lang="zh-HK" sz="1100">
                <a:solidFill>
                  <a:srgbClr val="1C1C1C"/>
                </a:solidFill>
                <a:latin typeface="Times New Roman"/>
                <a:ea typeface="Times New Roman"/>
                <a:cs typeface="Times New Roman"/>
                <a:sym typeface="Times New Roman"/>
              </a:rPr>
              <a:t>Up 15.26% vs June, lower than the Q2 average and below the July 2025 benchmark, and 2025 average.</a:t>
            </a:r>
            <a:endParaRPr sz="1100">
              <a:solidFill>
                <a:srgbClr val="1C1C1C"/>
              </a:solidFill>
              <a:latin typeface="Times New Roman"/>
              <a:ea typeface="Times New Roman"/>
              <a:cs typeface="Times New Roman"/>
              <a:sym typeface="Times New Roman"/>
            </a:endParaRPr>
          </a:p>
          <a:p>
            <a:pPr indent="-298450" lvl="0" marL="457200" marR="0" rtl="0" algn="just">
              <a:lnSpc>
                <a:spcPct val="115000"/>
              </a:lnSpc>
              <a:spcBef>
                <a:spcPts val="0"/>
              </a:spcBef>
              <a:spcAft>
                <a:spcPts val="0"/>
              </a:spcAft>
              <a:buClr>
                <a:srgbClr val="1C1C1C"/>
              </a:buClr>
              <a:buSzPts val="1100"/>
              <a:buFont typeface="Times New Roman"/>
              <a:buChar char="●"/>
            </a:pPr>
            <a:r>
              <a:rPr b="1" lang="zh-HK" sz="1100">
                <a:solidFill>
                  <a:srgbClr val="1C1C1C"/>
                </a:solidFill>
                <a:latin typeface="Times New Roman"/>
                <a:ea typeface="Times New Roman"/>
                <a:cs typeface="Times New Roman"/>
                <a:sym typeface="Times New Roman"/>
              </a:rPr>
              <a:t>CPM:</a:t>
            </a:r>
            <a:r>
              <a:rPr lang="zh-HK" sz="1100">
                <a:solidFill>
                  <a:srgbClr val="1C1C1C"/>
                </a:solidFill>
                <a:latin typeface="Times New Roman"/>
                <a:ea typeface="Times New Roman"/>
                <a:cs typeface="Times New Roman"/>
                <a:sym typeface="Times New Roman"/>
              </a:rPr>
              <a:t> Up 10.79% vs June, </a:t>
            </a:r>
            <a:r>
              <a:rPr lang="zh-HK" sz="1100">
                <a:solidFill>
                  <a:srgbClr val="1C1C1C"/>
                </a:solidFill>
                <a:highlight>
                  <a:schemeClr val="lt1"/>
                </a:highlight>
                <a:latin typeface="Times New Roman"/>
                <a:ea typeface="Times New Roman"/>
                <a:cs typeface="Times New Roman"/>
                <a:sym typeface="Times New Roman"/>
              </a:rPr>
              <a:t>sits above Q2 average</a:t>
            </a:r>
            <a:r>
              <a:rPr lang="zh-HK" sz="1100">
                <a:solidFill>
                  <a:srgbClr val="1C1C1C"/>
                </a:solidFill>
                <a:latin typeface="Times New Roman"/>
                <a:ea typeface="Times New Roman"/>
                <a:cs typeface="Times New Roman"/>
                <a:sym typeface="Times New Roman"/>
              </a:rPr>
              <a:t>, </a:t>
            </a:r>
            <a:r>
              <a:rPr lang="zh-HK" sz="1100">
                <a:solidFill>
                  <a:srgbClr val="1C1C1C"/>
                </a:solidFill>
                <a:highlight>
                  <a:schemeClr val="lt1"/>
                </a:highlight>
                <a:latin typeface="Times New Roman"/>
                <a:ea typeface="Times New Roman"/>
                <a:cs typeface="Times New Roman"/>
                <a:sym typeface="Times New Roman"/>
              </a:rPr>
              <a:t>and above both July 2025 and  2025 average.</a:t>
            </a:r>
            <a:r>
              <a:rPr lang="zh-HK" sz="1100">
                <a:solidFill>
                  <a:srgbClr val="1C1C1C"/>
                </a:solidFill>
                <a:latin typeface="Times New Roman"/>
                <a:ea typeface="Times New Roman"/>
                <a:cs typeface="Times New Roman"/>
                <a:sym typeface="Times New Roman"/>
              </a:rPr>
              <a:t> </a:t>
            </a:r>
            <a:endParaRPr sz="1100">
              <a:solidFill>
                <a:srgbClr val="1C1C1C"/>
              </a:solidFill>
              <a:latin typeface="Times New Roman"/>
              <a:ea typeface="Times New Roman"/>
              <a:cs typeface="Times New Roman"/>
              <a:sym typeface="Times New Roman"/>
            </a:endParaRPr>
          </a:p>
          <a:p>
            <a:pPr indent="-298450" lvl="0" marL="457200" marR="0" rtl="0" algn="just">
              <a:lnSpc>
                <a:spcPct val="115000"/>
              </a:lnSpc>
              <a:spcBef>
                <a:spcPts val="0"/>
              </a:spcBef>
              <a:spcAft>
                <a:spcPts val="0"/>
              </a:spcAft>
              <a:buClr>
                <a:srgbClr val="1C1C1C"/>
              </a:buClr>
              <a:buSzPts val="1100"/>
              <a:buFont typeface="Times New Roman"/>
              <a:buChar char="●"/>
            </a:pPr>
            <a:r>
              <a:rPr b="1" i="0" lang="zh-HK" sz="1100" u="none" cap="none" strike="noStrike">
                <a:solidFill>
                  <a:srgbClr val="1C1C1C"/>
                </a:solidFill>
                <a:latin typeface="Times New Roman"/>
                <a:ea typeface="Times New Roman"/>
                <a:cs typeface="Times New Roman"/>
                <a:sym typeface="Times New Roman"/>
              </a:rPr>
              <a:t>CTR:</a:t>
            </a:r>
            <a:r>
              <a:rPr i="0" lang="zh-HK" sz="1100" u="none" cap="none" strike="noStrike">
                <a:solidFill>
                  <a:srgbClr val="1C1C1C"/>
                </a:solidFill>
                <a:latin typeface="Times New Roman"/>
                <a:ea typeface="Times New Roman"/>
                <a:cs typeface="Times New Roman"/>
                <a:sym typeface="Times New Roman"/>
              </a:rPr>
              <a:t> </a:t>
            </a:r>
            <a:r>
              <a:rPr lang="zh-HK" sz="1100">
                <a:solidFill>
                  <a:srgbClr val="1C1C1C"/>
                </a:solidFill>
                <a:latin typeface="Times New Roman"/>
                <a:ea typeface="Times New Roman"/>
                <a:cs typeface="Times New Roman"/>
                <a:sym typeface="Times New Roman"/>
              </a:rPr>
              <a:t>Down 1.08% vs June, </a:t>
            </a:r>
            <a:r>
              <a:rPr lang="zh-HK" sz="1100">
                <a:solidFill>
                  <a:srgbClr val="1C1C1C"/>
                </a:solidFill>
                <a:highlight>
                  <a:schemeClr val="lt1"/>
                </a:highlight>
                <a:latin typeface="Times New Roman"/>
                <a:ea typeface="Times New Roman"/>
                <a:cs typeface="Times New Roman"/>
                <a:sym typeface="Times New Roman"/>
              </a:rPr>
              <a:t>slightly below Q2 average, yet higher than both July 2025 and 2025 average.</a:t>
            </a:r>
            <a:r>
              <a:rPr lang="zh-HK" sz="1100">
                <a:solidFill>
                  <a:srgbClr val="1C1C1C"/>
                </a:solidFill>
                <a:latin typeface="Times New Roman"/>
                <a:ea typeface="Times New Roman"/>
                <a:cs typeface="Times New Roman"/>
                <a:sym typeface="Times New Roman"/>
              </a:rPr>
              <a:t> </a:t>
            </a:r>
            <a:endParaRPr sz="1100">
              <a:solidFill>
                <a:srgbClr val="1C1C1C"/>
              </a:solidFill>
              <a:latin typeface="Times New Roman"/>
              <a:ea typeface="Times New Roman"/>
              <a:cs typeface="Times New Roman"/>
              <a:sym typeface="Times New Roman"/>
            </a:endParaRPr>
          </a:p>
        </p:txBody>
      </p:sp>
      <p:sp>
        <p:nvSpPr>
          <p:cNvPr id="198" name="Google Shape;198;p6"/>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199" name="Google Shape;199;p6"/>
          <p:cNvPicPr preferRelativeResize="0"/>
          <p:nvPr/>
        </p:nvPicPr>
        <p:blipFill rotWithShape="1">
          <a:blip r:embed="rId4">
            <a:alphaModFix/>
          </a:blip>
          <a:srcRect b="21020" l="14063" r="17215" t="26140"/>
          <a:stretch/>
        </p:blipFill>
        <p:spPr>
          <a:xfrm>
            <a:off x="8094845" y="162433"/>
            <a:ext cx="1049155" cy="423511"/>
          </a:xfrm>
          <a:prstGeom prst="rect">
            <a:avLst/>
          </a:prstGeom>
          <a:noFill/>
          <a:ln>
            <a:noFill/>
          </a:ln>
        </p:spPr>
      </p:pic>
      <p:graphicFrame>
        <p:nvGraphicFramePr>
          <p:cNvPr id="200" name="Google Shape;200;p6"/>
          <p:cNvGraphicFramePr/>
          <p:nvPr/>
        </p:nvGraphicFramePr>
        <p:xfrm>
          <a:off x="4354596" y="621732"/>
          <a:ext cx="3000000" cy="3000000"/>
        </p:xfrm>
        <a:graphic>
          <a:graphicData uri="http://schemas.openxmlformats.org/drawingml/2006/table">
            <a:tbl>
              <a:tblPr>
                <a:noFill/>
                <a:tableStyleId>{E1739E71-98CB-4F31-BA75-B360A44B9F01}</a:tableStyleId>
              </a:tblPr>
              <a:tblGrid>
                <a:gridCol w="386475"/>
                <a:gridCol w="347250"/>
                <a:gridCol w="324325"/>
                <a:gridCol w="322300"/>
                <a:gridCol w="315575"/>
                <a:gridCol w="344825"/>
                <a:gridCol w="326125"/>
                <a:gridCol w="326125"/>
                <a:gridCol w="483600"/>
                <a:gridCol w="516675"/>
                <a:gridCol w="529450"/>
                <a:gridCol w="373600"/>
              </a:tblGrid>
              <a:tr h="311125">
                <a:tc>
                  <a:txBody>
                    <a:bodyPr/>
                    <a:lstStyle/>
                    <a:p>
                      <a:pPr indent="0" lvl="0" marL="0" marR="0" rtl="0" algn="ctr">
                        <a:lnSpc>
                          <a:spcPct val="115000"/>
                        </a:lnSpc>
                        <a:spcBef>
                          <a:spcPts val="0"/>
                        </a:spcBef>
                        <a:spcAft>
                          <a:spcPts val="0"/>
                        </a:spcAft>
                        <a:buClr>
                          <a:srgbClr val="000000"/>
                        </a:buClr>
                        <a:buSzPts val="700"/>
                        <a:buFont typeface="Arial"/>
                        <a:buNone/>
                      </a:pPr>
                      <a:r>
                        <a:rPr b="1" lang="zh-HK" sz="900" u="none" cap="none" strike="noStrike">
                          <a:latin typeface="Calibri"/>
                          <a:ea typeface="Calibri"/>
                          <a:cs typeface="Calibri"/>
                          <a:sym typeface="Calibri"/>
                        </a:rPr>
                        <a:t>Metric</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900" u="none" cap="none" strike="noStrike">
                          <a:latin typeface="Calibri"/>
                          <a:ea typeface="Calibri"/>
                          <a:cs typeface="Calibri"/>
                          <a:sym typeface="Calibri"/>
                        </a:rPr>
                        <a:t>Jan</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900" u="none" cap="none" strike="noStrike">
                          <a:latin typeface="Calibri"/>
                          <a:ea typeface="Calibri"/>
                          <a:cs typeface="Calibri"/>
                          <a:sym typeface="Calibri"/>
                        </a:rPr>
                        <a:t>Feb</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900" u="none" cap="none" strike="noStrike">
                          <a:latin typeface="Calibri"/>
                          <a:ea typeface="Calibri"/>
                          <a:cs typeface="Calibri"/>
                          <a:sym typeface="Calibri"/>
                        </a:rPr>
                        <a:t>Mar</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900" u="none" cap="none" strike="noStrike">
                          <a:latin typeface="Calibri"/>
                          <a:ea typeface="Calibri"/>
                          <a:cs typeface="Calibri"/>
                          <a:sym typeface="Calibri"/>
                        </a:rPr>
                        <a:t>Apr</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May</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June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None/>
                      </a:pPr>
                      <a:r>
                        <a:rPr b="1" lang="zh-HK" sz="900">
                          <a:latin typeface="Calibri"/>
                          <a:ea typeface="Calibri"/>
                          <a:cs typeface="Calibri"/>
                          <a:sym typeface="Calibri"/>
                        </a:rPr>
                        <a:t>July</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i="0" lang="zh-HK" sz="900" u="none" cap="none" strike="noStrike">
                          <a:solidFill>
                            <a:srgbClr val="000000"/>
                          </a:solidFill>
                          <a:latin typeface="Calibri"/>
                          <a:ea typeface="Calibri"/>
                          <a:cs typeface="Calibri"/>
                          <a:sym typeface="Calibri"/>
                        </a:rPr>
                        <a:t>vs </a:t>
                      </a:r>
                      <a:r>
                        <a:rPr b="1" lang="zh-HK" sz="900">
                          <a:latin typeface="Calibri"/>
                          <a:ea typeface="Calibri"/>
                          <a:cs typeface="Calibri"/>
                          <a:sym typeface="Calibri"/>
                        </a:rPr>
                        <a:t> June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AC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i="0" lang="zh-HK" sz="900" u="none" cap="none" strike="noStrike">
                          <a:solidFill>
                            <a:srgbClr val="000000"/>
                          </a:solidFill>
                          <a:latin typeface="Calibri"/>
                          <a:ea typeface="Calibri"/>
                          <a:cs typeface="Calibri"/>
                          <a:sym typeface="Calibri"/>
                        </a:rPr>
                        <a:t>vs Q</a:t>
                      </a:r>
                      <a:r>
                        <a:rPr b="1" lang="zh-HK" sz="900">
                          <a:latin typeface="Calibri"/>
                          <a:ea typeface="Calibri"/>
                          <a:cs typeface="Calibri"/>
                          <a:sym typeface="Calibri"/>
                        </a:rPr>
                        <a:t>2</a:t>
                      </a:r>
                      <a:r>
                        <a:rPr b="1" i="0" lang="zh-HK" sz="900" u="none" cap="none" strike="noStrike">
                          <a:solidFill>
                            <a:srgbClr val="000000"/>
                          </a:solidFill>
                          <a:latin typeface="Calibri"/>
                          <a:ea typeface="Calibri"/>
                          <a:cs typeface="Calibri"/>
                          <a:sym typeface="Calibri"/>
                        </a:rPr>
                        <a:t>  A</a:t>
                      </a:r>
                      <a:r>
                        <a:rPr b="1" lang="zh-HK" sz="900" u="none" cap="none" strike="noStrike">
                          <a:latin typeface="Calibri"/>
                          <a:ea typeface="Calibri"/>
                          <a:cs typeface="Calibri"/>
                          <a:sym typeface="Calibri"/>
                        </a:rPr>
                        <a:t>vg</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AC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i="0" lang="zh-HK" sz="900" u="none" cap="none" strike="noStrike">
                          <a:solidFill>
                            <a:srgbClr val="000000"/>
                          </a:solidFill>
                          <a:latin typeface="Calibri"/>
                          <a:ea typeface="Calibri"/>
                          <a:cs typeface="Calibri"/>
                          <a:sym typeface="Calibri"/>
                        </a:rPr>
                        <a:t>vs </a:t>
                      </a:r>
                      <a:r>
                        <a:rPr b="1" lang="zh-HK" sz="900" u="none" cap="none" strike="noStrike">
                          <a:latin typeface="Calibri"/>
                          <a:ea typeface="Calibri"/>
                          <a:cs typeface="Calibri"/>
                          <a:sym typeface="Calibri"/>
                        </a:rPr>
                        <a:t>Ju</a:t>
                      </a:r>
                      <a:r>
                        <a:rPr b="1" lang="zh-HK" sz="900">
                          <a:latin typeface="Calibri"/>
                          <a:ea typeface="Calibri"/>
                          <a:cs typeface="Calibri"/>
                          <a:sym typeface="Calibri"/>
                        </a:rPr>
                        <a:t>ly</a:t>
                      </a:r>
                      <a:r>
                        <a:rPr b="1" i="0" lang="zh-HK" sz="900" u="none" cap="none" strike="noStrike">
                          <a:solidFill>
                            <a:srgbClr val="000000"/>
                          </a:solidFill>
                          <a:latin typeface="Calibri"/>
                          <a:ea typeface="Calibri"/>
                          <a:cs typeface="Calibri"/>
                          <a:sym typeface="Calibri"/>
                        </a:rPr>
                        <a:t>  2025</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AC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900" u="none" cap="none" strike="noStrike">
                          <a:latin typeface="Calibri"/>
                          <a:ea typeface="Calibri"/>
                          <a:cs typeface="Calibri"/>
                          <a:sym typeface="Calibri"/>
                        </a:rPr>
                        <a:t>2025 Avg</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ACF"/>
                    </a:solidFill>
                  </a:tcPr>
                </a:tc>
              </a:tr>
              <a:tr h="429150">
                <a:tc>
                  <a:txBody>
                    <a:bodyPr/>
                    <a:lstStyle/>
                    <a:p>
                      <a:pPr indent="0" lvl="0" marL="0" marR="0" rtl="0" algn="ctr">
                        <a:lnSpc>
                          <a:spcPct val="115000"/>
                        </a:lnSpc>
                        <a:spcBef>
                          <a:spcPts val="0"/>
                        </a:spcBef>
                        <a:spcAft>
                          <a:spcPts val="0"/>
                        </a:spcAft>
                        <a:buClr>
                          <a:srgbClr val="000000"/>
                        </a:buClr>
                        <a:buSzPts val="700"/>
                        <a:buFont typeface="Arial"/>
                        <a:buNone/>
                      </a:pPr>
                      <a:r>
                        <a:rPr b="1" lang="zh-HK" sz="900" u="none" cap="none" strike="noStrike">
                          <a:latin typeface="Calibri"/>
                          <a:ea typeface="Calibri"/>
                          <a:cs typeface="Calibri"/>
                          <a:sym typeface="Calibri"/>
                        </a:rPr>
                        <a:t>CPE ¥</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¥1.98</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¥2.67</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¥0.83</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¥0.94</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¥2.79</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¥1.31</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Clr>
                          <a:srgbClr val="000000"/>
                        </a:buClr>
                        <a:buSzPts val="900"/>
                        <a:buFont typeface="Arial"/>
                        <a:buNone/>
                      </a:pPr>
                      <a:r>
                        <a:rPr lang="zh-HK" sz="700">
                          <a:latin typeface="Calibri"/>
                          <a:ea typeface="Calibri"/>
                          <a:cs typeface="Calibri"/>
                          <a:sym typeface="Calibri"/>
                        </a:rPr>
                        <a:t>¥1.51</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a:latin typeface="Calibri"/>
                          <a:ea typeface="Calibri"/>
                          <a:cs typeface="Calibri"/>
                          <a:sym typeface="Calibri"/>
                        </a:rPr>
                        <a:t>↑15</a:t>
                      </a:r>
                      <a:r>
                        <a:rPr lang="zh-HK" sz="700" u="none" cap="none" strike="noStrike">
                          <a:latin typeface="Calibri"/>
                          <a:ea typeface="Calibri"/>
                          <a:cs typeface="Calibri"/>
                          <a:sym typeface="Calibri"/>
                        </a:rPr>
                        <a:t>.</a:t>
                      </a:r>
                      <a:r>
                        <a:rPr lang="zh-HK" sz="700">
                          <a:latin typeface="Calibri"/>
                          <a:ea typeface="Calibri"/>
                          <a:cs typeface="Calibri"/>
                          <a:sym typeface="Calibri"/>
                        </a:rPr>
                        <a:t>26</a:t>
                      </a:r>
                      <a:r>
                        <a:rPr lang="zh-HK" sz="700" u="none" cap="none" strike="noStrike">
                          <a:latin typeface="Calibri"/>
                          <a:ea typeface="Calibri"/>
                          <a:cs typeface="Calibri"/>
                          <a:sym typeface="Calibri"/>
                        </a:rPr>
                        <a:t>%</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¥1.</a:t>
                      </a:r>
                      <a:r>
                        <a:rPr lang="zh-HK" sz="700">
                          <a:latin typeface="Calibri"/>
                          <a:ea typeface="Calibri"/>
                          <a:cs typeface="Calibri"/>
                          <a:sym typeface="Calibri"/>
                        </a:rPr>
                        <a:t>68</a:t>
                      </a:r>
                      <a:r>
                        <a:rPr lang="zh-HK" sz="700" u="none" cap="none" strike="noStrike">
                          <a:latin typeface="Calibri"/>
                          <a:ea typeface="Calibri"/>
                          <a:cs typeface="Calibri"/>
                          <a:sym typeface="Calibri"/>
                        </a:rPr>
                        <a:t> </a:t>
                      </a:r>
                      <a:endParaRPr sz="700" u="none" cap="none" strike="noStrike">
                        <a:latin typeface="Calibri"/>
                        <a:ea typeface="Calibri"/>
                        <a:cs typeface="Calibri"/>
                        <a:sym typeface="Calibri"/>
                      </a:endParaRPr>
                    </a:p>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a:t>
                      </a:r>
                      <a:r>
                        <a:rPr lang="zh-HK" sz="700">
                          <a:latin typeface="Calibri"/>
                          <a:ea typeface="Calibri"/>
                          <a:cs typeface="Calibri"/>
                          <a:sym typeface="Calibri"/>
                        </a:rPr>
                        <a:t>10</a:t>
                      </a:r>
                      <a:r>
                        <a:rPr lang="zh-HK" sz="700" u="none" cap="none" strike="noStrike">
                          <a:latin typeface="Calibri"/>
                          <a:ea typeface="Calibri"/>
                          <a:cs typeface="Calibri"/>
                          <a:sym typeface="Calibri"/>
                        </a:rPr>
                        <a:t>.</a:t>
                      </a:r>
                      <a:r>
                        <a:rPr lang="zh-HK" sz="700">
                          <a:latin typeface="Calibri"/>
                          <a:ea typeface="Calibri"/>
                          <a:cs typeface="Calibri"/>
                          <a:sym typeface="Calibri"/>
                        </a:rPr>
                        <a:t>1</a:t>
                      </a:r>
                      <a:r>
                        <a:rPr lang="zh-HK" sz="700" u="none" cap="none" strike="noStrike">
                          <a:latin typeface="Calibri"/>
                          <a:ea typeface="Calibri"/>
                          <a:cs typeface="Calibri"/>
                          <a:sym typeface="Calibri"/>
                        </a:rPr>
                        <a:t>%）</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a:t>
                      </a:r>
                      <a:r>
                        <a:rPr lang="zh-HK" sz="700">
                          <a:latin typeface="Calibri"/>
                          <a:ea typeface="Calibri"/>
                          <a:cs typeface="Calibri"/>
                          <a:sym typeface="Calibri"/>
                        </a:rPr>
                        <a:t>2</a:t>
                      </a:r>
                      <a:r>
                        <a:rPr lang="zh-HK" sz="700" u="none" cap="none" strike="noStrike">
                          <a:latin typeface="Calibri"/>
                          <a:ea typeface="Calibri"/>
                          <a:cs typeface="Calibri"/>
                          <a:sym typeface="Calibri"/>
                        </a:rPr>
                        <a:t>.</a:t>
                      </a:r>
                      <a:r>
                        <a:rPr lang="zh-HK" sz="700">
                          <a:latin typeface="Calibri"/>
                          <a:ea typeface="Calibri"/>
                          <a:cs typeface="Calibri"/>
                          <a:sym typeface="Calibri"/>
                        </a:rPr>
                        <a:t>68</a:t>
                      </a:r>
                      <a:r>
                        <a:rPr lang="zh-HK" sz="700" u="none" cap="none" strike="noStrike">
                          <a:latin typeface="Calibri"/>
                          <a:ea typeface="Calibri"/>
                          <a:cs typeface="Calibri"/>
                          <a:sym typeface="Calibri"/>
                        </a:rPr>
                        <a:t> </a:t>
                      </a:r>
                      <a:endParaRPr sz="7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a:t>
                      </a:r>
                      <a:r>
                        <a:rPr lang="zh-HK" sz="700">
                          <a:latin typeface="Calibri"/>
                          <a:ea typeface="Calibri"/>
                          <a:cs typeface="Calibri"/>
                          <a:sym typeface="Calibri"/>
                        </a:rPr>
                        <a:t>43</a:t>
                      </a:r>
                      <a:r>
                        <a:rPr lang="zh-HK" sz="700" u="none" cap="none" strike="noStrike">
                          <a:latin typeface="Calibri"/>
                          <a:ea typeface="Calibri"/>
                          <a:cs typeface="Calibri"/>
                          <a:sym typeface="Calibri"/>
                        </a:rPr>
                        <a:t>.</a:t>
                      </a:r>
                      <a:r>
                        <a:rPr lang="zh-HK" sz="700">
                          <a:latin typeface="Calibri"/>
                          <a:ea typeface="Calibri"/>
                          <a:cs typeface="Calibri"/>
                          <a:sym typeface="Calibri"/>
                        </a:rPr>
                        <a:t>6</a:t>
                      </a:r>
                      <a:r>
                        <a:rPr lang="zh-HK" sz="700" u="none" cap="none" strike="noStrike">
                          <a:latin typeface="Calibri"/>
                          <a:ea typeface="Calibri"/>
                          <a:cs typeface="Calibri"/>
                          <a:sym typeface="Calibri"/>
                        </a:rPr>
                        <a:t>%）</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¥2.67</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6150">
                <a:tc>
                  <a:txBody>
                    <a:bodyPr/>
                    <a:lstStyle/>
                    <a:p>
                      <a:pPr indent="0" lvl="0" marL="0" marR="0" rtl="0" algn="ctr">
                        <a:lnSpc>
                          <a:spcPct val="115000"/>
                        </a:lnSpc>
                        <a:spcBef>
                          <a:spcPts val="0"/>
                        </a:spcBef>
                        <a:spcAft>
                          <a:spcPts val="0"/>
                        </a:spcAft>
                        <a:buClr>
                          <a:srgbClr val="000000"/>
                        </a:buClr>
                        <a:buSzPts val="700"/>
                        <a:buFont typeface="Arial"/>
                        <a:buNone/>
                      </a:pPr>
                      <a:r>
                        <a:rPr b="1" lang="zh-HK" sz="900" u="none" cap="none" strike="noStrike">
                          <a:latin typeface="Calibri"/>
                          <a:ea typeface="Calibri"/>
                          <a:cs typeface="Calibri"/>
                          <a:sym typeface="Calibri"/>
                        </a:rPr>
                        <a:t>CPM ¥</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¥37.84</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¥86.53</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¥74.98</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¥67.78</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latin typeface="Calibri"/>
                          <a:ea typeface="Calibri"/>
                          <a:cs typeface="Calibri"/>
                          <a:sym typeface="Calibri"/>
                        </a:rPr>
                        <a:t>¥56.82</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latin typeface="Calibri"/>
                          <a:ea typeface="Calibri"/>
                          <a:cs typeface="Calibri"/>
                          <a:sym typeface="Calibri"/>
                        </a:rPr>
                        <a:t>¥79.01</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zh-HK" sz="700">
                          <a:latin typeface="Calibri"/>
                          <a:ea typeface="Calibri"/>
                          <a:cs typeface="Calibri"/>
                          <a:sym typeface="Calibri"/>
                        </a:rPr>
                        <a:t>¥87.54</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 ↑</a:t>
                      </a:r>
                      <a:r>
                        <a:rPr lang="zh-HK" sz="700">
                          <a:latin typeface="Calibri"/>
                          <a:ea typeface="Calibri"/>
                          <a:cs typeface="Calibri"/>
                          <a:sym typeface="Calibri"/>
                        </a:rPr>
                        <a:t>10</a:t>
                      </a:r>
                      <a:r>
                        <a:rPr lang="zh-HK" sz="700" u="none" cap="none" strike="noStrike">
                          <a:latin typeface="Calibri"/>
                          <a:ea typeface="Calibri"/>
                          <a:cs typeface="Calibri"/>
                          <a:sym typeface="Calibri"/>
                        </a:rPr>
                        <a:t>.</a:t>
                      </a:r>
                      <a:r>
                        <a:rPr lang="zh-HK" sz="700">
                          <a:latin typeface="Calibri"/>
                          <a:ea typeface="Calibri"/>
                          <a:cs typeface="Calibri"/>
                          <a:sym typeface="Calibri"/>
                        </a:rPr>
                        <a:t>79</a:t>
                      </a:r>
                      <a:r>
                        <a:rPr lang="zh-HK" sz="700" u="none" cap="none" strike="noStrike">
                          <a:latin typeface="Calibri"/>
                          <a:ea typeface="Calibri"/>
                          <a:cs typeface="Calibri"/>
                          <a:sym typeface="Calibri"/>
                        </a:rPr>
                        <a:t>%</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¥6</a:t>
                      </a:r>
                      <a:r>
                        <a:rPr lang="zh-HK" sz="700">
                          <a:latin typeface="Calibri"/>
                          <a:ea typeface="Calibri"/>
                          <a:cs typeface="Calibri"/>
                          <a:sym typeface="Calibri"/>
                        </a:rPr>
                        <a:t>7</a:t>
                      </a:r>
                      <a:r>
                        <a:rPr lang="zh-HK" sz="700" u="none" cap="none" strike="noStrike">
                          <a:latin typeface="Calibri"/>
                          <a:ea typeface="Calibri"/>
                          <a:cs typeface="Calibri"/>
                          <a:sym typeface="Calibri"/>
                        </a:rPr>
                        <a:t>.</a:t>
                      </a:r>
                      <a:r>
                        <a:rPr lang="zh-HK" sz="700">
                          <a:latin typeface="Calibri"/>
                          <a:ea typeface="Calibri"/>
                          <a:cs typeface="Calibri"/>
                          <a:sym typeface="Calibri"/>
                        </a:rPr>
                        <a:t>87</a:t>
                      </a:r>
                      <a:r>
                        <a:rPr lang="zh-HK" sz="700" u="none" cap="none" strike="noStrike">
                          <a:latin typeface="Calibri"/>
                          <a:ea typeface="Calibri"/>
                          <a:cs typeface="Calibri"/>
                          <a:sym typeface="Calibri"/>
                        </a:rPr>
                        <a:t> (↑</a:t>
                      </a:r>
                      <a:r>
                        <a:rPr lang="zh-HK" sz="700">
                          <a:latin typeface="Calibri"/>
                          <a:ea typeface="Calibri"/>
                          <a:cs typeface="Calibri"/>
                          <a:sym typeface="Calibri"/>
                        </a:rPr>
                        <a:t>2</a:t>
                      </a:r>
                      <a:r>
                        <a:rPr lang="zh-HK" sz="700" u="none" cap="none" strike="noStrike">
                          <a:latin typeface="Calibri"/>
                          <a:ea typeface="Calibri"/>
                          <a:cs typeface="Calibri"/>
                          <a:sym typeface="Calibri"/>
                        </a:rPr>
                        <a:t>8.9%)</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¥5</a:t>
                      </a:r>
                      <a:r>
                        <a:rPr lang="zh-HK" sz="700">
                          <a:latin typeface="Calibri"/>
                          <a:ea typeface="Calibri"/>
                          <a:cs typeface="Calibri"/>
                          <a:sym typeface="Calibri"/>
                        </a:rPr>
                        <a:t>1</a:t>
                      </a:r>
                      <a:r>
                        <a:rPr lang="zh-HK" sz="700" u="none" cap="none" strike="noStrike">
                          <a:latin typeface="Calibri"/>
                          <a:ea typeface="Calibri"/>
                          <a:cs typeface="Calibri"/>
                          <a:sym typeface="Calibri"/>
                        </a:rPr>
                        <a:t>.</a:t>
                      </a:r>
                      <a:r>
                        <a:rPr lang="zh-HK" sz="700">
                          <a:latin typeface="Calibri"/>
                          <a:ea typeface="Calibri"/>
                          <a:cs typeface="Calibri"/>
                          <a:sym typeface="Calibri"/>
                        </a:rPr>
                        <a:t>44</a:t>
                      </a:r>
                      <a:endParaRPr sz="700" u="none" cap="none" strike="noStrike">
                        <a:latin typeface="Calibri"/>
                        <a:ea typeface="Calibri"/>
                        <a:cs typeface="Calibri"/>
                        <a:sym typeface="Calibri"/>
                      </a:endParaRPr>
                    </a:p>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 (↑</a:t>
                      </a:r>
                      <a:r>
                        <a:rPr lang="zh-HK" sz="700">
                          <a:latin typeface="Calibri"/>
                          <a:ea typeface="Calibri"/>
                          <a:cs typeface="Calibri"/>
                          <a:sym typeface="Calibri"/>
                        </a:rPr>
                        <a:t>70</a:t>
                      </a:r>
                      <a:r>
                        <a:rPr lang="zh-HK" sz="700" u="none" cap="none" strike="noStrike">
                          <a:latin typeface="Calibri"/>
                          <a:ea typeface="Calibri"/>
                          <a:cs typeface="Calibri"/>
                          <a:sym typeface="Calibri"/>
                        </a:rPr>
                        <a:t>.</a:t>
                      </a:r>
                      <a:r>
                        <a:rPr lang="zh-HK" sz="700">
                          <a:latin typeface="Calibri"/>
                          <a:ea typeface="Calibri"/>
                          <a:cs typeface="Calibri"/>
                          <a:sym typeface="Calibri"/>
                        </a:rPr>
                        <a:t>17</a:t>
                      </a:r>
                      <a:r>
                        <a:rPr lang="zh-HK" sz="700" u="none" cap="none" strike="noStrike">
                          <a:latin typeface="Calibri"/>
                          <a:ea typeface="Calibri"/>
                          <a:cs typeface="Calibri"/>
                          <a:sym typeface="Calibri"/>
                        </a:rPr>
                        <a:t>%)</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¥62.38</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396150">
                <a:tc>
                  <a:txBody>
                    <a:bodyPr/>
                    <a:lstStyle/>
                    <a:p>
                      <a:pPr indent="0" lvl="0" marL="0" marR="0" rtl="0" algn="ctr">
                        <a:lnSpc>
                          <a:spcPct val="115000"/>
                        </a:lnSpc>
                        <a:spcBef>
                          <a:spcPts val="0"/>
                        </a:spcBef>
                        <a:spcAft>
                          <a:spcPts val="0"/>
                        </a:spcAft>
                        <a:buClr>
                          <a:srgbClr val="000000"/>
                        </a:buClr>
                        <a:buSzPts val="700"/>
                        <a:buFont typeface="Arial"/>
                        <a:buNone/>
                      </a:pPr>
                      <a:r>
                        <a:rPr b="1" lang="zh-HK" sz="900" u="none" cap="none" strike="noStrike">
                          <a:latin typeface="Calibri"/>
                          <a:ea typeface="Calibri"/>
                          <a:cs typeface="Calibri"/>
                          <a:sym typeface="Calibri"/>
                        </a:rPr>
                        <a:t>CTR</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13.49%</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8.43%</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11.03%</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11.29%</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latin typeface="Calibri"/>
                          <a:ea typeface="Calibri"/>
                          <a:cs typeface="Calibri"/>
                          <a:sym typeface="Calibri"/>
                        </a:rPr>
                        <a:t>10.84%</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700" u="none" cap="none" strike="noStrike">
                          <a:latin typeface="Calibri"/>
                          <a:ea typeface="Calibri"/>
                          <a:cs typeface="Calibri"/>
                          <a:sym typeface="Calibri"/>
                        </a:rPr>
                        <a:t>10.12%</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zh-HK" sz="700">
                          <a:latin typeface="Calibri"/>
                          <a:ea typeface="Calibri"/>
                          <a:cs typeface="Calibri"/>
                          <a:sym typeface="Calibri"/>
                        </a:rPr>
                        <a:t>10.01%</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 ↓</a:t>
                      </a:r>
                      <a:r>
                        <a:rPr lang="zh-HK" sz="700">
                          <a:latin typeface="Calibri"/>
                          <a:ea typeface="Calibri"/>
                          <a:cs typeface="Calibri"/>
                          <a:sym typeface="Calibri"/>
                        </a:rPr>
                        <a:t>1</a:t>
                      </a:r>
                      <a:r>
                        <a:rPr lang="zh-HK" sz="700" u="none" cap="none" strike="noStrike">
                          <a:latin typeface="Calibri"/>
                          <a:ea typeface="Calibri"/>
                          <a:cs typeface="Calibri"/>
                          <a:sym typeface="Calibri"/>
                        </a:rPr>
                        <a:t>.</a:t>
                      </a:r>
                      <a:r>
                        <a:rPr lang="zh-HK" sz="700">
                          <a:latin typeface="Calibri"/>
                          <a:ea typeface="Calibri"/>
                          <a:cs typeface="Calibri"/>
                          <a:sym typeface="Calibri"/>
                        </a:rPr>
                        <a:t>08</a:t>
                      </a:r>
                      <a:r>
                        <a:rPr lang="zh-HK" sz="700" u="none" cap="none" strike="noStrike">
                          <a:latin typeface="Calibri"/>
                          <a:ea typeface="Calibri"/>
                          <a:cs typeface="Calibri"/>
                          <a:sym typeface="Calibri"/>
                        </a:rPr>
                        <a:t>%</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1</a:t>
                      </a:r>
                      <a:r>
                        <a:rPr lang="zh-HK" sz="700">
                          <a:latin typeface="Calibri"/>
                          <a:ea typeface="Calibri"/>
                          <a:cs typeface="Calibri"/>
                          <a:sym typeface="Calibri"/>
                        </a:rPr>
                        <a:t>0.75</a:t>
                      </a:r>
                      <a:r>
                        <a:rPr lang="zh-HK" sz="700" u="none" cap="none" strike="noStrike">
                          <a:latin typeface="Calibri"/>
                          <a:ea typeface="Calibri"/>
                          <a:cs typeface="Calibri"/>
                          <a:sym typeface="Calibri"/>
                        </a:rPr>
                        <a:t>% </a:t>
                      </a:r>
                      <a:br>
                        <a:rPr lang="zh-HK" sz="700" u="none" cap="none" strike="noStrike">
                          <a:latin typeface="Calibri"/>
                          <a:ea typeface="Calibri"/>
                          <a:cs typeface="Calibri"/>
                          <a:sym typeface="Calibri"/>
                        </a:rPr>
                      </a:br>
                      <a:r>
                        <a:rPr lang="zh-HK" sz="700" u="none" cap="none" strike="noStrike">
                          <a:latin typeface="Calibri"/>
                          <a:ea typeface="Calibri"/>
                          <a:cs typeface="Calibri"/>
                          <a:sym typeface="Calibri"/>
                        </a:rPr>
                        <a:t>(↓</a:t>
                      </a:r>
                      <a:r>
                        <a:rPr lang="zh-HK" sz="700">
                          <a:latin typeface="Calibri"/>
                          <a:ea typeface="Calibri"/>
                          <a:cs typeface="Calibri"/>
                          <a:sym typeface="Calibri"/>
                        </a:rPr>
                        <a:t>6</a:t>
                      </a:r>
                      <a:r>
                        <a:rPr lang="zh-HK" sz="700" u="none" cap="none" strike="noStrike">
                          <a:latin typeface="Calibri"/>
                          <a:ea typeface="Calibri"/>
                          <a:cs typeface="Calibri"/>
                          <a:sym typeface="Calibri"/>
                        </a:rPr>
                        <a:t>.</a:t>
                      </a:r>
                      <a:r>
                        <a:rPr lang="zh-HK" sz="700">
                          <a:latin typeface="Calibri"/>
                          <a:ea typeface="Calibri"/>
                          <a:cs typeface="Calibri"/>
                          <a:sym typeface="Calibri"/>
                        </a:rPr>
                        <a:t>6</a:t>
                      </a:r>
                      <a:r>
                        <a:rPr lang="zh-HK" sz="700" u="none" cap="none" strike="noStrike">
                          <a:latin typeface="Calibri"/>
                          <a:ea typeface="Calibri"/>
                          <a:cs typeface="Calibri"/>
                          <a:sym typeface="Calibri"/>
                        </a:rPr>
                        <a:t>%)</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a:latin typeface="Calibri"/>
                          <a:ea typeface="Calibri"/>
                          <a:cs typeface="Calibri"/>
                          <a:sym typeface="Calibri"/>
                        </a:rPr>
                        <a:t>9</a:t>
                      </a:r>
                      <a:r>
                        <a:rPr lang="zh-HK" sz="700" u="none" cap="none" strike="noStrike">
                          <a:latin typeface="Calibri"/>
                          <a:ea typeface="Calibri"/>
                          <a:cs typeface="Calibri"/>
                          <a:sym typeface="Calibri"/>
                        </a:rPr>
                        <a:t>.</a:t>
                      </a:r>
                      <a:r>
                        <a:rPr lang="zh-HK" sz="700">
                          <a:latin typeface="Calibri"/>
                          <a:ea typeface="Calibri"/>
                          <a:cs typeface="Calibri"/>
                          <a:sym typeface="Calibri"/>
                        </a:rPr>
                        <a:t>67</a:t>
                      </a:r>
                      <a:r>
                        <a:rPr lang="zh-HK" sz="700" u="none" cap="none" strike="noStrike">
                          <a:latin typeface="Calibri"/>
                          <a:ea typeface="Calibri"/>
                          <a:cs typeface="Calibri"/>
                          <a:sym typeface="Calibri"/>
                        </a:rPr>
                        <a:t>% (↑3.</a:t>
                      </a:r>
                      <a:r>
                        <a:rPr lang="zh-HK" sz="700">
                          <a:latin typeface="Calibri"/>
                          <a:ea typeface="Calibri"/>
                          <a:cs typeface="Calibri"/>
                          <a:sym typeface="Calibri"/>
                        </a:rPr>
                        <a:t>51</a:t>
                      </a:r>
                      <a:r>
                        <a:rPr lang="zh-HK" sz="700" u="none" cap="none" strike="noStrike">
                          <a:latin typeface="Calibri"/>
                          <a:ea typeface="Calibri"/>
                          <a:cs typeface="Calibri"/>
                          <a:sym typeface="Calibri"/>
                        </a:rPr>
                        <a:t>%)</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700" u="none" cap="none" strike="noStrike">
                          <a:latin typeface="Calibri"/>
                          <a:ea typeface="Calibri"/>
                          <a:cs typeface="Calibri"/>
                          <a:sym typeface="Calibri"/>
                        </a:rPr>
                        <a:t>8.62%</a:t>
                      </a:r>
                      <a:endParaRPr sz="7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01" name="Google Shape;201;p6"/>
          <p:cNvSpPr txBox="1"/>
          <p:nvPr/>
        </p:nvSpPr>
        <p:spPr>
          <a:xfrm>
            <a:off x="54760" y="4913051"/>
            <a:ext cx="3633600" cy="32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zh-HK" sz="800" u="none" cap="none" strike="noStrike">
                <a:solidFill>
                  <a:schemeClr val="dk2"/>
                </a:solidFill>
                <a:latin typeface="Times New Roman"/>
                <a:ea typeface="Times New Roman"/>
                <a:cs typeface="Times New Roman"/>
                <a:sym typeface="Times New Roman"/>
              </a:rPr>
              <a:t>Exchange rate: 1HKD = 0.87RMB</a:t>
            </a:r>
            <a:endParaRPr b="1" i="0" sz="800" u="none" cap="none" strike="noStrike">
              <a:solidFill>
                <a:schemeClr val="dk2"/>
              </a:solidFill>
              <a:latin typeface="Times New Roman"/>
              <a:ea typeface="Times New Roman"/>
              <a:cs typeface="Times New Roman"/>
              <a:sym typeface="Times New Roman"/>
            </a:endParaRPr>
          </a:p>
        </p:txBody>
      </p:sp>
      <p:pic>
        <p:nvPicPr>
          <p:cNvPr id="202" name="Google Shape;202;p6" title="Screenshot 2026-08-10 at 8.16.49 PM.png"/>
          <p:cNvPicPr preferRelativeResize="0"/>
          <p:nvPr/>
        </p:nvPicPr>
        <p:blipFill>
          <a:blip r:embed="rId5">
            <a:alphaModFix/>
          </a:blip>
          <a:stretch>
            <a:fillRect/>
          </a:stretch>
        </p:blipFill>
        <p:spPr>
          <a:xfrm>
            <a:off x="6505125" y="2587950"/>
            <a:ext cx="1271492" cy="2027500"/>
          </a:xfrm>
          <a:prstGeom prst="rect">
            <a:avLst/>
          </a:prstGeom>
          <a:noFill/>
          <a:ln>
            <a:noFill/>
          </a:ln>
        </p:spPr>
      </p:pic>
      <p:pic>
        <p:nvPicPr>
          <p:cNvPr id="203" name="Google Shape;203;p6" title="Screenshot 2026-08-10 at 8.17.07 PM.png"/>
          <p:cNvPicPr preferRelativeResize="0"/>
          <p:nvPr/>
        </p:nvPicPr>
        <p:blipFill>
          <a:blip r:embed="rId6">
            <a:alphaModFix/>
          </a:blip>
          <a:stretch>
            <a:fillRect/>
          </a:stretch>
        </p:blipFill>
        <p:spPr>
          <a:xfrm>
            <a:off x="7776623" y="2519586"/>
            <a:ext cx="1228950" cy="202749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7"/>
          <p:cNvSpPr txBox="1"/>
          <p:nvPr/>
        </p:nvSpPr>
        <p:spPr>
          <a:xfrm>
            <a:off x="945700" y="254050"/>
            <a:ext cx="431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800"/>
              <a:buFont typeface="Arial"/>
              <a:buNone/>
            </a:pPr>
            <a:r>
              <a:rPr b="1" lang="zh-HK" sz="1800">
                <a:solidFill>
                  <a:schemeClr val="dk1"/>
                </a:solidFill>
                <a:latin typeface="Times New Roman"/>
                <a:ea typeface="Times New Roman"/>
                <a:cs typeface="Times New Roman"/>
                <a:sym typeface="Times New Roman"/>
              </a:rPr>
              <a:t>Fans Group Recap</a:t>
            </a:r>
            <a:endParaRPr b="1" i="0" sz="2000" u="none" cap="none" strike="noStrike">
              <a:solidFill>
                <a:srgbClr val="000000"/>
              </a:solidFill>
              <a:latin typeface="Arial"/>
              <a:ea typeface="Arial"/>
              <a:cs typeface="Arial"/>
              <a:sym typeface="Arial"/>
            </a:endParaRPr>
          </a:p>
        </p:txBody>
      </p:sp>
      <p:pic>
        <p:nvPicPr>
          <p:cNvPr id="209" name="Google Shape;209;p7"/>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210" name="Google Shape;210;p7"/>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211" name="Google Shape;211;p7"/>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212" name="Google Shape;212;p7"/>
          <p:cNvPicPr preferRelativeResize="0"/>
          <p:nvPr/>
        </p:nvPicPr>
        <p:blipFill rotWithShape="1">
          <a:blip r:embed="rId4">
            <a:alphaModFix/>
          </a:blip>
          <a:srcRect b="21020" l="14061" r="17215" t="26140"/>
          <a:stretch/>
        </p:blipFill>
        <p:spPr>
          <a:xfrm>
            <a:off x="8094845" y="170700"/>
            <a:ext cx="1049154" cy="423511"/>
          </a:xfrm>
          <a:prstGeom prst="rect">
            <a:avLst/>
          </a:prstGeom>
          <a:noFill/>
          <a:ln>
            <a:noFill/>
          </a:ln>
        </p:spPr>
      </p:pic>
      <p:sp>
        <p:nvSpPr>
          <p:cNvPr id="213" name="Google Shape;213;p7"/>
          <p:cNvSpPr/>
          <p:nvPr/>
        </p:nvSpPr>
        <p:spPr>
          <a:xfrm>
            <a:off x="498050" y="1050563"/>
            <a:ext cx="3144900" cy="1048500"/>
          </a:xfrm>
          <a:prstGeom prst="roundRect">
            <a:avLst>
              <a:gd fmla="val 6667" name="adj"/>
            </a:avLst>
          </a:prstGeom>
          <a:solidFill>
            <a:srgbClr val="D9E97A"/>
          </a:solidFill>
          <a:ln cap="flat" cmpd="sng" w="12075">
            <a:solidFill>
              <a:srgbClr val="C6D55E"/>
            </a:solidFill>
            <a:prstDash val="solid"/>
            <a:round/>
            <a:headEnd len="sm" w="sm" type="none"/>
            <a:tailEnd len="sm" w="sm" type="none"/>
          </a:ln>
          <a:effectLst>
            <a:outerShdw blurRad="18199" rotWithShape="0" algn="bl" dir="2700000" dist="12133">
              <a:srgbClr val="000000">
                <a:alpha val="12157"/>
              </a:srgbClr>
            </a:outerShdw>
          </a:effectLst>
        </p:spPr>
        <p:txBody>
          <a:bodyPr anchorCtr="0" anchor="ctr" bIns="87300" lIns="87300" spcFirstLastPara="1" rIns="87300" wrap="square" tIns="87300">
            <a:noAutofit/>
          </a:bodyPr>
          <a:lstStyle/>
          <a:p>
            <a:pPr indent="0" lvl="0" marL="0" marR="0" rtl="0" algn="l">
              <a:lnSpc>
                <a:spcPct val="100000"/>
              </a:lnSpc>
              <a:spcBef>
                <a:spcPts val="0"/>
              </a:spcBef>
              <a:spcAft>
                <a:spcPts val="0"/>
              </a:spcAft>
              <a:buClr>
                <a:srgbClr val="000000"/>
              </a:buClr>
              <a:buSzPts val="1937"/>
              <a:buFont typeface="Arial"/>
              <a:buNone/>
            </a:pPr>
            <a:r>
              <a:t/>
            </a:r>
            <a:endParaRPr b="0" i="0" sz="1937" u="none" cap="none" strike="noStrike">
              <a:solidFill>
                <a:srgbClr val="000000"/>
              </a:solidFill>
              <a:latin typeface="Times New Roman"/>
              <a:ea typeface="Times New Roman"/>
              <a:cs typeface="Times New Roman"/>
              <a:sym typeface="Times New Roman"/>
            </a:endParaRPr>
          </a:p>
        </p:txBody>
      </p:sp>
      <p:sp>
        <p:nvSpPr>
          <p:cNvPr id="214" name="Google Shape;214;p7"/>
          <p:cNvSpPr/>
          <p:nvPr/>
        </p:nvSpPr>
        <p:spPr>
          <a:xfrm>
            <a:off x="727054" y="1107017"/>
            <a:ext cx="1965000" cy="19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146"/>
              <a:buFont typeface="Arial"/>
              <a:buNone/>
            </a:pPr>
            <a:r>
              <a:rPr b="1" i="0" lang="zh-HK" sz="1276" u="none" cap="none" strike="noStrike">
                <a:solidFill>
                  <a:srgbClr val="222222"/>
                </a:solidFill>
                <a:latin typeface="Times New Roman"/>
                <a:ea typeface="Times New Roman"/>
                <a:cs typeface="Times New Roman"/>
                <a:sym typeface="Times New Roman"/>
              </a:rPr>
              <a:t>Community Snapshot</a:t>
            </a:r>
            <a:endParaRPr b="0" i="0" sz="1276" u="none" cap="none" strike="noStrike">
              <a:solidFill>
                <a:srgbClr val="000000"/>
              </a:solidFill>
              <a:latin typeface="Times New Roman"/>
              <a:ea typeface="Times New Roman"/>
              <a:cs typeface="Times New Roman"/>
              <a:sym typeface="Times New Roman"/>
            </a:endParaRPr>
          </a:p>
        </p:txBody>
      </p:sp>
      <p:sp>
        <p:nvSpPr>
          <p:cNvPr id="215" name="Google Shape;215;p7"/>
          <p:cNvSpPr/>
          <p:nvPr/>
        </p:nvSpPr>
        <p:spPr>
          <a:xfrm>
            <a:off x="663076" y="1418650"/>
            <a:ext cx="2979900" cy="524100"/>
          </a:xfrm>
          <a:prstGeom prst="rect">
            <a:avLst/>
          </a:prstGeom>
          <a:noFill/>
          <a:ln>
            <a:noFill/>
          </a:ln>
        </p:spPr>
        <p:txBody>
          <a:bodyPr anchorCtr="0" anchor="ctr" bIns="0" lIns="0" spcFirstLastPara="1" rIns="0" wrap="square" tIns="0">
            <a:noAutofit/>
          </a:bodyPr>
          <a:lstStyle/>
          <a:p>
            <a:pPr indent="-145593" lvl="0" marL="145593" marR="0" rtl="0" algn="l">
              <a:lnSpc>
                <a:spcPct val="100000"/>
              </a:lnSpc>
              <a:spcBef>
                <a:spcPts val="0"/>
              </a:spcBef>
              <a:spcAft>
                <a:spcPts val="0"/>
              </a:spcAft>
              <a:buClr>
                <a:srgbClr val="222222"/>
              </a:buClr>
              <a:buSzPts val="1132"/>
              <a:buFont typeface="Times New Roman"/>
              <a:buChar char="•"/>
            </a:pPr>
            <a:r>
              <a:rPr b="1" lang="zh-HK" sz="1132">
                <a:solidFill>
                  <a:srgbClr val="222222"/>
                </a:solidFill>
                <a:latin typeface="Times New Roman"/>
                <a:ea typeface="Times New Roman"/>
                <a:cs typeface="Times New Roman"/>
                <a:sym typeface="Times New Roman"/>
              </a:rPr>
              <a:t>July</a:t>
            </a:r>
            <a:r>
              <a:rPr b="1" i="0" lang="zh-HK" sz="1132" u="none" cap="none" strike="noStrike">
                <a:solidFill>
                  <a:srgbClr val="222222"/>
                </a:solidFill>
                <a:latin typeface="Times New Roman"/>
                <a:ea typeface="Times New Roman"/>
                <a:cs typeface="Times New Roman"/>
                <a:sym typeface="Times New Roman"/>
              </a:rPr>
              <a:t>: 431 members</a:t>
            </a:r>
            <a:r>
              <a:rPr b="1" lang="zh-HK" sz="1132">
                <a:solidFill>
                  <a:srgbClr val="222222"/>
                </a:solidFill>
                <a:latin typeface="Times New Roman"/>
                <a:ea typeface="Times New Roman"/>
                <a:cs typeface="Times New Roman"/>
                <a:sym typeface="Times New Roman"/>
              </a:rPr>
              <a:t> (on par with June)</a:t>
            </a:r>
            <a:endParaRPr b="0" i="0" sz="1132" u="none" cap="none" strike="noStrike">
              <a:solidFill>
                <a:srgbClr val="222222"/>
              </a:solidFill>
              <a:latin typeface="Times New Roman"/>
              <a:ea typeface="Times New Roman"/>
              <a:cs typeface="Times New Roman"/>
              <a:sym typeface="Times New Roman"/>
            </a:endParaRPr>
          </a:p>
          <a:p>
            <a:pPr indent="-145593" lvl="0" marL="145593" marR="0" rtl="0" algn="l">
              <a:lnSpc>
                <a:spcPct val="100000"/>
              </a:lnSpc>
              <a:spcBef>
                <a:spcPts val="0"/>
              </a:spcBef>
              <a:spcAft>
                <a:spcPts val="0"/>
              </a:spcAft>
              <a:buClr>
                <a:srgbClr val="222222"/>
              </a:buClr>
              <a:buSzPts val="1132"/>
              <a:buFont typeface="Times New Roman"/>
              <a:buChar char="•"/>
            </a:pPr>
            <a:r>
              <a:rPr lang="zh-HK" sz="1132">
                <a:solidFill>
                  <a:srgbClr val="222222"/>
                </a:solidFill>
                <a:latin typeface="Times New Roman"/>
                <a:ea typeface="Times New Roman"/>
                <a:cs typeface="Times New Roman"/>
                <a:sym typeface="Times New Roman"/>
              </a:rPr>
              <a:t>IP Campaign announcement</a:t>
            </a:r>
            <a:endParaRPr b="0" i="0" sz="1132" u="none" cap="none" strike="noStrike">
              <a:solidFill>
                <a:srgbClr val="000000"/>
              </a:solidFill>
              <a:latin typeface="Times New Roman"/>
              <a:ea typeface="Times New Roman"/>
              <a:cs typeface="Times New Roman"/>
              <a:sym typeface="Times New Roman"/>
            </a:endParaRPr>
          </a:p>
          <a:p>
            <a:pPr indent="-145593" lvl="0" marL="145593" marR="0" rtl="0" algn="l">
              <a:lnSpc>
                <a:spcPct val="100000"/>
              </a:lnSpc>
              <a:spcBef>
                <a:spcPts val="0"/>
              </a:spcBef>
              <a:spcAft>
                <a:spcPts val="0"/>
              </a:spcAft>
              <a:buClr>
                <a:srgbClr val="222222"/>
              </a:buClr>
              <a:buSzPts val="1132"/>
              <a:buFont typeface="Times New Roman"/>
              <a:buChar char="•"/>
            </a:pPr>
            <a:r>
              <a:rPr b="0" i="0" lang="zh-HK" sz="1132" u="none" cap="none" strike="noStrike">
                <a:solidFill>
                  <a:srgbClr val="222222"/>
                </a:solidFill>
                <a:latin typeface="Times New Roman"/>
                <a:ea typeface="Times New Roman"/>
                <a:cs typeface="Times New Roman"/>
                <a:sym typeface="Times New Roman"/>
              </a:rPr>
              <a:t>Always-on updates launched</a:t>
            </a:r>
            <a:endParaRPr b="0" i="0" sz="1132" u="none" cap="none" strike="noStrike">
              <a:solidFill>
                <a:srgbClr val="000000"/>
              </a:solidFill>
              <a:latin typeface="Times New Roman"/>
              <a:ea typeface="Times New Roman"/>
              <a:cs typeface="Times New Roman"/>
              <a:sym typeface="Times New Roman"/>
            </a:endParaRPr>
          </a:p>
        </p:txBody>
      </p:sp>
      <p:sp>
        <p:nvSpPr>
          <p:cNvPr id="216" name="Google Shape;216;p7"/>
          <p:cNvSpPr/>
          <p:nvPr/>
        </p:nvSpPr>
        <p:spPr>
          <a:xfrm>
            <a:off x="501362" y="2199235"/>
            <a:ext cx="2029200" cy="189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962"/>
              <a:buFont typeface="Arial"/>
              <a:buNone/>
            </a:pPr>
            <a:r>
              <a:rPr b="1" i="0" lang="zh-HK" sz="1062" u="none" cap="none" strike="noStrike">
                <a:solidFill>
                  <a:srgbClr val="222222"/>
                </a:solidFill>
                <a:latin typeface="Times New Roman"/>
                <a:ea typeface="Times New Roman"/>
                <a:cs typeface="Times New Roman"/>
                <a:sym typeface="Times New Roman"/>
              </a:rPr>
              <a:t>This Month's Key Actions</a:t>
            </a:r>
            <a:endParaRPr b="0" i="0" sz="1062" u="none" cap="none" strike="noStrike">
              <a:solidFill>
                <a:srgbClr val="000000"/>
              </a:solidFill>
              <a:latin typeface="Times New Roman"/>
              <a:ea typeface="Times New Roman"/>
              <a:cs typeface="Times New Roman"/>
              <a:sym typeface="Times New Roman"/>
            </a:endParaRPr>
          </a:p>
        </p:txBody>
      </p:sp>
      <p:sp>
        <p:nvSpPr>
          <p:cNvPr id="217" name="Google Shape;217;p7"/>
          <p:cNvSpPr/>
          <p:nvPr/>
        </p:nvSpPr>
        <p:spPr>
          <a:xfrm>
            <a:off x="501362" y="2456257"/>
            <a:ext cx="3144900" cy="649500"/>
          </a:xfrm>
          <a:prstGeom prst="roundRect">
            <a:avLst>
              <a:gd fmla="val 4167" name="adj"/>
            </a:avLst>
          </a:prstGeom>
          <a:solidFill>
            <a:srgbClr val="FFFFFF"/>
          </a:solidFill>
          <a:ln cap="flat" cmpd="sng" w="9525">
            <a:solidFill>
              <a:srgbClr val="E4E4E4"/>
            </a:solidFill>
            <a:prstDash val="solid"/>
            <a:round/>
            <a:headEnd len="sm" w="sm" type="none"/>
            <a:tailEnd len="sm" w="sm" type="none"/>
          </a:ln>
        </p:spPr>
        <p:txBody>
          <a:bodyPr anchorCtr="0" anchor="ctr" bIns="67600" lIns="67600" spcFirstLastPara="1" rIns="67600" wrap="square" tIns="676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sp>
        <p:nvSpPr>
          <p:cNvPr id="218" name="Google Shape;218;p7"/>
          <p:cNvSpPr/>
          <p:nvPr/>
        </p:nvSpPr>
        <p:spPr>
          <a:xfrm>
            <a:off x="623109" y="2578005"/>
            <a:ext cx="351600" cy="351600"/>
          </a:xfrm>
          <a:prstGeom prst="roundRect">
            <a:avLst>
              <a:gd fmla="val 11538" name="adj"/>
            </a:avLst>
          </a:prstGeom>
          <a:solidFill>
            <a:srgbClr val="FDE8F0"/>
          </a:solidFill>
          <a:ln cap="flat" cmpd="sng" w="9525">
            <a:solidFill>
              <a:srgbClr val="EC1C6B"/>
            </a:solidFill>
            <a:prstDash val="solid"/>
            <a:round/>
            <a:headEnd len="sm" w="sm" type="none"/>
            <a:tailEnd len="sm" w="sm" type="none"/>
          </a:ln>
        </p:spPr>
        <p:txBody>
          <a:bodyPr anchorCtr="0" anchor="ctr" bIns="67600" lIns="67600" spcFirstLastPara="1" rIns="67600" wrap="square" tIns="676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sp>
        <p:nvSpPr>
          <p:cNvPr id="219" name="Google Shape;219;p7"/>
          <p:cNvSpPr/>
          <p:nvPr/>
        </p:nvSpPr>
        <p:spPr>
          <a:xfrm>
            <a:off x="683982" y="2645642"/>
            <a:ext cx="236700" cy="10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C1C6B"/>
              </a:buClr>
              <a:buSzPts val="814"/>
              <a:buFont typeface="Arial"/>
              <a:buNone/>
            </a:pPr>
            <a:r>
              <a:rPr b="1" i="0" lang="zh-HK" sz="914" u="none" cap="none" strike="noStrike">
                <a:solidFill>
                  <a:srgbClr val="EC1C6B"/>
                </a:solidFill>
                <a:latin typeface="Times New Roman"/>
                <a:ea typeface="Times New Roman"/>
                <a:cs typeface="Times New Roman"/>
                <a:sym typeface="Times New Roman"/>
              </a:rPr>
              <a:t>01</a:t>
            </a:r>
            <a:endParaRPr b="0" i="0" sz="914" u="none" cap="none" strike="noStrike">
              <a:solidFill>
                <a:srgbClr val="000000"/>
              </a:solidFill>
              <a:latin typeface="Times New Roman"/>
              <a:ea typeface="Times New Roman"/>
              <a:cs typeface="Times New Roman"/>
              <a:sym typeface="Times New Roman"/>
            </a:endParaRPr>
          </a:p>
        </p:txBody>
      </p:sp>
      <p:sp>
        <p:nvSpPr>
          <p:cNvPr id="220" name="Google Shape;220;p7"/>
          <p:cNvSpPr/>
          <p:nvPr/>
        </p:nvSpPr>
        <p:spPr>
          <a:xfrm>
            <a:off x="1089805" y="2525909"/>
            <a:ext cx="1961400" cy="12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zh-HK" sz="950" u="none" cap="none" strike="noStrike">
                <a:solidFill>
                  <a:srgbClr val="000000"/>
                </a:solidFill>
                <a:latin typeface="Times New Roman"/>
                <a:ea typeface="Times New Roman"/>
                <a:cs typeface="Times New Roman"/>
                <a:sym typeface="Times New Roman"/>
              </a:rPr>
              <a:t>Real-time product inquiry support</a:t>
            </a:r>
            <a:endParaRPr b="1" i="0" sz="950" u="none" cap="none" strike="noStrike">
              <a:solidFill>
                <a:srgbClr val="000000"/>
              </a:solidFill>
              <a:latin typeface="Times New Roman"/>
              <a:ea typeface="Times New Roman"/>
              <a:cs typeface="Times New Roman"/>
              <a:sym typeface="Times New Roman"/>
            </a:endParaRPr>
          </a:p>
        </p:txBody>
      </p:sp>
      <p:sp>
        <p:nvSpPr>
          <p:cNvPr id="221" name="Google Shape;221;p7"/>
          <p:cNvSpPr/>
          <p:nvPr/>
        </p:nvSpPr>
        <p:spPr>
          <a:xfrm>
            <a:off x="1089805" y="2889111"/>
            <a:ext cx="2333700" cy="2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zh-HK" sz="800" u="none" cap="none" strike="noStrike">
                <a:solidFill>
                  <a:srgbClr val="000000"/>
                </a:solidFill>
                <a:latin typeface="Times New Roman"/>
                <a:ea typeface="Times New Roman"/>
                <a:cs typeface="Times New Roman"/>
                <a:sym typeface="Times New Roman"/>
              </a:rPr>
              <a:t>Provided real-time responses to member inquiries, including pricing, recommendations, and discounts, turning the group into a responsive customer  channel.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br>
              <a:rPr b="0" i="0" lang="zh-HK" sz="900" u="none" cap="none" strike="noStrike">
                <a:solidFill>
                  <a:srgbClr val="000000"/>
                </a:solidFill>
                <a:latin typeface="Arial"/>
                <a:ea typeface="Arial"/>
                <a:cs typeface="Arial"/>
                <a:sym typeface="Arial"/>
              </a:rPr>
            </a:br>
            <a:endParaRPr b="0" i="0" sz="803" u="none" cap="none" strike="noStrike">
              <a:solidFill>
                <a:schemeClr val="dk2"/>
              </a:solidFill>
              <a:latin typeface="Times New Roman"/>
              <a:ea typeface="Times New Roman"/>
              <a:cs typeface="Times New Roman"/>
              <a:sym typeface="Times New Roman"/>
            </a:endParaRPr>
          </a:p>
        </p:txBody>
      </p:sp>
      <p:sp>
        <p:nvSpPr>
          <p:cNvPr id="222" name="Google Shape;222;p7"/>
          <p:cNvSpPr/>
          <p:nvPr/>
        </p:nvSpPr>
        <p:spPr>
          <a:xfrm>
            <a:off x="501362" y="3186741"/>
            <a:ext cx="3144900" cy="649500"/>
          </a:xfrm>
          <a:prstGeom prst="roundRect">
            <a:avLst>
              <a:gd fmla="val 4167" name="adj"/>
            </a:avLst>
          </a:prstGeom>
          <a:solidFill>
            <a:srgbClr val="FFFFFF"/>
          </a:solidFill>
          <a:ln cap="flat" cmpd="sng" w="9525">
            <a:solidFill>
              <a:srgbClr val="E4E4E4"/>
            </a:solidFill>
            <a:prstDash val="solid"/>
            <a:round/>
            <a:headEnd len="sm" w="sm" type="none"/>
            <a:tailEnd len="sm" w="sm" type="none"/>
          </a:ln>
        </p:spPr>
        <p:txBody>
          <a:bodyPr anchorCtr="0" anchor="ctr" bIns="67600" lIns="67600" spcFirstLastPara="1" rIns="67600" wrap="square" tIns="676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sp>
        <p:nvSpPr>
          <p:cNvPr id="223" name="Google Shape;223;p7"/>
          <p:cNvSpPr/>
          <p:nvPr/>
        </p:nvSpPr>
        <p:spPr>
          <a:xfrm>
            <a:off x="623109" y="3308488"/>
            <a:ext cx="351600" cy="351600"/>
          </a:xfrm>
          <a:prstGeom prst="roundRect">
            <a:avLst>
              <a:gd fmla="val 11538" name="adj"/>
            </a:avLst>
          </a:prstGeom>
          <a:solidFill>
            <a:srgbClr val="FDE8F0"/>
          </a:solidFill>
          <a:ln cap="flat" cmpd="sng" w="9525">
            <a:solidFill>
              <a:srgbClr val="EC1C6B"/>
            </a:solidFill>
            <a:prstDash val="solid"/>
            <a:round/>
            <a:headEnd len="sm" w="sm" type="none"/>
            <a:tailEnd len="sm" w="sm" type="none"/>
          </a:ln>
        </p:spPr>
        <p:txBody>
          <a:bodyPr anchorCtr="0" anchor="ctr" bIns="67600" lIns="67600" spcFirstLastPara="1" rIns="67600" wrap="square" tIns="676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sp>
        <p:nvSpPr>
          <p:cNvPr id="224" name="Google Shape;224;p7"/>
          <p:cNvSpPr/>
          <p:nvPr/>
        </p:nvSpPr>
        <p:spPr>
          <a:xfrm>
            <a:off x="683982" y="3376125"/>
            <a:ext cx="236700" cy="10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C1C6B"/>
              </a:buClr>
              <a:buSzPts val="814"/>
              <a:buFont typeface="Arial"/>
              <a:buNone/>
            </a:pPr>
            <a:r>
              <a:rPr b="1" i="0" lang="zh-HK" sz="914" u="none" cap="none" strike="noStrike">
                <a:solidFill>
                  <a:srgbClr val="EC1C6B"/>
                </a:solidFill>
                <a:latin typeface="Times New Roman"/>
                <a:ea typeface="Times New Roman"/>
                <a:cs typeface="Times New Roman"/>
                <a:sym typeface="Times New Roman"/>
              </a:rPr>
              <a:t>02</a:t>
            </a:r>
            <a:endParaRPr b="0" i="0" sz="914" u="none" cap="none" strike="noStrike">
              <a:solidFill>
                <a:srgbClr val="000000"/>
              </a:solidFill>
              <a:latin typeface="Times New Roman"/>
              <a:ea typeface="Times New Roman"/>
              <a:cs typeface="Times New Roman"/>
              <a:sym typeface="Times New Roman"/>
            </a:endParaRPr>
          </a:p>
        </p:txBody>
      </p:sp>
      <p:sp>
        <p:nvSpPr>
          <p:cNvPr id="225" name="Google Shape;225;p7"/>
          <p:cNvSpPr/>
          <p:nvPr/>
        </p:nvSpPr>
        <p:spPr>
          <a:xfrm>
            <a:off x="1089532" y="3233295"/>
            <a:ext cx="1961400" cy="12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851"/>
              <a:buFont typeface="Arial"/>
              <a:buNone/>
            </a:pPr>
            <a:r>
              <a:rPr b="1" i="0" lang="zh-HK" sz="951" u="none" cap="none" strike="noStrike">
                <a:solidFill>
                  <a:srgbClr val="222222"/>
                </a:solidFill>
                <a:latin typeface="Times New Roman"/>
                <a:ea typeface="Times New Roman"/>
                <a:cs typeface="Times New Roman"/>
                <a:sym typeface="Times New Roman"/>
              </a:rPr>
              <a:t>Note-to-group conversion</a:t>
            </a:r>
            <a:endParaRPr b="0" i="0" sz="951" u="none" cap="none" strike="noStrike">
              <a:solidFill>
                <a:srgbClr val="000000"/>
              </a:solidFill>
              <a:latin typeface="Times New Roman"/>
              <a:ea typeface="Times New Roman"/>
              <a:cs typeface="Times New Roman"/>
              <a:sym typeface="Times New Roman"/>
            </a:endParaRPr>
          </a:p>
        </p:txBody>
      </p:sp>
      <p:sp>
        <p:nvSpPr>
          <p:cNvPr id="226" name="Google Shape;226;p7"/>
          <p:cNvSpPr/>
          <p:nvPr/>
        </p:nvSpPr>
        <p:spPr>
          <a:xfrm>
            <a:off x="1089800" y="3466425"/>
            <a:ext cx="2429400" cy="2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66666"/>
              </a:buClr>
              <a:buSzPts val="703"/>
              <a:buFont typeface="Arial"/>
              <a:buNone/>
            </a:pPr>
            <a:r>
              <a:rPr lang="zh-HK" sz="800">
                <a:solidFill>
                  <a:srgbClr val="0F1115"/>
                </a:solidFill>
                <a:highlight>
                  <a:srgbClr val="FFFFFF"/>
                </a:highlight>
                <a:latin typeface="Times New Roman"/>
                <a:ea typeface="Times New Roman"/>
                <a:cs typeface="Times New Roman"/>
                <a:sym typeface="Times New Roman"/>
              </a:rPr>
              <a:t>Maintained ongoing engagement with fans via the group, sharing campaign updates and exclusive news to sustain event buzz and keep the community actively connected.</a:t>
            </a:r>
            <a:r>
              <a:rPr lang="zh-HK" sz="800">
                <a:latin typeface="Times New Roman"/>
                <a:ea typeface="Times New Roman"/>
                <a:cs typeface="Times New Roman"/>
                <a:sym typeface="Times New Roman"/>
              </a:rPr>
              <a:t> </a:t>
            </a:r>
            <a:endParaRPr i="0" sz="800" u="none" cap="none" strike="noStrike">
              <a:solidFill>
                <a:srgbClr val="1C1C1C"/>
              </a:solidFill>
              <a:latin typeface="Times New Roman"/>
              <a:ea typeface="Times New Roman"/>
              <a:cs typeface="Times New Roman"/>
              <a:sym typeface="Times New Roman"/>
            </a:endParaRPr>
          </a:p>
        </p:txBody>
      </p:sp>
      <p:sp>
        <p:nvSpPr>
          <p:cNvPr id="227" name="Google Shape;227;p7"/>
          <p:cNvSpPr/>
          <p:nvPr/>
        </p:nvSpPr>
        <p:spPr>
          <a:xfrm>
            <a:off x="501362" y="3917224"/>
            <a:ext cx="3144900" cy="649500"/>
          </a:xfrm>
          <a:prstGeom prst="roundRect">
            <a:avLst>
              <a:gd fmla="val 4167" name="adj"/>
            </a:avLst>
          </a:prstGeom>
          <a:solidFill>
            <a:srgbClr val="FFFFFF"/>
          </a:solidFill>
          <a:ln cap="flat" cmpd="sng" w="9525">
            <a:solidFill>
              <a:srgbClr val="E4E4E4"/>
            </a:solidFill>
            <a:prstDash val="solid"/>
            <a:round/>
            <a:headEnd len="sm" w="sm" type="none"/>
            <a:tailEnd len="sm" w="sm" type="none"/>
          </a:ln>
        </p:spPr>
        <p:txBody>
          <a:bodyPr anchorCtr="0" anchor="ctr" bIns="67600" lIns="67600" spcFirstLastPara="1" rIns="67600" wrap="square" tIns="676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sp>
        <p:nvSpPr>
          <p:cNvPr id="228" name="Google Shape;228;p7"/>
          <p:cNvSpPr/>
          <p:nvPr/>
        </p:nvSpPr>
        <p:spPr>
          <a:xfrm>
            <a:off x="623109" y="4038972"/>
            <a:ext cx="351600" cy="351600"/>
          </a:xfrm>
          <a:prstGeom prst="roundRect">
            <a:avLst>
              <a:gd fmla="val 11538" name="adj"/>
            </a:avLst>
          </a:prstGeom>
          <a:solidFill>
            <a:srgbClr val="FDE8F0"/>
          </a:solidFill>
          <a:ln cap="flat" cmpd="sng" w="9525">
            <a:solidFill>
              <a:srgbClr val="EC1C6B"/>
            </a:solidFill>
            <a:prstDash val="solid"/>
            <a:round/>
            <a:headEnd len="sm" w="sm" type="none"/>
            <a:tailEnd len="sm" w="sm" type="none"/>
          </a:ln>
        </p:spPr>
        <p:txBody>
          <a:bodyPr anchorCtr="0" anchor="ctr" bIns="67600" lIns="67600" spcFirstLastPara="1" rIns="67600" wrap="square" tIns="676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sp>
        <p:nvSpPr>
          <p:cNvPr id="229" name="Google Shape;229;p7"/>
          <p:cNvSpPr/>
          <p:nvPr/>
        </p:nvSpPr>
        <p:spPr>
          <a:xfrm>
            <a:off x="683982" y="4106609"/>
            <a:ext cx="236700" cy="10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C1C6B"/>
              </a:buClr>
              <a:buSzPts val="814"/>
              <a:buFont typeface="Arial"/>
              <a:buNone/>
            </a:pPr>
            <a:r>
              <a:rPr b="1" i="0" lang="zh-HK" sz="914" u="none" cap="none" strike="noStrike">
                <a:solidFill>
                  <a:srgbClr val="EC1C6B"/>
                </a:solidFill>
                <a:latin typeface="Times New Roman"/>
                <a:ea typeface="Times New Roman"/>
                <a:cs typeface="Times New Roman"/>
                <a:sym typeface="Times New Roman"/>
              </a:rPr>
              <a:t>03</a:t>
            </a:r>
            <a:endParaRPr b="0" i="0" sz="914" u="none" cap="none" strike="noStrike">
              <a:solidFill>
                <a:srgbClr val="000000"/>
              </a:solidFill>
              <a:latin typeface="Times New Roman"/>
              <a:ea typeface="Times New Roman"/>
              <a:cs typeface="Times New Roman"/>
              <a:sym typeface="Times New Roman"/>
            </a:endParaRPr>
          </a:p>
        </p:txBody>
      </p:sp>
      <p:sp>
        <p:nvSpPr>
          <p:cNvPr id="230" name="Google Shape;230;p7"/>
          <p:cNvSpPr/>
          <p:nvPr/>
        </p:nvSpPr>
        <p:spPr>
          <a:xfrm>
            <a:off x="1096456" y="3956144"/>
            <a:ext cx="1961400" cy="12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851"/>
              <a:buFont typeface="Arial"/>
              <a:buNone/>
            </a:pPr>
            <a:r>
              <a:rPr b="1" i="0" lang="zh-HK" sz="951" u="none" cap="none" strike="noStrike">
                <a:solidFill>
                  <a:srgbClr val="222222"/>
                </a:solidFill>
                <a:latin typeface="Times New Roman"/>
                <a:ea typeface="Times New Roman"/>
                <a:cs typeface="Times New Roman"/>
                <a:sym typeface="Times New Roman"/>
              </a:rPr>
              <a:t>Always-on content update</a:t>
            </a:r>
            <a:endParaRPr b="0" i="0" sz="951" u="none" cap="none" strike="noStrike">
              <a:solidFill>
                <a:srgbClr val="000000"/>
              </a:solidFill>
              <a:latin typeface="Times New Roman"/>
              <a:ea typeface="Times New Roman"/>
              <a:cs typeface="Times New Roman"/>
              <a:sym typeface="Times New Roman"/>
            </a:endParaRPr>
          </a:p>
        </p:txBody>
      </p:sp>
      <p:sp>
        <p:nvSpPr>
          <p:cNvPr id="231" name="Google Shape;231;p7"/>
          <p:cNvSpPr/>
          <p:nvPr/>
        </p:nvSpPr>
        <p:spPr>
          <a:xfrm>
            <a:off x="1089800" y="4188950"/>
            <a:ext cx="2485200" cy="2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zh-HK" sz="800" u="none" cap="none" strike="noStrike">
                <a:solidFill>
                  <a:srgbClr val="000000"/>
                </a:solidFill>
                <a:latin typeface="Times New Roman"/>
                <a:ea typeface="Times New Roman"/>
                <a:cs typeface="Times New Roman"/>
                <a:sym typeface="Times New Roman"/>
              </a:rPr>
              <a:t>Continued sharing regular Langham Place updates, including new store launches, fashion, and campaign newss.</a:t>
            </a:r>
            <a:endParaRPr b="0" i="0" sz="800" u="none" cap="none" strike="noStrike">
              <a:solidFill>
                <a:srgbClr val="000000"/>
              </a:solidFill>
              <a:latin typeface="Times New Roman"/>
              <a:ea typeface="Times New Roman"/>
              <a:cs typeface="Times New Roman"/>
              <a:sym typeface="Times New Roman"/>
            </a:endParaRPr>
          </a:p>
        </p:txBody>
      </p:sp>
      <p:sp>
        <p:nvSpPr>
          <p:cNvPr id="232" name="Google Shape;232;p7"/>
          <p:cNvSpPr/>
          <p:nvPr/>
        </p:nvSpPr>
        <p:spPr>
          <a:xfrm>
            <a:off x="3827997" y="911042"/>
            <a:ext cx="1488000" cy="16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2222"/>
              </a:buClr>
              <a:buSzPts val="962"/>
              <a:buFont typeface="Arial"/>
              <a:buNone/>
            </a:pPr>
            <a:r>
              <a:rPr b="1" i="0" lang="zh-HK" sz="962" u="none" cap="none" strike="noStrike">
                <a:solidFill>
                  <a:srgbClr val="222222"/>
                </a:solidFill>
                <a:latin typeface="Times New Roman"/>
                <a:ea typeface="Times New Roman"/>
                <a:cs typeface="Times New Roman"/>
                <a:sym typeface="Times New Roman"/>
              </a:rPr>
              <a:t>Screenshot Highlights</a:t>
            </a:r>
            <a:endParaRPr b="0" i="0" sz="962" u="none" cap="none" strike="noStrike">
              <a:solidFill>
                <a:srgbClr val="000000"/>
              </a:solidFill>
              <a:latin typeface="Times New Roman"/>
              <a:ea typeface="Times New Roman"/>
              <a:cs typeface="Times New Roman"/>
              <a:sym typeface="Times New Roman"/>
            </a:endParaRPr>
          </a:p>
        </p:txBody>
      </p:sp>
      <p:sp>
        <p:nvSpPr>
          <p:cNvPr id="233" name="Google Shape;233;p7"/>
          <p:cNvSpPr/>
          <p:nvPr/>
        </p:nvSpPr>
        <p:spPr>
          <a:xfrm>
            <a:off x="5614025" y="966072"/>
            <a:ext cx="1488000" cy="14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zh-HK" sz="950" u="none" cap="none" strike="noStrike">
                <a:solidFill>
                  <a:schemeClr val="dk2"/>
                </a:solidFill>
                <a:latin typeface="Times New Roman"/>
                <a:ea typeface="Times New Roman"/>
                <a:cs typeface="Times New Roman"/>
                <a:sym typeface="Times New Roman"/>
              </a:rPr>
              <a:t>Strengthen group-to-UGC conversion</a:t>
            </a:r>
            <a:endParaRPr b="0" i="0" sz="950" u="none" cap="none" strike="noStrike">
              <a:solidFill>
                <a:schemeClr val="dk2"/>
              </a:solidFill>
              <a:latin typeface="Times New Roman"/>
              <a:ea typeface="Times New Roman"/>
              <a:cs typeface="Times New Roman"/>
              <a:sym typeface="Times New Roman"/>
            </a:endParaRPr>
          </a:p>
        </p:txBody>
      </p:sp>
      <p:sp>
        <p:nvSpPr>
          <p:cNvPr id="234" name="Google Shape;234;p7"/>
          <p:cNvSpPr/>
          <p:nvPr/>
        </p:nvSpPr>
        <p:spPr>
          <a:xfrm>
            <a:off x="7390250" y="925843"/>
            <a:ext cx="11679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zh-HK" sz="950" u="none" cap="none" strike="noStrike">
                <a:solidFill>
                  <a:schemeClr val="dk2"/>
                </a:solidFill>
                <a:latin typeface="Times New Roman"/>
                <a:ea typeface="Times New Roman"/>
                <a:cs typeface="Times New Roman"/>
                <a:sym typeface="Times New Roman"/>
              </a:rPr>
              <a:t>Expand always-on </a:t>
            </a:r>
            <a:br>
              <a:rPr b="1" i="0" lang="zh-HK" sz="950" u="none" cap="none" strike="noStrike">
                <a:solidFill>
                  <a:schemeClr val="dk2"/>
                </a:solidFill>
                <a:latin typeface="Times New Roman"/>
                <a:ea typeface="Times New Roman"/>
                <a:cs typeface="Times New Roman"/>
                <a:sym typeface="Times New Roman"/>
              </a:rPr>
            </a:br>
            <a:r>
              <a:rPr b="1" i="0" lang="zh-HK" sz="950" u="none" cap="none" strike="noStrike">
                <a:solidFill>
                  <a:schemeClr val="dk2"/>
                </a:solidFill>
                <a:latin typeface="Times New Roman"/>
                <a:ea typeface="Times New Roman"/>
                <a:cs typeface="Times New Roman"/>
                <a:sym typeface="Times New Roman"/>
              </a:rPr>
              <a:t>content variety</a:t>
            </a:r>
            <a:endParaRPr b="0" i="0" sz="950" u="none" cap="none" strike="noStrike">
              <a:solidFill>
                <a:schemeClr val="dk2"/>
              </a:solidFill>
              <a:latin typeface="Times New Roman"/>
              <a:ea typeface="Times New Roman"/>
              <a:cs typeface="Times New Roman"/>
              <a:sym typeface="Times New Roman"/>
            </a:endParaRPr>
          </a:p>
        </p:txBody>
      </p:sp>
      <p:pic>
        <p:nvPicPr>
          <p:cNvPr id="235" name="Google Shape;235;p7"/>
          <p:cNvPicPr preferRelativeResize="0"/>
          <p:nvPr/>
        </p:nvPicPr>
        <p:blipFill>
          <a:blip r:embed="rId5">
            <a:alphaModFix/>
          </a:blip>
          <a:stretch>
            <a:fillRect/>
          </a:stretch>
        </p:blipFill>
        <p:spPr>
          <a:xfrm>
            <a:off x="3744350" y="1275250"/>
            <a:ext cx="1699701" cy="2915400"/>
          </a:xfrm>
          <a:prstGeom prst="rect">
            <a:avLst/>
          </a:prstGeom>
          <a:noFill/>
          <a:ln>
            <a:noFill/>
          </a:ln>
        </p:spPr>
      </p:pic>
      <p:pic>
        <p:nvPicPr>
          <p:cNvPr id="236" name="Google Shape;236;p7"/>
          <p:cNvPicPr preferRelativeResize="0"/>
          <p:nvPr/>
        </p:nvPicPr>
        <p:blipFill rotWithShape="1">
          <a:blip r:embed="rId6">
            <a:alphaModFix/>
          </a:blip>
          <a:srcRect b="12610" l="0" r="13756" t="0"/>
          <a:stretch/>
        </p:blipFill>
        <p:spPr>
          <a:xfrm>
            <a:off x="5491050" y="1275350"/>
            <a:ext cx="1639550" cy="2915400"/>
          </a:xfrm>
          <a:prstGeom prst="rect">
            <a:avLst/>
          </a:prstGeom>
          <a:noFill/>
          <a:ln>
            <a:noFill/>
          </a:ln>
        </p:spPr>
      </p:pic>
      <p:pic>
        <p:nvPicPr>
          <p:cNvPr id="237" name="Google Shape;237;p7"/>
          <p:cNvPicPr preferRelativeResize="0"/>
          <p:nvPr/>
        </p:nvPicPr>
        <p:blipFill rotWithShape="1">
          <a:blip r:embed="rId7">
            <a:alphaModFix/>
          </a:blip>
          <a:srcRect b="794" l="0" r="12900" t="0"/>
          <a:stretch/>
        </p:blipFill>
        <p:spPr>
          <a:xfrm>
            <a:off x="7177600" y="1275250"/>
            <a:ext cx="1582326" cy="2915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8"/>
          <p:cNvSpPr txBox="1"/>
          <p:nvPr/>
        </p:nvSpPr>
        <p:spPr>
          <a:xfrm>
            <a:off x="1010275" y="254050"/>
            <a:ext cx="4972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WeChat Performance Summary</a:t>
            </a:r>
            <a:endParaRPr b="1" i="0" sz="2000" u="none" cap="none" strike="noStrike">
              <a:solidFill>
                <a:srgbClr val="000000"/>
              </a:solidFill>
              <a:latin typeface="Times New Roman"/>
              <a:ea typeface="Times New Roman"/>
              <a:cs typeface="Times New Roman"/>
              <a:sym typeface="Times New Roman"/>
            </a:endParaRPr>
          </a:p>
        </p:txBody>
      </p:sp>
      <p:sp>
        <p:nvSpPr>
          <p:cNvPr id="243" name="Google Shape;243;p8"/>
          <p:cNvSpPr txBox="1"/>
          <p:nvPr/>
        </p:nvSpPr>
        <p:spPr>
          <a:xfrm>
            <a:off x="4395788" y="4811868"/>
            <a:ext cx="46743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zh-HK" sz="700" u="none" cap="none" strike="noStrike">
                <a:solidFill>
                  <a:srgbClr val="000000"/>
                </a:solidFill>
                <a:latin typeface="Microsoft YaHei"/>
                <a:ea typeface="Microsoft YaHei"/>
                <a:cs typeface="Microsoft YaHei"/>
                <a:sym typeface="Microsoft YaHei"/>
              </a:rPr>
              <a:t>*ENGAGEMENT = MARK + COMMENTS + LIKES + SHARES</a:t>
            </a:r>
            <a:endParaRPr b="0" i="0" sz="700" u="none" cap="none" strike="noStrike">
              <a:solidFill>
                <a:srgbClr val="000000"/>
              </a:solidFill>
              <a:latin typeface="Microsoft YaHei"/>
              <a:ea typeface="Microsoft YaHei"/>
              <a:cs typeface="Microsoft YaHei"/>
              <a:sym typeface="Microsoft YaHei"/>
            </a:endParaRPr>
          </a:p>
        </p:txBody>
      </p:sp>
      <p:sp>
        <p:nvSpPr>
          <p:cNvPr id="244" name="Google Shape;244;p8"/>
          <p:cNvSpPr txBox="1"/>
          <p:nvPr/>
        </p:nvSpPr>
        <p:spPr>
          <a:xfrm>
            <a:off x="121950" y="717700"/>
            <a:ext cx="8839200" cy="12867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rgbClr val="0F1115"/>
              </a:buClr>
              <a:buSzPts val="1100"/>
              <a:buFont typeface="Times New Roman"/>
              <a:buChar char="●"/>
            </a:pPr>
            <a:r>
              <a:rPr i="0" lang="zh-HK" sz="1100" u="none" cap="none" strike="noStrike">
                <a:solidFill>
                  <a:srgbClr val="0F1115"/>
                </a:solidFill>
                <a:highlight>
                  <a:srgbClr val="FFFFFF"/>
                </a:highlight>
                <a:latin typeface="Times New Roman"/>
                <a:ea typeface="Times New Roman"/>
                <a:cs typeface="Times New Roman"/>
                <a:sym typeface="Times New Roman"/>
              </a:rPr>
              <a:t>We published </a:t>
            </a:r>
            <a:r>
              <a:rPr b="1" lang="zh-HK" sz="1100">
                <a:solidFill>
                  <a:srgbClr val="0F1115"/>
                </a:solidFill>
                <a:highlight>
                  <a:srgbClr val="FFFFFF"/>
                </a:highlight>
                <a:latin typeface="Times New Roman"/>
                <a:ea typeface="Times New Roman"/>
                <a:cs typeface="Times New Roman"/>
                <a:sym typeface="Times New Roman"/>
              </a:rPr>
              <a:t>2</a:t>
            </a:r>
            <a:r>
              <a:rPr b="1" i="0" lang="zh-HK" sz="1100" u="none" cap="none" strike="noStrike">
                <a:solidFill>
                  <a:srgbClr val="0F1115"/>
                </a:solidFill>
                <a:highlight>
                  <a:srgbClr val="FFFFFF"/>
                </a:highlight>
                <a:latin typeface="Times New Roman"/>
                <a:ea typeface="Times New Roman"/>
                <a:cs typeface="Times New Roman"/>
                <a:sym typeface="Times New Roman"/>
              </a:rPr>
              <a:t> WeChat posts</a:t>
            </a:r>
            <a:r>
              <a:rPr i="0" lang="zh-HK" sz="1100" u="none" cap="none" strike="noStrike">
                <a:solidFill>
                  <a:srgbClr val="0F1115"/>
                </a:solidFill>
                <a:highlight>
                  <a:srgbClr val="FFFFFF"/>
                </a:highlight>
                <a:latin typeface="Times New Roman"/>
                <a:ea typeface="Times New Roman"/>
                <a:cs typeface="Times New Roman"/>
                <a:sym typeface="Times New Roman"/>
              </a:rPr>
              <a:t> in Ju</a:t>
            </a:r>
            <a:r>
              <a:rPr lang="zh-HK" sz="1100">
                <a:solidFill>
                  <a:srgbClr val="0F1115"/>
                </a:solidFill>
                <a:highlight>
                  <a:srgbClr val="FFFFFF"/>
                </a:highlight>
                <a:latin typeface="Times New Roman"/>
                <a:ea typeface="Times New Roman"/>
                <a:cs typeface="Times New Roman"/>
                <a:sym typeface="Times New Roman"/>
              </a:rPr>
              <a:t>ly</a:t>
            </a:r>
            <a:r>
              <a:rPr i="0" lang="zh-HK" sz="1100" u="none" cap="none" strike="noStrike">
                <a:solidFill>
                  <a:srgbClr val="0F1115"/>
                </a:solidFill>
                <a:highlight>
                  <a:srgbClr val="FFFFFF"/>
                </a:highlight>
                <a:latin typeface="Times New Roman"/>
                <a:ea typeface="Times New Roman"/>
                <a:cs typeface="Times New Roman"/>
                <a:sym typeface="Times New Roman"/>
              </a:rPr>
              <a:t>. </a:t>
            </a:r>
            <a:r>
              <a:rPr lang="zh-HK" sz="1100">
                <a:solidFill>
                  <a:srgbClr val="0F1115"/>
                </a:solidFill>
                <a:highlight>
                  <a:srgbClr val="FFFFFF"/>
                </a:highlight>
                <a:latin typeface="Times New Roman"/>
                <a:ea typeface="Times New Roman"/>
                <a:cs typeface="Times New Roman"/>
                <a:sym typeface="Times New Roman"/>
              </a:rPr>
              <a:t>The </a:t>
            </a:r>
            <a:r>
              <a:rPr b="1" lang="zh-HK" sz="1100">
                <a:solidFill>
                  <a:srgbClr val="0F1115"/>
                </a:solidFill>
                <a:highlight>
                  <a:srgbClr val="FFFFFF"/>
                </a:highlight>
                <a:latin typeface="Times New Roman"/>
                <a:ea typeface="Times New Roman"/>
                <a:cs typeface="Times New Roman"/>
                <a:sym typeface="Times New Roman"/>
              </a:rPr>
              <a:t>Sanrio IP post</a:t>
            </a:r>
            <a:r>
              <a:rPr lang="zh-HK" sz="1100">
                <a:solidFill>
                  <a:srgbClr val="0F1115"/>
                </a:solidFill>
                <a:highlight>
                  <a:srgbClr val="FFFFFF"/>
                </a:highlight>
                <a:latin typeface="Times New Roman"/>
                <a:ea typeface="Times New Roman"/>
                <a:cs typeface="Times New Roman"/>
                <a:sym typeface="Times New Roman"/>
              </a:rPr>
              <a:t> recorded a </a:t>
            </a:r>
            <a:r>
              <a:rPr b="1" lang="zh-HK" sz="1100">
                <a:solidFill>
                  <a:srgbClr val="0F1115"/>
                </a:solidFill>
                <a:highlight>
                  <a:srgbClr val="FFFFFF"/>
                </a:highlight>
                <a:latin typeface="Times New Roman"/>
                <a:ea typeface="Times New Roman"/>
                <a:cs typeface="Times New Roman"/>
                <a:sym typeface="Times New Roman"/>
              </a:rPr>
              <a:t>high engagement rate of 9.67%</a:t>
            </a:r>
            <a:r>
              <a:rPr lang="zh-HK" sz="1100">
                <a:solidFill>
                  <a:srgbClr val="0F1115"/>
                </a:solidFill>
                <a:highlight>
                  <a:srgbClr val="FFFFFF"/>
                </a:highlight>
                <a:latin typeface="Times New Roman"/>
                <a:ea typeface="Times New Roman"/>
                <a:cs typeface="Times New Roman"/>
                <a:sym typeface="Times New Roman"/>
              </a:rPr>
              <a:t> despite lower views (269), reflecting that </a:t>
            </a:r>
            <a:r>
              <a:rPr b="1" lang="zh-HK" sz="1100">
                <a:solidFill>
                  <a:srgbClr val="0F1115"/>
                </a:solidFill>
                <a:highlight>
                  <a:srgbClr val="FFFFFF"/>
                </a:highlight>
                <a:latin typeface="Times New Roman"/>
                <a:ea typeface="Times New Roman"/>
                <a:cs typeface="Times New Roman"/>
                <a:sym typeface="Times New Roman"/>
              </a:rPr>
              <a:t>IP content</a:t>
            </a:r>
            <a:r>
              <a:rPr lang="zh-HK" sz="1100">
                <a:solidFill>
                  <a:srgbClr val="0F1115"/>
                </a:solidFill>
                <a:highlight>
                  <a:srgbClr val="FFFFFF"/>
                </a:highlight>
                <a:latin typeface="Times New Roman"/>
                <a:ea typeface="Times New Roman"/>
                <a:cs typeface="Times New Roman"/>
                <a:sym typeface="Times New Roman"/>
              </a:rPr>
              <a:t> effectively drives </a:t>
            </a:r>
            <a:r>
              <a:rPr b="1" lang="zh-HK" sz="1100">
                <a:solidFill>
                  <a:srgbClr val="0F1115"/>
                </a:solidFill>
                <a:highlight>
                  <a:srgbClr val="FFFFFF"/>
                </a:highlight>
                <a:latin typeface="Times New Roman"/>
                <a:ea typeface="Times New Roman"/>
                <a:cs typeface="Times New Roman"/>
                <a:sym typeface="Times New Roman"/>
              </a:rPr>
              <a:t>deep interaction</a:t>
            </a:r>
            <a:r>
              <a:rPr lang="zh-HK" sz="1100">
                <a:solidFill>
                  <a:srgbClr val="0F1115"/>
                </a:solidFill>
                <a:highlight>
                  <a:srgbClr val="FFFFFF"/>
                </a:highlight>
                <a:latin typeface="Times New Roman"/>
                <a:ea typeface="Times New Roman"/>
                <a:cs typeface="Times New Roman"/>
                <a:sym typeface="Times New Roman"/>
              </a:rPr>
              <a:t> on WeChat. The accessory store post generated higher views but a </a:t>
            </a:r>
            <a:r>
              <a:rPr b="1" lang="zh-HK" sz="1100">
                <a:solidFill>
                  <a:srgbClr val="0F1115"/>
                </a:solidFill>
                <a:highlight>
                  <a:srgbClr val="FFFFFF"/>
                </a:highlight>
                <a:latin typeface="Times New Roman"/>
                <a:ea typeface="Times New Roman"/>
                <a:cs typeface="Times New Roman"/>
                <a:sym typeface="Times New Roman"/>
              </a:rPr>
              <a:t>lower engagement rate of 1.96%</a:t>
            </a:r>
            <a:r>
              <a:rPr lang="zh-HK" sz="1100">
                <a:solidFill>
                  <a:srgbClr val="0F1115"/>
                </a:solidFill>
                <a:highlight>
                  <a:srgbClr val="FFFFFF"/>
                </a:highlight>
                <a:latin typeface="Times New Roman"/>
                <a:ea typeface="Times New Roman"/>
                <a:cs typeface="Times New Roman"/>
                <a:sym typeface="Times New Roman"/>
              </a:rPr>
              <a:t>, indicating that while </a:t>
            </a:r>
            <a:r>
              <a:rPr b="1" lang="zh-HK" sz="1100">
                <a:solidFill>
                  <a:srgbClr val="0F1115"/>
                </a:solidFill>
                <a:highlight>
                  <a:srgbClr val="FFFFFF"/>
                </a:highlight>
                <a:latin typeface="Times New Roman"/>
                <a:ea typeface="Times New Roman"/>
                <a:cs typeface="Times New Roman"/>
                <a:sym typeface="Times New Roman"/>
              </a:rPr>
              <a:t>种草 content</a:t>
            </a:r>
            <a:r>
              <a:rPr lang="zh-HK" sz="1100">
                <a:solidFill>
                  <a:srgbClr val="0F1115"/>
                </a:solidFill>
                <a:highlight>
                  <a:srgbClr val="FFFFFF"/>
                </a:highlight>
                <a:latin typeface="Times New Roman"/>
                <a:ea typeface="Times New Roman"/>
                <a:cs typeface="Times New Roman"/>
                <a:sym typeface="Times New Roman"/>
              </a:rPr>
              <a:t> has conversion power, it is less shareable and less viral than IP content.</a:t>
            </a:r>
            <a:endParaRPr sz="1100">
              <a:solidFill>
                <a:srgbClr val="0F1115"/>
              </a:solidFill>
              <a:highlight>
                <a:srgbClr val="FFFFFF"/>
              </a:highlight>
              <a:latin typeface="Times New Roman"/>
              <a:ea typeface="Times New Roman"/>
              <a:cs typeface="Times New Roman"/>
              <a:sym typeface="Times New Roman"/>
            </a:endParaRPr>
          </a:p>
          <a:p>
            <a:pPr indent="-298450" lvl="0" marL="457200" marR="0" rtl="0" algn="l">
              <a:lnSpc>
                <a:spcPct val="115000"/>
              </a:lnSpc>
              <a:spcBef>
                <a:spcPts val="120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Compared to June, both total views and engagement rate declined (engagement rate dropped from 9.</a:t>
            </a:r>
            <a:r>
              <a:rPr lang="zh-HK" sz="1100">
                <a:solidFill>
                  <a:srgbClr val="0F1115"/>
                </a:solidFill>
                <a:highlight>
                  <a:srgbClr val="FFFFFF"/>
                </a:highlight>
                <a:latin typeface="Times New Roman"/>
                <a:ea typeface="Times New Roman"/>
                <a:cs typeface="Times New Roman"/>
                <a:sym typeface="Times New Roman"/>
                <a:extLst>
                  <a:ext uri="http://customooxmlschemas.google.com/">
                    <go:slidesCustomData xmlns:go="http://customooxmlschemas.google.com/" textRoundtripDataId="1"/>
                  </a:ext>
                </a:extLst>
              </a:rPr>
              <a:t>16</a:t>
            </a:r>
            <a:r>
              <a:rPr lang="zh-HK" sz="1100">
                <a:solidFill>
                  <a:srgbClr val="0F1115"/>
                </a:solidFill>
                <a:highlight>
                  <a:srgbClr val="FFFFFF"/>
                </a:highlight>
                <a:latin typeface="Times New Roman"/>
                <a:ea typeface="Times New Roman"/>
                <a:cs typeface="Times New Roman"/>
                <a:sym typeface="Times New Roman"/>
              </a:rPr>
              <a:t>% to 3.78%), mainly due to fewer posts. </a:t>
            </a:r>
            <a:br>
              <a:rPr lang="zh-HK" sz="1100">
                <a:solidFill>
                  <a:srgbClr val="0F1115"/>
                </a:solidFill>
                <a:highlight>
                  <a:srgbClr val="FFFFFF"/>
                </a:highlight>
                <a:latin typeface="Times New Roman"/>
                <a:ea typeface="Times New Roman"/>
                <a:cs typeface="Times New Roman"/>
                <a:sym typeface="Times New Roman"/>
              </a:rPr>
            </a:br>
            <a:r>
              <a:rPr lang="zh-HK" sz="1100">
                <a:solidFill>
                  <a:srgbClr val="0F1115"/>
                </a:solidFill>
                <a:highlight>
                  <a:srgbClr val="FFFFFF"/>
                </a:highlight>
                <a:latin typeface="Times New Roman"/>
                <a:ea typeface="Times New Roman"/>
                <a:cs typeface="Times New Roman"/>
                <a:sym typeface="Times New Roman"/>
              </a:rPr>
              <a:t>A </a:t>
            </a:r>
            <a:r>
              <a:rPr b="1" lang="zh-HK" sz="1100">
                <a:solidFill>
                  <a:srgbClr val="0F1115"/>
                </a:solidFill>
                <a:highlight>
                  <a:srgbClr val="FFFFFF"/>
                </a:highlight>
                <a:latin typeface="Times New Roman"/>
                <a:ea typeface="Times New Roman"/>
                <a:cs typeface="Times New Roman"/>
                <a:sym typeface="Times New Roman"/>
              </a:rPr>
              <a:t>Chiikawa long-form post</a:t>
            </a:r>
            <a:r>
              <a:rPr lang="zh-HK" sz="1100">
                <a:solidFill>
                  <a:srgbClr val="0F1115"/>
                </a:solidFill>
                <a:highlight>
                  <a:srgbClr val="FFFFFF"/>
                </a:highlight>
                <a:latin typeface="Times New Roman"/>
                <a:ea typeface="Times New Roman"/>
                <a:cs typeface="Times New Roman"/>
                <a:sym typeface="Times New Roman"/>
              </a:rPr>
              <a:t> was published in early August, and the </a:t>
            </a:r>
            <a:r>
              <a:rPr b="1" lang="zh-HK" sz="1100">
                <a:solidFill>
                  <a:srgbClr val="0F1115"/>
                </a:solidFill>
                <a:highlight>
                  <a:srgbClr val="FFFFFF"/>
                </a:highlight>
                <a:latin typeface="Times New Roman"/>
                <a:ea typeface="Times New Roman"/>
                <a:cs typeface="Times New Roman"/>
                <a:sym typeface="Times New Roman"/>
              </a:rPr>
              <a:t>hot IP effect</a:t>
            </a:r>
            <a:r>
              <a:rPr lang="zh-HK" sz="1100">
                <a:solidFill>
                  <a:srgbClr val="0F1115"/>
                </a:solidFill>
                <a:highlight>
                  <a:srgbClr val="FFFFFF"/>
                </a:highlight>
                <a:latin typeface="Times New Roman"/>
                <a:ea typeface="Times New Roman"/>
                <a:cs typeface="Times New Roman"/>
                <a:sym typeface="Times New Roman"/>
              </a:rPr>
              <a:t> is expected to boost </a:t>
            </a:r>
            <a:r>
              <a:rPr b="1" lang="zh-HK" sz="1100">
                <a:solidFill>
                  <a:srgbClr val="0F1115"/>
                </a:solidFill>
                <a:highlight>
                  <a:srgbClr val="FFFFFF"/>
                </a:highlight>
                <a:latin typeface="Times New Roman"/>
                <a:ea typeface="Times New Roman"/>
                <a:cs typeface="Times New Roman"/>
                <a:sym typeface="Times New Roman"/>
              </a:rPr>
              <a:t>views and engagement performance</a:t>
            </a:r>
            <a:r>
              <a:rPr lang="zh-HK" sz="1100">
                <a:solidFill>
                  <a:srgbClr val="0F1115"/>
                </a:solidFill>
                <a:highlight>
                  <a:srgbClr val="FFFFFF"/>
                </a:highlight>
                <a:latin typeface="Times New Roman"/>
                <a:ea typeface="Times New Roman"/>
                <a:cs typeface="Times New Roman"/>
                <a:sym typeface="Times New Roman"/>
              </a:rPr>
              <a:t>.</a:t>
            </a:r>
            <a:r>
              <a:rPr lang="zh-HK"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p:txBody>
      </p:sp>
      <p:sp>
        <p:nvSpPr>
          <p:cNvPr id="245" name="Google Shape;245;p8"/>
          <p:cNvSpPr/>
          <p:nvPr/>
        </p:nvSpPr>
        <p:spPr>
          <a:xfrm>
            <a:off x="395027" y="359057"/>
            <a:ext cx="42900" cy="282600"/>
          </a:xfrm>
          <a:prstGeom prst="rect">
            <a:avLst/>
          </a:prstGeom>
          <a:solidFill>
            <a:srgbClr val="38761D"/>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pic>
        <p:nvPicPr>
          <p:cNvPr id="246" name="Google Shape;246;p8"/>
          <p:cNvPicPr preferRelativeResize="0"/>
          <p:nvPr/>
        </p:nvPicPr>
        <p:blipFill rotWithShape="1">
          <a:blip r:embed="rId3">
            <a:alphaModFix/>
          </a:blip>
          <a:srcRect b="0" l="0" r="0" t="0"/>
          <a:stretch/>
        </p:blipFill>
        <p:spPr>
          <a:xfrm>
            <a:off x="542600" y="306900"/>
            <a:ext cx="363000" cy="363000"/>
          </a:xfrm>
          <a:prstGeom prst="rect">
            <a:avLst/>
          </a:prstGeom>
          <a:noFill/>
          <a:ln>
            <a:noFill/>
          </a:ln>
        </p:spPr>
      </p:pic>
      <p:graphicFrame>
        <p:nvGraphicFramePr>
          <p:cNvPr id="247" name="Google Shape;247;p8"/>
          <p:cNvGraphicFramePr/>
          <p:nvPr/>
        </p:nvGraphicFramePr>
        <p:xfrm>
          <a:off x="273291" y="2520392"/>
          <a:ext cx="3000000" cy="3000000"/>
        </p:xfrm>
        <a:graphic>
          <a:graphicData uri="http://schemas.openxmlformats.org/drawingml/2006/table">
            <a:tbl>
              <a:tblPr>
                <a:noFill/>
                <a:tableStyleId>{E1739E71-98CB-4F31-BA75-B360A44B9F01}</a:tableStyleId>
              </a:tblPr>
              <a:tblGrid>
                <a:gridCol w="474750"/>
                <a:gridCol w="474750"/>
                <a:gridCol w="1074150"/>
                <a:gridCol w="533125"/>
                <a:gridCol w="525675"/>
                <a:gridCol w="553000"/>
                <a:gridCol w="367775"/>
                <a:gridCol w="383300"/>
                <a:gridCol w="748225"/>
                <a:gridCol w="680275"/>
              </a:tblGrid>
              <a:tr h="267350">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Wechat</a:t>
                      </a:r>
                      <a:endParaRPr b="1" sz="900" u="none" cap="none" strike="noStrike">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Post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Date </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Subject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View</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Mark</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Comment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Like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Share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Total Engagement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Engagement Rate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r>
              <a:tr h="463000">
                <a:tc>
                  <a:txBody>
                    <a:bodyPr/>
                    <a:lstStyle/>
                    <a:p>
                      <a:pPr indent="0" lvl="0" marL="0" marR="0" rtl="0" algn="ctr">
                        <a:lnSpc>
                          <a:spcPct val="115000"/>
                        </a:lnSpc>
                        <a:spcBef>
                          <a:spcPts val="0"/>
                        </a:spcBef>
                        <a:spcAft>
                          <a:spcPts val="0"/>
                        </a:spcAft>
                        <a:buClr>
                          <a:srgbClr val="000000"/>
                        </a:buClr>
                        <a:buSzPts val="1100"/>
                        <a:buFont typeface="Arial"/>
                        <a:buNone/>
                      </a:pPr>
                      <a:r>
                        <a:rPr lang="zh-HK" sz="900" u="none" cap="none" strike="noStrike">
                          <a:latin typeface="Calibri"/>
                          <a:ea typeface="Calibri"/>
                          <a:cs typeface="Calibri"/>
                          <a:sym typeface="Calibri"/>
                        </a:rPr>
                        <a:t>1</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Ju</a:t>
                      </a:r>
                      <a:r>
                        <a:rPr lang="zh-HK" sz="1000"/>
                        <a:t>l 6</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zh-HK" sz="1000">
                          <a:solidFill>
                            <a:srgbClr val="333333"/>
                          </a:solidFill>
                        </a:rPr>
                        <a:t>Sanrio明星竞技场、潮流运动品牌一次逛到腿软！</a:t>
                      </a:r>
                      <a:endParaRPr sz="1000" u="none" cap="none" strike="noStrike">
                        <a:solidFill>
                          <a:srgbClr val="33333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269</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3</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9</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1</a:t>
                      </a:r>
                      <a:r>
                        <a:rPr lang="zh-HK" sz="1000"/>
                        <a:t>4</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26</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9.67</a:t>
                      </a:r>
                      <a:r>
                        <a:rPr lang="zh-HK" sz="1000" u="none" cap="none" strike="noStrike"/>
                        <a:t>%</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3000">
                <a:tc>
                  <a:txBody>
                    <a:bodyPr/>
                    <a:lstStyle/>
                    <a:p>
                      <a:pPr indent="0" lvl="0" marL="0" marR="0" rtl="0" algn="ctr">
                        <a:lnSpc>
                          <a:spcPct val="115000"/>
                        </a:lnSpc>
                        <a:spcBef>
                          <a:spcPts val="0"/>
                        </a:spcBef>
                        <a:spcAft>
                          <a:spcPts val="0"/>
                        </a:spcAft>
                        <a:buClr>
                          <a:srgbClr val="000000"/>
                        </a:buClr>
                        <a:buSzPts val="1100"/>
                        <a:buFont typeface="Arial"/>
                        <a:buNone/>
                      </a:pPr>
                      <a:r>
                        <a:rPr lang="zh-HK" sz="900" u="none" cap="none" strike="noStrike">
                          <a:latin typeface="Calibri"/>
                          <a:ea typeface="Calibri"/>
                          <a:cs typeface="Calibri"/>
                          <a:sym typeface="Calibri"/>
                        </a:rPr>
                        <a:t>2</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Ju</a:t>
                      </a:r>
                      <a:r>
                        <a:rPr lang="zh-HK" sz="1000"/>
                        <a:t>l 21</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zh-HK" sz="1000"/>
                        <a:t>后悔没买😭谁知道朗豪坊这家饰品叫什么？</a:t>
                      </a:r>
                      <a:endParaRPr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869</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4</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1</a:t>
                      </a:r>
                      <a:r>
                        <a:rPr lang="zh-HK" sz="1000"/>
                        <a:t>2</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17</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1.96</a:t>
                      </a:r>
                      <a:r>
                        <a:rPr lang="zh-HK" sz="1000" u="none" cap="none" strike="noStrike"/>
                        <a:t>%</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2100">
                <a:tc gridSpan="3">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Ju</a:t>
                      </a:r>
                      <a:r>
                        <a:rPr b="1" lang="zh-HK" sz="900">
                          <a:latin typeface="Calibri"/>
                          <a:ea typeface="Calibri"/>
                          <a:cs typeface="Calibri"/>
                          <a:sym typeface="Calibri"/>
                        </a:rPr>
                        <a:t>l</a:t>
                      </a:r>
                      <a:r>
                        <a:rPr b="1" lang="zh-HK" sz="900" u="none" cap="none" strike="noStrike">
                          <a:latin typeface="Calibri"/>
                          <a:ea typeface="Calibri"/>
                          <a:cs typeface="Calibri"/>
                          <a:sym typeface="Calibri"/>
                        </a:rPr>
                        <a:t> Total</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hMerge="1"/>
                <a:tc hMerge="1"/>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t>1</a:t>
                      </a:r>
                      <a:r>
                        <a:rPr b="1" lang="zh-HK" sz="1000" u="none" cap="none" strike="noStrike"/>
                        <a:t>,1</a:t>
                      </a:r>
                      <a:r>
                        <a:rPr b="1" lang="zh-HK" sz="1000"/>
                        <a:t>38</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t>3</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t>1</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t>13</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t>26</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t>43</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t>3</a:t>
                      </a:r>
                      <a:r>
                        <a:rPr b="1" lang="zh-HK" sz="1000" u="none" cap="none" strike="noStrike"/>
                        <a:t>.</a:t>
                      </a:r>
                      <a:r>
                        <a:rPr b="1" lang="zh-HK" sz="1000"/>
                        <a:t>78</a:t>
                      </a:r>
                      <a:r>
                        <a:rPr b="1" lang="zh-HK" sz="1000" u="none" cap="none" strike="noStrike"/>
                        <a:t>%</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r>
            </a:tbl>
          </a:graphicData>
        </a:graphic>
      </p:graphicFrame>
      <p:sp>
        <p:nvSpPr>
          <p:cNvPr id="248" name="Google Shape;248;p8"/>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249" name="Google Shape;249;p8"/>
          <p:cNvPicPr preferRelativeResize="0"/>
          <p:nvPr/>
        </p:nvPicPr>
        <p:blipFill rotWithShape="1">
          <a:blip r:embed="rId4">
            <a:alphaModFix/>
          </a:blip>
          <a:srcRect b="21020" l="14063" r="17215" t="26140"/>
          <a:stretch/>
        </p:blipFill>
        <p:spPr>
          <a:xfrm>
            <a:off x="8094845" y="162433"/>
            <a:ext cx="1049155" cy="423511"/>
          </a:xfrm>
          <a:prstGeom prst="rect">
            <a:avLst/>
          </a:prstGeom>
          <a:noFill/>
          <a:ln>
            <a:noFill/>
          </a:ln>
        </p:spPr>
      </p:pic>
      <p:sp>
        <p:nvSpPr>
          <p:cNvPr id="250" name="Google Shape;250;p8"/>
          <p:cNvSpPr/>
          <p:nvPr/>
        </p:nvSpPr>
        <p:spPr>
          <a:xfrm>
            <a:off x="273200" y="3364276"/>
            <a:ext cx="5815200" cy="546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1" name="Google Shape;251;p8"/>
          <p:cNvPicPr preferRelativeResize="0"/>
          <p:nvPr/>
        </p:nvPicPr>
        <p:blipFill>
          <a:blip r:embed="rId5">
            <a:alphaModFix/>
          </a:blip>
          <a:stretch>
            <a:fillRect/>
          </a:stretch>
        </p:blipFill>
        <p:spPr>
          <a:xfrm>
            <a:off x="6334555" y="2156350"/>
            <a:ext cx="1292526" cy="2618301"/>
          </a:xfrm>
          <a:prstGeom prst="rect">
            <a:avLst/>
          </a:prstGeom>
          <a:noFill/>
          <a:ln>
            <a:noFill/>
          </a:ln>
        </p:spPr>
      </p:pic>
      <p:pic>
        <p:nvPicPr>
          <p:cNvPr id="252" name="Google Shape;252;p8"/>
          <p:cNvPicPr preferRelativeResize="0"/>
          <p:nvPr/>
        </p:nvPicPr>
        <p:blipFill>
          <a:blip r:embed="rId6">
            <a:alphaModFix/>
          </a:blip>
          <a:stretch>
            <a:fillRect/>
          </a:stretch>
        </p:blipFill>
        <p:spPr>
          <a:xfrm>
            <a:off x="7683875" y="2146825"/>
            <a:ext cx="1319384" cy="26183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9"/>
          <p:cNvSpPr txBox="1"/>
          <p:nvPr/>
        </p:nvSpPr>
        <p:spPr>
          <a:xfrm>
            <a:off x="4395788" y="4743288"/>
            <a:ext cx="46743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zh-HK" sz="700" u="none" cap="none" strike="noStrike">
                <a:solidFill>
                  <a:srgbClr val="000000"/>
                </a:solidFill>
                <a:latin typeface="Microsoft YaHei"/>
                <a:ea typeface="Microsoft YaHei"/>
                <a:cs typeface="Microsoft YaHei"/>
                <a:sym typeface="Microsoft YaHei"/>
              </a:rPr>
              <a:t>*ENGAGEMENT = MARK + COMMENTS + LIKES + SHARES</a:t>
            </a:r>
            <a:endParaRPr b="0" i="0" sz="700" u="none" cap="none" strike="noStrike">
              <a:solidFill>
                <a:srgbClr val="000000"/>
              </a:solidFill>
              <a:latin typeface="Microsoft YaHei"/>
              <a:ea typeface="Microsoft YaHei"/>
              <a:cs typeface="Microsoft YaHei"/>
              <a:sym typeface="Microsoft YaHei"/>
            </a:endParaRPr>
          </a:p>
        </p:txBody>
      </p:sp>
      <p:sp>
        <p:nvSpPr>
          <p:cNvPr id="258" name="Google Shape;258;p9"/>
          <p:cNvSpPr txBox="1"/>
          <p:nvPr/>
        </p:nvSpPr>
        <p:spPr>
          <a:xfrm>
            <a:off x="60960" y="804800"/>
            <a:ext cx="9011400" cy="11328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We released </a:t>
            </a:r>
            <a:r>
              <a:rPr b="1" lang="zh-HK" sz="1100">
                <a:solidFill>
                  <a:srgbClr val="0F1115"/>
                </a:solidFill>
                <a:highlight>
                  <a:srgbClr val="FFFFFF"/>
                </a:highlight>
                <a:latin typeface="Times New Roman"/>
                <a:ea typeface="Times New Roman"/>
                <a:cs typeface="Times New Roman"/>
                <a:sym typeface="Times New Roman"/>
              </a:rPr>
              <a:t>5 videos</a:t>
            </a:r>
            <a:r>
              <a:rPr lang="zh-HK" sz="1100">
                <a:solidFill>
                  <a:srgbClr val="0F1115"/>
                </a:solidFill>
                <a:highlight>
                  <a:srgbClr val="FFFFFF"/>
                </a:highlight>
                <a:latin typeface="Times New Roman"/>
                <a:ea typeface="Times New Roman"/>
                <a:cs typeface="Times New Roman"/>
                <a:sym typeface="Times New Roman"/>
              </a:rPr>
              <a:t> on Channel in July. </a:t>
            </a:r>
            <a:r>
              <a:rPr b="1" lang="zh-HK" sz="1100">
                <a:solidFill>
                  <a:srgbClr val="0F1115"/>
                </a:solidFill>
                <a:highlight>
                  <a:srgbClr val="FFFFFF"/>
                </a:highlight>
                <a:latin typeface="Times New Roman"/>
                <a:ea typeface="Times New Roman"/>
                <a:cs typeface="Times New Roman"/>
                <a:sym typeface="Times New Roman"/>
              </a:rPr>
              <a:t>Chiikawa</a:t>
            </a:r>
            <a:r>
              <a:rPr lang="zh-HK" sz="1100">
                <a:solidFill>
                  <a:srgbClr val="0F1115"/>
                </a:solidFill>
                <a:highlight>
                  <a:srgbClr val="FFFFFF"/>
                </a:highlight>
                <a:latin typeface="Times New Roman"/>
                <a:ea typeface="Times New Roman"/>
                <a:cs typeface="Times New Roman"/>
                <a:sym typeface="Times New Roman"/>
              </a:rPr>
              <a:t> content performed best, with "現場突發chiikawa真的在香港登島了" recording the </a:t>
            </a:r>
            <a:r>
              <a:rPr b="1" lang="zh-HK" sz="1100">
                <a:solidFill>
                  <a:srgbClr val="0F1115"/>
                </a:solidFill>
                <a:highlight>
                  <a:srgbClr val="FFFFFF"/>
                </a:highlight>
                <a:latin typeface="Times New Roman"/>
                <a:ea typeface="Times New Roman"/>
                <a:cs typeface="Times New Roman"/>
                <a:sym typeface="Times New Roman"/>
              </a:rPr>
              <a:t>highest views and engagement,</a:t>
            </a:r>
            <a:r>
              <a:rPr lang="zh-HK" sz="1100">
                <a:solidFill>
                  <a:srgbClr val="0F1115"/>
                </a:solidFill>
                <a:highlight>
                  <a:srgbClr val="FFFFFF"/>
                </a:highlight>
                <a:latin typeface="Times New Roman"/>
                <a:ea typeface="Times New Roman"/>
                <a:cs typeface="Times New Roman"/>
                <a:sym typeface="Times New Roman"/>
              </a:rPr>
              <a:t> proving that </a:t>
            </a:r>
            <a:r>
              <a:rPr b="1" lang="zh-HK" sz="1100">
                <a:solidFill>
                  <a:srgbClr val="0F1115"/>
                </a:solidFill>
                <a:highlight>
                  <a:srgbClr val="FFFFFF"/>
                </a:highlight>
                <a:latin typeface="Times New Roman"/>
                <a:ea typeface="Times New Roman"/>
                <a:cs typeface="Times New Roman"/>
                <a:sym typeface="Times New Roman"/>
              </a:rPr>
              <a:t>IP teaser and event content</a:t>
            </a:r>
            <a:r>
              <a:rPr lang="zh-HK" sz="1100">
                <a:solidFill>
                  <a:srgbClr val="0F1115"/>
                </a:solidFill>
                <a:highlight>
                  <a:srgbClr val="FFFFFF"/>
                </a:highlight>
                <a:latin typeface="Times New Roman"/>
                <a:ea typeface="Times New Roman"/>
                <a:cs typeface="Times New Roman"/>
                <a:sym typeface="Times New Roman"/>
              </a:rPr>
              <a:t> drive the </a:t>
            </a:r>
            <a:r>
              <a:rPr b="1" lang="zh-HK" sz="1100">
                <a:solidFill>
                  <a:srgbClr val="0F1115"/>
                </a:solidFill>
                <a:highlight>
                  <a:srgbClr val="FFFFFF"/>
                </a:highlight>
                <a:latin typeface="Times New Roman"/>
                <a:ea typeface="Times New Roman"/>
                <a:cs typeface="Times New Roman"/>
                <a:sym typeface="Times New Roman"/>
              </a:rPr>
              <a:t>strongest performance</a:t>
            </a:r>
            <a:r>
              <a:rPr lang="zh-HK" sz="1100">
                <a:solidFill>
                  <a:srgbClr val="0F1115"/>
                </a:solidFill>
                <a:highlight>
                  <a:srgbClr val="FFFFFF"/>
                </a:highlight>
                <a:latin typeface="Times New Roman"/>
                <a:ea typeface="Times New Roman"/>
                <a:cs typeface="Times New Roman"/>
                <a:sym typeface="Times New Roman"/>
              </a:rPr>
              <a:t> on Channel.</a:t>
            </a:r>
            <a:r>
              <a:rPr b="1" lang="zh-HK" sz="1100">
                <a:solidFill>
                  <a:srgbClr val="0F1115"/>
                </a:solidFill>
                <a:highlight>
                  <a:srgbClr val="FFFFFF"/>
                </a:highlight>
                <a:latin typeface="Times New Roman"/>
                <a:ea typeface="Times New Roman"/>
                <a:cs typeface="Times New Roman"/>
                <a:sym typeface="Times New Roman"/>
              </a:rPr>
              <a:t> Cultural content</a:t>
            </a:r>
            <a:r>
              <a:rPr lang="zh-HK" sz="1100">
                <a:solidFill>
                  <a:srgbClr val="0F1115"/>
                </a:solidFill>
                <a:highlight>
                  <a:srgbClr val="FFFFFF"/>
                </a:highlight>
                <a:latin typeface="Times New Roman"/>
                <a:ea typeface="Times New Roman"/>
                <a:cs typeface="Times New Roman"/>
                <a:sym typeface="Times New Roman"/>
              </a:rPr>
              <a:t> "粵語文創" attracted </a:t>
            </a:r>
            <a:r>
              <a:rPr b="1" lang="zh-HK" sz="1100">
                <a:solidFill>
                  <a:srgbClr val="0F1115"/>
                </a:solidFill>
                <a:highlight>
                  <a:srgbClr val="FFFFFF"/>
                </a:highlight>
                <a:latin typeface="Times New Roman"/>
                <a:ea typeface="Times New Roman"/>
                <a:cs typeface="Times New Roman"/>
                <a:sym typeface="Times New Roman"/>
              </a:rPr>
              <a:t>decent views </a:t>
            </a:r>
            <a:r>
              <a:rPr lang="zh-HK" sz="1100">
                <a:solidFill>
                  <a:srgbClr val="0F1115"/>
                </a:solidFill>
                <a:highlight>
                  <a:srgbClr val="FFFFFF"/>
                </a:highlight>
                <a:latin typeface="Times New Roman"/>
                <a:ea typeface="Times New Roman"/>
                <a:cs typeface="Times New Roman"/>
                <a:sym typeface="Times New Roman"/>
              </a:rPr>
              <a:t>but lower engagement — adding more </a:t>
            </a:r>
            <a:r>
              <a:rPr b="1" lang="zh-HK" sz="1100">
                <a:solidFill>
                  <a:srgbClr val="0F1115"/>
                </a:solidFill>
                <a:highlight>
                  <a:srgbClr val="FFFFFF"/>
                </a:highlight>
                <a:latin typeface="Times New Roman"/>
                <a:ea typeface="Times New Roman"/>
                <a:cs typeface="Times New Roman"/>
                <a:sym typeface="Times New Roman"/>
              </a:rPr>
              <a:t>interactive prompts</a:t>
            </a:r>
            <a:r>
              <a:rPr lang="zh-HK" sz="1100">
                <a:solidFill>
                  <a:srgbClr val="0F1115"/>
                </a:solidFill>
                <a:highlight>
                  <a:srgbClr val="FFFFFF"/>
                </a:highlight>
                <a:latin typeface="Times New Roman"/>
                <a:ea typeface="Times New Roman"/>
                <a:cs typeface="Times New Roman"/>
                <a:sym typeface="Times New Roman"/>
              </a:rPr>
              <a:t> could encourage </a:t>
            </a:r>
            <a:r>
              <a:rPr b="1" lang="zh-HK" sz="1100">
                <a:solidFill>
                  <a:srgbClr val="0F1115"/>
                </a:solidFill>
                <a:highlight>
                  <a:srgbClr val="FFFFFF"/>
                </a:highlight>
                <a:latin typeface="Times New Roman"/>
                <a:ea typeface="Times New Roman"/>
                <a:cs typeface="Times New Roman"/>
                <a:sym typeface="Times New Roman"/>
              </a:rPr>
              <a:t>sharing and interaction.</a:t>
            </a:r>
            <a:r>
              <a:rPr lang="zh-HK"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298450" lvl="0" marL="457200" marR="0" rtl="0" algn="l">
              <a:lnSpc>
                <a:spcPct val="115000"/>
              </a:lnSpc>
              <a:spcBef>
                <a:spcPts val="0"/>
              </a:spcBef>
              <a:spcAft>
                <a:spcPts val="0"/>
              </a:spcAft>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Compared to June, </a:t>
            </a:r>
            <a:r>
              <a:rPr b="1" lang="zh-HK" sz="1100">
                <a:solidFill>
                  <a:srgbClr val="0F1115"/>
                </a:solidFill>
                <a:highlight>
                  <a:srgbClr val="FFFFFF"/>
                </a:highlight>
                <a:latin typeface="Times New Roman"/>
                <a:ea typeface="Times New Roman"/>
                <a:cs typeface="Times New Roman"/>
                <a:sym typeface="Times New Roman"/>
              </a:rPr>
              <a:t>views rose</a:t>
            </a:r>
            <a:r>
              <a:rPr lang="zh-HK" sz="1100">
                <a:solidFill>
                  <a:srgbClr val="0F1115"/>
                </a:solidFill>
                <a:highlight>
                  <a:srgbClr val="FFFFFF"/>
                </a:highlight>
                <a:latin typeface="Times New Roman"/>
                <a:ea typeface="Times New Roman"/>
                <a:cs typeface="Times New Roman"/>
                <a:sym typeface="Times New Roman"/>
              </a:rPr>
              <a:t> </a:t>
            </a:r>
            <a:r>
              <a:rPr b="1" lang="zh-HK" sz="1100">
                <a:solidFill>
                  <a:srgbClr val="0F1115"/>
                </a:solidFill>
                <a:highlight>
                  <a:srgbClr val="FFFFFF"/>
                </a:highlight>
                <a:latin typeface="Times New Roman"/>
                <a:ea typeface="Times New Roman"/>
                <a:cs typeface="Times New Roman"/>
                <a:sym typeface="Times New Roman"/>
              </a:rPr>
              <a:t>9.3%</a:t>
            </a:r>
            <a:r>
              <a:rPr lang="zh-HK" sz="1100">
                <a:solidFill>
                  <a:srgbClr val="0F1115"/>
                </a:solidFill>
                <a:highlight>
                  <a:srgbClr val="FFFFFF"/>
                </a:highlight>
                <a:latin typeface="Times New Roman"/>
                <a:ea typeface="Times New Roman"/>
                <a:cs typeface="Times New Roman"/>
                <a:sym typeface="Times New Roman"/>
              </a:rPr>
              <a:t> (10,168→11,113), </a:t>
            </a:r>
            <a:r>
              <a:rPr b="1" lang="zh-HK" sz="1100">
                <a:solidFill>
                  <a:srgbClr val="0F1115"/>
                </a:solidFill>
                <a:highlight>
                  <a:srgbClr val="FFFFFF"/>
                </a:highlight>
                <a:latin typeface="Times New Roman"/>
                <a:ea typeface="Times New Roman"/>
                <a:cs typeface="Times New Roman"/>
                <a:sym typeface="Times New Roman"/>
              </a:rPr>
              <a:t>engagement</a:t>
            </a:r>
            <a:r>
              <a:rPr lang="zh-HK" sz="1100">
                <a:solidFill>
                  <a:srgbClr val="0F1115"/>
                </a:solidFill>
                <a:highlight>
                  <a:srgbClr val="FFFFFF"/>
                </a:highlight>
                <a:latin typeface="Times New Roman"/>
                <a:ea typeface="Times New Roman"/>
                <a:cs typeface="Times New Roman"/>
                <a:sym typeface="Times New Roman"/>
              </a:rPr>
              <a:t> </a:t>
            </a:r>
            <a:r>
              <a:rPr b="1" lang="zh-HK" sz="1100">
                <a:solidFill>
                  <a:srgbClr val="0F1115"/>
                </a:solidFill>
                <a:highlight>
                  <a:srgbClr val="FFFFFF"/>
                </a:highlight>
                <a:latin typeface="Times New Roman"/>
                <a:ea typeface="Times New Roman"/>
                <a:cs typeface="Times New Roman"/>
                <a:sym typeface="Times New Roman"/>
              </a:rPr>
              <a:t>rose 67.6%</a:t>
            </a:r>
            <a:r>
              <a:rPr lang="zh-HK" sz="1100">
                <a:solidFill>
                  <a:srgbClr val="0F1115"/>
                </a:solidFill>
                <a:highlight>
                  <a:srgbClr val="FFFFFF"/>
                </a:highlight>
                <a:latin typeface="Times New Roman"/>
                <a:ea typeface="Times New Roman"/>
                <a:cs typeface="Times New Roman"/>
                <a:sym typeface="Times New Roman"/>
              </a:rPr>
              <a:t> (34→57), and </a:t>
            </a:r>
            <a:r>
              <a:rPr b="1" lang="zh-HK" sz="1100">
                <a:solidFill>
                  <a:srgbClr val="0F1115"/>
                </a:solidFill>
                <a:highlight>
                  <a:srgbClr val="FFFFFF"/>
                </a:highlight>
                <a:latin typeface="Times New Roman"/>
                <a:ea typeface="Times New Roman"/>
                <a:cs typeface="Times New Roman"/>
                <a:sym typeface="Times New Roman"/>
              </a:rPr>
              <a:t>engagement rate improved</a:t>
            </a:r>
            <a:r>
              <a:rPr lang="zh-HK" sz="1100">
                <a:solidFill>
                  <a:srgbClr val="0F1115"/>
                </a:solidFill>
                <a:highlight>
                  <a:srgbClr val="FFFFFF"/>
                </a:highlight>
                <a:latin typeface="Times New Roman"/>
                <a:ea typeface="Times New Roman"/>
                <a:cs typeface="Times New Roman"/>
                <a:sym typeface="Times New Roman"/>
              </a:rPr>
              <a:t> from 0.33% to 0.51%. The growth was driven by the Chiikawa IP momentum, indicating that </a:t>
            </a:r>
            <a:r>
              <a:rPr b="1" lang="zh-HK" sz="1100">
                <a:solidFill>
                  <a:srgbClr val="0F1115"/>
                </a:solidFill>
                <a:highlight>
                  <a:srgbClr val="FFFFFF"/>
                </a:highlight>
                <a:latin typeface="Times New Roman"/>
                <a:ea typeface="Times New Roman"/>
                <a:cs typeface="Times New Roman"/>
                <a:sym typeface="Times New Roman"/>
              </a:rPr>
              <a:t>high-profile IP content</a:t>
            </a:r>
            <a:r>
              <a:rPr lang="zh-HK" sz="1100">
                <a:solidFill>
                  <a:srgbClr val="0F1115"/>
                </a:solidFill>
                <a:highlight>
                  <a:srgbClr val="FFFFFF"/>
                </a:highlight>
                <a:latin typeface="Times New Roman"/>
                <a:ea typeface="Times New Roman"/>
                <a:cs typeface="Times New Roman"/>
                <a:sym typeface="Times New Roman"/>
              </a:rPr>
              <a:t> significantly boosts Channel performance.</a:t>
            </a:r>
            <a:r>
              <a:rPr lang="zh-HK"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p:txBody>
      </p:sp>
      <p:graphicFrame>
        <p:nvGraphicFramePr>
          <p:cNvPr id="259" name="Google Shape;259;p9"/>
          <p:cNvGraphicFramePr/>
          <p:nvPr/>
        </p:nvGraphicFramePr>
        <p:xfrm>
          <a:off x="294038" y="2199545"/>
          <a:ext cx="3000000" cy="3000000"/>
        </p:xfrm>
        <a:graphic>
          <a:graphicData uri="http://schemas.openxmlformats.org/drawingml/2006/table">
            <a:tbl>
              <a:tblPr>
                <a:noFill/>
                <a:tableStyleId>{E1739E71-98CB-4F31-BA75-B360A44B9F01}</a:tableStyleId>
              </a:tblPr>
              <a:tblGrid>
                <a:gridCol w="451300"/>
                <a:gridCol w="565100"/>
                <a:gridCol w="1259000"/>
                <a:gridCol w="466575"/>
                <a:gridCol w="763900"/>
                <a:gridCol w="628975"/>
                <a:gridCol w="418300"/>
                <a:gridCol w="435975"/>
                <a:gridCol w="850950"/>
                <a:gridCol w="773675"/>
              </a:tblGrid>
              <a:tr h="272000">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Post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Date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Subject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View</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Recommend</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Comment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Like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Share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Total Engagement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Engagement Rate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r>
              <a:tr h="344175">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1</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Ju</a:t>
                      </a:r>
                      <a:r>
                        <a:rPr lang="zh-HK" sz="1000"/>
                        <a:t>l 4</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HK" sz="800"/>
                        <a:t>香港速冲🔥Sanrio新系列可爱爆炸⚽️</a:t>
                      </a:r>
                      <a:r>
                        <a:rPr lang="zh-HK"/>
                        <a:t>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2</a:t>
                      </a:r>
                      <a:r>
                        <a:rPr lang="zh-HK" sz="1000"/>
                        <a:t>,244</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1</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7</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8</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0.</a:t>
                      </a:r>
                      <a:r>
                        <a:rPr lang="zh-HK" sz="1000"/>
                        <a:t>36</a:t>
                      </a:r>
                      <a:r>
                        <a:rPr lang="zh-HK" sz="1000" u="none" cap="none" strike="noStrike"/>
                        <a:t>%</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365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2</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Ju</a:t>
                      </a:r>
                      <a:r>
                        <a:rPr lang="zh-HK" sz="1000"/>
                        <a:t>l</a:t>
                      </a:r>
                      <a:r>
                        <a:rPr lang="zh-HK" sz="1000" u="none" cap="none" strike="noStrike"/>
                        <a:t> </a:t>
                      </a:r>
                      <a:r>
                        <a:rPr lang="zh-HK" sz="1000"/>
                        <a:t>7</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确定了⚠️7月CHIIKAWA要在香港登岛啦！！</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2</a:t>
                      </a:r>
                      <a:r>
                        <a:rPr lang="zh-HK" sz="1000"/>
                        <a:t>,821</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2</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3</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8</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13</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0.</a:t>
                      </a:r>
                      <a:r>
                        <a:rPr lang="zh-HK" sz="1000"/>
                        <a:t>46</a:t>
                      </a:r>
                      <a:r>
                        <a:rPr lang="zh-HK" sz="1000" u="none" cap="none" strike="noStrike"/>
                        <a:t>%</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365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3</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Ju</a:t>
                      </a:r>
                      <a:r>
                        <a:rPr lang="zh-HK" sz="1000"/>
                        <a:t>l</a:t>
                      </a:r>
                      <a:r>
                        <a:rPr lang="zh-HK" sz="1000" u="none" cap="none" strike="noStrike"/>
                        <a:t> 1</a:t>
                      </a:r>
                      <a:r>
                        <a:rPr lang="zh-HK" sz="1000"/>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现场突发⚠️chiikawa真的在香港登岛了！！</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3,190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6</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7</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16</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29</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0.</a:t>
                      </a:r>
                      <a:r>
                        <a:rPr lang="zh-HK" sz="1000"/>
                        <a:t>91</a:t>
                      </a:r>
                      <a:r>
                        <a:rPr lang="zh-HK" sz="1000" u="none" cap="none" strike="noStrike"/>
                        <a:t>%</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07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4</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Ju</a:t>
                      </a:r>
                      <a:r>
                        <a:rPr lang="zh-HK" sz="1000"/>
                        <a:t>l</a:t>
                      </a:r>
                      <a:r>
                        <a:rPr lang="zh-HK" sz="1000" u="none" cap="none" strike="noStrike"/>
                        <a:t> </a:t>
                      </a:r>
                      <a:r>
                        <a:rPr lang="zh-HK" sz="1000"/>
                        <a:t>16</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香港粤语文创...我真的没空陪你闹了！😂</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2,833</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5</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1</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6</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0.2</a:t>
                      </a:r>
                      <a:r>
                        <a:rPr lang="zh-HK" sz="1000"/>
                        <a:t>1</a:t>
                      </a:r>
                      <a:r>
                        <a:rPr lang="zh-HK" sz="1000" u="none" cap="none" strike="noStrike"/>
                        <a:t>%</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0700">
                <a:tc>
                  <a:txBody>
                    <a:bodyPr/>
                    <a:lstStyle/>
                    <a:p>
                      <a:pPr indent="0" lvl="0" marL="0" marR="0" rtl="0" algn="ctr">
                        <a:lnSpc>
                          <a:spcPct val="115000"/>
                        </a:lnSpc>
                        <a:spcBef>
                          <a:spcPts val="0"/>
                        </a:spcBef>
                        <a:spcAft>
                          <a:spcPts val="0"/>
                        </a:spcAft>
                        <a:buNone/>
                      </a:pPr>
                      <a:r>
                        <a:rPr lang="zh-HK" sz="1000"/>
                        <a:t>5</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Jul 30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800"/>
                        <a:t>『香港避暑』旺角邂逅金庸的武侠世界</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25</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1</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1</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4.00%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0325">
                <a:tc gridSpan="3">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t>Ju</a:t>
                      </a:r>
                      <a:r>
                        <a:rPr b="1" lang="zh-HK" sz="1000"/>
                        <a:t>l</a:t>
                      </a:r>
                      <a:r>
                        <a:rPr b="1" lang="zh-HK" sz="1000" u="none" cap="none" strike="noStrike"/>
                        <a:t> Total</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hMerge="1"/>
                <a:tc hMerge="1"/>
                <a:tc>
                  <a:txBody>
                    <a:bodyPr/>
                    <a:lstStyle/>
                    <a:p>
                      <a:pPr indent="0" lvl="0" marL="0" rtl="0" algn="l">
                        <a:spcBef>
                          <a:spcPts val="0"/>
                        </a:spcBef>
                        <a:spcAft>
                          <a:spcPts val="0"/>
                        </a:spcAft>
                        <a:buNone/>
                      </a:pPr>
                      <a:r>
                        <a:rPr b="1" lang="zh-HK" sz="1000"/>
                        <a:t>11,113</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t>9</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t>0</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t>22</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t>26</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t>57</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t>0.</a:t>
                      </a:r>
                      <a:r>
                        <a:rPr b="1" lang="zh-HK" sz="1000"/>
                        <a:t>51</a:t>
                      </a:r>
                      <a:r>
                        <a:rPr b="1" lang="zh-HK" sz="1000" u="none" cap="none" strike="noStrike"/>
                        <a:t>%</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r>
            </a:tbl>
          </a:graphicData>
        </a:graphic>
      </p:graphicFrame>
      <p:pic>
        <p:nvPicPr>
          <p:cNvPr id="260" name="Google Shape;260;p9" title="a697a07488e44c8c8c06bebbaeb5ef46.png"/>
          <p:cNvPicPr preferRelativeResize="0"/>
          <p:nvPr/>
        </p:nvPicPr>
        <p:blipFill rotWithShape="1">
          <a:blip r:embed="rId3">
            <a:alphaModFix/>
          </a:blip>
          <a:srcRect b="0" l="278" r="269" t="0"/>
          <a:stretch/>
        </p:blipFill>
        <p:spPr>
          <a:xfrm>
            <a:off x="565025" y="301850"/>
            <a:ext cx="394818" cy="397000"/>
          </a:xfrm>
          <a:prstGeom prst="rect">
            <a:avLst/>
          </a:prstGeom>
          <a:noFill/>
          <a:ln>
            <a:noFill/>
          </a:ln>
        </p:spPr>
      </p:pic>
      <p:sp>
        <p:nvSpPr>
          <p:cNvPr id="261" name="Google Shape;261;p9"/>
          <p:cNvSpPr/>
          <p:nvPr/>
        </p:nvSpPr>
        <p:spPr>
          <a:xfrm>
            <a:off x="471690" y="359057"/>
            <a:ext cx="42900" cy="282600"/>
          </a:xfrm>
          <a:prstGeom prst="rect">
            <a:avLst/>
          </a:prstGeom>
          <a:solidFill>
            <a:srgbClr val="FFAB4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icrosoft YaHei"/>
              <a:ea typeface="Microsoft YaHei"/>
              <a:cs typeface="Microsoft YaHei"/>
              <a:sym typeface="Microsoft YaHei"/>
            </a:endParaRPr>
          </a:p>
        </p:txBody>
      </p:sp>
      <p:sp>
        <p:nvSpPr>
          <p:cNvPr id="262" name="Google Shape;262;p9"/>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263" name="Google Shape;263;p9"/>
          <p:cNvPicPr preferRelativeResize="0"/>
          <p:nvPr/>
        </p:nvPicPr>
        <p:blipFill rotWithShape="1">
          <a:blip r:embed="rId4">
            <a:alphaModFix/>
          </a:blip>
          <a:srcRect b="21020" l="14061" r="17215" t="26140"/>
          <a:stretch/>
        </p:blipFill>
        <p:spPr>
          <a:xfrm>
            <a:off x="8094845" y="162433"/>
            <a:ext cx="1049154" cy="423511"/>
          </a:xfrm>
          <a:prstGeom prst="rect">
            <a:avLst/>
          </a:prstGeom>
          <a:noFill/>
          <a:ln>
            <a:noFill/>
          </a:ln>
        </p:spPr>
      </p:pic>
      <p:sp>
        <p:nvSpPr>
          <p:cNvPr id="264" name="Google Shape;264;p9"/>
          <p:cNvSpPr txBox="1"/>
          <p:nvPr/>
        </p:nvSpPr>
        <p:spPr>
          <a:xfrm>
            <a:off x="1010275" y="254050"/>
            <a:ext cx="4972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Channel Performance Summary</a:t>
            </a:r>
            <a:endParaRPr b="1" i="0" sz="2000" u="none" cap="none" strike="noStrike">
              <a:solidFill>
                <a:srgbClr val="000000"/>
              </a:solidFill>
              <a:latin typeface="Times New Roman"/>
              <a:ea typeface="Times New Roman"/>
              <a:cs typeface="Times New Roman"/>
              <a:sym typeface="Times New Roman"/>
            </a:endParaRPr>
          </a:p>
        </p:txBody>
      </p:sp>
      <p:sp>
        <p:nvSpPr>
          <p:cNvPr id="265" name="Google Shape;265;p9"/>
          <p:cNvSpPr/>
          <p:nvPr/>
        </p:nvSpPr>
        <p:spPr>
          <a:xfrm>
            <a:off x="294050" y="3374790"/>
            <a:ext cx="6613800" cy="42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6" name="Google Shape;266;p9"/>
          <p:cNvPicPr preferRelativeResize="0"/>
          <p:nvPr/>
        </p:nvPicPr>
        <p:blipFill>
          <a:blip r:embed="rId5">
            <a:alphaModFix/>
          </a:blip>
          <a:stretch>
            <a:fillRect/>
          </a:stretch>
        </p:blipFill>
        <p:spPr>
          <a:xfrm>
            <a:off x="7320125" y="2022450"/>
            <a:ext cx="1271425" cy="2720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e72db23f1e_0_36"/>
          <p:cNvSpPr txBox="1"/>
          <p:nvPr/>
        </p:nvSpPr>
        <p:spPr>
          <a:xfrm>
            <a:off x="4395788" y="4835319"/>
            <a:ext cx="46743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zh-HK" sz="700" u="none" cap="none" strike="noStrike">
                <a:solidFill>
                  <a:srgbClr val="000000"/>
                </a:solidFill>
                <a:latin typeface="Microsoft YaHei"/>
                <a:ea typeface="Microsoft YaHei"/>
                <a:cs typeface="Microsoft YaHei"/>
                <a:sym typeface="Microsoft YaHei"/>
              </a:rPr>
              <a:t>*ENGAGEMENT = MARK + COMMENTS + LIKES + SHARES</a:t>
            </a:r>
            <a:endParaRPr b="0" i="0" sz="700" u="none" cap="none" strike="noStrike">
              <a:solidFill>
                <a:srgbClr val="000000"/>
              </a:solidFill>
              <a:latin typeface="Microsoft YaHei"/>
              <a:ea typeface="Microsoft YaHei"/>
              <a:cs typeface="Microsoft YaHei"/>
              <a:sym typeface="Microsoft YaHei"/>
            </a:endParaRPr>
          </a:p>
        </p:txBody>
      </p:sp>
      <p:sp>
        <p:nvSpPr>
          <p:cNvPr id="272" name="Google Shape;272;g3e72db23f1e_0_36"/>
          <p:cNvSpPr txBox="1"/>
          <p:nvPr/>
        </p:nvSpPr>
        <p:spPr>
          <a:xfrm>
            <a:off x="230500" y="822650"/>
            <a:ext cx="8593500" cy="13275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In July, we boosted</a:t>
            </a:r>
            <a:r>
              <a:rPr b="1" lang="zh-HK" sz="1100">
                <a:solidFill>
                  <a:srgbClr val="0F1115"/>
                </a:solidFill>
                <a:highlight>
                  <a:srgbClr val="FFFFFF"/>
                </a:highlight>
                <a:latin typeface="Times New Roman"/>
                <a:ea typeface="Times New Roman"/>
                <a:cs typeface="Times New Roman"/>
                <a:sym typeface="Times New Roman"/>
              </a:rPr>
              <a:t> 5 videos for RMB 250</a:t>
            </a:r>
            <a:r>
              <a:rPr lang="zh-HK" sz="1100">
                <a:solidFill>
                  <a:srgbClr val="0F1115"/>
                </a:solidFill>
                <a:highlight>
                  <a:srgbClr val="FFFFFF"/>
                </a:highlight>
                <a:latin typeface="Times New Roman"/>
                <a:ea typeface="Times New Roman"/>
                <a:cs typeface="Times New Roman"/>
                <a:sym typeface="Times New Roman"/>
              </a:rPr>
              <a:t>, generating 10,172 views and 17 engagements. Boosting focused on </a:t>
            </a:r>
            <a:r>
              <a:rPr b="1" lang="zh-HK" sz="1100">
                <a:solidFill>
                  <a:srgbClr val="0F1115"/>
                </a:solidFill>
                <a:highlight>
                  <a:srgbClr val="FFFFFF"/>
                </a:highlight>
                <a:latin typeface="Times New Roman"/>
                <a:ea typeface="Times New Roman"/>
                <a:cs typeface="Times New Roman"/>
                <a:sym typeface="Times New Roman"/>
              </a:rPr>
              <a:t>IP content</a:t>
            </a:r>
            <a:r>
              <a:rPr lang="zh-HK" sz="1100">
                <a:solidFill>
                  <a:srgbClr val="0F1115"/>
                </a:solidFill>
                <a:highlight>
                  <a:srgbClr val="FFFFFF"/>
                </a:highlight>
                <a:latin typeface="Times New Roman"/>
                <a:ea typeface="Times New Roman"/>
                <a:cs typeface="Times New Roman"/>
                <a:sym typeface="Times New Roman"/>
              </a:rPr>
              <a:t>, with </a:t>
            </a:r>
            <a:r>
              <a:rPr b="1" lang="zh-HK" sz="1100">
                <a:solidFill>
                  <a:srgbClr val="0F1115"/>
                </a:solidFill>
                <a:highlight>
                  <a:srgbClr val="FFFFFF"/>
                </a:highlight>
                <a:latin typeface="Times New Roman"/>
                <a:ea typeface="Times New Roman"/>
                <a:cs typeface="Times New Roman"/>
                <a:sym typeface="Times New Roman"/>
              </a:rPr>
              <a:t>Chiikawa event launch video</a:t>
            </a:r>
            <a:r>
              <a:rPr lang="zh-HK" sz="1100">
                <a:solidFill>
                  <a:srgbClr val="0F1115"/>
                </a:solidFill>
                <a:highlight>
                  <a:srgbClr val="FFFFFF"/>
                </a:highlight>
                <a:latin typeface="Times New Roman"/>
                <a:ea typeface="Times New Roman"/>
                <a:cs typeface="Times New Roman"/>
                <a:sym typeface="Times New Roman"/>
              </a:rPr>
              <a:t> receiving </a:t>
            </a:r>
            <a:r>
              <a:rPr b="1" lang="zh-HK" sz="1100">
                <a:solidFill>
                  <a:srgbClr val="0F1115"/>
                </a:solidFill>
                <a:highlight>
                  <a:srgbClr val="FFFFFF"/>
                </a:highlight>
                <a:latin typeface="Times New Roman"/>
                <a:ea typeface="Times New Roman"/>
                <a:cs typeface="Times New Roman"/>
                <a:sym typeface="Times New Roman"/>
              </a:rPr>
              <a:t>two rounds of boosting</a:t>
            </a:r>
            <a:r>
              <a:rPr lang="zh-HK" sz="1100">
                <a:solidFill>
                  <a:srgbClr val="0F1115"/>
                </a:solidFill>
                <a:highlight>
                  <a:srgbClr val="FFFFFF"/>
                </a:highlight>
                <a:latin typeface="Times New Roman"/>
                <a:ea typeface="Times New Roman"/>
                <a:cs typeface="Times New Roman"/>
                <a:sym typeface="Times New Roman"/>
              </a:rPr>
              <a:t> to sustain </a:t>
            </a:r>
            <a:r>
              <a:rPr b="1" lang="zh-HK" sz="1100">
                <a:solidFill>
                  <a:srgbClr val="0F1115"/>
                </a:solidFill>
                <a:highlight>
                  <a:srgbClr val="FFFFFF"/>
                </a:highlight>
                <a:latin typeface="Times New Roman"/>
                <a:ea typeface="Times New Roman"/>
                <a:cs typeface="Times New Roman"/>
                <a:sym typeface="Times New Roman"/>
              </a:rPr>
              <a:t>campaign momentum</a:t>
            </a:r>
            <a:r>
              <a:rPr lang="zh-HK" sz="1100">
                <a:solidFill>
                  <a:srgbClr val="0F1115"/>
                </a:solidFill>
                <a:highlight>
                  <a:srgbClr val="FFFFFF"/>
                </a:highlight>
                <a:latin typeface="Times New Roman"/>
                <a:ea typeface="Times New Roman"/>
                <a:cs typeface="Times New Roman"/>
                <a:sym typeface="Times New Roman"/>
              </a:rPr>
              <a:t>. The top performer was </a:t>
            </a:r>
            <a:r>
              <a:rPr b="1" lang="zh-HK" sz="1100">
                <a:solidFill>
                  <a:srgbClr val="0F1115"/>
                </a:solidFill>
                <a:highlight>
                  <a:srgbClr val="FFFFFF"/>
                </a:highlight>
                <a:latin typeface="Times New Roman"/>
                <a:ea typeface="Times New Roman"/>
                <a:cs typeface="Times New Roman"/>
                <a:sym typeface="Times New Roman"/>
              </a:rPr>
              <a:t>"粵語文創" </a:t>
            </a:r>
            <a:r>
              <a:rPr lang="zh-HK" sz="1100">
                <a:solidFill>
                  <a:srgbClr val="0F1115"/>
                </a:solidFill>
                <a:highlight>
                  <a:srgbClr val="FFFFFF"/>
                </a:highlight>
                <a:latin typeface="Times New Roman"/>
                <a:ea typeface="Times New Roman"/>
                <a:cs typeface="Times New Roman"/>
                <a:sym typeface="Times New Roman"/>
              </a:rPr>
              <a:t>(2,684 views) , reflecting that</a:t>
            </a:r>
            <a:r>
              <a:rPr b="1" lang="zh-HK" sz="1100">
                <a:solidFill>
                  <a:srgbClr val="0F1115"/>
                </a:solidFill>
                <a:highlight>
                  <a:srgbClr val="FFFFFF"/>
                </a:highlight>
                <a:latin typeface="Times New Roman"/>
                <a:ea typeface="Times New Roman"/>
                <a:cs typeface="Times New Roman"/>
                <a:sym typeface="Times New Roman"/>
              </a:rPr>
              <a:t> local culture content</a:t>
            </a:r>
            <a:r>
              <a:rPr lang="zh-HK" sz="1100">
                <a:solidFill>
                  <a:srgbClr val="0F1115"/>
                </a:solidFill>
                <a:highlight>
                  <a:srgbClr val="FFFFFF"/>
                </a:highlight>
                <a:latin typeface="Times New Roman"/>
                <a:ea typeface="Times New Roman"/>
                <a:cs typeface="Times New Roman"/>
                <a:sym typeface="Times New Roman"/>
              </a:rPr>
              <a:t> resonates strongly with audiences.</a:t>
            </a:r>
            <a:r>
              <a:rPr lang="zh-HK" sz="1100">
                <a:latin typeface="Times New Roman"/>
                <a:ea typeface="Times New Roman"/>
                <a:cs typeface="Times New Roman"/>
                <a:sym typeface="Times New Roman"/>
              </a:rPr>
              <a:t> </a:t>
            </a:r>
            <a:endParaRPr sz="1100">
              <a:solidFill>
                <a:srgbClr val="0F1115"/>
              </a:solidFill>
              <a:highlight>
                <a:srgbClr val="FFFFFF"/>
              </a:highlight>
              <a:latin typeface="Times New Roman"/>
              <a:ea typeface="Times New Roman"/>
              <a:cs typeface="Times New Roman"/>
              <a:sym typeface="Times New Roman"/>
            </a:endParaRPr>
          </a:p>
          <a:p>
            <a:pPr indent="-298450" lvl="0" marL="457200" marR="0" rtl="0" algn="l">
              <a:lnSpc>
                <a:spcPct val="115000"/>
              </a:lnSpc>
              <a:spcBef>
                <a:spcPts val="0"/>
              </a:spcBef>
              <a:spcAft>
                <a:spcPts val="0"/>
              </a:spcAft>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Since May,  </a:t>
            </a:r>
            <a:r>
              <a:rPr b="1" lang="zh-HK" sz="1100">
                <a:solidFill>
                  <a:srgbClr val="0F1115"/>
                </a:solidFill>
                <a:highlight>
                  <a:srgbClr val="FFFFFF"/>
                </a:highlight>
                <a:latin typeface="Times New Roman"/>
                <a:ea typeface="Times New Roman"/>
                <a:cs typeface="Times New Roman"/>
                <a:sym typeface="Times New Roman"/>
              </a:rPr>
              <a:t>top-view boosted conten</a:t>
            </a:r>
            <a:r>
              <a:rPr lang="zh-HK" sz="1100">
                <a:solidFill>
                  <a:srgbClr val="0F1115"/>
                </a:solidFill>
                <a:highlight>
                  <a:srgbClr val="FFFFFF"/>
                </a:highlight>
                <a:latin typeface="Times New Roman"/>
                <a:ea typeface="Times New Roman"/>
                <a:cs typeface="Times New Roman"/>
                <a:sym typeface="Times New Roman"/>
              </a:rPr>
              <a:t>t has consistently been</a:t>
            </a:r>
            <a:r>
              <a:rPr b="1" lang="zh-HK" sz="1100">
                <a:solidFill>
                  <a:srgbClr val="0F1115"/>
                </a:solidFill>
                <a:highlight>
                  <a:srgbClr val="FFFFFF"/>
                </a:highlight>
                <a:latin typeface="Times New Roman"/>
                <a:ea typeface="Times New Roman"/>
                <a:cs typeface="Times New Roman"/>
                <a:sym typeface="Times New Roman"/>
              </a:rPr>
              <a:t> local lifestyle and cultural content</a:t>
            </a:r>
            <a:r>
              <a:rPr lang="zh-HK" sz="1100">
                <a:solidFill>
                  <a:srgbClr val="0F1115"/>
                </a:solidFill>
                <a:highlight>
                  <a:srgbClr val="FFFFFF"/>
                </a:highlight>
                <a:latin typeface="Times New Roman"/>
                <a:ea typeface="Times New Roman"/>
                <a:cs typeface="Times New Roman"/>
                <a:sym typeface="Times New Roman"/>
              </a:rPr>
              <a:t> (街訪, 麵包腦袋, 飾品店),   indicating strong audience receptivity toward </a:t>
            </a:r>
            <a:r>
              <a:rPr b="1" lang="zh-HK" sz="1100">
                <a:solidFill>
                  <a:srgbClr val="0F1115"/>
                </a:solidFill>
                <a:highlight>
                  <a:srgbClr val="FFFFFF"/>
                </a:highlight>
                <a:latin typeface="Times New Roman"/>
                <a:ea typeface="Times New Roman"/>
                <a:cs typeface="Times New Roman"/>
                <a:sym typeface="Times New Roman"/>
              </a:rPr>
              <a:t>relatable, topical local content</a:t>
            </a:r>
            <a:r>
              <a:rPr lang="zh-HK" sz="1100">
                <a:solidFill>
                  <a:srgbClr val="0F1115"/>
                </a:solidFill>
                <a:highlight>
                  <a:srgbClr val="FFFFFF"/>
                </a:highlight>
                <a:latin typeface="Times New Roman"/>
                <a:ea typeface="Times New Roman"/>
                <a:cs typeface="Times New Roman"/>
                <a:sym typeface="Times New Roman"/>
              </a:rPr>
              <a:t>. Going forward, we recommend prioritizing local lifestyle content with </a:t>
            </a:r>
            <a:r>
              <a:rPr b="1" lang="zh-HK" sz="1100">
                <a:solidFill>
                  <a:srgbClr val="0F1115"/>
                </a:solidFill>
                <a:highlight>
                  <a:srgbClr val="FFFFFF"/>
                </a:highlight>
                <a:latin typeface="Times New Roman"/>
                <a:ea typeface="Times New Roman"/>
                <a:cs typeface="Times New Roman"/>
                <a:sym typeface="Times New Roman"/>
              </a:rPr>
              <a:t>second or third boosts</a:t>
            </a:r>
            <a:r>
              <a:rPr lang="zh-HK" sz="1100">
                <a:solidFill>
                  <a:srgbClr val="0F1115"/>
                </a:solidFill>
                <a:highlight>
                  <a:srgbClr val="FFFFFF"/>
                </a:highlight>
                <a:latin typeface="Times New Roman"/>
                <a:ea typeface="Times New Roman"/>
                <a:cs typeface="Times New Roman"/>
                <a:sym typeface="Times New Roman"/>
              </a:rPr>
              <a:t> to extend reach, while using </a:t>
            </a:r>
            <a:r>
              <a:rPr b="1" lang="zh-HK" sz="1100">
                <a:solidFill>
                  <a:srgbClr val="0F1115"/>
                </a:solidFill>
                <a:highlight>
                  <a:srgbClr val="FFFFFF"/>
                </a:highlight>
                <a:latin typeface="Times New Roman"/>
                <a:ea typeface="Times New Roman"/>
                <a:cs typeface="Times New Roman"/>
                <a:sym typeface="Times New Roman"/>
              </a:rPr>
              <a:t>IP content</a:t>
            </a:r>
            <a:r>
              <a:rPr lang="zh-HK" sz="1100">
                <a:solidFill>
                  <a:srgbClr val="0F1115"/>
                </a:solidFill>
                <a:highlight>
                  <a:srgbClr val="FFFFFF"/>
                </a:highlight>
                <a:latin typeface="Times New Roman"/>
                <a:ea typeface="Times New Roman"/>
                <a:cs typeface="Times New Roman"/>
                <a:sym typeface="Times New Roman"/>
              </a:rPr>
              <a:t> for </a:t>
            </a:r>
            <a:r>
              <a:rPr b="1" lang="zh-HK" sz="1100">
                <a:solidFill>
                  <a:srgbClr val="0F1115"/>
                </a:solidFill>
                <a:highlight>
                  <a:srgbClr val="FFFFFF"/>
                </a:highlight>
                <a:latin typeface="Times New Roman"/>
                <a:ea typeface="Times New Roman"/>
                <a:cs typeface="Times New Roman"/>
                <a:sym typeface="Times New Roman"/>
              </a:rPr>
              <a:t>niche audience targeting.</a:t>
            </a:r>
            <a:endParaRPr b="1" sz="1100">
              <a:solidFill>
                <a:srgbClr val="0F1115"/>
              </a:solidFill>
              <a:highlight>
                <a:srgbClr val="FFFFFF"/>
              </a:highlight>
              <a:latin typeface="Times New Roman"/>
              <a:ea typeface="Times New Roman"/>
              <a:cs typeface="Times New Roman"/>
              <a:sym typeface="Times New Roman"/>
            </a:endParaRPr>
          </a:p>
        </p:txBody>
      </p:sp>
      <p:pic>
        <p:nvPicPr>
          <p:cNvPr id="273" name="Google Shape;273;g3e72db23f1e_0_36" title="a697a07488e44c8c8c06bebbaeb5ef46.png"/>
          <p:cNvPicPr preferRelativeResize="0"/>
          <p:nvPr/>
        </p:nvPicPr>
        <p:blipFill rotWithShape="1">
          <a:blip r:embed="rId3">
            <a:alphaModFix/>
          </a:blip>
          <a:srcRect b="0" l="278" r="269" t="0"/>
          <a:stretch/>
        </p:blipFill>
        <p:spPr>
          <a:xfrm>
            <a:off x="565025" y="301850"/>
            <a:ext cx="394818" cy="397000"/>
          </a:xfrm>
          <a:prstGeom prst="rect">
            <a:avLst/>
          </a:prstGeom>
          <a:noFill/>
          <a:ln>
            <a:noFill/>
          </a:ln>
        </p:spPr>
      </p:pic>
      <p:sp>
        <p:nvSpPr>
          <p:cNvPr id="274" name="Google Shape;274;g3e72db23f1e_0_36"/>
          <p:cNvSpPr/>
          <p:nvPr/>
        </p:nvSpPr>
        <p:spPr>
          <a:xfrm>
            <a:off x="471690" y="359057"/>
            <a:ext cx="42900" cy="282600"/>
          </a:xfrm>
          <a:prstGeom prst="rect">
            <a:avLst/>
          </a:prstGeom>
          <a:solidFill>
            <a:srgbClr val="FFAB4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icrosoft YaHei"/>
              <a:ea typeface="Microsoft YaHei"/>
              <a:cs typeface="Microsoft YaHei"/>
              <a:sym typeface="Microsoft YaHei"/>
            </a:endParaRPr>
          </a:p>
        </p:txBody>
      </p:sp>
      <p:sp>
        <p:nvSpPr>
          <p:cNvPr id="275" name="Google Shape;275;g3e72db23f1e_0_36"/>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276" name="Google Shape;276;g3e72db23f1e_0_36"/>
          <p:cNvPicPr preferRelativeResize="0"/>
          <p:nvPr/>
        </p:nvPicPr>
        <p:blipFill rotWithShape="1">
          <a:blip r:embed="rId4">
            <a:alphaModFix/>
          </a:blip>
          <a:srcRect b="21020" l="14061" r="17215" t="26140"/>
          <a:stretch/>
        </p:blipFill>
        <p:spPr>
          <a:xfrm>
            <a:off x="8094845" y="162433"/>
            <a:ext cx="1049154" cy="423511"/>
          </a:xfrm>
          <a:prstGeom prst="rect">
            <a:avLst/>
          </a:prstGeom>
          <a:noFill/>
          <a:ln>
            <a:noFill/>
          </a:ln>
        </p:spPr>
      </p:pic>
      <p:sp>
        <p:nvSpPr>
          <p:cNvPr id="277" name="Google Shape;277;g3e72db23f1e_0_36"/>
          <p:cNvSpPr txBox="1"/>
          <p:nvPr/>
        </p:nvSpPr>
        <p:spPr>
          <a:xfrm>
            <a:off x="1010275" y="254050"/>
            <a:ext cx="4972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Channel Boosting Performance </a:t>
            </a:r>
            <a:endParaRPr b="1" i="0" sz="2000" u="none" cap="none" strike="noStrike">
              <a:solidFill>
                <a:srgbClr val="000000"/>
              </a:solidFill>
              <a:latin typeface="Times New Roman"/>
              <a:ea typeface="Times New Roman"/>
              <a:cs typeface="Times New Roman"/>
              <a:sym typeface="Times New Roman"/>
            </a:endParaRPr>
          </a:p>
        </p:txBody>
      </p:sp>
      <p:graphicFrame>
        <p:nvGraphicFramePr>
          <p:cNvPr id="278" name="Google Shape;278;g3e72db23f1e_0_36"/>
          <p:cNvGraphicFramePr/>
          <p:nvPr/>
        </p:nvGraphicFramePr>
        <p:xfrm>
          <a:off x="168300" y="2315950"/>
          <a:ext cx="3000000" cy="3000000"/>
        </p:xfrm>
        <a:graphic>
          <a:graphicData uri="http://schemas.openxmlformats.org/drawingml/2006/table">
            <a:tbl>
              <a:tblPr>
                <a:noFill/>
                <a:tableStyleId>{E1739E71-98CB-4F31-BA75-B360A44B9F01}</a:tableStyleId>
              </a:tblPr>
              <a:tblGrid>
                <a:gridCol w="1178125"/>
                <a:gridCol w="598900"/>
                <a:gridCol w="801975"/>
                <a:gridCol w="482850"/>
                <a:gridCol w="521125"/>
                <a:gridCol w="330800"/>
                <a:gridCol w="857725"/>
                <a:gridCol w="729450"/>
                <a:gridCol w="433075"/>
                <a:gridCol w="474125"/>
                <a:gridCol w="802425"/>
              </a:tblGrid>
              <a:tr h="312175">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Subject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Period</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Objectives</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Cost￥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View</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Likes</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Recommend</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Comment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Share</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Follow</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Engagement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r>
              <a:tr h="312175">
                <a:tc>
                  <a:txBody>
                    <a:bodyPr/>
                    <a:lstStyle/>
                    <a:p>
                      <a:pPr indent="0" lvl="0" marL="0" marR="0" rtl="0" algn="ctr">
                        <a:lnSpc>
                          <a:spcPct val="115000"/>
                        </a:lnSpc>
                        <a:spcBef>
                          <a:spcPts val="0"/>
                        </a:spcBef>
                        <a:spcAft>
                          <a:spcPts val="0"/>
                        </a:spcAft>
                        <a:buClr>
                          <a:srgbClr val="000000"/>
                        </a:buClr>
                        <a:buSzPts val="800"/>
                        <a:buFont typeface="Arial"/>
                        <a:buNone/>
                      </a:pPr>
                      <a:r>
                        <a:rPr lang="zh-HK" sz="800"/>
                        <a:t>香港速冲🔥Sanrio新系列可爱爆炸⚽️ </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u="none" cap="none" strike="noStrike">
                          <a:latin typeface="Calibri"/>
                          <a:ea typeface="Calibri"/>
                          <a:cs typeface="Calibri"/>
                          <a:sym typeface="Calibri"/>
                        </a:rPr>
                        <a:t>0</a:t>
                      </a:r>
                      <a:r>
                        <a:rPr lang="zh-HK" sz="900">
                          <a:latin typeface="Calibri"/>
                          <a:ea typeface="Calibri"/>
                          <a:cs typeface="Calibri"/>
                          <a:sym typeface="Calibri"/>
                        </a:rPr>
                        <a:t>7</a:t>
                      </a:r>
                      <a:r>
                        <a:rPr lang="zh-HK" sz="900" u="none" cap="none" strike="noStrike">
                          <a:latin typeface="Calibri"/>
                          <a:ea typeface="Calibri"/>
                          <a:cs typeface="Calibri"/>
                          <a:sym typeface="Calibri"/>
                        </a:rPr>
                        <a:t>/</a:t>
                      </a:r>
                      <a:r>
                        <a:rPr lang="zh-HK" sz="900">
                          <a:latin typeface="Calibri"/>
                          <a:ea typeface="Calibri"/>
                          <a:cs typeface="Calibri"/>
                          <a:sym typeface="Calibri"/>
                        </a:rPr>
                        <a:t>10</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Impressions</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latin typeface="Calibri"/>
                          <a:ea typeface="Calibri"/>
                          <a:cs typeface="Calibri"/>
                          <a:sym typeface="Calibri"/>
                        </a:rPr>
                        <a:t>￥50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2,119</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4</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1</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1</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6</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2175">
                <a:tc>
                  <a:txBody>
                    <a:bodyPr/>
                    <a:lstStyle/>
                    <a:p>
                      <a:pPr indent="0" lvl="0" marL="0" marR="0" rtl="0" algn="ctr">
                        <a:lnSpc>
                          <a:spcPct val="115000"/>
                        </a:lnSpc>
                        <a:spcBef>
                          <a:spcPts val="0"/>
                        </a:spcBef>
                        <a:spcAft>
                          <a:spcPts val="0"/>
                        </a:spcAft>
                        <a:buClr>
                          <a:srgbClr val="000000"/>
                        </a:buClr>
                        <a:buSzPts val="800"/>
                        <a:buFont typeface="Arial"/>
                        <a:buNone/>
                      </a:pPr>
                      <a:r>
                        <a:rPr lang="zh-HK" sz="800"/>
                        <a:t>确定了⚠️7月CHIIKAWA要在香港登岛啦！！</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u="none" cap="none" strike="noStrike">
                          <a:latin typeface="Calibri"/>
                          <a:ea typeface="Calibri"/>
                          <a:cs typeface="Calibri"/>
                          <a:sym typeface="Calibri"/>
                        </a:rPr>
                        <a:t>0</a:t>
                      </a:r>
                      <a:r>
                        <a:rPr lang="zh-HK" sz="900">
                          <a:latin typeface="Calibri"/>
                          <a:ea typeface="Calibri"/>
                          <a:cs typeface="Calibri"/>
                          <a:sym typeface="Calibri"/>
                        </a:rPr>
                        <a:t>7</a:t>
                      </a:r>
                      <a:r>
                        <a:rPr lang="zh-HK" sz="900" u="none" cap="none" strike="noStrike">
                          <a:latin typeface="Calibri"/>
                          <a:ea typeface="Calibri"/>
                          <a:cs typeface="Calibri"/>
                          <a:sym typeface="Calibri"/>
                        </a:rPr>
                        <a:t>/</a:t>
                      </a:r>
                      <a:r>
                        <a:rPr lang="zh-HK" sz="900">
                          <a:latin typeface="Calibri"/>
                          <a:ea typeface="Calibri"/>
                          <a:cs typeface="Calibri"/>
                          <a:sym typeface="Calibri"/>
                        </a:rPr>
                        <a:t>10</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Impressions</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latin typeface="Calibri"/>
                          <a:ea typeface="Calibri"/>
                          <a:cs typeface="Calibri"/>
                          <a:sym typeface="Calibri"/>
                        </a:rPr>
                        <a:t>￥50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2,561</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2</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2</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2175">
                <a:tc>
                  <a:txBody>
                    <a:bodyPr/>
                    <a:lstStyle/>
                    <a:p>
                      <a:pPr indent="0" lvl="0" marL="0" marR="0" rtl="0" algn="ctr">
                        <a:lnSpc>
                          <a:spcPct val="115000"/>
                        </a:lnSpc>
                        <a:spcBef>
                          <a:spcPts val="0"/>
                        </a:spcBef>
                        <a:spcAft>
                          <a:spcPts val="0"/>
                        </a:spcAft>
                        <a:buClr>
                          <a:srgbClr val="000000"/>
                        </a:buClr>
                        <a:buSzPts val="800"/>
                        <a:buFont typeface="Arial"/>
                        <a:buNone/>
                      </a:pPr>
                      <a:r>
                        <a:rPr lang="zh-HK" sz="800">
                          <a:solidFill>
                            <a:srgbClr val="333333"/>
                          </a:solidFill>
                        </a:rPr>
                        <a:t>现场突发⚠️chiikawa真的在香港登岛了！！</a:t>
                      </a:r>
                      <a:endParaRPr sz="800" u="none" cap="none" strike="noStrike">
                        <a:solidFill>
                          <a:srgbClr val="333333"/>
                        </a:solidFill>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u="none" cap="none" strike="noStrike">
                          <a:latin typeface="Calibri"/>
                          <a:ea typeface="Calibri"/>
                          <a:cs typeface="Calibri"/>
                          <a:sym typeface="Calibri"/>
                        </a:rPr>
                        <a:t>0</a:t>
                      </a:r>
                      <a:r>
                        <a:rPr lang="zh-HK" sz="900">
                          <a:latin typeface="Calibri"/>
                          <a:ea typeface="Calibri"/>
                          <a:cs typeface="Calibri"/>
                          <a:sym typeface="Calibri"/>
                        </a:rPr>
                        <a:t>7</a:t>
                      </a:r>
                      <a:r>
                        <a:rPr lang="zh-HK" sz="900" u="none" cap="none" strike="noStrike">
                          <a:latin typeface="Calibri"/>
                          <a:ea typeface="Calibri"/>
                          <a:cs typeface="Calibri"/>
                          <a:sym typeface="Calibri"/>
                        </a:rPr>
                        <a:t>/</a:t>
                      </a:r>
                      <a:r>
                        <a:rPr lang="zh-HK" sz="900">
                          <a:latin typeface="Calibri"/>
                          <a:ea typeface="Calibri"/>
                          <a:cs typeface="Calibri"/>
                          <a:sym typeface="Calibri"/>
                        </a:rPr>
                        <a:t>10</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Impressions</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latin typeface="Calibri"/>
                          <a:ea typeface="Calibri"/>
                          <a:cs typeface="Calibri"/>
                          <a:sym typeface="Calibri"/>
                        </a:rPr>
                        <a:t>￥50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1,511</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3</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0</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3</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2175">
                <a:tc>
                  <a:txBody>
                    <a:bodyPr/>
                    <a:lstStyle/>
                    <a:p>
                      <a:pPr indent="0" lvl="0" marL="0" marR="0" rtl="0" algn="ctr">
                        <a:lnSpc>
                          <a:spcPct val="115000"/>
                        </a:lnSpc>
                        <a:spcBef>
                          <a:spcPts val="0"/>
                        </a:spcBef>
                        <a:spcAft>
                          <a:spcPts val="0"/>
                        </a:spcAft>
                        <a:buClr>
                          <a:srgbClr val="000000"/>
                        </a:buClr>
                        <a:buSzPts val="800"/>
                        <a:buFont typeface="Arial"/>
                        <a:buNone/>
                      </a:pPr>
                      <a:r>
                        <a:rPr lang="zh-HK" sz="800"/>
                        <a:t>现场突发⚠️chiikawa真的在香港登岛了！！</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u="none" cap="none" strike="noStrike">
                          <a:latin typeface="Calibri"/>
                          <a:ea typeface="Calibri"/>
                          <a:cs typeface="Calibri"/>
                          <a:sym typeface="Calibri"/>
                        </a:rPr>
                        <a:t>0</a:t>
                      </a:r>
                      <a:r>
                        <a:rPr lang="zh-HK" sz="900">
                          <a:latin typeface="Calibri"/>
                          <a:ea typeface="Calibri"/>
                          <a:cs typeface="Calibri"/>
                          <a:sym typeface="Calibri"/>
                        </a:rPr>
                        <a:t>7</a:t>
                      </a:r>
                      <a:r>
                        <a:rPr lang="zh-HK" sz="900" u="none" cap="none" strike="noStrike">
                          <a:latin typeface="Calibri"/>
                          <a:ea typeface="Calibri"/>
                          <a:cs typeface="Calibri"/>
                          <a:sym typeface="Calibri"/>
                        </a:rPr>
                        <a:t>/</a:t>
                      </a:r>
                      <a:r>
                        <a:rPr lang="zh-HK" sz="900">
                          <a:latin typeface="Calibri"/>
                          <a:ea typeface="Calibri"/>
                          <a:cs typeface="Calibri"/>
                          <a:sym typeface="Calibri"/>
                        </a:rPr>
                        <a:t>13</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Impressions</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latin typeface="Calibri"/>
                          <a:ea typeface="Calibri"/>
                          <a:cs typeface="Calibri"/>
                          <a:sym typeface="Calibri"/>
                        </a:rPr>
                        <a:t>￥50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1,297</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1</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1</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1</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3</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2175">
                <a:tc>
                  <a:txBody>
                    <a:bodyPr/>
                    <a:lstStyle/>
                    <a:p>
                      <a:pPr indent="0" lvl="0" marL="0" marR="0" rtl="0" algn="ctr">
                        <a:lnSpc>
                          <a:spcPct val="115000"/>
                        </a:lnSpc>
                        <a:spcBef>
                          <a:spcPts val="0"/>
                        </a:spcBef>
                        <a:spcAft>
                          <a:spcPts val="0"/>
                        </a:spcAft>
                        <a:buClr>
                          <a:srgbClr val="000000"/>
                        </a:buClr>
                        <a:buSzPts val="800"/>
                        <a:buFont typeface="Arial"/>
                        <a:buNone/>
                      </a:pPr>
                      <a:r>
                        <a:rPr lang="zh-HK" sz="800"/>
                        <a:t>香港粤语文创...我真的没空陪你闹了！😂</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07</a:t>
                      </a:r>
                      <a:r>
                        <a:rPr lang="zh-HK" sz="900" u="none" cap="none" strike="noStrike">
                          <a:latin typeface="Calibri"/>
                          <a:ea typeface="Calibri"/>
                          <a:cs typeface="Calibri"/>
                          <a:sym typeface="Calibri"/>
                        </a:rPr>
                        <a:t>/2</a:t>
                      </a:r>
                      <a:r>
                        <a:rPr lang="zh-HK" sz="900">
                          <a:latin typeface="Calibri"/>
                          <a:ea typeface="Calibri"/>
                          <a:cs typeface="Calibri"/>
                          <a:sym typeface="Calibri"/>
                        </a:rPr>
                        <a:t>1</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Impressions</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latin typeface="Calibri"/>
                          <a:ea typeface="Calibri"/>
                          <a:cs typeface="Calibri"/>
                          <a:sym typeface="Calibri"/>
                        </a:rPr>
                        <a:t>￥50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2,684</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3</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3</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8550">
                <a:tc gridSpan="3">
                  <a:txBody>
                    <a:bodyPr/>
                    <a:lstStyle/>
                    <a:p>
                      <a:pPr indent="0" lvl="0" marL="0" marR="0" rtl="0" algn="ctr">
                        <a:lnSpc>
                          <a:spcPct val="115000"/>
                        </a:lnSpc>
                        <a:spcBef>
                          <a:spcPts val="0"/>
                        </a:spcBef>
                        <a:spcAft>
                          <a:spcPts val="0"/>
                        </a:spcAft>
                        <a:buClr>
                          <a:srgbClr val="000000"/>
                        </a:buClr>
                        <a:buSzPts val="1100"/>
                        <a:buFont typeface="Arial"/>
                        <a:buNone/>
                      </a:pPr>
                      <a:r>
                        <a:rPr b="1" lang="zh-HK" sz="1100">
                          <a:latin typeface="Calibri"/>
                          <a:ea typeface="Calibri"/>
                          <a:cs typeface="Calibri"/>
                          <a:sym typeface="Calibri"/>
                        </a:rPr>
                        <a:t>Jul </a:t>
                      </a:r>
                      <a:r>
                        <a:rPr b="1" lang="zh-HK" sz="1100" u="none" cap="none" strike="noStrike">
                          <a:latin typeface="Calibri"/>
                          <a:ea typeface="Calibri"/>
                          <a:cs typeface="Calibri"/>
                          <a:sym typeface="Calibri"/>
                        </a:rPr>
                        <a:t>Total</a:t>
                      </a:r>
                      <a:endParaRPr b="1"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hMerge="1"/>
                <a:tc hMerge="1"/>
                <a:tc>
                  <a:txBody>
                    <a:bodyPr/>
                    <a:lstStyle/>
                    <a:p>
                      <a:pPr indent="0" lvl="0" marL="0" marR="0" rtl="0" algn="ctr">
                        <a:lnSpc>
                          <a:spcPct val="115000"/>
                        </a:lnSpc>
                        <a:spcBef>
                          <a:spcPts val="0"/>
                        </a:spcBef>
                        <a:spcAft>
                          <a:spcPts val="0"/>
                        </a:spcAft>
                        <a:buClr>
                          <a:srgbClr val="000000"/>
                        </a:buClr>
                        <a:buSzPts val="1100"/>
                        <a:buFont typeface="Arial"/>
                        <a:buNone/>
                      </a:pPr>
                      <a:r>
                        <a:rPr b="1" lang="zh-HK" sz="1100" u="none" cap="none" strike="noStrike">
                          <a:latin typeface="Calibri"/>
                          <a:ea typeface="Calibri"/>
                          <a:cs typeface="Calibri"/>
                          <a:sym typeface="Calibri"/>
                        </a:rPr>
                        <a:t>￥</a:t>
                      </a:r>
                      <a:r>
                        <a:rPr b="1" lang="zh-HK" sz="1100">
                          <a:latin typeface="Calibri"/>
                          <a:ea typeface="Calibri"/>
                          <a:cs typeface="Calibri"/>
                          <a:sym typeface="Calibri"/>
                        </a:rPr>
                        <a:t>250</a:t>
                      </a:r>
                      <a:endParaRPr b="1"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100" u="none" cap="none" strike="noStrike">
                          <a:latin typeface="Calibri"/>
                          <a:ea typeface="Calibri"/>
                          <a:cs typeface="Calibri"/>
                          <a:sym typeface="Calibri"/>
                        </a:rPr>
                        <a:t>1</a:t>
                      </a:r>
                      <a:r>
                        <a:rPr b="1" lang="zh-HK" sz="1100">
                          <a:latin typeface="Calibri"/>
                          <a:ea typeface="Calibri"/>
                          <a:cs typeface="Calibri"/>
                          <a:sym typeface="Calibri"/>
                        </a:rPr>
                        <a:t>0</a:t>
                      </a:r>
                      <a:r>
                        <a:rPr b="1" lang="zh-HK" sz="1100" u="none" cap="none" strike="noStrike">
                          <a:latin typeface="Calibri"/>
                          <a:ea typeface="Calibri"/>
                          <a:cs typeface="Calibri"/>
                          <a:sym typeface="Calibri"/>
                        </a:rPr>
                        <a:t>,</a:t>
                      </a:r>
                      <a:r>
                        <a:rPr b="1" lang="zh-HK" sz="1100">
                          <a:latin typeface="Calibri"/>
                          <a:ea typeface="Calibri"/>
                          <a:cs typeface="Calibri"/>
                          <a:sym typeface="Calibri"/>
                        </a:rPr>
                        <a:t>172</a:t>
                      </a:r>
                      <a:endParaRPr b="1"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100" u="none" cap="none" strike="noStrike">
                          <a:latin typeface="Calibri"/>
                          <a:ea typeface="Calibri"/>
                          <a:cs typeface="Calibri"/>
                          <a:sym typeface="Calibri"/>
                        </a:rPr>
                        <a:t>1</a:t>
                      </a:r>
                      <a:r>
                        <a:rPr b="1" lang="zh-HK" sz="1100">
                          <a:latin typeface="Calibri"/>
                          <a:ea typeface="Calibri"/>
                          <a:cs typeface="Calibri"/>
                          <a:sym typeface="Calibri"/>
                        </a:rPr>
                        <a:t>3</a:t>
                      </a:r>
                      <a:endParaRPr b="1"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100">
                          <a:latin typeface="Calibri"/>
                          <a:ea typeface="Calibri"/>
                          <a:cs typeface="Calibri"/>
                          <a:sym typeface="Calibri"/>
                        </a:rPr>
                        <a:t>1</a:t>
                      </a:r>
                      <a:endParaRPr b="1"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100">
                          <a:latin typeface="Calibri"/>
                          <a:ea typeface="Calibri"/>
                          <a:cs typeface="Calibri"/>
                          <a:sym typeface="Calibri"/>
                        </a:rPr>
                        <a:t>0</a:t>
                      </a:r>
                      <a:endParaRPr b="1"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100" u="none" cap="none" strike="noStrike">
                          <a:latin typeface="Calibri"/>
                          <a:ea typeface="Calibri"/>
                          <a:cs typeface="Calibri"/>
                          <a:sym typeface="Calibri"/>
                        </a:rPr>
                        <a:t>1</a:t>
                      </a:r>
                      <a:endParaRPr b="1"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100" u="none" cap="none" strike="noStrike">
                          <a:latin typeface="Calibri"/>
                          <a:ea typeface="Calibri"/>
                          <a:cs typeface="Calibri"/>
                          <a:sym typeface="Calibri"/>
                        </a:rPr>
                        <a:t>2</a:t>
                      </a:r>
                      <a:endParaRPr b="1"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100">
                          <a:latin typeface="Calibri"/>
                          <a:ea typeface="Calibri"/>
                          <a:cs typeface="Calibri"/>
                          <a:sym typeface="Calibri"/>
                        </a:rPr>
                        <a:t>17</a:t>
                      </a:r>
                      <a:endParaRPr b="1" sz="11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bl>
          </a:graphicData>
        </a:graphic>
      </p:graphicFrame>
      <p:sp>
        <p:nvSpPr>
          <p:cNvPr id="279" name="Google Shape;279;g3e72db23f1e_0_36"/>
          <p:cNvSpPr/>
          <p:nvPr/>
        </p:nvSpPr>
        <p:spPr>
          <a:xfrm>
            <a:off x="168325" y="3876825"/>
            <a:ext cx="7210500" cy="3108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0" name="Google Shape;280;g3e72db23f1e_0_36"/>
          <p:cNvPicPr preferRelativeResize="0"/>
          <p:nvPr/>
        </p:nvPicPr>
        <p:blipFill>
          <a:blip r:embed="rId5">
            <a:alphaModFix/>
          </a:blip>
          <a:stretch>
            <a:fillRect/>
          </a:stretch>
        </p:blipFill>
        <p:spPr>
          <a:xfrm>
            <a:off x="7506475" y="2066401"/>
            <a:ext cx="1456550" cy="26586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10" title="图表"/>
          <p:cNvPicPr preferRelativeResize="0"/>
          <p:nvPr/>
        </p:nvPicPr>
        <p:blipFill>
          <a:blip r:embed="rId3">
            <a:alphaModFix/>
          </a:blip>
          <a:stretch>
            <a:fillRect/>
          </a:stretch>
        </p:blipFill>
        <p:spPr>
          <a:xfrm>
            <a:off x="5460250" y="371631"/>
            <a:ext cx="3328200" cy="1940651"/>
          </a:xfrm>
          <a:prstGeom prst="rect">
            <a:avLst/>
          </a:prstGeom>
          <a:noFill/>
          <a:ln>
            <a:noFill/>
          </a:ln>
        </p:spPr>
      </p:pic>
      <p:sp>
        <p:nvSpPr>
          <p:cNvPr id="286" name="Google Shape;286;p10"/>
          <p:cNvSpPr/>
          <p:nvPr/>
        </p:nvSpPr>
        <p:spPr>
          <a:xfrm>
            <a:off x="3990100" y="4713800"/>
            <a:ext cx="1203000" cy="423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87" name="Google Shape;287;p10"/>
          <p:cNvSpPr/>
          <p:nvPr/>
        </p:nvSpPr>
        <p:spPr>
          <a:xfrm>
            <a:off x="395027" y="359057"/>
            <a:ext cx="42900" cy="282600"/>
          </a:xfrm>
          <a:prstGeom prst="rect">
            <a:avLst/>
          </a:prstGeom>
          <a:solidFill>
            <a:schemeClr val="dk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pic>
        <p:nvPicPr>
          <p:cNvPr id="288" name="Google Shape;288;p10"/>
          <p:cNvPicPr preferRelativeResize="0"/>
          <p:nvPr/>
        </p:nvPicPr>
        <p:blipFill rotWithShape="1">
          <a:blip r:embed="rId4">
            <a:alphaModFix/>
          </a:blip>
          <a:srcRect b="21815" l="32543" r="32537" t="22001"/>
          <a:stretch/>
        </p:blipFill>
        <p:spPr>
          <a:xfrm>
            <a:off x="496975" y="314600"/>
            <a:ext cx="394818" cy="396999"/>
          </a:xfrm>
          <a:prstGeom prst="rect">
            <a:avLst/>
          </a:prstGeom>
          <a:noFill/>
          <a:ln>
            <a:noFill/>
          </a:ln>
        </p:spPr>
      </p:pic>
      <p:sp>
        <p:nvSpPr>
          <p:cNvPr id="289" name="Google Shape;289;p10"/>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290" name="Google Shape;290;p10"/>
          <p:cNvPicPr preferRelativeResize="0"/>
          <p:nvPr/>
        </p:nvPicPr>
        <p:blipFill rotWithShape="1">
          <a:blip r:embed="rId5">
            <a:alphaModFix/>
          </a:blip>
          <a:srcRect b="21020" l="14063" r="17215" t="26140"/>
          <a:stretch/>
        </p:blipFill>
        <p:spPr>
          <a:xfrm>
            <a:off x="8094845" y="162433"/>
            <a:ext cx="1049155" cy="423511"/>
          </a:xfrm>
          <a:prstGeom prst="rect">
            <a:avLst/>
          </a:prstGeom>
          <a:noFill/>
          <a:ln>
            <a:noFill/>
          </a:ln>
        </p:spPr>
      </p:pic>
      <p:sp>
        <p:nvSpPr>
          <p:cNvPr id="291" name="Google Shape;291;p10"/>
          <p:cNvSpPr txBox="1"/>
          <p:nvPr/>
        </p:nvSpPr>
        <p:spPr>
          <a:xfrm>
            <a:off x="-21275" y="793863"/>
            <a:ext cx="5591400" cy="2637900"/>
          </a:xfrm>
          <a:prstGeom prst="rect">
            <a:avLst/>
          </a:prstGeom>
          <a:noFill/>
          <a:ln>
            <a:noFill/>
          </a:ln>
        </p:spPr>
        <p:txBody>
          <a:bodyPr anchorCtr="0" anchor="t" bIns="25700" lIns="51425" spcFirstLastPara="1" rIns="51425" wrap="square" tIns="25700">
            <a:spAutoFit/>
          </a:bodyPr>
          <a:lstStyle/>
          <a:p>
            <a:pPr indent="-292100" lvl="0" marL="457200" rtl="0" algn="l">
              <a:lnSpc>
                <a:spcPct val="150000"/>
              </a:lnSpc>
              <a:spcBef>
                <a:spcPts val="1200"/>
              </a:spcBef>
              <a:spcAft>
                <a:spcPts val="0"/>
              </a:spcAft>
              <a:buClr>
                <a:srgbClr val="0F1115"/>
              </a:buClr>
              <a:buSzPts val="1000"/>
              <a:buFont typeface="Times New Roman"/>
              <a:buChar char="●"/>
            </a:pPr>
            <a:r>
              <a:rPr lang="zh-HK" sz="1000">
                <a:solidFill>
                  <a:srgbClr val="0F1115"/>
                </a:solidFill>
                <a:highlight>
                  <a:srgbClr val="FFFFFF"/>
                </a:highlight>
                <a:latin typeface="Times New Roman"/>
                <a:ea typeface="Times New Roman"/>
                <a:cs typeface="Times New Roman"/>
                <a:sym typeface="Times New Roman"/>
              </a:rPr>
              <a:t>In July, </a:t>
            </a:r>
            <a:r>
              <a:rPr b="1" lang="zh-HK" sz="1000">
                <a:solidFill>
                  <a:srgbClr val="0F1115"/>
                </a:solidFill>
                <a:highlight>
                  <a:srgbClr val="FFFFFF"/>
                </a:highlight>
                <a:latin typeface="Times New Roman"/>
                <a:ea typeface="Times New Roman"/>
                <a:cs typeface="Times New Roman"/>
                <a:sym typeface="Times New Roman"/>
              </a:rPr>
              <a:t>5 videos </a:t>
            </a:r>
            <a:r>
              <a:rPr lang="zh-HK" sz="1000">
                <a:solidFill>
                  <a:srgbClr val="0F1115"/>
                </a:solidFill>
                <a:highlight>
                  <a:srgbClr val="FFFFFF"/>
                </a:highlight>
                <a:latin typeface="Times New Roman"/>
                <a:ea typeface="Times New Roman"/>
                <a:cs typeface="Times New Roman"/>
                <a:sym typeface="Times New Roman"/>
              </a:rPr>
              <a:t>were published. </a:t>
            </a:r>
            <a:r>
              <a:rPr b="1" lang="zh-HK" sz="1000">
                <a:solidFill>
                  <a:srgbClr val="0F1115"/>
                </a:solidFill>
                <a:highlight>
                  <a:srgbClr val="FFFFFF"/>
                </a:highlight>
                <a:latin typeface="Times New Roman"/>
                <a:ea typeface="Times New Roman"/>
                <a:cs typeface="Times New Roman"/>
                <a:sym typeface="Times New Roman"/>
              </a:rPr>
              <a:t>"粵語文創"</a:t>
            </a:r>
            <a:r>
              <a:rPr lang="zh-HK" sz="1000">
                <a:solidFill>
                  <a:srgbClr val="0F1115"/>
                </a:solidFill>
                <a:highlight>
                  <a:srgbClr val="FFFFFF"/>
                </a:highlight>
                <a:latin typeface="Times New Roman"/>
                <a:ea typeface="Times New Roman"/>
                <a:cs typeface="Times New Roman"/>
                <a:sym typeface="Times New Roman"/>
              </a:rPr>
              <a:t> performed best </a:t>
            </a:r>
            <a:r>
              <a:rPr b="1" lang="zh-HK" sz="1000">
                <a:solidFill>
                  <a:srgbClr val="0F1115"/>
                </a:solidFill>
                <a:highlight>
                  <a:srgbClr val="FFFFFF"/>
                </a:highlight>
                <a:latin typeface="Times New Roman"/>
                <a:ea typeface="Times New Roman"/>
                <a:cs typeface="Times New Roman"/>
                <a:sym typeface="Times New Roman"/>
              </a:rPr>
              <a:t>(911 engagements, 14.6K views).</a:t>
            </a:r>
            <a:endParaRPr b="1" sz="1000">
              <a:solidFill>
                <a:schemeClr val="dk1"/>
              </a:solidFill>
              <a:latin typeface="Times New Roman"/>
              <a:ea typeface="Times New Roman"/>
              <a:cs typeface="Times New Roman"/>
              <a:sym typeface="Times New Roman"/>
            </a:endParaRPr>
          </a:p>
          <a:p>
            <a:pPr indent="-292100" lvl="0" marL="457200" rtl="0" algn="l">
              <a:lnSpc>
                <a:spcPct val="150000"/>
              </a:lnSpc>
              <a:spcBef>
                <a:spcPts val="0"/>
              </a:spcBef>
              <a:spcAft>
                <a:spcPts val="0"/>
              </a:spcAft>
              <a:buClr>
                <a:schemeClr val="dk1"/>
              </a:buClr>
              <a:buSzPts val="1000"/>
              <a:buFont typeface="Times New Roman"/>
              <a:buChar char="●"/>
            </a:pPr>
            <a:r>
              <a:rPr lang="zh-HK" sz="1000">
                <a:solidFill>
                  <a:srgbClr val="0F1115"/>
                </a:solidFill>
                <a:highlight>
                  <a:srgbClr val="FFFFFF"/>
                </a:highlight>
                <a:latin typeface="Times New Roman"/>
                <a:ea typeface="Times New Roman"/>
                <a:cs typeface="Times New Roman"/>
                <a:sym typeface="Times New Roman"/>
              </a:rPr>
              <a:t>Boosting highlights:</a:t>
            </a:r>
            <a:r>
              <a:rPr b="1" lang="zh-HK" sz="1000">
                <a:solidFill>
                  <a:srgbClr val="0F1115"/>
                </a:solidFill>
                <a:highlight>
                  <a:srgbClr val="FFFFFF"/>
                </a:highlight>
                <a:latin typeface="Times New Roman"/>
                <a:ea typeface="Times New Roman"/>
                <a:cs typeface="Times New Roman"/>
                <a:sym typeface="Times New Roman"/>
              </a:rPr>
              <a:t> Chiikawa</a:t>
            </a:r>
            <a:r>
              <a:rPr lang="zh-HK" sz="1000">
                <a:solidFill>
                  <a:srgbClr val="0F1115"/>
                </a:solidFill>
                <a:highlight>
                  <a:srgbClr val="FFFFFF"/>
                </a:highlight>
                <a:latin typeface="Times New Roman"/>
                <a:ea typeface="Times New Roman"/>
                <a:cs typeface="Times New Roman"/>
                <a:sym typeface="Times New Roman"/>
              </a:rPr>
              <a:t> video led in</a:t>
            </a:r>
            <a:r>
              <a:rPr b="1" lang="zh-HK" sz="1000">
                <a:solidFill>
                  <a:srgbClr val="0F1115"/>
                </a:solidFill>
                <a:highlight>
                  <a:srgbClr val="FFFFFF"/>
                </a:highlight>
                <a:latin typeface="Times New Roman"/>
                <a:ea typeface="Times New Roman"/>
                <a:cs typeface="Times New Roman"/>
                <a:sym typeface="Times New Roman"/>
              </a:rPr>
              <a:t> engagement,</a:t>
            </a:r>
            <a:r>
              <a:rPr lang="zh-HK" sz="1000">
                <a:solidFill>
                  <a:srgbClr val="0F1115"/>
                </a:solidFill>
                <a:highlight>
                  <a:srgbClr val="FFFFFF"/>
                </a:highlight>
                <a:latin typeface="Times New Roman"/>
                <a:ea typeface="Times New Roman"/>
                <a:cs typeface="Times New Roman"/>
                <a:sym typeface="Times New Roman"/>
              </a:rPr>
              <a:t> proving IP content drives interaction. </a:t>
            </a:r>
            <a:r>
              <a:rPr b="1" lang="zh-HK" sz="1000">
                <a:solidFill>
                  <a:srgbClr val="0F1115"/>
                </a:solidFill>
                <a:highlight>
                  <a:srgbClr val="FFFFFF"/>
                </a:highlight>
                <a:latin typeface="Times New Roman"/>
                <a:ea typeface="Times New Roman"/>
                <a:cs typeface="Times New Roman"/>
                <a:sym typeface="Times New Roman"/>
              </a:rPr>
              <a:t>飾品店 </a:t>
            </a:r>
            <a:r>
              <a:rPr lang="zh-HK" sz="1000">
                <a:solidFill>
                  <a:srgbClr val="0F1115"/>
                </a:solidFill>
                <a:highlight>
                  <a:srgbClr val="FFFFFF"/>
                </a:highlight>
                <a:latin typeface="Times New Roman"/>
                <a:ea typeface="Times New Roman"/>
                <a:cs typeface="Times New Roman"/>
                <a:sym typeface="Times New Roman"/>
              </a:rPr>
              <a:t>post led in</a:t>
            </a:r>
            <a:r>
              <a:rPr b="1" lang="zh-HK" sz="1000">
                <a:solidFill>
                  <a:srgbClr val="0F1115"/>
                </a:solidFill>
                <a:highlight>
                  <a:srgbClr val="FFFFFF"/>
                </a:highlight>
                <a:latin typeface="Times New Roman"/>
                <a:ea typeface="Times New Roman"/>
                <a:cs typeface="Times New Roman"/>
                <a:sym typeface="Times New Roman"/>
              </a:rPr>
              <a:t> followers</a:t>
            </a:r>
            <a:r>
              <a:rPr lang="zh-HK" sz="1000">
                <a:solidFill>
                  <a:srgbClr val="0F1115"/>
                </a:solidFill>
                <a:highlight>
                  <a:srgbClr val="FFFFFF"/>
                </a:highlight>
                <a:latin typeface="Times New Roman"/>
                <a:ea typeface="Times New Roman"/>
                <a:cs typeface="Times New Roman"/>
                <a:sym typeface="Times New Roman"/>
              </a:rPr>
              <a:t>, while </a:t>
            </a:r>
            <a:r>
              <a:rPr b="1" lang="zh-HK" sz="1000">
                <a:solidFill>
                  <a:srgbClr val="0F1115"/>
                </a:solidFill>
                <a:highlight>
                  <a:srgbClr val="FFFFFF"/>
                </a:highlight>
                <a:latin typeface="Times New Roman"/>
                <a:ea typeface="Times New Roman"/>
                <a:cs typeface="Times New Roman"/>
                <a:sym typeface="Times New Roman"/>
              </a:rPr>
              <a:t>金庸武俠世界</a:t>
            </a:r>
            <a:r>
              <a:rPr lang="zh-HK" sz="1000">
                <a:solidFill>
                  <a:srgbClr val="0F1115"/>
                </a:solidFill>
                <a:highlight>
                  <a:srgbClr val="FFFFFF"/>
                </a:highlight>
                <a:latin typeface="Times New Roman"/>
                <a:ea typeface="Times New Roman"/>
                <a:cs typeface="Times New Roman"/>
                <a:sym typeface="Times New Roman"/>
              </a:rPr>
              <a:t> video led in</a:t>
            </a:r>
            <a:r>
              <a:rPr b="1" lang="zh-HK" sz="1000">
                <a:solidFill>
                  <a:srgbClr val="0F1115"/>
                </a:solidFill>
                <a:highlight>
                  <a:srgbClr val="FFFFFF"/>
                </a:highlight>
                <a:latin typeface="Times New Roman"/>
                <a:ea typeface="Times New Roman"/>
                <a:cs typeface="Times New Roman"/>
                <a:sym typeface="Times New Roman"/>
              </a:rPr>
              <a:t> impressions</a:t>
            </a:r>
            <a:r>
              <a:rPr lang="zh-HK" sz="1000">
                <a:solidFill>
                  <a:srgbClr val="0F1115"/>
                </a:solidFill>
                <a:highlight>
                  <a:srgbClr val="FFFFFF"/>
                </a:highlight>
                <a:latin typeface="Times New Roman"/>
                <a:ea typeface="Times New Roman"/>
                <a:cs typeface="Times New Roman"/>
                <a:sym typeface="Times New Roman"/>
              </a:rPr>
              <a:t> with followers second, showing </a:t>
            </a:r>
            <a:r>
              <a:rPr b="1" lang="zh-HK" sz="1000">
                <a:solidFill>
                  <a:srgbClr val="0F1115"/>
                </a:solidFill>
                <a:highlight>
                  <a:srgbClr val="FFFFFF"/>
                </a:highlight>
                <a:latin typeface="Times New Roman"/>
                <a:ea typeface="Times New Roman"/>
                <a:cs typeface="Times New Roman"/>
                <a:sym typeface="Times New Roman"/>
              </a:rPr>
              <a:t>cultural and lifestyle </a:t>
            </a:r>
            <a:r>
              <a:rPr lang="zh-HK" sz="1000">
                <a:solidFill>
                  <a:srgbClr val="0F1115"/>
                </a:solidFill>
                <a:highlight>
                  <a:srgbClr val="FFFFFF"/>
                </a:highlight>
                <a:latin typeface="Times New Roman"/>
                <a:ea typeface="Times New Roman"/>
                <a:cs typeface="Times New Roman"/>
                <a:sym typeface="Times New Roman"/>
              </a:rPr>
              <a:t>content delivers both </a:t>
            </a:r>
            <a:r>
              <a:rPr b="1" lang="zh-HK" sz="1000">
                <a:solidFill>
                  <a:srgbClr val="0F1115"/>
                </a:solidFill>
                <a:highlight>
                  <a:srgbClr val="FFFFFF"/>
                </a:highlight>
                <a:latin typeface="Times New Roman"/>
                <a:ea typeface="Times New Roman"/>
                <a:cs typeface="Times New Roman"/>
                <a:sym typeface="Times New Roman"/>
              </a:rPr>
              <a:t>reach and follower.</a:t>
            </a:r>
            <a:r>
              <a:rPr lang="zh-HK" sz="1000">
                <a:latin typeface="Times New Roman"/>
                <a:ea typeface="Times New Roman"/>
                <a:cs typeface="Times New Roman"/>
                <a:sym typeface="Times New Roman"/>
              </a:rPr>
              <a:t> </a:t>
            </a:r>
            <a:endParaRPr sz="1000">
              <a:solidFill>
                <a:schemeClr val="dk1"/>
              </a:solidFill>
              <a:latin typeface="Times New Roman"/>
              <a:ea typeface="Times New Roman"/>
              <a:cs typeface="Times New Roman"/>
              <a:sym typeface="Times New Roman"/>
            </a:endParaRPr>
          </a:p>
          <a:p>
            <a:pPr indent="-292100" lvl="0" marL="457200" rtl="0" algn="l">
              <a:lnSpc>
                <a:spcPct val="150000"/>
              </a:lnSpc>
              <a:spcBef>
                <a:spcPts val="0"/>
              </a:spcBef>
              <a:spcAft>
                <a:spcPts val="0"/>
              </a:spcAft>
              <a:buClr>
                <a:schemeClr val="dk1"/>
              </a:buClr>
              <a:buSzPts val="1000"/>
              <a:buFont typeface="Times New Roman"/>
              <a:buChar char="●"/>
            </a:pPr>
            <a:r>
              <a:rPr lang="zh-HK" sz="1000">
                <a:solidFill>
                  <a:srgbClr val="0F1115"/>
                </a:solidFill>
                <a:highlight>
                  <a:srgbClr val="FFFFFF"/>
                </a:highlight>
                <a:latin typeface="Times New Roman"/>
                <a:ea typeface="Times New Roman"/>
                <a:cs typeface="Times New Roman"/>
                <a:sym typeface="Times New Roman"/>
              </a:rPr>
              <a:t>July overall </a:t>
            </a:r>
            <a:r>
              <a:rPr b="1" lang="zh-HK" sz="1000">
                <a:solidFill>
                  <a:srgbClr val="0F1115"/>
                </a:solidFill>
                <a:highlight>
                  <a:srgbClr val="FFFFFF"/>
                </a:highlight>
                <a:latin typeface="Times New Roman"/>
                <a:ea typeface="Times New Roman"/>
                <a:cs typeface="Times New Roman"/>
                <a:sym typeface="Times New Roman"/>
              </a:rPr>
              <a:t>CPE</a:t>
            </a:r>
            <a:r>
              <a:rPr lang="zh-HK" sz="1000">
                <a:solidFill>
                  <a:srgbClr val="0F1115"/>
                </a:solidFill>
                <a:highlight>
                  <a:srgbClr val="FFFFFF"/>
                </a:highlight>
                <a:latin typeface="Times New Roman"/>
                <a:ea typeface="Times New Roman"/>
                <a:cs typeface="Times New Roman"/>
                <a:sym typeface="Times New Roman"/>
              </a:rPr>
              <a:t> was </a:t>
            </a:r>
            <a:r>
              <a:rPr b="1" lang="zh-HK" sz="1000">
                <a:solidFill>
                  <a:srgbClr val="0F1115"/>
                </a:solidFill>
                <a:highlight>
                  <a:srgbClr val="FFFFFF"/>
                </a:highlight>
                <a:latin typeface="Times New Roman"/>
                <a:ea typeface="Times New Roman"/>
                <a:cs typeface="Times New Roman"/>
                <a:sym typeface="Times New Roman"/>
              </a:rPr>
              <a:t>¥0.77</a:t>
            </a:r>
            <a:r>
              <a:rPr lang="zh-HK" sz="1000">
                <a:solidFill>
                  <a:srgbClr val="0F1115"/>
                </a:solidFill>
                <a:highlight>
                  <a:srgbClr val="FFFFFF"/>
                </a:highlight>
                <a:latin typeface="Times New Roman"/>
                <a:ea typeface="Times New Roman"/>
                <a:cs typeface="Times New Roman"/>
                <a:sym typeface="Times New Roman"/>
              </a:rPr>
              <a:t>, lower than May, June and the 2025 benchmark, </a:t>
            </a:r>
            <a:r>
              <a:rPr b="1" lang="zh-HK" sz="1000">
                <a:solidFill>
                  <a:srgbClr val="0F1115"/>
                </a:solidFill>
                <a:highlight>
                  <a:srgbClr val="FFFFFF"/>
                </a:highlight>
                <a:latin typeface="Times New Roman"/>
                <a:ea typeface="Times New Roman"/>
                <a:cs typeface="Times New Roman"/>
                <a:sym typeface="Times New Roman"/>
              </a:rPr>
              <a:t>also the lowest since January</a:t>
            </a:r>
            <a:r>
              <a:rPr lang="zh-HK" sz="1000">
                <a:solidFill>
                  <a:srgbClr val="0F1115"/>
                </a:solidFill>
                <a:highlight>
                  <a:srgbClr val="FFFFFF"/>
                </a:highlight>
                <a:latin typeface="Times New Roman"/>
                <a:ea typeface="Times New Roman"/>
                <a:cs typeface="Times New Roman"/>
                <a:sym typeface="Times New Roman"/>
              </a:rPr>
              <a:t> (except February), demonstrating that the </a:t>
            </a:r>
            <a:r>
              <a:rPr b="1" lang="zh-HK" sz="1000">
                <a:solidFill>
                  <a:srgbClr val="0F1115"/>
                </a:solidFill>
                <a:highlight>
                  <a:srgbClr val="FFFFFF"/>
                </a:highlight>
                <a:latin typeface="Times New Roman"/>
                <a:ea typeface="Times New Roman"/>
                <a:cs typeface="Times New Roman"/>
                <a:sym typeface="Times New Roman"/>
              </a:rPr>
              <a:t>"engagement + followers" hybrid strategy</a:t>
            </a:r>
            <a:r>
              <a:rPr lang="zh-HK" sz="1000">
                <a:solidFill>
                  <a:srgbClr val="0F1115"/>
                </a:solidFill>
                <a:highlight>
                  <a:srgbClr val="FFFFFF"/>
                </a:highlight>
                <a:latin typeface="Times New Roman"/>
                <a:ea typeface="Times New Roman"/>
                <a:cs typeface="Times New Roman"/>
                <a:sym typeface="Times New Roman"/>
              </a:rPr>
              <a:t> since May continues to </a:t>
            </a:r>
            <a:r>
              <a:rPr b="1" lang="zh-HK" sz="1000">
                <a:solidFill>
                  <a:srgbClr val="0F1115"/>
                </a:solidFill>
                <a:highlight>
                  <a:srgbClr val="FFFFFF"/>
                </a:highlight>
                <a:latin typeface="Times New Roman"/>
                <a:ea typeface="Times New Roman"/>
                <a:cs typeface="Times New Roman"/>
                <a:sym typeface="Times New Roman"/>
              </a:rPr>
              <a:t>improve cost efficiency</a:t>
            </a:r>
            <a:r>
              <a:rPr lang="zh-HK" sz="1000">
                <a:solidFill>
                  <a:srgbClr val="0F1115"/>
                </a:solidFill>
                <a:highlight>
                  <a:srgbClr val="FFFFFF"/>
                </a:highlight>
                <a:latin typeface="Times New Roman"/>
                <a:ea typeface="Times New Roman"/>
                <a:cs typeface="Times New Roman"/>
                <a:sym typeface="Times New Roman"/>
              </a:rPr>
              <a:t>.</a:t>
            </a:r>
            <a:r>
              <a:rPr lang="zh-HK" sz="1000">
                <a:latin typeface="Times New Roman"/>
                <a:ea typeface="Times New Roman"/>
                <a:cs typeface="Times New Roman"/>
                <a:sym typeface="Times New Roman"/>
              </a:rPr>
              <a:t> </a:t>
            </a:r>
            <a:endParaRPr sz="10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t/>
            </a:r>
            <a:endParaRPr sz="1000">
              <a:solidFill>
                <a:schemeClr val="dk1"/>
              </a:solidFill>
              <a:latin typeface="Times New Roman"/>
              <a:ea typeface="Times New Roman"/>
              <a:cs typeface="Times New Roman"/>
              <a:sym typeface="Times New Roman"/>
            </a:endParaRPr>
          </a:p>
        </p:txBody>
      </p:sp>
      <p:sp>
        <p:nvSpPr>
          <p:cNvPr id="292" name="Google Shape;292;p10"/>
          <p:cNvSpPr txBox="1"/>
          <p:nvPr/>
        </p:nvSpPr>
        <p:spPr>
          <a:xfrm>
            <a:off x="882769" y="259280"/>
            <a:ext cx="7611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Douyin Performance Summary </a:t>
            </a:r>
            <a:endParaRPr b="1" i="0" sz="2000" u="none" cap="none" strike="noStrike">
              <a:solidFill>
                <a:schemeClr val="dk1"/>
              </a:solidFill>
              <a:latin typeface="Times New Roman"/>
              <a:ea typeface="Times New Roman"/>
              <a:cs typeface="Times New Roman"/>
              <a:sym typeface="Times New Roman"/>
            </a:endParaRPr>
          </a:p>
        </p:txBody>
      </p:sp>
      <p:sp>
        <p:nvSpPr>
          <p:cNvPr id="293" name="Google Shape;293;p10"/>
          <p:cNvSpPr txBox="1"/>
          <p:nvPr/>
        </p:nvSpPr>
        <p:spPr>
          <a:xfrm>
            <a:off x="7730050" y="1884081"/>
            <a:ext cx="13092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700"/>
              <a:buFont typeface="Arial"/>
              <a:buNone/>
            </a:pPr>
            <a:r>
              <a:rPr b="0" i="0" lang="zh-HK" sz="700" u="none" cap="none" strike="noStrike">
                <a:solidFill>
                  <a:schemeClr val="dk2"/>
                </a:solidFill>
                <a:latin typeface="Source Code Pro"/>
                <a:ea typeface="Source Code Pro"/>
                <a:cs typeface="Source Code Pro"/>
                <a:sym typeface="Source Code Pro"/>
              </a:rPr>
              <a:t>2025 Benchmark </a:t>
            </a:r>
            <a:r>
              <a:rPr b="0" i="0" lang="zh-HK" sz="700" u="none" cap="none" strike="noStrike">
                <a:solidFill>
                  <a:srgbClr val="0F1115"/>
                </a:solidFill>
                <a:highlight>
                  <a:schemeClr val="lt1"/>
                </a:highlight>
                <a:latin typeface="Inter"/>
                <a:ea typeface="Inter"/>
                <a:cs typeface="Inter"/>
                <a:sym typeface="Inter"/>
              </a:rPr>
              <a:t>¥</a:t>
            </a:r>
            <a:r>
              <a:rPr b="0" i="0" lang="zh-HK" sz="700" u="none" cap="none" strike="noStrike">
                <a:solidFill>
                  <a:schemeClr val="dk2"/>
                </a:solidFill>
                <a:latin typeface="Source Code Pro"/>
                <a:ea typeface="Source Code Pro"/>
                <a:cs typeface="Source Code Pro"/>
                <a:sym typeface="Source Code Pro"/>
              </a:rPr>
              <a:t>0.65</a:t>
            </a:r>
            <a:endParaRPr b="0" i="0" sz="700" u="none" cap="none" strike="noStrike">
              <a:solidFill>
                <a:schemeClr val="dk2"/>
              </a:solidFill>
              <a:latin typeface="Source Code Pro"/>
              <a:ea typeface="Source Code Pro"/>
              <a:cs typeface="Source Code Pro"/>
              <a:sym typeface="Source Code Pro"/>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2"/>
              </a:solidFill>
              <a:latin typeface="Source Code Pro"/>
              <a:ea typeface="Source Code Pro"/>
              <a:cs typeface="Source Code Pro"/>
              <a:sym typeface="Source Code Pro"/>
            </a:endParaRPr>
          </a:p>
        </p:txBody>
      </p:sp>
      <p:sp>
        <p:nvSpPr>
          <p:cNvPr id="294" name="Google Shape;294;p10"/>
          <p:cNvSpPr/>
          <p:nvPr/>
        </p:nvSpPr>
        <p:spPr>
          <a:xfrm>
            <a:off x="8421901" y="1339458"/>
            <a:ext cx="140700" cy="2103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urce Code Pro"/>
              <a:ea typeface="Source Code Pro"/>
              <a:cs typeface="Source Code Pro"/>
              <a:sym typeface="Source Code Pro"/>
            </a:endParaRPr>
          </a:p>
        </p:txBody>
      </p:sp>
      <p:cxnSp>
        <p:nvCxnSpPr>
          <p:cNvPr id="295" name="Google Shape;295;p10"/>
          <p:cNvCxnSpPr/>
          <p:nvPr/>
        </p:nvCxnSpPr>
        <p:spPr>
          <a:xfrm flipH="1" rot="10800000">
            <a:off x="5863973" y="1902022"/>
            <a:ext cx="2694900" cy="1200"/>
          </a:xfrm>
          <a:prstGeom prst="straightConnector1">
            <a:avLst/>
          </a:prstGeom>
          <a:noFill/>
          <a:ln cap="flat" cmpd="sng" w="28575">
            <a:solidFill>
              <a:srgbClr val="E91C63"/>
            </a:solidFill>
            <a:prstDash val="dashDot"/>
            <a:round/>
            <a:headEnd len="sm" w="sm" type="none"/>
            <a:tailEnd len="sm" w="sm" type="none"/>
          </a:ln>
        </p:spPr>
      </p:cxnSp>
      <p:sp>
        <p:nvSpPr>
          <p:cNvPr id="296" name="Google Shape;296;p10"/>
          <p:cNvSpPr txBox="1"/>
          <p:nvPr/>
        </p:nvSpPr>
        <p:spPr>
          <a:xfrm>
            <a:off x="5991199" y="2141391"/>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Jan</a:t>
            </a:r>
            <a:endParaRPr b="0" i="0" sz="600" u="none" cap="none" strike="noStrike">
              <a:solidFill>
                <a:schemeClr val="dk2"/>
              </a:solidFill>
              <a:latin typeface="Source Code Pro"/>
              <a:ea typeface="Source Code Pro"/>
              <a:cs typeface="Source Code Pro"/>
              <a:sym typeface="Source Code Pro"/>
            </a:endParaRPr>
          </a:p>
        </p:txBody>
      </p:sp>
      <p:sp>
        <p:nvSpPr>
          <p:cNvPr id="297" name="Google Shape;297;p10"/>
          <p:cNvSpPr txBox="1"/>
          <p:nvPr/>
        </p:nvSpPr>
        <p:spPr>
          <a:xfrm>
            <a:off x="6359692" y="2141088"/>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Feb</a:t>
            </a:r>
            <a:endParaRPr b="0" i="0" sz="600" u="none" cap="none" strike="noStrike">
              <a:solidFill>
                <a:schemeClr val="dk2"/>
              </a:solidFill>
              <a:latin typeface="Source Code Pro"/>
              <a:ea typeface="Source Code Pro"/>
              <a:cs typeface="Source Code Pro"/>
              <a:sym typeface="Source Code Pro"/>
            </a:endParaRPr>
          </a:p>
        </p:txBody>
      </p:sp>
      <p:sp>
        <p:nvSpPr>
          <p:cNvPr id="298" name="Google Shape;298;p10"/>
          <p:cNvSpPr txBox="1"/>
          <p:nvPr/>
        </p:nvSpPr>
        <p:spPr>
          <a:xfrm>
            <a:off x="6754492" y="2141396"/>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Mar</a:t>
            </a:r>
            <a:endParaRPr b="0" i="0" sz="600" u="none" cap="none" strike="noStrike">
              <a:solidFill>
                <a:schemeClr val="dk2"/>
              </a:solidFill>
              <a:latin typeface="Source Code Pro"/>
              <a:ea typeface="Source Code Pro"/>
              <a:cs typeface="Source Code Pro"/>
              <a:sym typeface="Source Code Pro"/>
            </a:endParaRPr>
          </a:p>
        </p:txBody>
      </p:sp>
      <p:sp>
        <p:nvSpPr>
          <p:cNvPr id="299" name="Google Shape;299;p10"/>
          <p:cNvSpPr txBox="1"/>
          <p:nvPr/>
        </p:nvSpPr>
        <p:spPr>
          <a:xfrm>
            <a:off x="7159053" y="2141396"/>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Apr</a:t>
            </a:r>
            <a:endParaRPr b="0" i="0" sz="600" u="none" cap="none" strike="noStrike">
              <a:solidFill>
                <a:schemeClr val="dk2"/>
              </a:solidFill>
              <a:latin typeface="Source Code Pro"/>
              <a:ea typeface="Source Code Pro"/>
              <a:cs typeface="Source Code Pro"/>
              <a:sym typeface="Source Code Pro"/>
            </a:endParaRPr>
          </a:p>
        </p:txBody>
      </p:sp>
      <p:sp>
        <p:nvSpPr>
          <p:cNvPr id="300" name="Google Shape;300;p10"/>
          <p:cNvSpPr txBox="1"/>
          <p:nvPr/>
        </p:nvSpPr>
        <p:spPr>
          <a:xfrm>
            <a:off x="7544075" y="2137351"/>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May</a:t>
            </a:r>
            <a:endParaRPr b="0" i="0" sz="600" u="none" cap="none" strike="noStrike">
              <a:solidFill>
                <a:schemeClr val="dk2"/>
              </a:solidFill>
              <a:latin typeface="Source Code Pro"/>
              <a:ea typeface="Source Code Pro"/>
              <a:cs typeface="Source Code Pro"/>
              <a:sym typeface="Source Code Pro"/>
            </a:endParaRPr>
          </a:p>
        </p:txBody>
      </p:sp>
      <p:sp>
        <p:nvSpPr>
          <p:cNvPr id="301" name="Google Shape;301;p10"/>
          <p:cNvSpPr txBox="1"/>
          <p:nvPr/>
        </p:nvSpPr>
        <p:spPr>
          <a:xfrm>
            <a:off x="7948162" y="2137367"/>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Jun</a:t>
            </a:r>
            <a:endParaRPr b="0" i="0" sz="600" u="none" cap="none" strike="noStrike">
              <a:solidFill>
                <a:schemeClr val="dk2"/>
              </a:solidFill>
              <a:latin typeface="Source Code Pro"/>
              <a:ea typeface="Source Code Pro"/>
              <a:cs typeface="Source Code Pro"/>
              <a:sym typeface="Source Code Pro"/>
            </a:endParaRPr>
          </a:p>
        </p:txBody>
      </p:sp>
      <p:graphicFrame>
        <p:nvGraphicFramePr>
          <p:cNvPr id="302" name="Google Shape;302;p10"/>
          <p:cNvGraphicFramePr/>
          <p:nvPr/>
        </p:nvGraphicFramePr>
        <p:xfrm>
          <a:off x="395019" y="3985346"/>
          <a:ext cx="3000000" cy="3000000"/>
        </p:xfrm>
        <a:graphic>
          <a:graphicData uri="http://schemas.openxmlformats.org/drawingml/2006/table">
            <a:tbl>
              <a:tblPr>
                <a:noFill/>
                <a:tableStyleId>{E1739E71-98CB-4F31-BA75-B360A44B9F01}</a:tableStyleId>
              </a:tblPr>
              <a:tblGrid>
                <a:gridCol w="791175"/>
                <a:gridCol w="618675"/>
                <a:gridCol w="835525"/>
                <a:gridCol w="479300"/>
                <a:gridCol w="683250"/>
                <a:gridCol w="504025"/>
                <a:gridCol w="799050"/>
                <a:gridCol w="879950"/>
                <a:gridCol w="987625"/>
              </a:tblGrid>
              <a:tr h="275300">
                <a:tc gridSpan="2" rowSpan="2">
                  <a:txBody>
                    <a:bodyPr/>
                    <a:lstStyle/>
                    <a:p>
                      <a:pPr indent="0" lvl="0" marL="0" marR="0" rtl="0" algn="ctr">
                        <a:lnSpc>
                          <a:spcPct val="115000"/>
                        </a:lnSpc>
                        <a:spcBef>
                          <a:spcPts val="0"/>
                        </a:spcBef>
                        <a:spcAft>
                          <a:spcPts val="0"/>
                        </a:spcAft>
                        <a:buClr>
                          <a:srgbClr val="000000"/>
                        </a:buClr>
                        <a:buSzPts val="1200"/>
                        <a:buFont typeface="Arial"/>
                        <a:buNone/>
                      </a:pPr>
                      <a:r>
                        <a:rPr b="1" lang="zh-HK" sz="1000" u="none" cap="none" strike="noStrike">
                          <a:latin typeface="Calibri"/>
                          <a:ea typeface="Calibri"/>
                          <a:cs typeface="Calibri"/>
                          <a:sym typeface="Calibri"/>
                        </a:rPr>
                        <a:t>Overall Performance</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rowSpan="2" hMerge="1"/>
                <a:tc>
                  <a:txBody>
                    <a:bodyPr/>
                    <a:lstStyle/>
                    <a:p>
                      <a:pPr indent="0" lvl="0" marL="0" marR="0" rtl="0" algn="ctr">
                        <a:lnSpc>
                          <a:spcPct val="115000"/>
                        </a:lnSpc>
                        <a:spcBef>
                          <a:spcPts val="0"/>
                        </a:spcBef>
                        <a:spcAft>
                          <a:spcPts val="0"/>
                        </a:spcAft>
                        <a:buClr>
                          <a:srgbClr val="000000"/>
                        </a:buClr>
                        <a:buSzPts val="1200"/>
                        <a:buFont typeface="Arial"/>
                        <a:buNone/>
                      </a:pPr>
                      <a:r>
                        <a:rPr b="1" lang="zh-HK" sz="900" u="none" cap="none" strike="noStrike">
                          <a:latin typeface="Calibri"/>
                          <a:ea typeface="Calibri"/>
                          <a:cs typeface="Calibri"/>
                          <a:sym typeface="Calibri"/>
                        </a:rPr>
                        <a:t>View</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chemeClr val="dk1"/>
                        </a:buClr>
                        <a:buSzPts val="1100"/>
                        <a:buFont typeface="Arial"/>
                        <a:buNone/>
                      </a:pPr>
                      <a:r>
                        <a:rPr b="1" lang="zh-HK" sz="900" u="none" cap="none" strike="noStrike">
                          <a:solidFill>
                            <a:srgbClr val="1C1C1C"/>
                          </a:solidFill>
                          <a:latin typeface="Calibri"/>
                          <a:ea typeface="Calibri"/>
                          <a:cs typeface="Calibri"/>
                          <a:sym typeface="Calibri"/>
                        </a:rPr>
                        <a:t>Like</a:t>
                      </a:r>
                      <a:endParaRPr b="1" sz="900" u="none" cap="none" strike="noStrike">
                        <a:solidFill>
                          <a:srgbClr val="1C1C1C"/>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zh-HK" sz="900" u="none" cap="none" strike="noStrike">
                          <a:latin typeface="Calibri"/>
                          <a:ea typeface="Calibri"/>
                          <a:cs typeface="Calibri"/>
                          <a:sym typeface="Calibri"/>
                        </a:rPr>
                        <a:t>Comment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zh-HK" sz="900" u="none" cap="none" strike="noStrike">
                          <a:latin typeface="Calibri"/>
                          <a:ea typeface="Calibri"/>
                          <a:cs typeface="Calibri"/>
                          <a:sym typeface="Calibri"/>
                        </a:rPr>
                        <a:t>Share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zh-HK" sz="900" u="none" cap="none" strike="noStrike">
                          <a:latin typeface="Calibri"/>
                          <a:ea typeface="Calibri"/>
                          <a:cs typeface="Calibri"/>
                          <a:sym typeface="Calibri"/>
                        </a:rPr>
                        <a:t>Saved</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zh-HK" sz="900" u="none" cap="none" strike="noStrike">
                          <a:latin typeface="Calibri"/>
                          <a:ea typeface="Calibri"/>
                          <a:cs typeface="Calibri"/>
                          <a:sym typeface="Calibri"/>
                        </a:rPr>
                        <a:t>Total Engagement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zh-HK" sz="900" u="none" cap="none" strike="noStrike">
                          <a:latin typeface="Calibri"/>
                          <a:ea typeface="Calibri"/>
                          <a:cs typeface="Calibri"/>
                          <a:sym typeface="Calibri"/>
                        </a:rPr>
                        <a:t>Total Engagement Rate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r>
              <a:tr h="144900">
                <a:tc gridSpan="2" vMerge="1"/>
                <a:tc hMerge="1" vMerge="1"/>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39</a:t>
                      </a:r>
                      <a:r>
                        <a:rPr lang="zh-HK" sz="900" u="none" cap="none" strike="noStrike">
                          <a:latin typeface="Calibri"/>
                          <a:ea typeface="Calibri"/>
                          <a:cs typeface="Calibri"/>
                          <a:sym typeface="Calibri"/>
                        </a:rPr>
                        <a:t>,</a:t>
                      </a:r>
                      <a:r>
                        <a:rPr lang="zh-HK" sz="900">
                          <a:latin typeface="Calibri"/>
                          <a:ea typeface="Calibri"/>
                          <a:cs typeface="Calibri"/>
                          <a:sym typeface="Calibri"/>
                        </a:rPr>
                        <a:t>083</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u="none" cap="none" strike="noStrike">
                          <a:latin typeface="Calibri"/>
                          <a:ea typeface="Calibri"/>
                          <a:cs typeface="Calibri"/>
                          <a:sym typeface="Calibri"/>
                        </a:rPr>
                        <a:t>1,</a:t>
                      </a:r>
                      <a:r>
                        <a:rPr lang="zh-HK" sz="900">
                          <a:latin typeface="Calibri"/>
                          <a:ea typeface="Calibri"/>
                          <a:cs typeface="Calibri"/>
                          <a:sym typeface="Calibri"/>
                        </a:rPr>
                        <a:t>726</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u="none" cap="none" strike="noStrike">
                          <a:latin typeface="Calibri"/>
                          <a:ea typeface="Calibri"/>
                          <a:cs typeface="Calibri"/>
                          <a:sym typeface="Calibri"/>
                        </a:rPr>
                        <a:t>1</a:t>
                      </a:r>
                      <a:r>
                        <a:rPr lang="zh-HK" sz="900">
                          <a:latin typeface="Calibri"/>
                          <a:ea typeface="Calibri"/>
                          <a:cs typeface="Calibri"/>
                          <a:sym typeface="Calibri"/>
                        </a:rPr>
                        <a:t>0</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69</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414</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u="none" cap="none" strike="noStrike">
                          <a:latin typeface="Calibri"/>
                          <a:ea typeface="Calibri"/>
                          <a:cs typeface="Calibri"/>
                          <a:sym typeface="Calibri"/>
                        </a:rPr>
                        <a:t>2,</a:t>
                      </a:r>
                      <a:r>
                        <a:rPr lang="zh-HK" sz="900">
                          <a:latin typeface="Calibri"/>
                          <a:ea typeface="Calibri"/>
                          <a:cs typeface="Calibri"/>
                          <a:sym typeface="Calibri"/>
                        </a:rPr>
                        <a:t>219</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5</a:t>
                      </a:r>
                      <a:r>
                        <a:rPr lang="zh-HK" sz="900" u="none" cap="none" strike="noStrike">
                          <a:latin typeface="Calibri"/>
                          <a:ea typeface="Calibri"/>
                          <a:cs typeface="Calibri"/>
                          <a:sym typeface="Calibri"/>
                        </a:rPr>
                        <a:t>.</a:t>
                      </a:r>
                      <a:r>
                        <a:rPr lang="zh-HK" sz="900">
                          <a:latin typeface="Calibri"/>
                          <a:ea typeface="Calibri"/>
                          <a:cs typeface="Calibri"/>
                          <a:sym typeface="Calibri"/>
                        </a:rPr>
                        <a:t>6</a:t>
                      </a:r>
                      <a:r>
                        <a:rPr lang="zh-HK" sz="900" u="none" cap="none" strike="noStrike">
                          <a:latin typeface="Calibri"/>
                          <a:ea typeface="Calibri"/>
                          <a:cs typeface="Calibri"/>
                          <a:sym typeface="Calibri"/>
                        </a:rPr>
                        <a:t>8%</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r h="275300">
                <a:tc rowSpan="2">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Boosting</a:t>
                      </a:r>
                      <a:endParaRPr b="1" sz="900" u="none" cap="none" strike="noStrike">
                        <a:latin typeface="Calibri"/>
                        <a:ea typeface="Calibri"/>
                        <a:cs typeface="Calibri"/>
                        <a:sym typeface="Calibri"/>
                      </a:endParaRPr>
                    </a:p>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Performance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Cost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Impressions</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Like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Comment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Share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Follow</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Total </a:t>
                      </a:r>
                      <a:endParaRPr b="1" sz="900" u="none" cap="none" strike="noStrike">
                        <a:latin typeface="Calibri"/>
                        <a:ea typeface="Calibri"/>
                        <a:cs typeface="Calibri"/>
                        <a:sym typeface="Calibri"/>
                      </a:endParaRPr>
                    </a:p>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Engagement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CPE (Cost Per Engagement)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r>
              <a:tr h="144900">
                <a:tc vMerge="1"/>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solidFill>
                            <a:srgbClr val="1C1C1C"/>
                          </a:solidFill>
                          <a:latin typeface="Calibri"/>
                          <a:ea typeface="Calibri"/>
                          <a:cs typeface="Calibri"/>
                          <a:sym typeface="Calibri"/>
                        </a:rPr>
                        <a:t>￥1,</a:t>
                      </a:r>
                      <a:r>
                        <a:rPr b="1" lang="zh-HK" sz="900">
                          <a:solidFill>
                            <a:srgbClr val="1C1C1C"/>
                          </a:solidFill>
                          <a:latin typeface="Calibri"/>
                          <a:ea typeface="Calibri"/>
                          <a:cs typeface="Calibri"/>
                          <a:sym typeface="Calibri"/>
                        </a:rPr>
                        <a:t>71</a:t>
                      </a:r>
                      <a:r>
                        <a:rPr b="1" lang="zh-HK" sz="900" u="none" cap="none" strike="noStrike">
                          <a:solidFill>
                            <a:srgbClr val="1C1C1C"/>
                          </a:solidFill>
                          <a:latin typeface="Calibri"/>
                          <a:ea typeface="Calibri"/>
                          <a:cs typeface="Calibri"/>
                          <a:sym typeface="Calibri"/>
                        </a:rPr>
                        <a:t>0</a:t>
                      </a:r>
                      <a:endParaRPr sz="900" u="none" cap="none" strike="noStrike">
                        <a:solidFill>
                          <a:srgbClr val="1C1C1C"/>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41</a:t>
                      </a:r>
                      <a:r>
                        <a:rPr lang="zh-HK" sz="900" u="none" cap="none" strike="noStrike">
                          <a:latin typeface="Calibri"/>
                          <a:ea typeface="Calibri"/>
                          <a:cs typeface="Calibri"/>
                          <a:sym typeface="Calibri"/>
                        </a:rPr>
                        <a:t>,2</a:t>
                      </a:r>
                      <a:r>
                        <a:rPr lang="zh-HK" sz="900">
                          <a:latin typeface="Calibri"/>
                          <a:ea typeface="Calibri"/>
                          <a:cs typeface="Calibri"/>
                          <a:sym typeface="Calibri"/>
                        </a:rPr>
                        <a:t>59</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1737</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9</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103</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368</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2,217</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solidFill>
                            <a:srgbClr val="1C1C1C"/>
                          </a:solidFill>
                          <a:latin typeface="Calibri"/>
                          <a:ea typeface="Calibri"/>
                          <a:cs typeface="Calibri"/>
                          <a:sym typeface="Calibri"/>
                        </a:rPr>
                        <a:t>￥</a:t>
                      </a:r>
                      <a:r>
                        <a:rPr lang="zh-HK" sz="900">
                          <a:solidFill>
                            <a:srgbClr val="212121"/>
                          </a:solidFill>
                          <a:latin typeface="Calibri"/>
                          <a:ea typeface="Calibri"/>
                          <a:cs typeface="Calibri"/>
                          <a:sym typeface="Calibri"/>
                        </a:rPr>
                        <a:t>0</a:t>
                      </a:r>
                      <a:r>
                        <a:rPr b="0" lang="zh-HK" sz="900" u="none" cap="none" strike="noStrike">
                          <a:solidFill>
                            <a:srgbClr val="212121"/>
                          </a:solidFill>
                          <a:latin typeface="Calibri"/>
                          <a:ea typeface="Calibri"/>
                          <a:cs typeface="Calibri"/>
                          <a:sym typeface="Calibri"/>
                        </a:rPr>
                        <a:t>.</a:t>
                      </a:r>
                      <a:r>
                        <a:rPr lang="zh-HK" sz="900">
                          <a:solidFill>
                            <a:srgbClr val="212121"/>
                          </a:solidFill>
                          <a:latin typeface="Calibri"/>
                          <a:ea typeface="Calibri"/>
                          <a:cs typeface="Calibri"/>
                          <a:sym typeface="Calibri"/>
                        </a:rPr>
                        <a:t>7</a:t>
                      </a:r>
                      <a:r>
                        <a:rPr lang="zh-HK" sz="900" u="none" cap="none" strike="noStrike">
                          <a:solidFill>
                            <a:srgbClr val="212121"/>
                          </a:solidFill>
                          <a:latin typeface="Calibri"/>
                          <a:ea typeface="Calibri"/>
                          <a:cs typeface="Calibri"/>
                          <a:sym typeface="Calibri"/>
                        </a:rPr>
                        <a:t>7</a:t>
                      </a:r>
                      <a:endParaRPr b="0" sz="900" u="none" cap="none" strike="noStrike">
                        <a:solidFill>
                          <a:srgbClr val="21212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303" name="Google Shape;303;p10"/>
          <p:cNvSpPr txBox="1"/>
          <p:nvPr/>
        </p:nvSpPr>
        <p:spPr>
          <a:xfrm>
            <a:off x="8294838" y="2137346"/>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Ju</a:t>
            </a:r>
            <a:r>
              <a:rPr lang="zh-HK" sz="600">
                <a:solidFill>
                  <a:schemeClr val="dk2"/>
                </a:solidFill>
                <a:latin typeface="Source Code Pro"/>
                <a:ea typeface="Source Code Pro"/>
                <a:cs typeface="Source Code Pro"/>
                <a:sym typeface="Source Code Pro"/>
              </a:rPr>
              <a:t>l</a:t>
            </a:r>
            <a:endParaRPr b="0" i="0" sz="600" u="none" cap="none" strike="noStrike">
              <a:solidFill>
                <a:schemeClr val="dk2"/>
              </a:solidFill>
              <a:latin typeface="Source Code Pro"/>
              <a:ea typeface="Source Code Pro"/>
              <a:cs typeface="Source Code Pro"/>
              <a:sym typeface="Source Code Pro"/>
            </a:endParaRPr>
          </a:p>
        </p:txBody>
      </p:sp>
      <p:pic>
        <p:nvPicPr>
          <p:cNvPr id="304" name="Google Shape;304;p10"/>
          <p:cNvPicPr preferRelativeResize="0"/>
          <p:nvPr/>
        </p:nvPicPr>
        <p:blipFill>
          <a:blip r:embed="rId6">
            <a:alphaModFix/>
          </a:blip>
          <a:stretch>
            <a:fillRect/>
          </a:stretch>
        </p:blipFill>
        <p:spPr>
          <a:xfrm>
            <a:off x="397243" y="2410063"/>
            <a:ext cx="6558891" cy="1477500"/>
          </a:xfrm>
          <a:prstGeom prst="rect">
            <a:avLst/>
          </a:prstGeom>
          <a:noFill/>
          <a:ln>
            <a:noFill/>
          </a:ln>
        </p:spPr>
      </p:pic>
      <p:pic>
        <p:nvPicPr>
          <p:cNvPr id="305" name="Google Shape;305;p10"/>
          <p:cNvPicPr preferRelativeResize="0"/>
          <p:nvPr/>
        </p:nvPicPr>
        <p:blipFill>
          <a:blip r:embed="rId7">
            <a:alphaModFix/>
          </a:blip>
          <a:stretch>
            <a:fillRect/>
          </a:stretch>
        </p:blipFill>
        <p:spPr>
          <a:xfrm>
            <a:off x="7029997" y="2535724"/>
            <a:ext cx="918144" cy="1198850"/>
          </a:xfrm>
          <a:prstGeom prst="rect">
            <a:avLst/>
          </a:prstGeom>
          <a:noFill/>
          <a:ln>
            <a:noFill/>
          </a:ln>
        </p:spPr>
      </p:pic>
      <p:pic>
        <p:nvPicPr>
          <p:cNvPr id="306" name="Google Shape;306;p10"/>
          <p:cNvPicPr preferRelativeResize="0"/>
          <p:nvPr/>
        </p:nvPicPr>
        <p:blipFill>
          <a:blip r:embed="rId8">
            <a:alphaModFix/>
          </a:blip>
          <a:stretch>
            <a:fillRect/>
          </a:stretch>
        </p:blipFill>
        <p:spPr>
          <a:xfrm>
            <a:off x="8022027" y="2533460"/>
            <a:ext cx="892972" cy="1198850"/>
          </a:xfrm>
          <a:prstGeom prst="rect">
            <a:avLst/>
          </a:prstGeom>
          <a:noFill/>
          <a:ln>
            <a:noFill/>
          </a:ln>
        </p:spPr>
      </p:pic>
      <p:pic>
        <p:nvPicPr>
          <p:cNvPr id="307" name="Google Shape;307;p10"/>
          <p:cNvPicPr preferRelativeResize="0"/>
          <p:nvPr/>
        </p:nvPicPr>
        <p:blipFill>
          <a:blip r:embed="rId9">
            <a:alphaModFix/>
          </a:blip>
          <a:stretch>
            <a:fillRect/>
          </a:stretch>
        </p:blipFill>
        <p:spPr>
          <a:xfrm>
            <a:off x="7609832" y="3830268"/>
            <a:ext cx="892975" cy="1175557"/>
          </a:xfrm>
          <a:prstGeom prst="rect">
            <a:avLst/>
          </a:prstGeom>
          <a:noFill/>
          <a:ln>
            <a:noFill/>
          </a:ln>
        </p:spPr>
      </p:pic>
      <p:sp>
        <p:nvSpPr>
          <p:cNvPr id="308" name="Google Shape;308;p10"/>
          <p:cNvSpPr/>
          <p:nvPr/>
        </p:nvSpPr>
        <p:spPr>
          <a:xfrm>
            <a:off x="5490725" y="2428665"/>
            <a:ext cx="986400" cy="1477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11" title="Chart"/>
          <p:cNvPicPr preferRelativeResize="0"/>
          <p:nvPr/>
        </p:nvPicPr>
        <p:blipFill>
          <a:blip r:embed="rId3">
            <a:alphaModFix/>
          </a:blip>
          <a:stretch>
            <a:fillRect/>
          </a:stretch>
        </p:blipFill>
        <p:spPr>
          <a:xfrm>
            <a:off x="4617025" y="1829662"/>
            <a:ext cx="4201975" cy="2593954"/>
          </a:xfrm>
          <a:prstGeom prst="rect">
            <a:avLst/>
          </a:prstGeom>
          <a:noFill/>
          <a:ln>
            <a:noFill/>
          </a:ln>
        </p:spPr>
      </p:pic>
      <p:sp>
        <p:nvSpPr>
          <p:cNvPr id="314" name="Google Shape;314;p11"/>
          <p:cNvSpPr txBox="1"/>
          <p:nvPr/>
        </p:nvSpPr>
        <p:spPr>
          <a:xfrm>
            <a:off x="950850" y="256375"/>
            <a:ext cx="6267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Competitors Analysis- Fan Base</a:t>
            </a:r>
            <a:endParaRPr b="1" i="0" sz="2000" u="none" cap="none" strike="noStrike">
              <a:solidFill>
                <a:schemeClr val="dk1"/>
              </a:solidFill>
              <a:latin typeface="Times New Roman"/>
              <a:ea typeface="Times New Roman"/>
              <a:cs typeface="Times New Roman"/>
              <a:sym typeface="Times New Roman"/>
            </a:endParaRPr>
          </a:p>
        </p:txBody>
      </p:sp>
      <p:pic>
        <p:nvPicPr>
          <p:cNvPr id="315" name="Google Shape;315;p11"/>
          <p:cNvPicPr preferRelativeResize="0"/>
          <p:nvPr/>
        </p:nvPicPr>
        <p:blipFill rotWithShape="1">
          <a:blip r:embed="rId4">
            <a:alphaModFix/>
          </a:blip>
          <a:srcRect b="0" l="0" r="0" t="0"/>
          <a:stretch/>
        </p:blipFill>
        <p:spPr>
          <a:xfrm>
            <a:off x="501350" y="307312"/>
            <a:ext cx="386075" cy="386075"/>
          </a:xfrm>
          <a:prstGeom prst="rect">
            <a:avLst/>
          </a:prstGeom>
          <a:noFill/>
          <a:ln>
            <a:noFill/>
          </a:ln>
        </p:spPr>
      </p:pic>
      <p:sp>
        <p:nvSpPr>
          <p:cNvPr id="316" name="Google Shape;316;p11"/>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317" name="Google Shape;317;p11"/>
          <p:cNvSpPr txBox="1"/>
          <p:nvPr/>
        </p:nvSpPr>
        <p:spPr>
          <a:xfrm>
            <a:off x="437925" y="4769521"/>
            <a:ext cx="45885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zh-HK" sz="1100" u="none" cap="none" strike="noStrike">
                <a:solidFill>
                  <a:schemeClr val="dk2"/>
                </a:solidFill>
                <a:latin typeface="Times New Roman"/>
                <a:ea typeface="Times New Roman"/>
                <a:cs typeface="Times New Roman"/>
                <a:sym typeface="Times New Roman"/>
              </a:rPr>
              <a:t>Source: </a:t>
            </a:r>
            <a:r>
              <a:rPr b="0" i="0" lang="zh-HK" sz="1100" u="sng" cap="none" strike="noStrike">
                <a:solidFill>
                  <a:schemeClr val="dk2"/>
                </a:solidFill>
                <a:latin typeface="Times New Roman"/>
                <a:ea typeface="Times New Roman"/>
                <a:cs typeface="Times New Roman"/>
                <a:sym typeface="Times New Roman"/>
                <a:hlinkClick r:id="rId5">
                  <a:extLst>
                    <a:ext uri="{A12FA001-AC4F-418D-AE19-62706E023703}">
                      <ahyp:hlinkClr val="tx"/>
                    </a:ext>
                  </a:extLst>
                </a:hlinkClick>
              </a:rPr>
              <a:t>https://www.huitun.com/</a:t>
            </a:r>
            <a:endParaRPr b="0" i="0" sz="11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chemeClr val="dk2"/>
              </a:solidFill>
              <a:latin typeface="Arial"/>
              <a:ea typeface="Arial"/>
              <a:cs typeface="Arial"/>
              <a:sym typeface="Arial"/>
            </a:endParaRPr>
          </a:p>
        </p:txBody>
      </p:sp>
      <p:sp>
        <p:nvSpPr>
          <p:cNvPr id="318" name="Google Shape;318;p11"/>
          <p:cNvSpPr txBox="1"/>
          <p:nvPr/>
        </p:nvSpPr>
        <p:spPr>
          <a:xfrm>
            <a:off x="517650" y="930775"/>
            <a:ext cx="8108700" cy="661500"/>
          </a:xfrm>
          <a:prstGeom prst="rect">
            <a:avLst/>
          </a:prstGeom>
          <a:noFill/>
          <a:ln>
            <a:noFill/>
          </a:ln>
        </p:spPr>
        <p:txBody>
          <a:bodyPr anchorCtr="0" anchor="t" bIns="25700" lIns="51425" spcFirstLastPara="1" rIns="51425" wrap="square" tIns="25700">
            <a:spAutoFit/>
          </a:bodyPr>
          <a:lstStyle/>
          <a:p>
            <a:pPr indent="0" lvl="0" marL="0" marR="0" rtl="0" algn="l">
              <a:lnSpc>
                <a:spcPct val="115000"/>
              </a:lnSpc>
              <a:spcBef>
                <a:spcPts val="0"/>
              </a:spcBef>
              <a:spcAft>
                <a:spcPts val="0"/>
              </a:spcAft>
              <a:buClr>
                <a:srgbClr val="000000"/>
              </a:buClr>
              <a:buSzPts val="1200"/>
              <a:buFont typeface="Arial"/>
              <a:buNone/>
            </a:pPr>
            <a:r>
              <a:rPr lang="zh-HK" sz="1200">
                <a:solidFill>
                  <a:srgbClr val="0F1115"/>
                </a:solidFill>
                <a:highlight>
                  <a:srgbClr val="FFFFFF"/>
                </a:highlight>
                <a:latin typeface="Times New Roman"/>
                <a:ea typeface="Times New Roman"/>
                <a:cs typeface="Times New Roman"/>
                <a:sym typeface="Times New Roman"/>
              </a:rPr>
              <a:t>By the end of July 2026, Langham Place ranked</a:t>
            </a:r>
            <a:r>
              <a:rPr b="1" lang="zh-HK" sz="1200">
                <a:solidFill>
                  <a:srgbClr val="0F1115"/>
                </a:solidFill>
                <a:highlight>
                  <a:srgbClr val="FFFFFF"/>
                </a:highlight>
                <a:latin typeface="Times New Roman"/>
                <a:ea typeface="Times New Roman"/>
                <a:cs typeface="Times New Roman"/>
                <a:sym typeface="Times New Roman"/>
              </a:rPr>
              <a:t> No.5 </a:t>
            </a:r>
            <a:r>
              <a:rPr lang="zh-HK" sz="1200">
                <a:solidFill>
                  <a:srgbClr val="0F1115"/>
                </a:solidFill>
                <a:highlight>
                  <a:srgbClr val="FFFFFF"/>
                </a:highlight>
                <a:latin typeface="Times New Roman"/>
                <a:ea typeface="Times New Roman"/>
                <a:cs typeface="Times New Roman"/>
                <a:sym typeface="Times New Roman"/>
              </a:rPr>
              <a:t>among Hong Kong shopping malls in </a:t>
            </a:r>
            <a:r>
              <a:rPr b="1" lang="zh-HK" sz="1200">
                <a:solidFill>
                  <a:srgbClr val="0F1115"/>
                </a:solidFill>
                <a:highlight>
                  <a:srgbClr val="FFFFFF"/>
                </a:highlight>
                <a:latin typeface="Times New Roman"/>
                <a:ea typeface="Times New Roman"/>
                <a:cs typeface="Times New Roman"/>
                <a:sym typeface="Times New Roman"/>
              </a:rPr>
              <a:t>total follower count</a:t>
            </a:r>
            <a:r>
              <a:rPr lang="zh-HK" sz="1200">
                <a:solidFill>
                  <a:srgbClr val="0F1115"/>
                </a:solidFill>
                <a:highlight>
                  <a:srgbClr val="FFFFFF"/>
                </a:highlight>
                <a:latin typeface="Times New Roman"/>
                <a:ea typeface="Times New Roman"/>
                <a:cs typeface="Times New Roman"/>
                <a:sym typeface="Times New Roman"/>
              </a:rPr>
              <a:t> and</a:t>
            </a:r>
            <a:r>
              <a:rPr b="1" lang="zh-HK" sz="1200">
                <a:solidFill>
                  <a:srgbClr val="0F1115"/>
                </a:solidFill>
                <a:highlight>
                  <a:srgbClr val="FFFFFF"/>
                </a:highlight>
                <a:latin typeface="Times New Roman"/>
                <a:ea typeface="Times New Roman"/>
                <a:cs typeface="Times New Roman"/>
                <a:sym typeface="Times New Roman"/>
              </a:rPr>
              <a:t> No.4</a:t>
            </a:r>
            <a:r>
              <a:rPr lang="zh-HK" sz="1200">
                <a:solidFill>
                  <a:srgbClr val="0F1115"/>
                </a:solidFill>
                <a:highlight>
                  <a:srgbClr val="FFFFFF"/>
                </a:highlight>
                <a:latin typeface="Times New Roman"/>
                <a:ea typeface="Times New Roman"/>
                <a:cs typeface="Times New Roman"/>
                <a:sym typeface="Times New Roman"/>
              </a:rPr>
              <a:t> in monthly </a:t>
            </a:r>
            <a:r>
              <a:rPr b="1" lang="zh-HK" sz="1200">
                <a:solidFill>
                  <a:srgbClr val="0F1115"/>
                </a:solidFill>
                <a:highlight>
                  <a:srgbClr val="FFFFFF"/>
                </a:highlight>
                <a:latin typeface="Times New Roman"/>
                <a:ea typeface="Times New Roman"/>
                <a:cs typeface="Times New Roman"/>
                <a:sym typeface="Times New Roman"/>
              </a:rPr>
              <a:t>new follower growth</a:t>
            </a:r>
            <a:r>
              <a:rPr lang="zh-HK" sz="1200">
                <a:solidFill>
                  <a:srgbClr val="0F1115"/>
                </a:solidFill>
                <a:highlight>
                  <a:srgbClr val="FFFFFF"/>
                </a:highlight>
                <a:latin typeface="Times New Roman"/>
                <a:ea typeface="Times New Roman"/>
                <a:cs typeface="Times New Roman"/>
                <a:sym typeface="Times New Roman"/>
              </a:rPr>
              <a:t>, both </a:t>
            </a:r>
            <a:r>
              <a:rPr b="1" lang="zh-HK" sz="1200">
                <a:solidFill>
                  <a:srgbClr val="0F1115"/>
                </a:solidFill>
                <a:highlight>
                  <a:srgbClr val="FFFFFF"/>
                </a:highlight>
                <a:latin typeface="Times New Roman"/>
                <a:ea typeface="Times New Roman"/>
                <a:cs typeface="Times New Roman"/>
                <a:sym typeface="Times New Roman"/>
              </a:rPr>
              <a:t>up one position</a:t>
            </a:r>
            <a:r>
              <a:rPr lang="zh-HK" sz="1200">
                <a:solidFill>
                  <a:srgbClr val="0F1115"/>
                </a:solidFill>
                <a:highlight>
                  <a:srgbClr val="FFFFFF"/>
                </a:highlight>
                <a:latin typeface="Times New Roman"/>
                <a:ea typeface="Times New Roman"/>
                <a:cs typeface="Times New Roman"/>
                <a:sym typeface="Times New Roman"/>
              </a:rPr>
              <a:t> from June.</a:t>
            </a:r>
            <a:r>
              <a:rPr lang="zh-HK" sz="1100">
                <a:latin typeface="Times New Roman"/>
                <a:ea typeface="Times New Roman"/>
                <a:cs typeface="Times New Roman"/>
                <a:sym typeface="Times New Roman"/>
              </a:rPr>
              <a:t> </a:t>
            </a:r>
            <a:endParaRPr sz="1200">
              <a:solidFill>
                <a:srgbClr val="21212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200"/>
              <a:buFont typeface="Arial"/>
              <a:buNone/>
            </a:pPr>
            <a:r>
              <a:t/>
            </a:r>
            <a:endParaRPr sz="1200">
              <a:latin typeface="Times New Roman"/>
              <a:ea typeface="Times New Roman"/>
              <a:cs typeface="Times New Roman"/>
              <a:sym typeface="Times New Roman"/>
            </a:endParaRPr>
          </a:p>
        </p:txBody>
      </p:sp>
      <p:sp>
        <p:nvSpPr>
          <p:cNvPr id="319" name="Google Shape;319;p11"/>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320" name="Google Shape;320;p11"/>
          <p:cNvPicPr preferRelativeResize="0"/>
          <p:nvPr/>
        </p:nvPicPr>
        <p:blipFill rotWithShape="1">
          <a:blip r:embed="rId6">
            <a:alphaModFix/>
          </a:blip>
          <a:srcRect b="21020" l="14063" r="17215" t="26140"/>
          <a:stretch/>
        </p:blipFill>
        <p:spPr>
          <a:xfrm>
            <a:off x="8094845" y="162433"/>
            <a:ext cx="1049155" cy="423511"/>
          </a:xfrm>
          <a:prstGeom prst="rect">
            <a:avLst/>
          </a:prstGeom>
          <a:noFill/>
          <a:ln>
            <a:noFill/>
          </a:ln>
        </p:spPr>
      </p:pic>
      <p:pic>
        <p:nvPicPr>
          <p:cNvPr id="321" name="Google Shape;321;p11" title="Chart"/>
          <p:cNvPicPr preferRelativeResize="0"/>
          <p:nvPr/>
        </p:nvPicPr>
        <p:blipFill>
          <a:blip r:embed="rId7">
            <a:alphaModFix/>
          </a:blip>
          <a:stretch>
            <a:fillRect/>
          </a:stretch>
        </p:blipFill>
        <p:spPr>
          <a:xfrm>
            <a:off x="164312" y="1829675"/>
            <a:ext cx="4201971" cy="2593925"/>
          </a:xfrm>
          <a:prstGeom prst="rect">
            <a:avLst/>
          </a:prstGeom>
          <a:noFill/>
          <a:ln>
            <a:noFill/>
          </a:ln>
        </p:spPr>
      </p:pic>
      <p:sp>
        <p:nvSpPr>
          <p:cNvPr id="322" name="Google Shape;322;p11"/>
          <p:cNvSpPr/>
          <p:nvPr/>
        </p:nvSpPr>
        <p:spPr>
          <a:xfrm>
            <a:off x="4843525" y="2723235"/>
            <a:ext cx="3591300" cy="21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1"/>
          <p:cNvSpPr txBox="1"/>
          <p:nvPr/>
        </p:nvSpPr>
        <p:spPr>
          <a:xfrm>
            <a:off x="6924675" y="475377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zh-HK" sz="1100" u="none" cap="none" strike="noStrike">
                <a:solidFill>
                  <a:schemeClr val="dk2"/>
                </a:solidFill>
                <a:latin typeface="Times New Roman"/>
                <a:ea typeface="Times New Roman"/>
                <a:cs typeface="Times New Roman"/>
                <a:sym typeface="Times New Roman"/>
              </a:rPr>
              <a:t>Data range: 2026.</a:t>
            </a:r>
            <a:r>
              <a:rPr lang="zh-HK" sz="1100">
                <a:solidFill>
                  <a:schemeClr val="dk2"/>
                </a:solidFill>
                <a:latin typeface="Times New Roman"/>
                <a:ea typeface="Times New Roman"/>
                <a:cs typeface="Times New Roman"/>
                <a:sym typeface="Times New Roman"/>
              </a:rPr>
              <a:t>7</a:t>
            </a:r>
            <a:r>
              <a:rPr b="0" i="0" lang="zh-HK" sz="1100" u="none" cap="none" strike="noStrike">
                <a:solidFill>
                  <a:schemeClr val="dk2"/>
                </a:solidFill>
                <a:latin typeface="Times New Roman"/>
                <a:ea typeface="Times New Roman"/>
                <a:cs typeface="Times New Roman"/>
                <a:sym typeface="Times New Roman"/>
              </a:rPr>
              <a:t>.1 - </a:t>
            </a:r>
            <a:r>
              <a:rPr lang="zh-HK" sz="1100">
                <a:solidFill>
                  <a:schemeClr val="dk2"/>
                </a:solidFill>
                <a:latin typeface="Times New Roman"/>
                <a:ea typeface="Times New Roman"/>
                <a:cs typeface="Times New Roman"/>
                <a:sym typeface="Times New Roman"/>
              </a:rPr>
              <a:t>7</a:t>
            </a:r>
            <a:r>
              <a:rPr b="0" i="0" lang="zh-HK" sz="1100" u="none" cap="none" strike="noStrike">
                <a:solidFill>
                  <a:schemeClr val="dk2"/>
                </a:solidFill>
                <a:latin typeface="Times New Roman"/>
                <a:ea typeface="Times New Roman"/>
                <a:cs typeface="Times New Roman"/>
                <a:sym typeface="Times New Roman"/>
              </a:rPr>
              <a:t>.3</a:t>
            </a:r>
            <a:r>
              <a:rPr lang="zh-HK" sz="1100">
                <a:solidFill>
                  <a:schemeClr val="dk2"/>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24" name="Google Shape;324;p11"/>
          <p:cNvSpPr/>
          <p:nvPr/>
        </p:nvSpPr>
        <p:spPr>
          <a:xfrm>
            <a:off x="395026" y="2898508"/>
            <a:ext cx="3241800" cy="21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12" title="Chart"/>
          <p:cNvPicPr preferRelativeResize="0"/>
          <p:nvPr/>
        </p:nvPicPr>
        <p:blipFill>
          <a:blip r:embed="rId3">
            <a:alphaModFix/>
          </a:blip>
          <a:stretch>
            <a:fillRect/>
          </a:stretch>
        </p:blipFill>
        <p:spPr>
          <a:xfrm>
            <a:off x="947450" y="1762650"/>
            <a:ext cx="7101174" cy="3179599"/>
          </a:xfrm>
          <a:prstGeom prst="rect">
            <a:avLst/>
          </a:prstGeom>
          <a:noFill/>
          <a:ln>
            <a:noFill/>
          </a:ln>
        </p:spPr>
      </p:pic>
      <p:sp>
        <p:nvSpPr>
          <p:cNvPr id="330" name="Google Shape;330;p12"/>
          <p:cNvSpPr txBox="1"/>
          <p:nvPr/>
        </p:nvSpPr>
        <p:spPr>
          <a:xfrm>
            <a:off x="-34650" y="794695"/>
            <a:ext cx="9099000" cy="1529700"/>
          </a:xfrm>
          <a:prstGeom prst="rect">
            <a:avLst/>
          </a:prstGeom>
          <a:noFill/>
          <a:ln>
            <a:noFill/>
          </a:ln>
        </p:spPr>
        <p:txBody>
          <a:bodyPr anchorCtr="0" anchor="t" bIns="25700" lIns="51425" spcFirstLastPara="1" rIns="51425" wrap="square" tIns="25700">
            <a:spAutoFit/>
          </a:bodyPr>
          <a:lstStyle/>
          <a:p>
            <a:pPr indent="-298450" lvl="0" marL="457200" marR="0" rtl="0" algn="l">
              <a:lnSpc>
                <a:spcPct val="150000"/>
              </a:lnSpc>
              <a:spcBef>
                <a:spcPts val="0"/>
              </a:spcBef>
              <a:spcAft>
                <a:spcPts val="0"/>
              </a:spcAft>
              <a:buClr>
                <a:srgbClr val="000000"/>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In July, </a:t>
            </a:r>
            <a:r>
              <a:rPr b="1" lang="zh-HK" sz="1100">
                <a:solidFill>
                  <a:srgbClr val="0F1115"/>
                </a:solidFill>
                <a:highlight>
                  <a:srgbClr val="FFFFFF"/>
                </a:highlight>
                <a:latin typeface="Times New Roman"/>
                <a:ea typeface="Times New Roman"/>
                <a:cs typeface="Times New Roman"/>
                <a:sym typeface="Times New Roman"/>
              </a:rPr>
              <a:t>Harbour City</a:t>
            </a:r>
            <a:r>
              <a:rPr lang="zh-HK" sz="1100">
                <a:solidFill>
                  <a:srgbClr val="0F1115"/>
                </a:solidFill>
                <a:highlight>
                  <a:srgbClr val="FFFFFF"/>
                </a:highlight>
                <a:latin typeface="Times New Roman"/>
                <a:ea typeface="Times New Roman"/>
                <a:cs typeface="Times New Roman"/>
                <a:sym typeface="Times New Roman"/>
              </a:rPr>
              <a:t> led in </a:t>
            </a:r>
            <a:r>
              <a:rPr b="1" lang="zh-HK" sz="1100">
                <a:solidFill>
                  <a:srgbClr val="0F1115"/>
                </a:solidFill>
                <a:highlight>
                  <a:srgbClr val="FFFFFF"/>
                </a:highlight>
                <a:latin typeface="Times New Roman"/>
                <a:ea typeface="Times New Roman"/>
                <a:cs typeface="Times New Roman"/>
                <a:sym typeface="Times New Roman"/>
              </a:rPr>
              <a:t>post volume</a:t>
            </a:r>
            <a:r>
              <a:rPr lang="zh-HK" sz="1100">
                <a:solidFill>
                  <a:srgbClr val="0F1115"/>
                </a:solidFill>
                <a:highlight>
                  <a:srgbClr val="FFFFFF"/>
                </a:highlight>
                <a:latin typeface="Times New Roman"/>
                <a:ea typeface="Times New Roman"/>
                <a:cs typeface="Times New Roman"/>
                <a:sym typeface="Times New Roman"/>
              </a:rPr>
              <a:t> with 31 posts, followed by </a:t>
            </a:r>
            <a:r>
              <a:rPr b="1" lang="zh-HK" sz="1100">
                <a:solidFill>
                  <a:srgbClr val="0F1115"/>
                </a:solidFill>
                <a:highlight>
                  <a:srgbClr val="FFFFFF"/>
                </a:highlight>
                <a:latin typeface="Times New Roman"/>
                <a:ea typeface="Times New Roman"/>
                <a:cs typeface="Times New Roman"/>
                <a:sym typeface="Times New Roman"/>
              </a:rPr>
              <a:t>New Town Plaza</a:t>
            </a:r>
            <a:r>
              <a:rPr lang="zh-HK" sz="1100">
                <a:solidFill>
                  <a:srgbClr val="0F1115"/>
                </a:solidFill>
                <a:highlight>
                  <a:srgbClr val="FFFFFF"/>
                </a:highlight>
                <a:latin typeface="Times New Roman"/>
                <a:ea typeface="Times New Roman"/>
                <a:cs typeface="Times New Roman"/>
                <a:sym typeface="Times New Roman"/>
              </a:rPr>
              <a:t> (27) and </a:t>
            </a:r>
            <a:r>
              <a:rPr b="1" lang="zh-HK" sz="1100">
                <a:solidFill>
                  <a:srgbClr val="0F1115"/>
                </a:solidFill>
                <a:highlight>
                  <a:srgbClr val="FFFFFF"/>
                </a:highlight>
                <a:latin typeface="Times New Roman"/>
                <a:ea typeface="Times New Roman"/>
                <a:cs typeface="Times New Roman"/>
                <a:sym typeface="Times New Roman"/>
              </a:rPr>
              <a:t>YOHO</a:t>
            </a:r>
            <a:r>
              <a:rPr lang="zh-HK" sz="1100">
                <a:solidFill>
                  <a:srgbClr val="0F1115"/>
                </a:solidFill>
                <a:highlight>
                  <a:srgbClr val="FFFFFF"/>
                </a:highlight>
                <a:latin typeface="Times New Roman"/>
                <a:ea typeface="Times New Roman"/>
                <a:cs typeface="Times New Roman"/>
                <a:sym typeface="Times New Roman"/>
              </a:rPr>
              <a:t> (19). </a:t>
            </a:r>
            <a:endParaRPr sz="1100">
              <a:solidFill>
                <a:srgbClr val="0F1115"/>
              </a:solidFill>
              <a:highlight>
                <a:srgbClr val="FFFFFF"/>
              </a:highlight>
              <a:latin typeface="Times New Roman"/>
              <a:ea typeface="Times New Roman"/>
              <a:cs typeface="Times New Roman"/>
              <a:sym typeface="Times New Roman"/>
            </a:endParaRPr>
          </a:p>
          <a:p>
            <a:pPr indent="-298450" lvl="0" marL="457200" marR="0" rtl="0" algn="l">
              <a:lnSpc>
                <a:spcPct val="150000"/>
              </a:lnSpc>
              <a:spcBef>
                <a:spcPts val="0"/>
              </a:spcBef>
              <a:spcAft>
                <a:spcPts val="0"/>
              </a:spcAft>
              <a:buClr>
                <a:srgbClr val="000000"/>
              </a:buClr>
              <a:buSzPts val="1100"/>
              <a:buFont typeface="Times New Roman"/>
              <a:buChar char="●"/>
            </a:pPr>
            <a:r>
              <a:rPr b="1" lang="zh-HK" sz="1100">
                <a:solidFill>
                  <a:srgbClr val="0F1115"/>
                </a:solidFill>
                <a:highlight>
                  <a:srgbClr val="FFFFFF"/>
                </a:highlight>
                <a:latin typeface="Times New Roman"/>
                <a:ea typeface="Times New Roman"/>
                <a:cs typeface="Times New Roman"/>
                <a:sym typeface="Times New Roman"/>
              </a:rPr>
              <a:t>MOKO</a:t>
            </a:r>
            <a:r>
              <a:rPr lang="zh-HK" sz="1100">
                <a:solidFill>
                  <a:srgbClr val="0F1115"/>
                </a:solidFill>
                <a:highlight>
                  <a:srgbClr val="FFFFFF"/>
                </a:highlight>
                <a:latin typeface="Times New Roman"/>
                <a:ea typeface="Times New Roman"/>
                <a:cs typeface="Times New Roman"/>
                <a:sym typeface="Times New Roman"/>
              </a:rPr>
              <a:t> recorded the </a:t>
            </a:r>
            <a:r>
              <a:rPr b="1" lang="zh-HK" sz="1100">
                <a:solidFill>
                  <a:srgbClr val="0F1115"/>
                </a:solidFill>
                <a:highlight>
                  <a:srgbClr val="FFFFFF"/>
                </a:highlight>
                <a:latin typeface="Times New Roman"/>
                <a:ea typeface="Times New Roman"/>
                <a:cs typeface="Times New Roman"/>
                <a:sym typeface="Times New Roman"/>
              </a:rPr>
              <a:t>highest average views</a:t>
            </a:r>
            <a:r>
              <a:rPr lang="zh-HK" sz="1100">
                <a:solidFill>
                  <a:srgbClr val="0F1115"/>
                </a:solidFill>
                <a:highlight>
                  <a:srgbClr val="FFFFFF"/>
                </a:highlight>
                <a:latin typeface="Times New Roman"/>
                <a:ea typeface="Times New Roman"/>
                <a:cs typeface="Times New Roman"/>
                <a:sym typeface="Times New Roman"/>
              </a:rPr>
              <a:t> (38,411), followed by </a:t>
            </a:r>
            <a:r>
              <a:rPr b="1" lang="zh-HK" sz="1100">
                <a:solidFill>
                  <a:srgbClr val="0F1115"/>
                </a:solidFill>
                <a:highlight>
                  <a:srgbClr val="FFFFFF"/>
                </a:highlight>
                <a:latin typeface="Times New Roman"/>
                <a:ea typeface="Times New Roman"/>
                <a:cs typeface="Times New Roman"/>
                <a:sym typeface="Times New Roman"/>
              </a:rPr>
              <a:t>YOHO</a:t>
            </a:r>
            <a:r>
              <a:rPr lang="zh-HK" sz="1100">
                <a:solidFill>
                  <a:srgbClr val="0F1115"/>
                </a:solidFill>
                <a:highlight>
                  <a:srgbClr val="FFFFFF"/>
                </a:highlight>
                <a:latin typeface="Times New Roman"/>
                <a:ea typeface="Times New Roman"/>
                <a:cs typeface="Times New Roman"/>
                <a:sym typeface="Times New Roman"/>
              </a:rPr>
              <a:t> (20,853).</a:t>
            </a:r>
            <a:r>
              <a:rPr lang="zh-HK" sz="1100">
                <a:latin typeface="Times New Roman"/>
                <a:ea typeface="Times New Roman"/>
                <a:cs typeface="Times New Roman"/>
                <a:sym typeface="Times New Roman"/>
              </a:rPr>
              <a:t> </a:t>
            </a:r>
            <a:endParaRPr i="0" sz="1100" u="none" cap="none" strike="noStrike">
              <a:solidFill>
                <a:srgbClr val="000000"/>
              </a:solidFill>
              <a:latin typeface="Times New Roman"/>
              <a:ea typeface="Times New Roman"/>
              <a:cs typeface="Times New Roman"/>
              <a:sym typeface="Times New Roman"/>
            </a:endParaRPr>
          </a:p>
          <a:p>
            <a:pPr indent="-298450" lvl="0" marL="457200" marR="0" rtl="0" algn="l">
              <a:lnSpc>
                <a:spcPct val="150000"/>
              </a:lnSpc>
              <a:spcBef>
                <a:spcPts val="0"/>
              </a:spcBef>
              <a:spcAft>
                <a:spcPts val="0"/>
              </a:spcAft>
              <a:buClr>
                <a:srgbClr val="000000"/>
              </a:buClr>
              <a:buSzPts val="1100"/>
              <a:buFont typeface="Times New Roman"/>
              <a:buChar char="●"/>
            </a:pPr>
            <a:r>
              <a:rPr b="1" lang="zh-HK" sz="1100">
                <a:solidFill>
                  <a:srgbClr val="0F1115"/>
                </a:solidFill>
                <a:highlight>
                  <a:srgbClr val="FFFFFF"/>
                </a:highlight>
                <a:latin typeface="Times New Roman"/>
                <a:ea typeface="Times New Roman"/>
                <a:cs typeface="Times New Roman"/>
                <a:sym typeface="Times New Roman"/>
              </a:rPr>
              <a:t>Langham Place</a:t>
            </a:r>
            <a:r>
              <a:rPr lang="zh-HK" sz="1100">
                <a:solidFill>
                  <a:srgbClr val="0F1115"/>
                </a:solidFill>
                <a:highlight>
                  <a:srgbClr val="FFFFFF"/>
                </a:highlight>
                <a:latin typeface="Times New Roman"/>
                <a:ea typeface="Times New Roman"/>
                <a:cs typeface="Times New Roman"/>
                <a:sym typeface="Times New Roman"/>
              </a:rPr>
              <a:t> ranked </a:t>
            </a:r>
            <a:r>
              <a:rPr b="1" lang="zh-HK" sz="1100">
                <a:solidFill>
                  <a:srgbClr val="0F1115"/>
                </a:solidFill>
                <a:highlight>
                  <a:srgbClr val="FFFFFF"/>
                </a:highlight>
                <a:latin typeface="Times New Roman"/>
                <a:ea typeface="Times New Roman"/>
                <a:cs typeface="Times New Roman"/>
                <a:sym typeface="Times New Roman"/>
              </a:rPr>
              <a:t>third in average views</a:t>
            </a:r>
            <a:r>
              <a:rPr lang="zh-HK" sz="1100">
                <a:solidFill>
                  <a:srgbClr val="0F1115"/>
                </a:solidFill>
                <a:highlight>
                  <a:srgbClr val="FFFFFF"/>
                </a:highlight>
                <a:latin typeface="Times New Roman"/>
                <a:ea typeface="Times New Roman"/>
                <a:cs typeface="Times New Roman"/>
                <a:sym typeface="Times New Roman"/>
              </a:rPr>
              <a:t> and </a:t>
            </a:r>
            <a:r>
              <a:rPr b="1" lang="zh-HK" sz="1100">
                <a:solidFill>
                  <a:srgbClr val="0F1115"/>
                </a:solidFill>
                <a:highlight>
                  <a:srgbClr val="FFFFFF"/>
                </a:highlight>
                <a:latin typeface="Times New Roman"/>
                <a:ea typeface="Times New Roman"/>
                <a:cs typeface="Times New Roman"/>
                <a:sym typeface="Times New Roman"/>
              </a:rPr>
              <a:t>first in engagement rate</a:t>
            </a:r>
            <a:r>
              <a:rPr lang="zh-HK" sz="1100">
                <a:solidFill>
                  <a:srgbClr val="0F1115"/>
                </a:solidFill>
                <a:highlight>
                  <a:srgbClr val="FFFFFF"/>
                </a:highlight>
                <a:latin typeface="Times New Roman"/>
                <a:ea typeface="Times New Roman"/>
                <a:cs typeface="Times New Roman"/>
                <a:sym typeface="Times New Roman"/>
              </a:rPr>
              <a:t> (13.18%), significantly outperforming competitors with higher post frequency. This reflects that our "</a:t>
            </a:r>
            <a:r>
              <a:rPr b="1" lang="zh-HK" sz="1100">
                <a:solidFill>
                  <a:srgbClr val="0F1115"/>
                </a:solidFill>
                <a:highlight>
                  <a:srgbClr val="FFFFFF"/>
                </a:highlight>
                <a:latin typeface="Times New Roman"/>
                <a:ea typeface="Times New Roman"/>
                <a:cs typeface="Times New Roman"/>
                <a:sym typeface="Times New Roman"/>
              </a:rPr>
              <a:t>quality over quantity</a:t>
            </a:r>
            <a:r>
              <a:rPr lang="zh-HK" sz="1100">
                <a:solidFill>
                  <a:srgbClr val="0F1115"/>
                </a:solidFill>
                <a:highlight>
                  <a:srgbClr val="FFFFFF"/>
                </a:highlight>
                <a:latin typeface="Times New Roman"/>
                <a:ea typeface="Times New Roman"/>
                <a:cs typeface="Times New Roman"/>
                <a:sym typeface="Times New Roman"/>
              </a:rPr>
              <a:t>" strategy effectively drives</a:t>
            </a:r>
            <a:r>
              <a:rPr b="1" lang="zh-HK" sz="1100">
                <a:solidFill>
                  <a:srgbClr val="0F1115"/>
                </a:solidFill>
                <a:highlight>
                  <a:srgbClr val="FFFFFF"/>
                </a:highlight>
                <a:latin typeface="Times New Roman"/>
                <a:ea typeface="Times New Roman"/>
                <a:cs typeface="Times New Roman"/>
                <a:sym typeface="Times New Roman"/>
              </a:rPr>
              <a:t> interaction</a:t>
            </a:r>
            <a:r>
              <a:rPr lang="zh-HK" sz="1100">
                <a:solidFill>
                  <a:srgbClr val="0F1115"/>
                </a:solidFill>
                <a:highlight>
                  <a:srgbClr val="FFFFFF"/>
                </a:highlight>
                <a:latin typeface="Times New Roman"/>
                <a:ea typeface="Times New Roman"/>
                <a:cs typeface="Times New Roman"/>
                <a:sym typeface="Times New Roman"/>
              </a:rPr>
              <a:t> and </a:t>
            </a:r>
            <a:r>
              <a:rPr b="1" lang="zh-HK" sz="1100">
                <a:solidFill>
                  <a:srgbClr val="0F1115"/>
                </a:solidFill>
                <a:highlight>
                  <a:srgbClr val="FFFFFF"/>
                </a:highlight>
                <a:latin typeface="Times New Roman"/>
                <a:ea typeface="Times New Roman"/>
                <a:cs typeface="Times New Roman"/>
                <a:sym typeface="Times New Roman"/>
              </a:rPr>
              <a:t>resonates with audience</a:t>
            </a:r>
            <a:r>
              <a:rPr lang="zh-HK" sz="1100">
                <a:solidFill>
                  <a:srgbClr val="0F1115"/>
                </a:solidFill>
                <a:highlight>
                  <a:srgbClr val="FFFFFF"/>
                </a:highlight>
                <a:latin typeface="Times New Roman"/>
                <a:ea typeface="Times New Roman"/>
                <a:cs typeface="Times New Roman"/>
                <a:sym typeface="Times New Roman"/>
              </a:rPr>
              <a:t>.</a:t>
            </a:r>
            <a:r>
              <a:rPr lang="zh-HK" sz="1100">
                <a:latin typeface="Times New Roman"/>
                <a:ea typeface="Times New Roman"/>
                <a:cs typeface="Times New Roman"/>
                <a:sym typeface="Times New Roman"/>
              </a:rPr>
              <a:t> </a:t>
            </a:r>
            <a:endParaRPr sz="1100">
              <a:solidFill>
                <a:srgbClr val="0F1115"/>
              </a:solidFill>
              <a:highlight>
                <a:srgbClr val="FFFFFF"/>
              </a:highlight>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t/>
            </a:r>
            <a:endParaRPr sz="1200">
              <a:solidFill>
                <a:srgbClr val="0F1115"/>
              </a:solidFill>
              <a:highlight>
                <a:srgbClr val="FFFFFF"/>
              </a:highlight>
              <a:latin typeface="Inter"/>
              <a:ea typeface="Inter"/>
              <a:cs typeface="Inter"/>
              <a:sym typeface="Inter"/>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31" name="Google Shape;331;p12"/>
          <p:cNvSpPr txBox="1"/>
          <p:nvPr/>
        </p:nvSpPr>
        <p:spPr>
          <a:xfrm>
            <a:off x="950850" y="256375"/>
            <a:ext cx="6267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Competitors Analysis- Brand Account Content   </a:t>
            </a:r>
            <a:endParaRPr b="1" i="0" sz="2000" u="none" cap="none" strike="noStrike">
              <a:solidFill>
                <a:schemeClr val="dk1"/>
              </a:solidFill>
              <a:latin typeface="Times New Roman"/>
              <a:ea typeface="Times New Roman"/>
              <a:cs typeface="Times New Roman"/>
              <a:sym typeface="Times New Roman"/>
            </a:endParaRPr>
          </a:p>
        </p:txBody>
      </p:sp>
      <p:pic>
        <p:nvPicPr>
          <p:cNvPr id="332" name="Google Shape;332;p12"/>
          <p:cNvPicPr preferRelativeResize="0"/>
          <p:nvPr/>
        </p:nvPicPr>
        <p:blipFill rotWithShape="1">
          <a:blip r:embed="rId4">
            <a:alphaModFix/>
          </a:blip>
          <a:srcRect b="0" l="0" r="0" t="0"/>
          <a:stretch/>
        </p:blipFill>
        <p:spPr>
          <a:xfrm>
            <a:off x="501350" y="307312"/>
            <a:ext cx="386075" cy="386075"/>
          </a:xfrm>
          <a:prstGeom prst="rect">
            <a:avLst/>
          </a:prstGeom>
          <a:noFill/>
          <a:ln>
            <a:noFill/>
          </a:ln>
        </p:spPr>
      </p:pic>
      <p:sp>
        <p:nvSpPr>
          <p:cNvPr id="333" name="Google Shape;333;p12"/>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334" name="Google Shape;334;p12"/>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335" name="Google Shape;335;p12"/>
          <p:cNvPicPr preferRelativeResize="0"/>
          <p:nvPr/>
        </p:nvPicPr>
        <p:blipFill rotWithShape="1">
          <a:blip r:embed="rId5">
            <a:alphaModFix/>
          </a:blip>
          <a:srcRect b="21020" l="14063" r="17215" t="26140"/>
          <a:stretch/>
        </p:blipFill>
        <p:spPr>
          <a:xfrm>
            <a:off x="8094845" y="162433"/>
            <a:ext cx="1049155" cy="423511"/>
          </a:xfrm>
          <a:prstGeom prst="rect">
            <a:avLst/>
          </a:prstGeom>
          <a:noFill/>
          <a:ln>
            <a:noFill/>
          </a:ln>
        </p:spPr>
      </p:pic>
      <p:sp>
        <p:nvSpPr>
          <p:cNvPr id="336" name="Google Shape;336;p12"/>
          <p:cNvSpPr txBox="1"/>
          <p:nvPr/>
        </p:nvSpPr>
        <p:spPr>
          <a:xfrm>
            <a:off x="437925" y="4769521"/>
            <a:ext cx="45885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zh-HK" sz="1100" u="none" cap="none" strike="noStrike">
                <a:solidFill>
                  <a:schemeClr val="dk2"/>
                </a:solidFill>
                <a:latin typeface="Times New Roman"/>
                <a:ea typeface="Times New Roman"/>
                <a:cs typeface="Times New Roman"/>
                <a:sym typeface="Times New Roman"/>
              </a:rPr>
              <a:t>Source: </a:t>
            </a:r>
            <a:r>
              <a:rPr b="0" i="0" lang="zh-HK" sz="1100" u="sng" cap="none" strike="noStrike">
                <a:solidFill>
                  <a:schemeClr val="dk2"/>
                </a:solidFill>
                <a:latin typeface="Times New Roman"/>
                <a:ea typeface="Times New Roman"/>
                <a:cs typeface="Times New Roman"/>
                <a:sym typeface="Times New Roman"/>
                <a:hlinkClick r:id="rId6">
                  <a:extLst>
                    <a:ext uri="{A12FA001-AC4F-418D-AE19-62706E023703}">
                      <ahyp:hlinkClr val="tx"/>
                    </a:ext>
                  </a:extLst>
                </a:hlinkClick>
              </a:rPr>
              <a:t>https://www.huitun.com/</a:t>
            </a:r>
            <a:endParaRPr b="0" i="0" sz="11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chemeClr val="dk2"/>
              </a:solidFill>
              <a:latin typeface="Arial"/>
              <a:ea typeface="Arial"/>
              <a:cs typeface="Arial"/>
              <a:sym typeface="Arial"/>
            </a:endParaRPr>
          </a:p>
        </p:txBody>
      </p:sp>
      <p:sp>
        <p:nvSpPr>
          <p:cNvPr id="337" name="Google Shape;337;p12"/>
          <p:cNvSpPr/>
          <p:nvPr/>
        </p:nvSpPr>
        <p:spPr>
          <a:xfrm>
            <a:off x="6037870" y="4248115"/>
            <a:ext cx="167700" cy="2826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sng" cap="none" strike="noStrike">
              <a:solidFill>
                <a:schemeClr val="dk1"/>
              </a:solidFill>
              <a:latin typeface="Source Code Pro"/>
              <a:ea typeface="Source Code Pro"/>
              <a:cs typeface="Source Code Pro"/>
              <a:sym typeface="Source Code Pro"/>
            </a:endParaRPr>
          </a:p>
        </p:txBody>
      </p:sp>
      <p:sp>
        <p:nvSpPr>
          <p:cNvPr id="338" name="Google Shape;338;p12"/>
          <p:cNvSpPr txBox="1"/>
          <p:nvPr/>
        </p:nvSpPr>
        <p:spPr>
          <a:xfrm>
            <a:off x="6957050" y="475377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zh-HK" sz="1100" u="none" cap="none" strike="noStrike">
                <a:solidFill>
                  <a:schemeClr val="dk2"/>
                </a:solidFill>
                <a:latin typeface="Times New Roman"/>
                <a:ea typeface="Times New Roman"/>
                <a:cs typeface="Times New Roman"/>
                <a:sym typeface="Times New Roman"/>
              </a:rPr>
              <a:t>Data range: 2026.</a:t>
            </a:r>
            <a:r>
              <a:rPr lang="zh-HK" sz="1100">
                <a:solidFill>
                  <a:schemeClr val="dk2"/>
                </a:solidFill>
                <a:latin typeface="Times New Roman"/>
                <a:ea typeface="Times New Roman"/>
                <a:cs typeface="Times New Roman"/>
                <a:sym typeface="Times New Roman"/>
              </a:rPr>
              <a:t>7</a:t>
            </a:r>
            <a:r>
              <a:rPr b="0" i="0" lang="zh-HK" sz="1100" u="none" cap="none" strike="noStrike">
                <a:solidFill>
                  <a:schemeClr val="dk2"/>
                </a:solidFill>
                <a:latin typeface="Times New Roman"/>
                <a:ea typeface="Times New Roman"/>
                <a:cs typeface="Times New Roman"/>
                <a:sym typeface="Times New Roman"/>
              </a:rPr>
              <a:t>.1 - </a:t>
            </a:r>
            <a:r>
              <a:rPr lang="zh-HK" sz="1100">
                <a:solidFill>
                  <a:schemeClr val="dk2"/>
                </a:solidFill>
                <a:latin typeface="Times New Roman"/>
                <a:ea typeface="Times New Roman"/>
                <a:cs typeface="Times New Roman"/>
                <a:sym typeface="Times New Roman"/>
              </a:rPr>
              <a:t>7</a:t>
            </a:r>
            <a:r>
              <a:rPr b="0" i="0" lang="zh-HK" sz="1100" u="none" cap="none" strike="noStrike">
                <a:solidFill>
                  <a:schemeClr val="dk2"/>
                </a:solidFill>
                <a:latin typeface="Times New Roman"/>
                <a:ea typeface="Times New Roman"/>
                <a:cs typeface="Times New Roman"/>
                <a:sym typeface="Times New Roman"/>
              </a:rPr>
              <a:t>.3</a:t>
            </a:r>
            <a:r>
              <a:rPr lang="zh-HK" sz="1100">
                <a:solidFill>
                  <a:schemeClr val="dk2"/>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39" name="Google Shape;339;p12"/>
          <p:cNvSpPr/>
          <p:nvPr/>
        </p:nvSpPr>
        <p:spPr>
          <a:xfrm rot="10793850">
            <a:off x="5915864" y="2263580"/>
            <a:ext cx="167700" cy="2823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sng" cap="none" strike="noStrike">
              <a:solidFill>
                <a:schemeClr val="dk1"/>
              </a:solidFill>
              <a:latin typeface="Source Code Pro"/>
              <a:ea typeface="Source Code Pro"/>
              <a:cs typeface="Source Code Pro"/>
              <a:sym typeface="Source Code Pr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13" title="Chart"/>
          <p:cNvPicPr preferRelativeResize="0"/>
          <p:nvPr/>
        </p:nvPicPr>
        <p:blipFill>
          <a:blip r:embed="rId3">
            <a:alphaModFix/>
          </a:blip>
          <a:stretch>
            <a:fillRect/>
          </a:stretch>
        </p:blipFill>
        <p:spPr>
          <a:xfrm>
            <a:off x="395025" y="2353450"/>
            <a:ext cx="3997242" cy="2467550"/>
          </a:xfrm>
          <a:prstGeom prst="rect">
            <a:avLst/>
          </a:prstGeom>
          <a:noFill/>
          <a:ln>
            <a:noFill/>
          </a:ln>
        </p:spPr>
      </p:pic>
      <p:pic>
        <p:nvPicPr>
          <p:cNvPr id="345" name="Google Shape;345;p13" title="Chart"/>
          <p:cNvPicPr preferRelativeResize="0"/>
          <p:nvPr/>
        </p:nvPicPr>
        <p:blipFill>
          <a:blip r:embed="rId4">
            <a:alphaModFix/>
          </a:blip>
          <a:stretch>
            <a:fillRect/>
          </a:stretch>
        </p:blipFill>
        <p:spPr>
          <a:xfrm>
            <a:off x="4855075" y="2353450"/>
            <a:ext cx="3864601" cy="2385674"/>
          </a:xfrm>
          <a:prstGeom prst="rect">
            <a:avLst/>
          </a:prstGeom>
          <a:noFill/>
          <a:ln>
            <a:noFill/>
          </a:ln>
        </p:spPr>
      </p:pic>
      <p:sp>
        <p:nvSpPr>
          <p:cNvPr id="346" name="Google Shape;346;p13"/>
          <p:cNvSpPr txBox="1"/>
          <p:nvPr/>
        </p:nvSpPr>
        <p:spPr>
          <a:xfrm>
            <a:off x="860125" y="254075"/>
            <a:ext cx="578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Competitor Organic Traffic Analysis - UGC</a:t>
            </a:r>
            <a:endParaRPr b="1" i="0" sz="2000" u="none" cap="none" strike="noStrike">
              <a:solidFill>
                <a:schemeClr val="dk1"/>
              </a:solidFill>
              <a:latin typeface="Times New Roman"/>
              <a:ea typeface="Times New Roman"/>
              <a:cs typeface="Times New Roman"/>
              <a:sym typeface="Times New Roman"/>
            </a:endParaRPr>
          </a:p>
        </p:txBody>
      </p:sp>
      <p:pic>
        <p:nvPicPr>
          <p:cNvPr id="347" name="Google Shape;347;p13"/>
          <p:cNvPicPr preferRelativeResize="0"/>
          <p:nvPr/>
        </p:nvPicPr>
        <p:blipFill rotWithShape="1">
          <a:blip r:embed="rId5">
            <a:alphaModFix/>
          </a:blip>
          <a:srcRect b="0" l="0" r="0" t="0"/>
          <a:stretch/>
        </p:blipFill>
        <p:spPr>
          <a:xfrm>
            <a:off x="501350" y="307312"/>
            <a:ext cx="386075" cy="386075"/>
          </a:xfrm>
          <a:prstGeom prst="rect">
            <a:avLst/>
          </a:prstGeom>
          <a:noFill/>
          <a:ln>
            <a:noFill/>
          </a:ln>
        </p:spPr>
      </p:pic>
      <p:sp>
        <p:nvSpPr>
          <p:cNvPr id="348" name="Google Shape;348;p13"/>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349" name="Google Shape;349;p13"/>
          <p:cNvSpPr txBox="1"/>
          <p:nvPr/>
        </p:nvSpPr>
        <p:spPr>
          <a:xfrm>
            <a:off x="5283650" y="4821000"/>
            <a:ext cx="45885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zh-HK" sz="1100" u="none" cap="none" strike="noStrike">
                <a:solidFill>
                  <a:schemeClr val="dk2"/>
                </a:solidFill>
                <a:latin typeface="Times New Roman"/>
                <a:ea typeface="Times New Roman"/>
                <a:cs typeface="Times New Roman"/>
                <a:sym typeface="Times New Roman"/>
              </a:rPr>
              <a:t>  Source: </a:t>
            </a:r>
            <a:r>
              <a:rPr b="0" i="0" lang="zh-HK" sz="1100" u="sng" cap="none" strike="noStrike">
                <a:solidFill>
                  <a:schemeClr val="dk2"/>
                </a:solidFill>
                <a:latin typeface="Times New Roman"/>
                <a:ea typeface="Times New Roman"/>
                <a:cs typeface="Times New Roman"/>
                <a:sym typeface="Times New Roman"/>
                <a:hlinkClick r:id="rId6">
                  <a:extLst>
                    <a:ext uri="{A12FA001-AC4F-418D-AE19-62706E023703}">
                      <ahyp:hlinkClr val="tx"/>
                    </a:ext>
                  </a:extLst>
                </a:hlinkClick>
              </a:rPr>
              <a:t>https://www.huitun.com/</a:t>
            </a:r>
            <a:endParaRPr b="0" i="0" sz="11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350" name="Google Shape;350;p13"/>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351" name="Google Shape;351;p13"/>
          <p:cNvPicPr preferRelativeResize="0"/>
          <p:nvPr/>
        </p:nvPicPr>
        <p:blipFill rotWithShape="1">
          <a:blip r:embed="rId7">
            <a:alphaModFix/>
          </a:blip>
          <a:srcRect b="21020" l="14063" r="17215" t="26140"/>
          <a:stretch/>
        </p:blipFill>
        <p:spPr>
          <a:xfrm>
            <a:off x="8094845" y="162433"/>
            <a:ext cx="1049155" cy="423511"/>
          </a:xfrm>
          <a:prstGeom prst="rect">
            <a:avLst/>
          </a:prstGeom>
          <a:noFill/>
          <a:ln>
            <a:noFill/>
          </a:ln>
        </p:spPr>
      </p:pic>
      <p:sp>
        <p:nvSpPr>
          <p:cNvPr id="352" name="Google Shape;352;p13"/>
          <p:cNvSpPr txBox="1"/>
          <p:nvPr/>
        </p:nvSpPr>
        <p:spPr>
          <a:xfrm>
            <a:off x="213900" y="887089"/>
            <a:ext cx="8760600" cy="983100"/>
          </a:xfrm>
          <a:prstGeom prst="rect">
            <a:avLst/>
          </a:prstGeom>
          <a:noFill/>
          <a:ln>
            <a:noFill/>
          </a:ln>
        </p:spPr>
        <p:txBody>
          <a:bodyPr anchorCtr="0" anchor="t" bIns="25700" lIns="51425" spcFirstLastPara="1" rIns="51425" wrap="square" tIns="25700">
            <a:spAutoFit/>
          </a:bodyPr>
          <a:lstStyle/>
          <a:p>
            <a:pPr indent="-298450" lvl="0" marL="457200" rtl="0" algn="l">
              <a:lnSpc>
                <a:spcPct val="150000"/>
              </a:lnSpc>
              <a:spcBef>
                <a:spcPts val="0"/>
              </a:spcBef>
              <a:spcAft>
                <a:spcPts val="0"/>
              </a:spcAft>
              <a:buClr>
                <a:srgbClr val="0F1115"/>
              </a:buClr>
              <a:buSzPts val="1100"/>
              <a:buFont typeface="Times New Roman"/>
              <a:buChar char="●"/>
            </a:pPr>
            <a:r>
              <a:rPr lang="zh-HK" sz="1100">
                <a:latin typeface="Times New Roman"/>
                <a:ea typeface="Times New Roman"/>
                <a:cs typeface="Times New Roman"/>
                <a:sym typeface="Times New Roman"/>
              </a:rPr>
              <a:t>In July, there were </a:t>
            </a:r>
            <a:r>
              <a:rPr b="1" lang="zh-HK" sz="1100">
                <a:latin typeface="Times New Roman"/>
                <a:ea typeface="Times New Roman"/>
                <a:cs typeface="Times New Roman"/>
                <a:sym typeface="Times New Roman"/>
              </a:rPr>
              <a:t>1,418 posts</a:t>
            </a:r>
            <a:r>
              <a:rPr lang="zh-HK" sz="1100">
                <a:latin typeface="Times New Roman"/>
                <a:ea typeface="Times New Roman"/>
                <a:cs typeface="Times New Roman"/>
                <a:sym typeface="Times New Roman"/>
              </a:rPr>
              <a:t> mentioning Langham Place, generating </a:t>
            </a:r>
            <a:r>
              <a:rPr b="1" lang="zh-HK" sz="1100">
                <a:latin typeface="Times New Roman"/>
                <a:ea typeface="Times New Roman"/>
                <a:cs typeface="Times New Roman"/>
                <a:sym typeface="Times New Roman"/>
              </a:rPr>
              <a:t>118K organic engagements</a:t>
            </a:r>
            <a:r>
              <a:rPr lang="zh-HK" sz="1100">
                <a:latin typeface="Times New Roman"/>
                <a:ea typeface="Times New Roman"/>
                <a:cs typeface="Times New Roman"/>
                <a:sym typeface="Times New Roman"/>
              </a:rPr>
              <a:t>.  Compared to June, </a:t>
            </a:r>
            <a:r>
              <a:rPr b="1" lang="zh-HK" sz="1100">
                <a:latin typeface="Times New Roman"/>
                <a:ea typeface="Times New Roman"/>
                <a:cs typeface="Times New Roman"/>
                <a:sym typeface="Times New Roman"/>
              </a:rPr>
              <a:t>post volume more than doubled </a:t>
            </a:r>
            <a:r>
              <a:rPr lang="zh-HK" sz="1100">
                <a:solidFill>
                  <a:srgbClr val="0F1115"/>
                </a:solidFill>
                <a:highlight>
                  <a:srgbClr val="FFFFFF"/>
                </a:highlight>
                <a:latin typeface="Times New Roman"/>
                <a:ea typeface="Times New Roman"/>
                <a:cs typeface="Times New Roman"/>
                <a:sym typeface="Times New Roman"/>
              </a:rPr>
              <a:t>(+105%, 690→1,418)</a:t>
            </a:r>
            <a:r>
              <a:rPr lang="zh-HK" sz="1100">
                <a:latin typeface="Times New Roman"/>
                <a:ea typeface="Times New Roman"/>
                <a:cs typeface="Times New Roman"/>
                <a:sym typeface="Times New Roman"/>
              </a:rPr>
              <a:t> and </a:t>
            </a:r>
            <a:r>
              <a:rPr b="1" lang="zh-HK" sz="1100">
                <a:latin typeface="Times New Roman"/>
                <a:ea typeface="Times New Roman"/>
                <a:cs typeface="Times New Roman"/>
                <a:sym typeface="Times New Roman"/>
              </a:rPr>
              <a:t>engagements rose 16.8%</a:t>
            </a:r>
            <a:r>
              <a:rPr lang="zh-HK" sz="1100">
                <a:latin typeface="Times New Roman"/>
                <a:ea typeface="Times New Roman"/>
                <a:cs typeface="Times New Roman"/>
                <a:sym typeface="Times New Roman"/>
              </a:rPr>
              <a:t> (101K→118K), driven by the </a:t>
            </a:r>
            <a:r>
              <a:rPr b="1" lang="zh-HK" sz="1100">
                <a:latin typeface="Times New Roman"/>
                <a:ea typeface="Times New Roman"/>
                <a:cs typeface="Times New Roman"/>
                <a:sym typeface="Times New Roman"/>
              </a:rPr>
              <a:t>Sanrio and Chiikawa IP buzz</a:t>
            </a:r>
            <a:r>
              <a:rPr lang="zh-HK"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indent="-298450" lvl="0" marL="457200" rtl="0" algn="l">
              <a:lnSpc>
                <a:spcPct val="150000"/>
              </a:lnSpc>
              <a:spcBef>
                <a:spcPts val="0"/>
              </a:spcBef>
              <a:spcAft>
                <a:spcPts val="0"/>
              </a:spcAft>
              <a:buClr>
                <a:srgbClr val="0F1115"/>
              </a:buClr>
              <a:buSzPts val="1100"/>
              <a:buFont typeface="Times New Roman"/>
              <a:buChar char="●"/>
            </a:pPr>
            <a:r>
              <a:rPr lang="zh-HK" sz="1100">
                <a:latin typeface="Times New Roman"/>
                <a:ea typeface="Times New Roman"/>
                <a:cs typeface="Times New Roman"/>
                <a:sym typeface="Times New Roman"/>
              </a:rPr>
              <a:t>Among competitors, </a:t>
            </a:r>
            <a:r>
              <a:rPr b="1" lang="zh-HK" sz="1100">
                <a:latin typeface="Times New Roman"/>
                <a:ea typeface="Times New Roman"/>
                <a:cs typeface="Times New Roman"/>
                <a:sym typeface="Times New Roman"/>
              </a:rPr>
              <a:t>Harbour City </a:t>
            </a:r>
            <a:r>
              <a:rPr lang="zh-HK" sz="1100">
                <a:latin typeface="Times New Roman"/>
                <a:ea typeface="Times New Roman"/>
                <a:cs typeface="Times New Roman"/>
                <a:sym typeface="Times New Roman"/>
              </a:rPr>
              <a:t>led with </a:t>
            </a:r>
            <a:r>
              <a:rPr b="1" lang="zh-HK" sz="1100">
                <a:latin typeface="Times New Roman"/>
                <a:ea typeface="Times New Roman"/>
                <a:cs typeface="Times New Roman"/>
                <a:sym typeface="Times New Roman"/>
              </a:rPr>
              <a:t>6,001</a:t>
            </a:r>
            <a:r>
              <a:rPr lang="zh-HK" sz="1100">
                <a:latin typeface="Times New Roman"/>
                <a:ea typeface="Times New Roman"/>
                <a:cs typeface="Times New Roman"/>
                <a:sym typeface="Times New Roman"/>
              </a:rPr>
              <a:t>mention posts. </a:t>
            </a:r>
            <a:r>
              <a:rPr b="1" lang="zh-HK" sz="1100">
                <a:latin typeface="Times New Roman"/>
                <a:ea typeface="Times New Roman"/>
                <a:cs typeface="Times New Roman"/>
                <a:sym typeface="Times New Roman"/>
              </a:rPr>
              <a:t>Langham Place</a:t>
            </a:r>
            <a:r>
              <a:rPr lang="zh-HK" sz="1100">
                <a:latin typeface="Times New Roman"/>
                <a:ea typeface="Times New Roman"/>
                <a:cs typeface="Times New Roman"/>
                <a:sym typeface="Times New Roman"/>
              </a:rPr>
              <a:t> ranked </a:t>
            </a:r>
            <a:r>
              <a:rPr b="1" lang="zh-HK" sz="1100">
                <a:latin typeface="Times New Roman"/>
                <a:ea typeface="Times New Roman"/>
                <a:cs typeface="Times New Roman"/>
                <a:sym typeface="Times New Roman"/>
              </a:rPr>
              <a:t>third</a:t>
            </a:r>
            <a:r>
              <a:rPr lang="zh-HK" sz="1100">
                <a:latin typeface="Times New Roman"/>
                <a:ea typeface="Times New Roman"/>
                <a:cs typeface="Times New Roman"/>
                <a:sym typeface="Times New Roman"/>
              </a:rPr>
              <a:t> in mention post volume yet secured </a:t>
            </a:r>
            <a:r>
              <a:rPr b="1" lang="zh-HK" sz="1100">
                <a:latin typeface="Times New Roman"/>
                <a:ea typeface="Times New Roman"/>
                <a:cs typeface="Times New Roman"/>
                <a:sym typeface="Times New Roman"/>
              </a:rPr>
              <a:t>second</a:t>
            </a:r>
            <a:r>
              <a:rPr lang="zh-HK" sz="1100">
                <a:latin typeface="Times New Roman"/>
                <a:ea typeface="Times New Roman"/>
                <a:cs typeface="Times New Roman"/>
                <a:sym typeface="Times New Roman"/>
              </a:rPr>
              <a:t> place in organic engagements, continuing to outperform its mention‑post ranking.</a:t>
            </a:r>
            <a:endParaRPr sz="1100">
              <a:latin typeface="Times New Roman"/>
              <a:ea typeface="Times New Roman"/>
              <a:cs typeface="Times New Roman"/>
              <a:sym typeface="Times New Roman"/>
            </a:endParaRPr>
          </a:p>
        </p:txBody>
      </p:sp>
      <p:sp>
        <p:nvSpPr>
          <p:cNvPr id="353" name="Google Shape;353;p13"/>
          <p:cNvSpPr txBox="1"/>
          <p:nvPr/>
        </p:nvSpPr>
        <p:spPr>
          <a:xfrm>
            <a:off x="133350" y="473287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zh-HK" sz="1100" u="none" cap="none" strike="noStrike">
                <a:solidFill>
                  <a:schemeClr val="dk2"/>
                </a:solidFill>
                <a:latin typeface="Times New Roman"/>
                <a:ea typeface="Times New Roman"/>
                <a:cs typeface="Times New Roman"/>
                <a:sym typeface="Times New Roman"/>
              </a:rPr>
              <a:t>Data range: 2026.</a:t>
            </a:r>
            <a:r>
              <a:rPr lang="zh-HK" sz="1100">
                <a:solidFill>
                  <a:schemeClr val="dk2"/>
                </a:solidFill>
                <a:latin typeface="Times New Roman"/>
                <a:ea typeface="Times New Roman"/>
                <a:cs typeface="Times New Roman"/>
                <a:sym typeface="Times New Roman"/>
              </a:rPr>
              <a:t>7</a:t>
            </a:r>
            <a:r>
              <a:rPr b="0" i="0" lang="zh-HK" sz="1100" u="none" cap="none" strike="noStrike">
                <a:solidFill>
                  <a:schemeClr val="dk2"/>
                </a:solidFill>
                <a:latin typeface="Times New Roman"/>
                <a:ea typeface="Times New Roman"/>
                <a:cs typeface="Times New Roman"/>
                <a:sym typeface="Times New Roman"/>
              </a:rPr>
              <a:t>.1 - </a:t>
            </a:r>
            <a:r>
              <a:rPr lang="zh-HK" sz="1100">
                <a:solidFill>
                  <a:schemeClr val="dk2"/>
                </a:solidFill>
                <a:latin typeface="Times New Roman"/>
                <a:ea typeface="Times New Roman"/>
                <a:cs typeface="Times New Roman"/>
                <a:sym typeface="Times New Roman"/>
              </a:rPr>
              <a:t>7</a:t>
            </a:r>
            <a:r>
              <a:rPr b="0" i="0" lang="zh-HK" sz="1100" u="none" cap="none" strike="noStrike">
                <a:solidFill>
                  <a:schemeClr val="dk2"/>
                </a:solidFill>
                <a:latin typeface="Times New Roman"/>
                <a:ea typeface="Times New Roman"/>
                <a:cs typeface="Times New Roman"/>
                <a:sym typeface="Times New Roman"/>
              </a:rPr>
              <a:t>.3</a:t>
            </a:r>
            <a:r>
              <a:rPr lang="zh-HK" sz="1100">
                <a:solidFill>
                  <a:schemeClr val="dk2"/>
                </a:solidFill>
                <a:latin typeface="Times New Roman"/>
                <a:ea typeface="Times New Roman"/>
                <a:cs typeface="Times New Roman"/>
                <a:sym typeface="Times New Roman"/>
              </a:rPr>
              <a:t>1</a:t>
            </a:r>
            <a:r>
              <a:rPr b="0" i="0" lang="zh-HK" sz="1100" u="none" cap="none" strike="noStrike">
                <a:solidFill>
                  <a:schemeClr val="dk2"/>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
        <p:nvSpPr>
          <p:cNvPr id="354" name="Google Shape;354;p13"/>
          <p:cNvSpPr/>
          <p:nvPr/>
        </p:nvSpPr>
        <p:spPr>
          <a:xfrm>
            <a:off x="509325" y="2867165"/>
            <a:ext cx="3864600" cy="173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3"/>
          <p:cNvSpPr/>
          <p:nvPr/>
        </p:nvSpPr>
        <p:spPr>
          <a:xfrm>
            <a:off x="5074081" y="3011932"/>
            <a:ext cx="3645600" cy="173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e0a25aff75_0_6"/>
          <p:cNvSpPr txBox="1"/>
          <p:nvPr/>
        </p:nvSpPr>
        <p:spPr>
          <a:xfrm>
            <a:off x="860125" y="254075"/>
            <a:ext cx="578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rgbClr val="E91C63"/>
                </a:solidFill>
                <a:latin typeface="Times New Roman"/>
                <a:ea typeface="Times New Roman"/>
                <a:cs typeface="Times New Roman"/>
                <a:sym typeface="Times New Roman"/>
              </a:rPr>
              <a:t>Dianping </a:t>
            </a:r>
            <a:r>
              <a:rPr b="1" lang="zh-HK" sz="2000">
                <a:solidFill>
                  <a:srgbClr val="E91C63"/>
                </a:solidFill>
                <a:latin typeface="Times New Roman"/>
                <a:ea typeface="Times New Roman"/>
                <a:cs typeface="Times New Roman"/>
                <a:sym typeface="Times New Roman"/>
              </a:rPr>
              <a:t>July</a:t>
            </a:r>
            <a:r>
              <a:rPr b="1" i="0" lang="zh-HK" sz="2000" u="none" cap="none" strike="noStrike">
                <a:solidFill>
                  <a:srgbClr val="E91C63"/>
                </a:solidFill>
                <a:latin typeface="Times New Roman"/>
                <a:ea typeface="Times New Roman"/>
                <a:cs typeface="Times New Roman"/>
                <a:sym typeface="Times New Roman"/>
              </a:rPr>
              <a:t> Report  </a:t>
            </a:r>
            <a:endParaRPr b="1" i="0" sz="2000" u="none" cap="none" strike="noStrike">
              <a:solidFill>
                <a:srgbClr val="E91C63"/>
              </a:solidFill>
              <a:latin typeface="Times New Roman"/>
              <a:ea typeface="Times New Roman"/>
              <a:cs typeface="Times New Roman"/>
              <a:sym typeface="Times New Roman"/>
            </a:endParaRPr>
          </a:p>
        </p:txBody>
      </p:sp>
      <p:sp>
        <p:nvSpPr>
          <p:cNvPr id="361" name="Google Shape;361;g3e0a25aff75_0_6"/>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362" name="Google Shape;362;g3e0a25aff75_0_6"/>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363" name="Google Shape;363;g3e0a25aff75_0_6"/>
          <p:cNvPicPr preferRelativeResize="0"/>
          <p:nvPr/>
        </p:nvPicPr>
        <p:blipFill rotWithShape="1">
          <a:blip r:embed="rId3">
            <a:alphaModFix/>
          </a:blip>
          <a:srcRect b="21020" l="14061" r="17215" t="26140"/>
          <a:stretch/>
        </p:blipFill>
        <p:spPr>
          <a:xfrm>
            <a:off x="8094845" y="162433"/>
            <a:ext cx="1049154" cy="423511"/>
          </a:xfrm>
          <a:prstGeom prst="rect">
            <a:avLst/>
          </a:prstGeom>
          <a:noFill/>
          <a:ln>
            <a:noFill/>
          </a:ln>
        </p:spPr>
      </p:pic>
      <p:sp>
        <p:nvSpPr>
          <p:cNvPr id="364" name="Google Shape;364;g3e0a25aff75_0_6"/>
          <p:cNvSpPr txBox="1"/>
          <p:nvPr/>
        </p:nvSpPr>
        <p:spPr>
          <a:xfrm>
            <a:off x="213900" y="813760"/>
            <a:ext cx="8760600" cy="1086300"/>
          </a:xfrm>
          <a:prstGeom prst="rect">
            <a:avLst/>
          </a:prstGeom>
          <a:noFill/>
          <a:ln>
            <a:noFill/>
          </a:ln>
        </p:spPr>
        <p:txBody>
          <a:bodyPr anchorCtr="0" anchor="t" bIns="25700" lIns="51425" spcFirstLastPara="1" rIns="51425" wrap="square" tIns="25700">
            <a:spAutoFit/>
          </a:bodyPr>
          <a:lstStyle/>
          <a:p>
            <a:pPr indent="-304800" lvl="0" marL="457200" marR="0" rtl="0" algn="l">
              <a:lnSpc>
                <a:spcPct val="115000"/>
              </a:lnSpc>
              <a:spcBef>
                <a:spcPts val="1200"/>
              </a:spcBef>
              <a:spcAft>
                <a:spcPts val="0"/>
              </a:spcAft>
              <a:buSzPts val="1200"/>
              <a:buFont typeface="Times New Roman"/>
              <a:buChar char="●"/>
            </a:pPr>
            <a:r>
              <a:rPr lang="zh-HK" sz="1200">
                <a:solidFill>
                  <a:srgbClr val="0F1115"/>
                </a:solidFill>
                <a:highlight>
                  <a:srgbClr val="FFFFFF"/>
                </a:highlight>
                <a:latin typeface="Times New Roman"/>
                <a:ea typeface="Times New Roman"/>
                <a:cs typeface="Times New Roman"/>
                <a:sym typeface="Times New Roman"/>
              </a:rPr>
              <a:t>In July, Dianping recorded </a:t>
            </a:r>
            <a:r>
              <a:rPr b="1" lang="zh-HK" sz="1200">
                <a:solidFill>
                  <a:srgbClr val="0F1115"/>
                </a:solidFill>
                <a:highlight>
                  <a:srgbClr val="FFFFFF"/>
                </a:highlight>
                <a:latin typeface="Times New Roman"/>
                <a:ea typeface="Times New Roman"/>
                <a:cs typeface="Times New Roman"/>
                <a:sym typeface="Times New Roman"/>
              </a:rPr>
              <a:t>52,775 impressions, 14,643 visits, and 4,593 interested users,</a:t>
            </a:r>
            <a:r>
              <a:rPr lang="zh-HK" sz="1200">
                <a:solidFill>
                  <a:srgbClr val="0F1115"/>
                </a:solidFill>
                <a:highlight>
                  <a:srgbClr val="FFFFFF"/>
                </a:highlight>
                <a:latin typeface="Times New Roman"/>
                <a:ea typeface="Times New Roman"/>
                <a:cs typeface="Times New Roman"/>
                <a:sym typeface="Times New Roman"/>
              </a:rPr>
              <a:t> all hitting new highs for the year. Growth was driven by IP campaigns, along with new activity listings that attracted mainland tourists to discover the latest event updates, boosting all metrics.</a:t>
            </a:r>
            <a:r>
              <a:rPr lang="zh-HK"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0F1115"/>
              </a:buClr>
              <a:buSzPts val="1200"/>
              <a:buFont typeface="Times New Roman"/>
              <a:buChar char="●"/>
            </a:pPr>
            <a:r>
              <a:rPr lang="zh-HK" sz="1200">
                <a:solidFill>
                  <a:srgbClr val="0F1115"/>
                </a:solidFill>
                <a:highlight>
                  <a:schemeClr val="lt1"/>
                </a:highlight>
                <a:latin typeface="Times New Roman"/>
                <a:ea typeface="Times New Roman"/>
                <a:cs typeface="Times New Roman"/>
                <a:sym typeface="Times New Roman"/>
              </a:rPr>
              <a:t>In July, </a:t>
            </a:r>
            <a:r>
              <a:rPr b="1" lang="zh-HK" sz="1200">
                <a:solidFill>
                  <a:srgbClr val="0F1115"/>
                </a:solidFill>
                <a:highlight>
                  <a:schemeClr val="lt1"/>
                </a:highlight>
                <a:latin typeface="Times New Roman"/>
                <a:ea typeface="Times New Roman"/>
                <a:cs typeface="Times New Roman"/>
                <a:sym typeface="Times New Roman"/>
              </a:rPr>
              <a:t>5 new tenants</a:t>
            </a:r>
            <a:r>
              <a:rPr lang="zh-HK" sz="1200">
                <a:solidFill>
                  <a:srgbClr val="0F1115"/>
                </a:solidFill>
                <a:highlight>
                  <a:schemeClr val="lt1"/>
                </a:highlight>
                <a:latin typeface="Times New Roman"/>
                <a:ea typeface="Times New Roman"/>
                <a:cs typeface="Times New Roman"/>
                <a:sym typeface="Times New Roman"/>
              </a:rPr>
              <a:t> were added to Langham Place, while </a:t>
            </a:r>
            <a:r>
              <a:rPr b="1" lang="zh-HK" sz="1200">
                <a:solidFill>
                  <a:srgbClr val="0F1115"/>
                </a:solidFill>
                <a:highlight>
                  <a:schemeClr val="lt1"/>
                </a:highlight>
                <a:latin typeface="Times New Roman"/>
                <a:ea typeface="Times New Roman"/>
                <a:cs typeface="Times New Roman"/>
                <a:sym typeface="Times New Roman"/>
              </a:rPr>
              <a:t>5 tenants were closed</a:t>
            </a:r>
            <a:r>
              <a:rPr lang="zh-HK" sz="1200">
                <a:solidFill>
                  <a:srgbClr val="0F1115"/>
                </a:solidFill>
                <a:highlight>
                  <a:schemeClr val="lt1"/>
                </a:highlight>
                <a:latin typeface="Times New Roman"/>
                <a:ea typeface="Times New Roman"/>
                <a:cs typeface="Times New Roman"/>
                <a:sym typeface="Times New Roman"/>
              </a:rPr>
              <a:t>.</a:t>
            </a:r>
            <a:endParaRPr sz="1200">
              <a:solidFill>
                <a:srgbClr val="0F1115"/>
              </a:solidFill>
              <a:highlight>
                <a:schemeClr val="lt1"/>
              </a:highlight>
              <a:latin typeface="Times New Roman"/>
              <a:ea typeface="Times New Roman"/>
              <a:cs typeface="Times New Roman"/>
              <a:sym typeface="Times New Roman"/>
            </a:endParaRPr>
          </a:p>
          <a:p>
            <a:pPr indent="-304800" lvl="0" marL="457200" rtl="0" algn="just">
              <a:lnSpc>
                <a:spcPct val="115000"/>
              </a:lnSpc>
              <a:spcBef>
                <a:spcPts val="0"/>
              </a:spcBef>
              <a:spcAft>
                <a:spcPts val="0"/>
              </a:spcAft>
              <a:buSzPts val="1200"/>
              <a:buFont typeface="Times New Roman"/>
              <a:buChar char="●"/>
            </a:pPr>
            <a:r>
              <a:rPr b="1" lang="zh-HK" sz="1200">
                <a:solidFill>
                  <a:srgbClr val="0F1115"/>
                </a:solidFill>
                <a:highlight>
                  <a:srgbClr val="FFFFFF"/>
                </a:highlight>
                <a:latin typeface="Times New Roman"/>
                <a:ea typeface="Times New Roman"/>
                <a:cs typeface="Times New Roman"/>
                <a:sym typeface="Times New Roman"/>
              </a:rPr>
              <a:t>Sanrio and Chiikawa</a:t>
            </a:r>
            <a:r>
              <a:rPr lang="zh-HK" sz="1200">
                <a:solidFill>
                  <a:srgbClr val="0F1115"/>
                </a:solidFill>
                <a:highlight>
                  <a:srgbClr val="FFFFFF"/>
                </a:highlight>
                <a:latin typeface="Times New Roman"/>
                <a:ea typeface="Times New Roman"/>
                <a:cs typeface="Times New Roman"/>
                <a:sym typeface="Times New Roman"/>
              </a:rPr>
              <a:t> were added to the platform's featured activities section.</a:t>
            </a:r>
            <a:r>
              <a:rPr lang="zh-HK"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p:txBody>
      </p:sp>
      <p:pic>
        <p:nvPicPr>
          <p:cNvPr id="365" name="Google Shape;365;g3e0a25aff75_0_6"/>
          <p:cNvPicPr preferRelativeResize="0"/>
          <p:nvPr/>
        </p:nvPicPr>
        <p:blipFill rotWithShape="1">
          <a:blip r:embed="rId4">
            <a:alphaModFix/>
          </a:blip>
          <a:srcRect b="0" l="0" r="0" t="0"/>
          <a:stretch/>
        </p:blipFill>
        <p:spPr>
          <a:xfrm>
            <a:off x="453291" y="232824"/>
            <a:ext cx="535100" cy="535100"/>
          </a:xfrm>
          <a:prstGeom prst="rect">
            <a:avLst/>
          </a:prstGeom>
          <a:noFill/>
          <a:ln>
            <a:noFill/>
          </a:ln>
        </p:spPr>
      </p:pic>
      <p:graphicFrame>
        <p:nvGraphicFramePr>
          <p:cNvPr id="366" name="Google Shape;366;g3e0a25aff75_0_6"/>
          <p:cNvGraphicFramePr/>
          <p:nvPr/>
        </p:nvGraphicFramePr>
        <p:xfrm>
          <a:off x="212150" y="2635575"/>
          <a:ext cx="3000000" cy="3000000"/>
        </p:xfrm>
        <a:graphic>
          <a:graphicData uri="http://schemas.openxmlformats.org/drawingml/2006/table">
            <a:tbl>
              <a:tblPr>
                <a:noFill/>
                <a:tableStyleId>{873EBEE7-B6FE-475A-94F5-F896A97D1A76}</a:tableStyleId>
              </a:tblPr>
              <a:tblGrid>
                <a:gridCol w="838875"/>
                <a:gridCol w="1001675"/>
                <a:gridCol w="792125"/>
                <a:gridCol w="1137325"/>
              </a:tblGrid>
              <a:tr h="207525">
                <a:tc gridSpan="4">
                  <a:txBody>
                    <a:bodyPr/>
                    <a:lstStyle/>
                    <a:p>
                      <a:pPr indent="0" lvl="0" marL="0" rtl="0" algn="l">
                        <a:lnSpc>
                          <a:spcPct val="115000"/>
                        </a:lnSpc>
                        <a:spcBef>
                          <a:spcPts val="0"/>
                        </a:spcBef>
                        <a:spcAft>
                          <a:spcPts val="0"/>
                        </a:spcAft>
                        <a:buNone/>
                      </a:pPr>
                      <a:r>
                        <a:rPr b="1" lang="zh-HK" sz="1000"/>
                        <a:t>Dianping Performance</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extLst>
                      <a:ext uri="http://customooxmlschemas.google.com/">
                        <go:slidesCustomData xmlns:go="http://customooxmlschemas.google.com/" cellId="366:0:0"/>
                      </a:ext>
                    </a:extLst>
                  </a:tcPr>
                </a:tc>
                <a:tc hMerge="1"/>
                <a:tc hMerge="1"/>
                <a:tc hMerge="1"/>
              </a:tr>
              <a:tr h="226400">
                <a:tc>
                  <a:txBody>
                    <a:bodyPr/>
                    <a:lstStyle/>
                    <a:p>
                      <a:pPr indent="0" lvl="0" marL="0" rtl="0" algn="ctr">
                        <a:lnSpc>
                          <a:spcPct val="115000"/>
                        </a:lnSpc>
                        <a:spcBef>
                          <a:spcPts val="0"/>
                        </a:spcBef>
                        <a:spcAft>
                          <a:spcPts val="0"/>
                        </a:spcAft>
                        <a:buNone/>
                      </a:pPr>
                      <a:r>
                        <a:rPr b="1" lang="zh-HK" sz="1100">
                          <a:latin typeface="Calibri"/>
                          <a:ea typeface="Calibri"/>
                          <a:cs typeface="Calibri"/>
                          <a:sym typeface="Calibri"/>
                        </a:rPr>
                        <a:t>Month</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extLst>
                      <a:ext uri="http://customooxmlschemas.google.com/">
                        <go:slidesCustomData xmlns:go="http://customooxmlschemas.google.com/" cellId="366:1:0"/>
                      </a:ext>
                    </a:extLst>
                  </a:tcPr>
                </a:tc>
                <a:tc>
                  <a:txBody>
                    <a:bodyPr/>
                    <a:lstStyle/>
                    <a:p>
                      <a:pPr indent="0" lvl="0" marL="0" rtl="0" algn="ctr">
                        <a:lnSpc>
                          <a:spcPct val="115000"/>
                        </a:lnSpc>
                        <a:spcBef>
                          <a:spcPts val="0"/>
                        </a:spcBef>
                        <a:spcAft>
                          <a:spcPts val="0"/>
                        </a:spcAft>
                        <a:buNone/>
                      </a:pPr>
                      <a:r>
                        <a:rPr b="1" lang="zh-HK" sz="1100">
                          <a:latin typeface="Calibri"/>
                          <a:ea typeface="Calibri"/>
                          <a:cs typeface="Calibri"/>
                          <a:sym typeface="Calibri"/>
                        </a:rPr>
                        <a:t>Impression</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extLst>
                      <a:ext uri="http://customooxmlschemas.google.com/">
                        <go:slidesCustomData xmlns:go="http://customooxmlschemas.google.com/" cellId="366:1:1"/>
                      </a:ext>
                    </a:extLst>
                  </a:tcPr>
                </a:tc>
                <a:tc>
                  <a:txBody>
                    <a:bodyPr/>
                    <a:lstStyle/>
                    <a:p>
                      <a:pPr indent="0" lvl="0" marL="0" rtl="0" algn="ctr">
                        <a:lnSpc>
                          <a:spcPct val="115000"/>
                        </a:lnSpc>
                        <a:spcBef>
                          <a:spcPts val="0"/>
                        </a:spcBef>
                        <a:spcAft>
                          <a:spcPts val="0"/>
                        </a:spcAft>
                        <a:buNone/>
                      </a:pPr>
                      <a:r>
                        <a:rPr b="1" lang="zh-HK" sz="1100">
                          <a:latin typeface="Calibri"/>
                          <a:ea typeface="Calibri"/>
                          <a:cs typeface="Calibri"/>
                          <a:sym typeface="Calibri"/>
                        </a:rPr>
                        <a:t>Visits</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extLst>
                      <a:ext uri="http://customooxmlschemas.google.com/">
                        <go:slidesCustomData xmlns:go="http://customooxmlschemas.google.com/" cellId="366:1:2"/>
                      </a:ext>
                    </a:extLst>
                  </a:tcPr>
                </a:tc>
                <a:tc>
                  <a:txBody>
                    <a:bodyPr/>
                    <a:lstStyle/>
                    <a:p>
                      <a:pPr indent="0" lvl="0" marL="0" rtl="0" algn="ctr">
                        <a:lnSpc>
                          <a:spcPct val="115000"/>
                        </a:lnSpc>
                        <a:spcBef>
                          <a:spcPts val="0"/>
                        </a:spcBef>
                        <a:spcAft>
                          <a:spcPts val="0"/>
                        </a:spcAft>
                        <a:buNone/>
                      </a:pPr>
                      <a:r>
                        <a:rPr b="1" lang="zh-HK" sz="1100">
                          <a:latin typeface="Calibri"/>
                          <a:ea typeface="Calibri"/>
                          <a:cs typeface="Calibri"/>
                          <a:sym typeface="Calibri"/>
                        </a:rPr>
                        <a:t>Interested Users</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extLst>
                      <a:ext uri="http://customooxmlschemas.google.com/">
                        <go:slidesCustomData xmlns:go="http://customooxmlschemas.google.com/" cellId="366:1:3"/>
                      </a:ext>
                    </a:extLst>
                  </a:tcPr>
                </a:tc>
              </a:tr>
              <a:tr h="226400">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July</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extLst>
                      <a:ext uri="http://customooxmlschemas.google.com/">
                        <go:slidesCustomData xmlns:go="http://customooxmlschemas.google.com/" cellId="366:2:0"/>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52,775</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extLst>
                      <a:ext uri="http://customooxmlschemas.google.com/">
                        <go:slidesCustomData xmlns:go="http://customooxmlschemas.google.com/" cellId="366:2:1"/>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14,643</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extLst>
                      <a:ext uri="http://customooxmlschemas.google.com/">
                        <go:slidesCustomData xmlns:go="http://customooxmlschemas.google.com/" cellId="366:2:2"/>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4,593</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extLst>
                      <a:ext uri="http://customooxmlschemas.google.com/">
                        <go:slidesCustomData xmlns:go="http://customooxmlschemas.google.com/" cellId="366:2:3"/>
                      </a:ext>
                    </a:extLst>
                  </a:tcPr>
                </a:tc>
              </a:tr>
              <a:tr h="226400">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June</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3:0"/>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41,362</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3:1"/>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10,868</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3:2"/>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3,385</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3:3"/>
                      </a:ext>
                    </a:extLst>
                  </a:tcPr>
                </a:tc>
              </a:tr>
              <a:tr h="226400">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May</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4:0"/>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45,752</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4:1"/>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11,686</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4:2"/>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3,362</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4:3"/>
                      </a:ext>
                    </a:extLst>
                  </a:tcPr>
                </a:tc>
              </a:tr>
              <a:tr h="226400">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April</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5:0"/>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40,504</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5:1"/>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9,778</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5:2"/>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2,851</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5:3"/>
                      </a:ext>
                    </a:extLst>
                  </a:tcPr>
                </a:tc>
              </a:tr>
              <a:tr h="226400">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March</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6:0"/>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33,380</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6:1"/>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9,150</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6:2"/>
                      </a:ext>
                    </a:extLst>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2,737</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366:6:3"/>
                      </a:ext>
                    </a:extLst>
                  </a:tcPr>
                </a:tc>
              </a:tr>
            </a:tbl>
          </a:graphicData>
        </a:graphic>
      </p:graphicFrame>
      <p:sp>
        <p:nvSpPr>
          <p:cNvPr id="367" name="Google Shape;367;g3e0a25aff75_0_6"/>
          <p:cNvSpPr/>
          <p:nvPr/>
        </p:nvSpPr>
        <p:spPr>
          <a:xfrm>
            <a:off x="193100" y="3073725"/>
            <a:ext cx="3770100" cy="228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8" name="Google Shape;368;g3e0a25aff75_0_6"/>
          <p:cNvPicPr preferRelativeResize="0"/>
          <p:nvPr/>
        </p:nvPicPr>
        <p:blipFill>
          <a:blip r:embed="rId5">
            <a:alphaModFix/>
          </a:blip>
          <a:stretch>
            <a:fillRect/>
          </a:stretch>
        </p:blipFill>
        <p:spPr>
          <a:xfrm>
            <a:off x="4065825" y="2133600"/>
            <a:ext cx="1772198" cy="2609848"/>
          </a:xfrm>
          <a:prstGeom prst="rect">
            <a:avLst/>
          </a:prstGeom>
          <a:noFill/>
          <a:ln>
            <a:noFill/>
          </a:ln>
        </p:spPr>
      </p:pic>
      <p:pic>
        <p:nvPicPr>
          <p:cNvPr id="369" name="Google Shape;369;g3e0a25aff75_0_6"/>
          <p:cNvPicPr preferRelativeResize="0"/>
          <p:nvPr/>
        </p:nvPicPr>
        <p:blipFill>
          <a:blip r:embed="rId6">
            <a:alphaModFix/>
          </a:blip>
          <a:stretch>
            <a:fillRect/>
          </a:stretch>
        </p:blipFill>
        <p:spPr>
          <a:xfrm>
            <a:off x="5864546" y="2066925"/>
            <a:ext cx="1647749" cy="940600"/>
          </a:xfrm>
          <a:prstGeom prst="rect">
            <a:avLst/>
          </a:prstGeom>
          <a:noFill/>
          <a:ln>
            <a:noFill/>
          </a:ln>
        </p:spPr>
      </p:pic>
      <p:pic>
        <p:nvPicPr>
          <p:cNvPr id="370" name="Google Shape;370;g3e0a25aff75_0_6"/>
          <p:cNvPicPr preferRelativeResize="0"/>
          <p:nvPr/>
        </p:nvPicPr>
        <p:blipFill>
          <a:blip r:embed="rId7">
            <a:alphaModFix/>
          </a:blip>
          <a:stretch>
            <a:fillRect/>
          </a:stretch>
        </p:blipFill>
        <p:spPr>
          <a:xfrm>
            <a:off x="5883600" y="3007525"/>
            <a:ext cx="1647749" cy="944025"/>
          </a:xfrm>
          <a:prstGeom prst="rect">
            <a:avLst/>
          </a:prstGeom>
          <a:noFill/>
          <a:ln>
            <a:noFill/>
          </a:ln>
        </p:spPr>
      </p:pic>
      <p:pic>
        <p:nvPicPr>
          <p:cNvPr id="371" name="Google Shape;371;g3e0a25aff75_0_6"/>
          <p:cNvPicPr preferRelativeResize="0"/>
          <p:nvPr/>
        </p:nvPicPr>
        <p:blipFill>
          <a:blip r:embed="rId8">
            <a:alphaModFix/>
          </a:blip>
          <a:stretch>
            <a:fillRect/>
          </a:stretch>
        </p:blipFill>
        <p:spPr>
          <a:xfrm>
            <a:off x="5917975" y="3988125"/>
            <a:ext cx="1647749" cy="957746"/>
          </a:xfrm>
          <a:prstGeom prst="rect">
            <a:avLst/>
          </a:prstGeom>
          <a:noFill/>
          <a:ln>
            <a:noFill/>
          </a:ln>
        </p:spPr>
      </p:pic>
      <p:pic>
        <p:nvPicPr>
          <p:cNvPr id="372" name="Google Shape;372;g3e0a25aff75_0_6"/>
          <p:cNvPicPr preferRelativeResize="0"/>
          <p:nvPr/>
        </p:nvPicPr>
        <p:blipFill>
          <a:blip r:embed="rId9">
            <a:alphaModFix/>
          </a:blip>
          <a:stretch>
            <a:fillRect/>
          </a:stretch>
        </p:blipFill>
        <p:spPr>
          <a:xfrm>
            <a:off x="7355325" y="2040635"/>
            <a:ext cx="1647749" cy="936027"/>
          </a:xfrm>
          <a:prstGeom prst="rect">
            <a:avLst/>
          </a:prstGeom>
          <a:noFill/>
          <a:ln>
            <a:noFill/>
          </a:ln>
        </p:spPr>
      </p:pic>
      <p:pic>
        <p:nvPicPr>
          <p:cNvPr id="373" name="Google Shape;373;g3e0a25aff75_0_6"/>
          <p:cNvPicPr preferRelativeResize="0"/>
          <p:nvPr/>
        </p:nvPicPr>
        <p:blipFill>
          <a:blip r:embed="rId10">
            <a:alphaModFix/>
          </a:blip>
          <a:stretch>
            <a:fillRect/>
          </a:stretch>
        </p:blipFill>
        <p:spPr>
          <a:xfrm>
            <a:off x="7381875" y="3176112"/>
            <a:ext cx="1647749" cy="91771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4"/>
          <p:cNvSpPr txBox="1"/>
          <p:nvPr/>
        </p:nvSpPr>
        <p:spPr>
          <a:xfrm>
            <a:off x="950850" y="258575"/>
            <a:ext cx="5656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Organic Traffic Analysis- Top 5 Posts</a:t>
            </a:r>
            <a:endParaRPr b="1" i="0" sz="2000" u="none" cap="none" strike="noStrike">
              <a:solidFill>
                <a:schemeClr val="dk1"/>
              </a:solidFill>
              <a:latin typeface="Times New Roman"/>
              <a:ea typeface="Times New Roman"/>
              <a:cs typeface="Times New Roman"/>
              <a:sym typeface="Times New Roman"/>
            </a:endParaRPr>
          </a:p>
        </p:txBody>
      </p:sp>
      <p:pic>
        <p:nvPicPr>
          <p:cNvPr id="379" name="Google Shape;379;p14"/>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380" name="Google Shape;380;p14"/>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381" name="Google Shape;381;p14"/>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382" name="Google Shape;382;p14"/>
          <p:cNvPicPr preferRelativeResize="0"/>
          <p:nvPr/>
        </p:nvPicPr>
        <p:blipFill rotWithShape="1">
          <a:blip r:embed="rId4">
            <a:alphaModFix/>
          </a:blip>
          <a:srcRect b="21020" l="14063" r="17215" t="26140"/>
          <a:stretch/>
        </p:blipFill>
        <p:spPr>
          <a:xfrm>
            <a:off x="8094845" y="162433"/>
            <a:ext cx="1049155" cy="423511"/>
          </a:xfrm>
          <a:prstGeom prst="rect">
            <a:avLst/>
          </a:prstGeom>
          <a:noFill/>
          <a:ln>
            <a:noFill/>
          </a:ln>
        </p:spPr>
      </p:pic>
      <p:pic>
        <p:nvPicPr>
          <p:cNvPr id="383" name="Google Shape;383;p14"/>
          <p:cNvPicPr preferRelativeResize="0"/>
          <p:nvPr/>
        </p:nvPicPr>
        <p:blipFill>
          <a:blip r:embed="rId5">
            <a:alphaModFix/>
          </a:blip>
          <a:stretch>
            <a:fillRect/>
          </a:stretch>
        </p:blipFill>
        <p:spPr>
          <a:xfrm>
            <a:off x="100125" y="861575"/>
            <a:ext cx="1754925" cy="2657475"/>
          </a:xfrm>
          <a:prstGeom prst="rect">
            <a:avLst/>
          </a:prstGeom>
          <a:noFill/>
          <a:ln>
            <a:noFill/>
          </a:ln>
        </p:spPr>
      </p:pic>
      <p:pic>
        <p:nvPicPr>
          <p:cNvPr id="384" name="Google Shape;384;p14"/>
          <p:cNvPicPr preferRelativeResize="0"/>
          <p:nvPr/>
        </p:nvPicPr>
        <p:blipFill>
          <a:blip r:embed="rId6">
            <a:alphaModFix/>
          </a:blip>
          <a:stretch>
            <a:fillRect/>
          </a:stretch>
        </p:blipFill>
        <p:spPr>
          <a:xfrm>
            <a:off x="1890725" y="814750"/>
            <a:ext cx="1804975" cy="2704300"/>
          </a:xfrm>
          <a:prstGeom prst="rect">
            <a:avLst/>
          </a:prstGeom>
          <a:noFill/>
          <a:ln>
            <a:noFill/>
          </a:ln>
        </p:spPr>
      </p:pic>
      <p:pic>
        <p:nvPicPr>
          <p:cNvPr id="385" name="Google Shape;385;p14"/>
          <p:cNvPicPr preferRelativeResize="0"/>
          <p:nvPr/>
        </p:nvPicPr>
        <p:blipFill>
          <a:blip r:embed="rId7">
            <a:alphaModFix/>
          </a:blip>
          <a:stretch>
            <a:fillRect/>
          </a:stretch>
        </p:blipFill>
        <p:spPr>
          <a:xfrm>
            <a:off x="3676650" y="829475"/>
            <a:ext cx="1856007" cy="2704300"/>
          </a:xfrm>
          <a:prstGeom prst="rect">
            <a:avLst/>
          </a:prstGeom>
          <a:noFill/>
          <a:ln>
            <a:noFill/>
          </a:ln>
        </p:spPr>
      </p:pic>
      <p:pic>
        <p:nvPicPr>
          <p:cNvPr id="386" name="Google Shape;386;p14"/>
          <p:cNvPicPr preferRelativeResize="0"/>
          <p:nvPr/>
        </p:nvPicPr>
        <p:blipFill>
          <a:blip r:embed="rId8">
            <a:alphaModFix/>
          </a:blip>
          <a:stretch>
            <a:fillRect/>
          </a:stretch>
        </p:blipFill>
        <p:spPr>
          <a:xfrm>
            <a:off x="5523125" y="841546"/>
            <a:ext cx="1754925" cy="2572629"/>
          </a:xfrm>
          <a:prstGeom prst="rect">
            <a:avLst/>
          </a:prstGeom>
          <a:noFill/>
          <a:ln>
            <a:noFill/>
          </a:ln>
        </p:spPr>
      </p:pic>
      <p:pic>
        <p:nvPicPr>
          <p:cNvPr id="387" name="Google Shape;387;p14"/>
          <p:cNvPicPr preferRelativeResize="0"/>
          <p:nvPr/>
        </p:nvPicPr>
        <p:blipFill>
          <a:blip r:embed="rId9">
            <a:alphaModFix/>
          </a:blip>
          <a:stretch>
            <a:fillRect/>
          </a:stretch>
        </p:blipFill>
        <p:spPr>
          <a:xfrm>
            <a:off x="7297100" y="866663"/>
            <a:ext cx="1804975" cy="2647300"/>
          </a:xfrm>
          <a:prstGeom prst="rect">
            <a:avLst/>
          </a:prstGeom>
          <a:noFill/>
          <a:ln>
            <a:noFill/>
          </a:ln>
        </p:spPr>
      </p:pic>
      <p:sp>
        <p:nvSpPr>
          <p:cNvPr id="388" name="Google Shape;388;p14"/>
          <p:cNvSpPr txBox="1"/>
          <p:nvPr/>
        </p:nvSpPr>
        <p:spPr>
          <a:xfrm>
            <a:off x="70277" y="3490379"/>
            <a:ext cx="8876400" cy="12189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1200"/>
              </a:spcBef>
              <a:spcAft>
                <a:spcPts val="0"/>
              </a:spcAft>
              <a:buSzPts val="1200"/>
              <a:buFont typeface="Times New Roman"/>
              <a:buChar char="●"/>
            </a:pPr>
            <a:r>
              <a:rPr lang="zh-HK" sz="1200">
                <a:solidFill>
                  <a:srgbClr val="0F1115"/>
                </a:solidFill>
                <a:highlight>
                  <a:srgbClr val="FFFFFF"/>
                </a:highlight>
                <a:latin typeface="Times New Roman"/>
                <a:ea typeface="Times New Roman"/>
                <a:cs typeface="Times New Roman"/>
                <a:sym typeface="Times New Roman"/>
              </a:rPr>
              <a:t>In July, Langham Place was frequently mentioned in organic Xiaohongshu posts on "Mong Kok Citywalk," "one-day guides," and "photo spots."</a:t>
            </a:r>
            <a:r>
              <a:rPr lang="zh-HK"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p>
            <a:pPr indent="-304800" lvl="0" marL="457200" marR="0" rtl="0" algn="l">
              <a:lnSpc>
                <a:spcPct val="115000"/>
              </a:lnSpc>
              <a:spcBef>
                <a:spcPts val="0"/>
              </a:spcBef>
              <a:spcAft>
                <a:spcPts val="0"/>
              </a:spcAft>
              <a:buSzPts val="1200"/>
              <a:buFont typeface="Times New Roman"/>
              <a:buChar char="●"/>
            </a:pPr>
            <a:r>
              <a:rPr lang="zh-HK" sz="1200">
                <a:solidFill>
                  <a:srgbClr val="0F1115"/>
                </a:solidFill>
                <a:highlight>
                  <a:srgbClr val="FFFFFF"/>
                </a:highlight>
                <a:latin typeface="Times New Roman"/>
                <a:ea typeface="Times New Roman"/>
                <a:cs typeface="Times New Roman"/>
                <a:sym typeface="Times New Roman"/>
              </a:rPr>
              <a:t>Unlike June's visual-focused content, top posts now offered more practical, all-in-one itineraries, reflecting users' preference for time-saving travel planning. Langham Place emerged as a "must-visit" stop in Mong Kok, reaffirming its status as a district landmark.</a:t>
            </a:r>
            <a:endParaRPr sz="1200">
              <a:latin typeface="Times New Roman"/>
              <a:ea typeface="Times New Roman"/>
              <a:cs typeface="Times New Roman"/>
              <a:sym typeface="Times New Roman"/>
            </a:endParaRPr>
          </a:p>
          <a:p>
            <a:pPr indent="-304800" lvl="0" marL="457200" marR="0" rtl="0" algn="l">
              <a:lnSpc>
                <a:spcPct val="115000"/>
              </a:lnSpc>
              <a:spcBef>
                <a:spcPts val="0"/>
              </a:spcBef>
              <a:spcAft>
                <a:spcPts val="0"/>
              </a:spcAft>
              <a:buSzPts val="1200"/>
              <a:buFont typeface="Times New Roman"/>
              <a:buChar char="●"/>
            </a:pPr>
            <a:r>
              <a:rPr lang="zh-HK" sz="1200">
                <a:solidFill>
                  <a:srgbClr val="0F1115"/>
                </a:solidFill>
                <a:highlight>
                  <a:srgbClr val="FFFFFF"/>
                </a:highlight>
                <a:latin typeface="Times New Roman"/>
                <a:ea typeface="Times New Roman"/>
                <a:cs typeface="Times New Roman"/>
                <a:sym typeface="Times New Roman"/>
              </a:rPr>
              <a:t>The shift from single-day routes to broader Hong Kong guides also signals growing demand for deeper travel content.</a:t>
            </a:r>
            <a:r>
              <a:rPr lang="zh-HK"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15"/>
          <p:cNvSpPr txBox="1"/>
          <p:nvPr/>
        </p:nvSpPr>
        <p:spPr>
          <a:xfrm>
            <a:off x="141587" y="727513"/>
            <a:ext cx="2795100" cy="323100"/>
          </a:xfrm>
          <a:prstGeom prst="rect">
            <a:avLst/>
          </a:prstGeom>
          <a:noFill/>
          <a:ln>
            <a:noFill/>
          </a:ln>
        </p:spPr>
        <p:txBody>
          <a:bodyPr anchorCtr="0" anchor="t" bIns="68575" lIns="68575" spcFirstLastPara="1" rIns="68575" wrap="square" tIns="68575">
            <a:spAutoFit/>
          </a:bodyPr>
          <a:lstStyle/>
          <a:p>
            <a:pPr indent="0" lvl="0" marL="0" marR="0" rtl="0" algn="l">
              <a:lnSpc>
                <a:spcPct val="150000"/>
              </a:lnSpc>
              <a:spcBef>
                <a:spcPts val="0"/>
              </a:spcBef>
              <a:spcAft>
                <a:spcPts val="0"/>
              </a:spcAft>
              <a:buClr>
                <a:schemeClr val="dk1"/>
              </a:buClr>
              <a:buSzPts val="800"/>
              <a:buFont typeface="Arial"/>
              <a:buNone/>
            </a:pPr>
            <a:r>
              <a:rPr b="1" lang="zh-HK" sz="1200">
                <a:solidFill>
                  <a:srgbClr val="212121"/>
                </a:solidFill>
                <a:latin typeface="Times New Roman"/>
                <a:ea typeface="Times New Roman"/>
                <a:cs typeface="Times New Roman"/>
                <a:sym typeface="Times New Roman"/>
              </a:rPr>
              <a:t>New Town Plaza</a:t>
            </a:r>
            <a:endParaRPr b="1" i="0" sz="1200" u="none" cap="none" strike="noStrike">
              <a:solidFill>
                <a:srgbClr val="212121"/>
              </a:solidFill>
              <a:latin typeface="Times New Roman"/>
              <a:ea typeface="Times New Roman"/>
              <a:cs typeface="Times New Roman"/>
              <a:sym typeface="Times New Roman"/>
            </a:endParaRPr>
          </a:p>
        </p:txBody>
      </p:sp>
      <p:sp>
        <p:nvSpPr>
          <p:cNvPr id="394" name="Google Shape;394;p15"/>
          <p:cNvSpPr txBox="1"/>
          <p:nvPr/>
        </p:nvSpPr>
        <p:spPr>
          <a:xfrm>
            <a:off x="148275" y="1040475"/>
            <a:ext cx="4342200" cy="1915800"/>
          </a:xfrm>
          <a:prstGeom prst="rect">
            <a:avLst/>
          </a:prstGeom>
          <a:noFill/>
          <a:ln>
            <a:noFill/>
          </a:ln>
        </p:spPr>
        <p:txBody>
          <a:bodyPr anchorCtr="0" anchor="t" bIns="25700" lIns="51425" spcFirstLastPara="1" rIns="51425" wrap="square" tIns="25700">
            <a:spAutoFit/>
          </a:bodyPr>
          <a:lstStyle/>
          <a:p>
            <a:pPr indent="0" lvl="0" marL="0" marR="0" rtl="0" algn="just">
              <a:lnSpc>
                <a:spcPct val="150000"/>
              </a:lnSpc>
              <a:spcBef>
                <a:spcPts val="0"/>
              </a:spcBef>
              <a:spcAft>
                <a:spcPts val="0"/>
              </a:spcAft>
              <a:buClr>
                <a:srgbClr val="000000"/>
              </a:buClr>
              <a:buSzPts val="1200"/>
              <a:buFont typeface="Arial"/>
              <a:buNone/>
            </a:pPr>
            <a:r>
              <a:rPr lang="zh-HK" sz="1100">
                <a:solidFill>
                  <a:srgbClr val="212121"/>
                </a:solidFill>
                <a:latin typeface="Times New Roman"/>
                <a:ea typeface="Times New Roman"/>
                <a:cs typeface="Times New Roman"/>
                <a:sym typeface="Times New Roman"/>
              </a:rPr>
              <a:t>22</a:t>
            </a:r>
            <a:r>
              <a:rPr i="0" lang="zh-HK" sz="1100" u="none" cap="none" strike="noStrike">
                <a:solidFill>
                  <a:srgbClr val="212121"/>
                </a:solidFill>
                <a:latin typeface="Times New Roman"/>
                <a:ea typeface="Times New Roman"/>
                <a:cs typeface="Times New Roman"/>
                <a:sym typeface="Times New Roman"/>
              </a:rPr>
              <a:t> articles and </a:t>
            </a:r>
            <a:r>
              <a:rPr lang="zh-HK" sz="1100">
                <a:solidFill>
                  <a:srgbClr val="212121"/>
                </a:solidFill>
                <a:latin typeface="Times New Roman"/>
                <a:ea typeface="Times New Roman"/>
                <a:cs typeface="Times New Roman"/>
                <a:sym typeface="Times New Roman"/>
              </a:rPr>
              <a:t>5</a:t>
            </a:r>
            <a:r>
              <a:rPr i="0" lang="zh-HK" sz="1100" u="none" cap="none" strike="noStrike">
                <a:solidFill>
                  <a:srgbClr val="212121"/>
                </a:solidFill>
                <a:latin typeface="Times New Roman"/>
                <a:ea typeface="Times New Roman"/>
                <a:cs typeface="Times New Roman"/>
                <a:sym typeface="Times New Roman"/>
              </a:rPr>
              <a:t> videos feeds in Ju</a:t>
            </a:r>
            <a:r>
              <a:rPr lang="zh-HK" sz="1100">
                <a:solidFill>
                  <a:srgbClr val="212121"/>
                </a:solidFill>
                <a:latin typeface="Times New Roman"/>
                <a:ea typeface="Times New Roman"/>
                <a:cs typeface="Times New Roman"/>
                <a:sym typeface="Times New Roman"/>
              </a:rPr>
              <a:t>ly</a:t>
            </a:r>
            <a:r>
              <a:rPr i="0" lang="zh-HK" sz="1100" u="none" cap="none" strike="noStrike">
                <a:solidFill>
                  <a:srgbClr val="212121"/>
                </a:solidFill>
                <a:latin typeface="Times New Roman"/>
                <a:ea typeface="Times New Roman"/>
                <a:cs typeface="Times New Roman"/>
                <a:sym typeface="Times New Roman"/>
              </a:rPr>
              <a:t>,  total posted 2</a:t>
            </a:r>
            <a:r>
              <a:rPr lang="zh-HK" sz="1100">
                <a:solidFill>
                  <a:srgbClr val="212121"/>
                </a:solidFill>
                <a:latin typeface="Times New Roman"/>
                <a:ea typeface="Times New Roman"/>
                <a:cs typeface="Times New Roman"/>
                <a:sym typeface="Times New Roman"/>
              </a:rPr>
              <a:t>7</a:t>
            </a:r>
            <a:r>
              <a:rPr i="0" lang="zh-HK" sz="1100" u="none" cap="none" strike="noStrike">
                <a:solidFill>
                  <a:srgbClr val="212121"/>
                </a:solidFill>
                <a:latin typeface="Times New Roman"/>
                <a:ea typeface="Times New Roman"/>
                <a:cs typeface="Times New Roman"/>
                <a:sym typeface="Times New Roman"/>
              </a:rPr>
              <a:t> feeds.</a:t>
            </a:r>
            <a:endParaRPr i="0" sz="1100" u="none" cap="none" strike="noStrike">
              <a:solidFill>
                <a:srgbClr val="21212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ts val="1200"/>
              <a:buFont typeface="Arial"/>
              <a:buNone/>
            </a:pPr>
            <a:r>
              <a:rPr i="0" lang="zh-HK" sz="1100" u="none" cap="none" strike="noStrike">
                <a:solidFill>
                  <a:srgbClr val="212121"/>
                </a:solidFill>
                <a:latin typeface="Times New Roman"/>
                <a:ea typeface="Times New Roman"/>
                <a:cs typeface="Times New Roman"/>
                <a:sym typeface="Times New Roman"/>
              </a:rPr>
              <a:t>Content Pillar：</a:t>
            </a:r>
            <a:r>
              <a:rPr i="0" lang="zh-HK" sz="1100" u="none" cap="none" strike="noStrike">
                <a:solidFill>
                  <a:srgbClr val="0F1115"/>
                </a:solidFill>
                <a:highlight>
                  <a:schemeClr val="lt1"/>
                </a:highlight>
                <a:latin typeface="Times New Roman"/>
                <a:ea typeface="Times New Roman"/>
                <a:cs typeface="Times New Roman"/>
                <a:sym typeface="Times New Roman"/>
              </a:rPr>
              <a:t>IP </a:t>
            </a:r>
            <a:r>
              <a:rPr i="0" lang="zh-HK" sz="1100" u="none" cap="none" strike="noStrike">
                <a:solidFill>
                  <a:srgbClr val="0F1115"/>
                </a:solidFill>
                <a:highlight>
                  <a:schemeClr val="lt1"/>
                </a:highlight>
                <a:latin typeface="Times New Roman"/>
                <a:ea typeface="Times New Roman"/>
                <a:cs typeface="Times New Roman"/>
                <a:sym typeface="Times New Roman"/>
              </a:rPr>
              <a:t>Event, Shopping Guide, </a:t>
            </a:r>
            <a:r>
              <a:rPr lang="zh-HK" sz="1100">
                <a:solidFill>
                  <a:srgbClr val="0F1115"/>
                </a:solidFill>
                <a:highlight>
                  <a:schemeClr val="lt1"/>
                </a:highlight>
                <a:latin typeface="Times New Roman"/>
                <a:ea typeface="Times New Roman"/>
                <a:cs typeface="Times New Roman"/>
                <a:sym typeface="Times New Roman"/>
              </a:rPr>
              <a:t>Travel , Beauty,</a:t>
            </a:r>
            <a:r>
              <a:rPr i="0" lang="zh-HK" sz="1100" u="none" cap="none" strike="noStrike">
                <a:solidFill>
                  <a:srgbClr val="0F1115"/>
                </a:solidFill>
                <a:highlight>
                  <a:schemeClr val="lt1"/>
                </a:highlight>
                <a:latin typeface="Times New Roman"/>
                <a:ea typeface="Times New Roman"/>
                <a:cs typeface="Times New Roman"/>
                <a:sym typeface="Times New Roman"/>
              </a:rPr>
              <a:t> F&amp;B</a:t>
            </a:r>
            <a:r>
              <a:rPr lang="zh-HK" sz="1100">
                <a:solidFill>
                  <a:srgbClr val="0F1115"/>
                </a:solidFill>
                <a:highlight>
                  <a:schemeClr val="lt1"/>
                </a:highlight>
                <a:latin typeface="Times New Roman"/>
                <a:ea typeface="Times New Roman"/>
                <a:cs typeface="Times New Roman"/>
                <a:sym typeface="Times New Roman"/>
              </a:rPr>
              <a:t>, Giveway</a:t>
            </a:r>
            <a:r>
              <a:rPr i="0" lang="zh-HK" sz="1100" u="none" cap="none" strike="noStrike">
                <a:solidFill>
                  <a:srgbClr val="000000"/>
                </a:solidFill>
                <a:latin typeface="Times New Roman"/>
                <a:ea typeface="Times New Roman"/>
                <a:cs typeface="Times New Roman"/>
                <a:sym typeface="Times New Roman"/>
              </a:rPr>
              <a:t> </a:t>
            </a:r>
            <a:endParaRPr i="0" sz="1100" u="none" cap="none" strike="noStrike">
              <a:solidFill>
                <a:srgbClr val="21212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ts val="1200"/>
              <a:buFont typeface="Arial"/>
              <a:buNone/>
            </a:pPr>
            <a:r>
              <a:rPr b="1" i="0" lang="zh-HK" sz="1100" u="none" cap="none" strike="noStrike">
                <a:solidFill>
                  <a:srgbClr val="212121"/>
                </a:solidFill>
                <a:latin typeface="Times New Roman"/>
                <a:ea typeface="Times New Roman"/>
                <a:cs typeface="Times New Roman"/>
                <a:sym typeface="Times New Roman"/>
              </a:rPr>
              <a:t>Post analysis-</a:t>
            </a:r>
            <a:r>
              <a:rPr i="0" lang="zh-HK" sz="1100" u="none" cap="none" strike="noStrike">
                <a:solidFill>
                  <a:srgbClr val="212121"/>
                </a:solidFill>
                <a:latin typeface="Times New Roman"/>
                <a:ea typeface="Times New Roman"/>
                <a:cs typeface="Times New Roman"/>
                <a:sym typeface="Times New Roman"/>
              </a:rPr>
              <a:t> </a:t>
            </a:r>
            <a:r>
              <a:rPr lang="zh-HK" sz="1100" u="sng">
                <a:solidFill>
                  <a:schemeClr val="hlink"/>
                </a:solidFill>
                <a:highlight>
                  <a:srgbClr val="FFFFFF"/>
                </a:highlight>
                <a:latin typeface="Times New Roman"/>
                <a:ea typeface="Times New Roman"/>
                <a:cs typeface="Times New Roman"/>
                <a:sym typeface="Times New Roman"/>
                <a:hlinkClick r:id="rId3"/>
              </a:rPr>
              <a:t>报意思！7.29国际唇膏日，沙田要搞大事💋</a:t>
            </a:r>
            <a:r>
              <a:rPr lang="zh-HK" sz="1100">
                <a:latin typeface="Times New Roman"/>
                <a:ea typeface="Times New Roman"/>
                <a:cs typeface="Times New Roman"/>
                <a:sym typeface="Times New Roman"/>
              </a:rPr>
              <a:t> </a:t>
            </a:r>
            <a:endParaRPr i="0" sz="1100" u="none" cap="none" strike="noStrike">
              <a:solidFill>
                <a:srgbClr val="212121"/>
              </a:solidFill>
              <a:latin typeface="Times New Roman"/>
              <a:ea typeface="Times New Roman"/>
              <a:cs typeface="Times New Roman"/>
              <a:sym typeface="Times New Roman"/>
            </a:endParaRPr>
          </a:p>
          <a:p>
            <a:pPr indent="-298450" lvl="0" marL="457200" rtl="0" algn="just">
              <a:lnSpc>
                <a:spcPct val="115000"/>
              </a:lnSpc>
              <a:spcBef>
                <a:spcPts val="1200"/>
              </a:spcBef>
              <a:spcAft>
                <a:spcPts val="0"/>
              </a:spcAft>
              <a:buClr>
                <a:srgbClr val="0F1115"/>
              </a:buClr>
              <a:buSzPts val="1100"/>
              <a:buFont typeface="Times New Roman"/>
              <a:buChar char="●"/>
            </a:pPr>
            <a:r>
              <a:rPr lang="zh-HK" sz="1100">
                <a:solidFill>
                  <a:srgbClr val="0F1115"/>
                </a:solidFill>
                <a:highlight>
                  <a:schemeClr val="lt1"/>
                </a:highlight>
                <a:latin typeface="Times New Roman"/>
                <a:ea typeface="Times New Roman"/>
                <a:cs typeface="Times New Roman"/>
                <a:sym typeface="Times New Roman"/>
              </a:rPr>
              <a:t>C</a:t>
            </a:r>
            <a:r>
              <a:rPr lang="zh-HK" sz="1100">
                <a:solidFill>
                  <a:srgbClr val="0F1115"/>
                </a:solidFill>
                <a:highlight>
                  <a:srgbClr val="FFFFFF"/>
                </a:highlight>
                <a:latin typeface="Times New Roman"/>
                <a:ea typeface="Times New Roman"/>
                <a:cs typeface="Times New Roman"/>
                <a:sym typeface="Times New Roman"/>
              </a:rPr>
              <a:t>urated 6 beauty brands under a "celebrity same-style" theme for International Lipstick Day. Turned a niche occasion into a buzzworthy event with star power and limited-time offers</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just">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Drove engagement and foot traffic while reinforcing New Town Plaza's beauty destination positioning</a:t>
            </a:r>
            <a:endParaRPr sz="1100">
              <a:solidFill>
                <a:srgbClr val="0F1115"/>
              </a:solidFill>
              <a:highlight>
                <a:srgbClr val="FFFFFF"/>
              </a:highlight>
              <a:latin typeface="Times New Roman"/>
              <a:ea typeface="Times New Roman"/>
              <a:cs typeface="Times New Roman"/>
              <a:sym typeface="Times New Roman"/>
            </a:endParaRPr>
          </a:p>
        </p:txBody>
      </p:sp>
      <p:sp>
        <p:nvSpPr>
          <p:cNvPr id="395" name="Google Shape;395;p15"/>
          <p:cNvSpPr txBox="1"/>
          <p:nvPr/>
        </p:nvSpPr>
        <p:spPr>
          <a:xfrm>
            <a:off x="887425" y="234913"/>
            <a:ext cx="4521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Competitors Analysis - XHS</a:t>
            </a:r>
            <a:endParaRPr b="1" i="0" sz="2000" u="none" cap="none" strike="noStrike">
              <a:solidFill>
                <a:schemeClr val="dk1"/>
              </a:solidFill>
              <a:latin typeface="Times New Roman"/>
              <a:ea typeface="Times New Roman"/>
              <a:cs typeface="Times New Roman"/>
              <a:sym typeface="Times New Roman"/>
            </a:endParaRPr>
          </a:p>
        </p:txBody>
      </p:sp>
      <p:sp>
        <p:nvSpPr>
          <p:cNvPr id="396" name="Google Shape;396;p15"/>
          <p:cNvSpPr txBox="1"/>
          <p:nvPr/>
        </p:nvSpPr>
        <p:spPr>
          <a:xfrm>
            <a:off x="4619350" y="886275"/>
            <a:ext cx="4342200" cy="1975200"/>
          </a:xfrm>
          <a:prstGeom prst="rect">
            <a:avLst/>
          </a:prstGeom>
          <a:noFill/>
          <a:ln>
            <a:noFill/>
          </a:ln>
        </p:spPr>
        <p:txBody>
          <a:bodyPr anchorCtr="0" anchor="t" bIns="25700" lIns="51425" spcFirstLastPara="1" rIns="51425" wrap="square" tIns="25700">
            <a:spAutoFit/>
          </a:bodyPr>
          <a:lstStyle/>
          <a:p>
            <a:pPr indent="0" lvl="0" marL="0" marR="0" rtl="0" algn="l">
              <a:lnSpc>
                <a:spcPct val="150000"/>
              </a:lnSpc>
              <a:spcBef>
                <a:spcPts val="0"/>
              </a:spcBef>
              <a:spcAft>
                <a:spcPts val="0"/>
              </a:spcAft>
              <a:buClr>
                <a:srgbClr val="000000"/>
              </a:buClr>
              <a:buSzPts val="1200"/>
              <a:buFont typeface="Arial"/>
              <a:buNone/>
            </a:pPr>
            <a:r>
              <a:rPr b="1" i="0" lang="zh-HK" sz="1100" u="none" cap="none" strike="noStrike">
                <a:solidFill>
                  <a:srgbClr val="212121"/>
                </a:solidFill>
                <a:latin typeface="Times New Roman"/>
                <a:ea typeface="Times New Roman"/>
                <a:cs typeface="Times New Roman"/>
                <a:sym typeface="Times New Roman"/>
              </a:rPr>
              <a:t>MOKO</a:t>
            </a:r>
            <a:endParaRPr b="1" i="0" sz="1100" u="none" cap="none" strike="noStrike">
              <a:solidFill>
                <a:srgbClr val="21212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200"/>
              <a:buFont typeface="Arial"/>
              <a:buNone/>
            </a:pPr>
            <a:r>
              <a:rPr lang="zh-HK" sz="1100">
                <a:solidFill>
                  <a:srgbClr val="212121"/>
                </a:solidFill>
                <a:latin typeface="Times New Roman"/>
                <a:ea typeface="Times New Roman"/>
                <a:cs typeface="Times New Roman"/>
                <a:sym typeface="Times New Roman"/>
              </a:rPr>
              <a:t>T</a:t>
            </a:r>
            <a:r>
              <a:rPr i="0" lang="zh-HK" sz="1100" u="none" cap="none" strike="noStrike">
                <a:solidFill>
                  <a:srgbClr val="212121"/>
                </a:solidFill>
                <a:latin typeface="Times New Roman"/>
                <a:ea typeface="Times New Roman"/>
                <a:cs typeface="Times New Roman"/>
                <a:sym typeface="Times New Roman"/>
              </a:rPr>
              <a:t>otal posted 1</a:t>
            </a:r>
            <a:r>
              <a:rPr lang="zh-HK" sz="1100">
                <a:solidFill>
                  <a:srgbClr val="212121"/>
                </a:solidFill>
                <a:latin typeface="Times New Roman"/>
                <a:ea typeface="Times New Roman"/>
                <a:cs typeface="Times New Roman"/>
                <a:sym typeface="Times New Roman"/>
              </a:rPr>
              <a:t>3 article</a:t>
            </a:r>
            <a:r>
              <a:rPr i="0" lang="zh-HK" sz="1100" u="none" cap="none" strike="noStrike">
                <a:solidFill>
                  <a:srgbClr val="212121"/>
                </a:solidFill>
                <a:latin typeface="Times New Roman"/>
                <a:ea typeface="Times New Roman"/>
                <a:cs typeface="Times New Roman"/>
                <a:sym typeface="Times New Roman"/>
              </a:rPr>
              <a:t> feeds in Ju</a:t>
            </a:r>
            <a:r>
              <a:rPr lang="zh-HK" sz="1100">
                <a:solidFill>
                  <a:srgbClr val="212121"/>
                </a:solidFill>
                <a:latin typeface="Times New Roman"/>
                <a:ea typeface="Times New Roman"/>
                <a:cs typeface="Times New Roman"/>
                <a:sym typeface="Times New Roman"/>
              </a:rPr>
              <a:t>ly</a:t>
            </a:r>
            <a:r>
              <a:rPr i="0" lang="zh-HK" sz="1100" u="none" cap="none" strike="noStrike">
                <a:solidFill>
                  <a:srgbClr val="212121"/>
                </a:solidFill>
                <a:latin typeface="Times New Roman"/>
                <a:ea typeface="Times New Roman"/>
                <a:cs typeface="Times New Roman"/>
                <a:sym typeface="Times New Roman"/>
              </a:rPr>
              <a:t>.</a:t>
            </a:r>
            <a:br>
              <a:rPr i="0" lang="zh-HK" sz="1100" u="none" cap="none" strike="noStrike">
                <a:solidFill>
                  <a:srgbClr val="212121"/>
                </a:solidFill>
                <a:latin typeface="Times New Roman"/>
                <a:ea typeface="Times New Roman"/>
                <a:cs typeface="Times New Roman"/>
                <a:sym typeface="Times New Roman"/>
              </a:rPr>
            </a:br>
            <a:r>
              <a:rPr i="0" lang="zh-HK" sz="1100" u="none" cap="none" strike="noStrike">
                <a:solidFill>
                  <a:srgbClr val="212121"/>
                </a:solidFill>
                <a:latin typeface="Times New Roman"/>
                <a:ea typeface="Times New Roman"/>
                <a:cs typeface="Times New Roman"/>
                <a:sym typeface="Times New Roman"/>
              </a:rPr>
              <a:t>Content pillars: IP Event,</a:t>
            </a:r>
            <a:r>
              <a:rPr i="0" lang="zh-HK" sz="1100" u="none" cap="none" strike="noStrike">
                <a:solidFill>
                  <a:srgbClr val="0F1115"/>
                </a:solidFill>
                <a:highlight>
                  <a:srgbClr val="FFFFFF"/>
                </a:highlight>
                <a:latin typeface="Times New Roman"/>
                <a:ea typeface="Times New Roman"/>
                <a:cs typeface="Times New Roman"/>
                <a:sym typeface="Times New Roman"/>
              </a:rPr>
              <a:t> Shopping Guide, Fashion, </a:t>
            </a:r>
            <a:r>
              <a:rPr lang="zh-HK" sz="1100">
                <a:solidFill>
                  <a:srgbClr val="0F1115"/>
                </a:solidFill>
                <a:highlight>
                  <a:srgbClr val="FFFFFF"/>
                </a:highlight>
                <a:latin typeface="Times New Roman"/>
                <a:ea typeface="Times New Roman"/>
                <a:cs typeface="Times New Roman"/>
                <a:sym typeface="Times New Roman"/>
              </a:rPr>
              <a:t>Beauty, Giveaway</a:t>
            </a:r>
            <a:r>
              <a:rPr i="0" lang="zh-HK" sz="1100" u="none" cap="none" strike="noStrike">
                <a:solidFill>
                  <a:srgbClr val="000000"/>
                </a:solidFill>
                <a:latin typeface="Times New Roman"/>
                <a:ea typeface="Times New Roman"/>
                <a:cs typeface="Times New Roman"/>
                <a:sym typeface="Times New Roman"/>
              </a:rPr>
              <a:t> </a:t>
            </a:r>
            <a:endParaRPr i="0" sz="1100" u="none" cap="none" strike="noStrike">
              <a:solidFill>
                <a:srgbClr val="21212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ts val="1200"/>
              <a:buFont typeface="Arial"/>
              <a:buNone/>
            </a:pPr>
            <a:r>
              <a:rPr b="1" i="0" lang="zh-HK" sz="1100" u="none" cap="none" strike="noStrike">
                <a:solidFill>
                  <a:srgbClr val="212121"/>
                </a:solidFill>
                <a:latin typeface="Times New Roman"/>
                <a:ea typeface="Times New Roman"/>
                <a:cs typeface="Times New Roman"/>
                <a:sym typeface="Times New Roman"/>
              </a:rPr>
              <a:t>Post analysis-</a:t>
            </a:r>
            <a:r>
              <a:rPr lang="zh-HK" sz="1100" u="sng">
                <a:solidFill>
                  <a:schemeClr val="hlink"/>
                </a:solidFill>
                <a:highlight>
                  <a:srgbClr val="FFFFFF"/>
                </a:highlight>
                <a:latin typeface="Times New Roman"/>
                <a:ea typeface="Times New Roman"/>
                <a:cs typeface="Times New Roman"/>
                <a:sym typeface="Times New Roman"/>
                <a:hlinkClick r:id="rId4"/>
              </a:rPr>
              <a:t>所有人点收藏！妈见夸的万宁必买清单！</a:t>
            </a:r>
            <a:r>
              <a:rPr lang="zh-HK" sz="1100">
                <a:latin typeface="Times New Roman"/>
                <a:ea typeface="Times New Roman"/>
                <a:cs typeface="Times New Roman"/>
                <a:sym typeface="Times New Roman"/>
              </a:rPr>
              <a:t> </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just">
              <a:lnSpc>
                <a:spcPct val="115000"/>
              </a:lnSpc>
              <a:spcBef>
                <a:spcPts val="120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Positioned MOKO as HK's pharmacy souvenir hub with </a:t>
            </a:r>
            <a:br>
              <a:rPr lang="zh-HK" sz="1100">
                <a:solidFill>
                  <a:srgbClr val="0F1115"/>
                </a:solidFill>
                <a:highlight>
                  <a:srgbClr val="FFFFFF"/>
                </a:highlight>
                <a:latin typeface="Times New Roman"/>
                <a:ea typeface="Times New Roman"/>
                <a:cs typeface="Times New Roman"/>
                <a:sym typeface="Times New Roman"/>
              </a:rPr>
            </a:br>
            <a:r>
              <a:rPr lang="zh-HK" sz="1100">
                <a:solidFill>
                  <a:srgbClr val="0F1115"/>
                </a:solidFill>
                <a:highlight>
                  <a:srgbClr val="FFFFFF"/>
                </a:highlight>
                <a:latin typeface="Times New Roman"/>
                <a:ea typeface="Times New Roman"/>
                <a:cs typeface="Times New Roman"/>
                <a:sym typeface="Times New Roman"/>
              </a:rPr>
              <a:t>a "mom-approved" hook targeting young gift-buyers</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just">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Drove high saves and long-tail traffic with a practical checklist, proving emotional resonance boosts engagement</a:t>
            </a:r>
            <a:endParaRPr sz="1100">
              <a:solidFill>
                <a:srgbClr val="0F1115"/>
              </a:solidFill>
              <a:highlight>
                <a:srgbClr val="FFFFFF"/>
              </a:highlight>
              <a:latin typeface="Times New Roman"/>
              <a:ea typeface="Times New Roman"/>
              <a:cs typeface="Times New Roman"/>
              <a:sym typeface="Times New Roman"/>
            </a:endParaRPr>
          </a:p>
        </p:txBody>
      </p:sp>
      <p:sp>
        <p:nvSpPr>
          <p:cNvPr id="397" name="Google Shape;397;p15"/>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398" name="Google Shape;398;p15"/>
          <p:cNvPicPr preferRelativeResize="0"/>
          <p:nvPr/>
        </p:nvPicPr>
        <p:blipFill rotWithShape="1">
          <a:blip r:embed="rId5">
            <a:alphaModFix/>
          </a:blip>
          <a:srcRect b="21020" l="14063" r="17215" t="26140"/>
          <a:stretch/>
        </p:blipFill>
        <p:spPr>
          <a:xfrm>
            <a:off x="8094845" y="162433"/>
            <a:ext cx="1049155" cy="423511"/>
          </a:xfrm>
          <a:prstGeom prst="rect">
            <a:avLst/>
          </a:prstGeom>
          <a:noFill/>
          <a:ln>
            <a:noFill/>
          </a:ln>
        </p:spPr>
      </p:pic>
      <p:pic>
        <p:nvPicPr>
          <p:cNvPr id="399" name="Google Shape;399;p15"/>
          <p:cNvPicPr preferRelativeResize="0"/>
          <p:nvPr/>
        </p:nvPicPr>
        <p:blipFill rotWithShape="1">
          <a:blip r:embed="rId6">
            <a:alphaModFix/>
          </a:blip>
          <a:srcRect b="0" l="0" r="0" t="0"/>
          <a:stretch/>
        </p:blipFill>
        <p:spPr>
          <a:xfrm>
            <a:off x="501350" y="307312"/>
            <a:ext cx="386075" cy="386075"/>
          </a:xfrm>
          <a:prstGeom prst="rect">
            <a:avLst/>
          </a:prstGeom>
          <a:noFill/>
          <a:ln>
            <a:noFill/>
          </a:ln>
        </p:spPr>
      </p:pic>
      <p:sp>
        <p:nvSpPr>
          <p:cNvPr id="400" name="Google Shape;400;p15"/>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pic>
        <p:nvPicPr>
          <p:cNvPr id="401" name="Google Shape;401;p15"/>
          <p:cNvPicPr preferRelativeResize="0"/>
          <p:nvPr/>
        </p:nvPicPr>
        <p:blipFill>
          <a:blip r:embed="rId7">
            <a:alphaModFix/>
          </a:blip>
          <a:stretch>
            <a:fillRect/>
          </a:stretch>
        </p:blipFill>
        <p:spPr>
          <a:xfrm>
            <a:off x="123453" y="3225925"/>
            <a:ext cx="1160647" cy="1842450"/>
          </a:xfrm>
          <a:prstGeom prst="rect">
            <a:avLst/>
          </a:prstGeom>
          <a:noFill/>
          <a:ln>
            <a:noFill/>
          </a:ln>
        </p:spPr>
      </p:pic>
      <p:pic>
        <p:nvPicPr>
          <p:cNvPr id="402" name="Google Shape;402;p15"/>
          <p:cNvPicPr preferRelativeResize="0"/>
          <p:nvPr/>
        </p:nvPicPr>
        <p:blipFill>
          <a:blip r:embed="rId8">
            <a:alphaModFix/>
          </a:blip>
          <a:stretch>
            <a:fillRect/>
          </a:stretch>
        </p:blipFill>
        <p:spPr>
          <a:xfrm>
            <a:off x="2716825" y="3225925"/>
            <a:ext cx="1327765" cy="1785600"/>
          </a:xfrm>
          <a:prstGeom prst="rect">
            <a:avLst/>
          </a:prstGeom>
          <a:noFill/>
          <a:ln>
            <a:noFill/>
          </a:ln>
        </p:spPr>
      </p:pic>
      <p:pic>
        <p:nvPicPr>
          <p:cNvPr id="403" name="Google Shape;403;p15"/>
          <p:cNvPicPr preferRelativeResize="0"/>
          <p:nvPr/>
        </p:nvPicPr>
        <p:blipFill>
          <a:blip r:embed="rId9">
            <a:alphaModFix/>
          </a:blip>
          <a:stretch>
            <a:fillRect/>
          </a:stretch>
        </p:blipFill>
        <p:spPr>
          <a:xfrm>
            <a:off x="1303140" y="3225925"/>
            <a:ext cx="1356535" cy="1785600"/>
          </a:xfrm>
          <a:prstGeom prst="rect">
            <a:avLst/>
          </a:prstGeom>
          <a:noFill/>
          <a:ln>
            <a:noFill/>
          </a:ln>
        </p:spPr>
      </p:pic>
      <p:pic>
        <p:nvPicPr>
          <p:cNvPr id="404" name="Google Shape;404;p15"/>
          <p:cNvPicPr preferRelativeResize="0"/>
          <p:nvPr/>
        </p:nvPicPr>
        <p:blipFill>
          <a:blip r:embed="rId10">
            <a:alphaModFix/>
          </a:blip>
          <a:stretch>
            <a:fillRect/>
          </a:stretch>
        </p:blipFill>
        <p:spPr>
          <a:xfrm>
            <a:off x="5091124" y="3133058"/>
            <a:ext cx="1160650" cy="1873329"/>
          </a:xfrm>
          <a:prstGeom prst="rect">
            <a:avLst/>
          </a:prstGeom>
          <a:noFill/>
          <a:ln>
            <a:noFill/>
          </a:ln>
        </p:spPr>
      </p:pic>
      <p:pic>
        <p:nvPicPr>
          <p:cNvPr id="405" name="Google Shape;405;p15"/>
          <p:cNvPicPr preferRelativeResize="0"/>
          <p:nvPr/>
        </p:nvPicPr>
        <p:blipFill rotWithShape="1">
          <a:blip r:embed="rId11">
            <a:alphaModFix/>
          </a:blip>
          <a:srcRect b="27937" l="0" r="0" t="10972"/>
          <a:stretch/>
        </p:blipFill>
        <p:spPr>
          <a:xfrm>
            <a:off x="6261300" y="3133050"/>
            <a:ext cx="1396424" cy="1642051"/>
          </a:xfrm>
          <a:prstGeom prst="rect">
            <a:avLst/>
          </a:prstGeom>
          <a:noFill/>
          <a:ln>
            <a:noFill/>
          </a:ln>
        </p:spPr>
      </p:pic>
      <p:pic>
        <p:nvPicPr>
          <p:cNvPr id="406" name="Google Shape;406;p15"/>
          <p:cNvPicPr preferRelativeResize="0"/>
          <p:nvPr/>
        </p:nvPicPr>
        <p:blipFill>
          <a:blip r:embed="rId12">
            <a:alphaModFix/>
          </a:blip>
          <a:stretch>
            <a:fillRect/>
          </a:stretch>
        </p:blipFill>
        <p:spPr>
          <a:xfrm>
            <a:off x="7693899" y="3133049"/>
            <a:ext cx="1239283" cy="16420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6"/>
          <p:cNvSpPr txBox="1"/>
          <p:nvPr/>
        </p:nvSpPr>
        <p:spPr>
          <a:xfrm>
            <a:off x="46337" y="727513"/>
            <a:ext cx="2795100" cy="323100"/>
          </a:xfrm>
          <a:prstGeom prst="rect">
            <a:avLst/>
          </a:prstGeom>
          <a:noFill/>
          <a:ln>
            <a:noFill/>
          </a:ln>
        </p:spPr>
        <p:txBody>
          <a:bodyPr anchorCtr="0" anchor="t" bIns="68575" lIns="68575" spcFirstLastPara="1" rIns="68575" wrap="square" tIns="68575">
            <a:spAutoFit/>
          </a:bodyPr>
          <a:lstStyle/>
          <a:p>
            <a:pPr indent="0" lvl="0" marL="0" marR="0" rtl="0" algn="l">
              <a:lnSpc>
                <a:spcPct val="150000"/>
              </a:lnSpc>
              <a:spcBef>
                <a:spcPts val="0"/>
              </a:spcBef>
              <a:spcAft>
                <a:spcPts val="0"/>
              </a:spcAft>
              <a:buClr>
                <a:schemeClr val="dk1"/>
              </a:buClr>
              <a:buSzPts val="800"/>
              <a:buFont typeface="Arial"/>
              <a:buNone/>
            </a:pPr>
            <a:r>
              <a:rPr b="1" lang="zh-HK" sz="1200">
                <a:solidFill>
                  <a:srgbClr val="212121"/>
                </a:solidFill>
                <a:latin typeface="Times New Roman"/>
                <a:ea typeface="Times New Roman"/>
                <a:cs typeface="Times New Roman"/>
                <a:sym typeface="Times New Roman"/>
              </a:rPr>
              <a:t>Times Square</a:t>
            </a:r>
            <a:endParaRPr b="1" i="0" sz="1200" u="none" cap="none" strike="noStrike">
              <a:solidFill>
                <a:srgbClr val="212121"/>
              </a:solidFill>
              <a:latin typeface="Times New Roman"/>
              <a:ea typeface="Times New Roman"/>
              <a:cs typeface="Times New Roman"/>
              <a:sym typeface="Times New Roman"/>
            </a:endParaRPr>
          </a:p>
        </p:txBody>
      </p:sp>
      <p:sp>
        <p:nvSpPr>
          <p:cNvPr id="412" name="Google Shape;412;p16"/>
          <p:cNvSpPr txBox="1"/>
          <p:nvPr/>
        </p:nvSpPr>
        <p:spPr>
          <a:xfrm>
            <a:off x="78675" y="1043200"/>
            <a:ext cx="4521900" cy="2374500"/>
          </a:xfrm>
          <a:prstGeom prst="rect">
            <a:avLst/>
          </a:prstGeom>
          <a:noFill/>
          <a:ln>
            <a:noFill/>
          </a:ln>
        </p:spPr>
        <p:txBody>
          <a:bodyPr anchorCtr="0" anchor="t" bIns="25700" lIns="51425" spcFirstLastPara="1" rIns="51425" wrap="square" tIns="25700">
            <a:spAutoFit/>
          </a:bodyPr>
          <a:lstStyle/>
          <a:p>
            <a:pPr indent="0" lvl="0" marL="0" marR="0" rtl="0" algn="l">
              <a:lnSpc>
                <a:spcPct val="150000"/>
              </a:lnSpc>
              <a:spcBef>
                <a:spcPts val="0"/>
              </a:spcBef>
              <a:spcAft>
                <a:spcPts val="0"/>
              </a:spcAft>
              <a:buClr>
                <a:srgbClr val="000000"/>
              </a:buClr>
              <a:buSzPts val="1200"/>
              <a:buFont typeface="Arial"/>
              <a:buNone/>
            </a:pPr>
            <a:r>
              <a:rPr b="0" i="0" lang="zh-HK" sz="1200" u="none" cap="none" strike="noStrike">
                <a:solidFill>
                  <a:srgbClr val="212121"/>
                </a:solidFill>
                <a:latin typeface="Times New Roman"/>
                <a:ea typeface="Times New Roman"/>
                <a:cs typeface="Times New Roman"/>
                <a:sym typeface="Times New Roman"/>
              </a:rPr>
              <a:t>Pattern: 4 articles in Ju</a:t>
            </a:r>
            <a:r>
              <a:rPr lang="zh-HK" sz="1200">
                <a:solidFill>
                  <a:srgbClr val="212121"/>
                </a:solidFill>
                <a:latin typeface="Times New Roman"/>
                <a:ea typeface="Times New Roman"/>
                <a:cs typeface="Times New Roman"/>
                <a:sym typeface="Times New Roman"/>
              </a:rPr>
              <a:t>ly</a:t>
            </a:r>
            <a:r>
              <a:rPr b="0" i="0" lang="zh-HK" sz="1200" u="none" cap="none" strike="noStrike">
                <a:solidFill>
                  <a:srgbClr val="212121"/>
                </a:solidFill>
                <a:latin typeface="Times New Roman"/>
                <a:ea typeface="Times New Roman"/>
                <a:cs typeface="Times New Roman"/>
                <a:sym typeface="Times New Roman"/>
              </a:rPr>
              <a:t> with total over </a:t>
            </a:r>
            <a:r>
              <a:rPr lang="zh-HK" sz="1200">
                <a:solidFill>
                  <a:srgbClr val="212121"/>
                </a:solidFill>
                <a:latin typeface="Times New Roman"/>
                <a:ea typeface="Times New Roman"/>
                <a:cs typeface="Times New Roman"/>
                <a:sym typeface="Times New Roman"/>
              </a:rPr>
              <a:t>2.3K</a:t>
            </a:r>
            <a:r>
              <a:rPr b="0" i="0" lang="zh-HK" sz="1200" u="none" cap="none" strike="noStrike">
                <a:solidFill>
                  <a:srgbClr val="212121"/>
                </a:solidFill>
                <a:latin typeface="Times New Roman"/>
                <a:ea typeface="Times New Roman"/>
                <a:cs typeface="Times New Roman"/>
                <a:sym typeface="Times New Roman"/>
              </a:rPr>
              <a:t> views.</a:t>
            </a:r>
            <a:endParaRPr b="0" i="0" sz="1200" u="none" cap="none" strike="noStrike">
              <a:solidFill>
                <a:srgbClr val="21212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200"/>
              <a:buFont typeface="Arial"/>
              <a:buNone/>
            </a:pPr>
            <a:r>
              <a:rPr b="0" i="0" lang="zh-HK" sz="1200" u="none" cap="none" strike="noStrike">
                <a:solidFill>
                  <a:srgbClr val="212121"/>
                </a:solidFill>
                <a:latin typeface="Times New Roman"/>
                <a:ea typeface="Times New Roman"/>
                <a:cs typeface="Times New Roman"/>
                <a:sym typeface="Times New Roman"/>
              </a:rPr>
              <a:t>Content pillars: </a:t>
            </a:r>
            <a:r>
              <a:rPr b="0" i="0" lang="zh-HK" sz="1200" u="none" cap="none" strike="noStrike">
                <a:solidFill>
                  <a:srgbClr val="0F1115"/>
                </a:solidFill>
                <a:highlight>
                  <a:srgbClr val="FFFFFF"/>
                </a:highlight>
                <a:latin typeface="Times New Roman"/>
                <a:ea typeface="Times New Roman"/>
                <a:cs typeface="Times New Roman"/>
                <a:sym typeface="Times New Roman"/>
              </a:rPr>
              <a:t>Festive</a:t>
            </a:r>
            <a:r>
              <a:rPr lang="zh-HK" sz="1200">
                <a:solidFill>
                  <a:srgbClr val="0F1115"/>
                </a:solidFill>
                <a:highlight>
                  <a:srgbClr val="FFFFFF"/>
                </a:highlight>
                <a:latin typeface="Times New Roman"/>
                <a:ea typeface="Times New Roman"/>
                <a:cs typeface="Times New Roman"/>
                <a:sym typeface="Times New Roman"/>
              </a:rPr>
              <a:t>, IP Event, Shopping Guide</a:t>
            </a:r>
            <a:endParaRPr b="0" i="0" sz="1200" u="none" cap="none" strike="noStrike">
              <a:solidFill>
                <a:srgbClr val="21212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ts val="1200"/>
              <a:buFont typeface="Arial"/>
              <a:buNone/>
            </a:pPr>
            <a:r>
              <a:rPr b="1" i="0" lang="zh-HK" sz="1200" u="none" cap="none" strike="noStrike">
                <a:solidFill>
                  <a:srgbClr val="212121"/>
                </a:solidFill>
                <a:latin typeface="Times New Roman"/>
                <a:ea typeface="Times New Roman"/>
                <a:cs typeface="Times New Roman"/>
                <a:sym typeface="Times New Roman"/>
              </a:rPr>
              <a:t>Post analysis-</a:t>
            </a:r>
            <a:r>
              <a:rPr lang="zh-HK" sz="1200" u="sng">
                <a:solidFill>
                  <a:schemeClr val="hlink"/>
                </a:solidFill>
                <a:latin typeface="Times New Roman"/>
                <a:ea typeface="Times New Roman"/>
                <a:cs typeface="Times New Roman"/>
                <a:sym typeface="Times New Roman"/>
                <a:hlinkClick r:id="rId3"/>
              </a:rPr>
              <a:t>🍌小黄人拍了拍@你！来香港凭票根领福利！ </a:t>
            </a:r>
            <a:endParaRPr b="0" i="0" sz="1200" u="none" cap="none" strike="noStrike">
              <a:solidFill>
                <a:srgbClr val="212121"/>
              </a:solidFill>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rgbClr val="1C1C1C"/>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Leveraged "movie ticket as VIP pass" concept, turning a disposable item into a mall-wide通行證</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Unlocked exclusive offers across 10+ F&amp;B and retail tenants</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Paired with Minions IP and interactive tasks to create a playful scavenger hunt experience</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Drove cross-category spending and extended dwell time</a:t>
            </a:r>
            <a:endParaRPr sz="1100">
              <a:solidFill>
                <a:srgbClr val="0F1115"/>
              </a:solidFill>
              <a:highlight>
                <a:srgbClr val="FFFFFF"/>
              </a:highlight>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t/>
            </a:r>
            <a:endParaRPr sz="1100">
              <a:solidFill>
                <a:srgbClr val="0F1115"/>
              </a:solidFill>
              <a:highlight>
                <a:srgbClr val="FFFFFF"/>
              </a:highlight>
              <a:latin typeface="Times New Roman"/>
              <a:ea typeface="Times New Roman"/>
              <a:cs typeface="Times New Roman"/>
              <a:sym typeface="Times New Roman"/>
            </a:endParaRPr>
          </a:p>
        </p:txBody>
      </p:sp>
      <p:sp>
        <p:nvSpPr>
          <p:cNvPr id="413" name="Google Shape;413;p16"/>
          <p:cNvSpPr txBox="1"/>
          <p:nvPr/>
        </p:nvSpPr>
        <p:spPr>
          <a:xfrm>
            <a:off x="887425" y="234913"/>
            <a:ext cx="4521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Competitors Analysis - WeChat</a:t>
            </a:r>
            <a:endParaRPr b="1" i="0" sz="2000" u="none" cap="none" strike="noStrike">
              <a:solidFill>
                <a:schemeClr val="dk1"/>
              </a:solidFill>
              <a:latin typeface="Times New Roman"/>
              <a:ea typeface="Times New Roman"/>
              <a:cs typeface="Times New Roman"/>
              <a:sym typeface="Times New Roman"/>
            </a:endParaRPr>
          </a:p>
        </p:txBody>
      </p:sp>
      <p:sp>
        <p:nvSpPr>
          <p:cNvPr id="414" name="Google Shape;414;p16"/>
          <p:cNvSpPr/>
          <p:nvPr/>
        </p:nvSpPr>
        <p:spPr>
          <a:xfrm>
            <a:off x="395027" y="359057"/>
            <a:ext cx="42900" cy="282600"/>
          </a:xfrm>
          <a:prstGeom prst="rect">
            <a:avLst/>
          </a:prstGeom>
          <a:solidFill>
            <a:srgbClr val="38761D"/>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pic>
        <p:nvPicPr>
          <p:cNvPr id="415" name="Google Shape;415;p16"/>
          <p:cNvPicPr preferRelativeResize="0"/>
          <p:nvPr/>
        </p:nvPicPr>
        <p:blipFill rotWithShape="1">
          <a:blip r:embed="rId4">
            <a:alphaModFix/>
          </a:blip>
          <a:srcRect b="0" l="0" r="0" t="0"/>
          <a:stretch/>
        </p:blipFill>
        <p:spPr>
          <a:xfrm>
            <a:off x="548347" y="330795"/>
            <a:ext cx="339090" cy="339102"/>
          </a:xfrm>
          <a:prstGeom prst="rect">
            <a:avLst/>
          </a:prstGeom>
          <a:noFill/>
          <a:ln>
            <a:noFill/>
          </a:ln>
        </p:spPr>
      </p:pic>
      <p:sp>
        <p:nvSpPr>
          <p:cNvPr id="416" name="Google Shape;416;p16"/>
          <p:cNvSpPr txBox="1"/>
          <p:nvPr/>
        </p:nvSpPr>
        <p:spPr>
          <a:xfrm>
            <a:off x="4572012" y="748375"/>
            <a:ext cx="4425900" cy="2233800"/>
          </a:xfrm>
          <a:prstGeom prst="rect">
            <a:avLst/>
          </a:prstGeom>
          <a:noFill/>
          <a:ln>
            <a:noFill/>
          </a:ln>
        </p:spPr>
        <p:txBody>
          <a:bodyPr anchorCtr="0" anchor="t" bIns="25700" lIns="51425" spcFirstLastPara="1" rIns="51425" wrap="square" tIns="25700">
            <a:spAutoFit/>
          </a:bodyPr>
          <a:lstStyle/>
          <a:p>
            <a:pPr indent="0" lvl="0" marL="0" marR="0" rtl="0" algn="l">
              <a:lnSpc>
                <a:spcPct val="150000"/>
              </a:lnSpc>
              <a:spcBef>
                <a:spcPts val="0"/>
              </a:spcBef>
              <a:spcAft>
                <a:spcPts val="0"/>
              </a:spcAft>
              <a:buClr>
                <a:srgbClr val="000000"/>
              </a:buClr>
              <a:buSzPts val="1200"/>
              <a:buFont typeface="Arial"/>
              <a:buNone/>
            </a:pPr>
            <a:r>
              <a:rPr b="1" lang="zh-HK" sz="1200">
                <a:solidFill>
                  <a:srgbClr val="212121"/>
                </a:solidFill>
                <a:latin typeface="Times New Roman"/>
                <a:ea typeface="Times New Roman"/>
                <a:cs typeface="Times New Roman"/>
                <a:sym typeface="Times New Roman"/>
              </a:rPr>
              <a:t>IFC</a:t>
            </a:r>
            <a:endParaRPr b="1" i="0" sz="1200" u="none" cap="none" strike="noStrike">
              <a:solidFill>
                <a:srgbClr val="21212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200"/>
              <a:buFont typeface="Arial"/>
              <a:buNone/>
            </a:pPr>
            <a:r>
              <a:rPr i="0" lang="zh-HK" sz="1100" u="none" cap="none" strike="noStrike">
                <a:solidFill>
                  <a:srgbClr val="212121"/>
                </a:solidFill>
                <a:latin typeface="Times New Roman"/>
                <a:ea typeface="Times New Roman"/>
                <a:cs typeface="Times New Roman"/>
                <a:sym typeface="Times New Roman"/>
              </a:rPr>
              <a:t>Pattern: </a:t>
            </a:r>
            <a:r>
              <a:rPr lang="zh-HK" sz="1100">
                <a:solidFill>
                  <a:srgbClr val="212121"/>
                </a:solidFill>
                <a:latin typeface="Times New Roman"/>
                <a:ea typeface="Times New Roman"/>
                <a:cs typeface="Times New Roman"/>
                <a:sym typeface="Times New Roman"/>
              </a:rPr>
              <a:t>4</a:t>
            </a:r>
            <a:r>
              <a:rPr i="0" lang="zh-HK" sz="1100" u="none" cap="none" strike="noStrike">
                <a:solidFill>
                  <a:srgbClr val="212121"/>
                </a:solidFill>
                <a:latin typeface="Times New Roman"/>
                <a:ea typeface="Times New Roman"/>
                <a:cs typeface="Times New Roman"/>
                <a:sym typeface="Times New Roman"/>
              </a:rPr>
              <a:t> articles in Ju</a:t>
            </a:r>
            <a:r>
              <a:rPr lang="zh-HK" sz="1100">
                <a:solidFill>
                  <a:srgbClr val="212121"/>
                </a:solidFill>
                <a:latin typeface="Times New Roman"/>
                <a:ea typeface="Times New Roman"/>
                <a:cs typeface="Times New Roman"/>
                <a:sym typeface="Times New Roman"/>
              </a:rPr>
              <a:t>ly</a:t>
            </a:r>
            <a:r>
              <a:rPr i="0" lang="zh-HK" sz="1100" u="none" cap="none" strike="noStrike">
                <a:solidFill>
                  <a:srgbClr val="212121"/>
                </a:solidFill>
                <a:latin typeface="Times New Roman"/>
                <a:ea typeface="Times New Roman"/>
                <a:cs typeface="Times New Roman"/>
                <a:sym typeface="Times New Roman"/>
              </a:rPr>
              <a:t> with over </a:t>
            </a:r>
            <a:r>
              <a:rPr lang="zh-HK" sz="1100">
                <a:solidFill>
                  <a:srgbClr val="212121"/>
                </a:solidFill>
                <a:latin typeface="Times New Roman"/>
                <a:ea typeface="Times New Roman"/>
                <a:cs typeface="Times New Roman"/>
                <a:sym typeface="Times New Roman"/>
              </a:rPr>
              <a:t>2</a:t>
            </a:r>
            <a:r>
              <a:rPr i="0" lang="zh-HK" sz="1100" u="none" cap="none" strike="noStrike">
                <a:solidFill>
                  <a:srgbClr val="212121"/>
                </a:solidFill>
                <a:latin typeface="Times New Roman"/>
                <a:ea typeface="Times New Roman"/>
                <a:cs typeface="Times New Roman"/>
                <a:sym typeface="Times New Roman"/>
              </a:rPr>
              <a:t>.</a:t>
            </a:r>
            <a:r>
              <a:rPr lang="zh-HK" sz="1100">
                <a:solidFill>
                  <a:srgbClr val="212121"/>
                </a:solidFill>
                <a:latin typeface="Times New Roman"/>
                <a:ea typeface="Times New Roman"/>
                <a:cs typeface="Times New Roman"/>
                <a:sym typeface="Times New Roman"/>
              </a:rPr>
              <a:t>85</a:t>
            </a:r>
            <a:r>
              <a:rPr i="0" lang="zh-HK" sz="1100" u="none" cap="none" strike="noStrike">
                <a:solidFill>
                  <a:srgbClr val="212121"/>
                </a:solidFill>
                <a:latin typeface="Times New Roman"/>
                <a:ea typeface="Times New Roman"/>
                <a:cs typeface="Times New Roman"/>
                <a:sym typeface="Times New Roman"/>
              </a:rPr>
              <a:t>K views</a:t>
            </a:r>
            <a:endParaRPr i="0" sz="1100" u="none" cap="none" strike="noStrike">
              <a:solidFill>
                <a:srgbClr val="21212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200"/>
              <a:buFont typeface="Arial"/>
              <a:buNone/>
            </a:pPr>
            <a:r>
              <a:rPr i="0" lang="zh-HK" sz="1100" u="none" cap="none" strike="noStrike">
                <a:solidFill>
                  <a:srgbClr val="212121"/>
                </a:solidFill>
                <a:latin typeface="Times New Roman"/>
                <a:ea typeface="Times New Roman"/>
                <a:cs typeface="Times New Roman"/>
                <a:sym typeface="Times New Roman"/>
              </a:rPr>
              <a:t>Content pillars:  </a:t>
            </a:r>
            <a:r>
              <a:rPr i="0" lang="zh-HK" sz="1100" u="none" cap="none" strike="noStrike">
                <a:solidFill>
                  <a:srgbClr val="0F1115"/>
                </a:solidFill>
                <a:highlight>
                  <a:srgbClr val="FFFFFF"/>
                </a:highlight>
                <a:latin typeface="Times New Roman"/>
                <a:ea typeface="Times New Roman"/>
                <a:cs typeface="Times New Roman"/>
                <a:sym typeface="Times New Roman"/>
              </a:rPr>
              <a:t>IP Events, F&amp;B, Fashion, Lifestyle</a:t>
            </a:r>
            <a:endParaRPr i="0" sz="1100" u="none" cap="none" strike="noStrike">
              <a:solidFill>
                <a:srgbClr val="21212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200"/>
              <a:buFont typeface="Arial"/>
              <a:buNone/>
            </a:pPr>
            <a:r>
              <a:rPr b="1" i="0" lang="zh-HK" sz="1100" u="none" cap="none" strike="noStrike">
                <a:solidFill>
                  <a:srgbClr val="212121"/>
                </a:solidFill>
                <a:latin typeface="Times New Roman"/>
                <a:ea typeface="Times New Roman"/>
                <a:cs typeface="Times New Roman"/>
                <a:sym typeface="Times New Roman"/>
              </a:rPr>
              <a:t>Post analysis-</a:t>
            </a:r>
            <a:r>
              <a:rPr i="0" lang="zh-HK" sz="1100" u="none" cap="none" strike="noStrike">
                <a:solidFill>
                  <a:srgbClr val="212121"/>
                </a:solidFill>
                <a:latin typeface="Times New Roman"/>
                <a:ea typeface="Times New Roman"/>
                <a:cs typeface="Times New Roman"/>
                <a:sym typeface="Times New Roman"/>
              </a:rPr>
              <a:t> </a:t>
            </a:r>
            <a:r>
              <a:rPr lang="zh-HK" sz="1100" u="sng">
                <a:solidFill>
                  <a:schemeClr val="hlink"/>
                </a:solidFill>
                <a:highlight>
                  <a:srgbClr val="FFFFFF"/>
                </a:highlight>
                <a:latin typeface="Times New Roman"/>
                <a:ea typeface="Times New Roman"/>
                <a:cs typeface="Times New Roman"/>
                <a:sym typeface="Times New Roman"/>
                <a:hlinkClick r:id="rId5"/>
              </a:rPr>
              <a:t>本命穿搭｜先有性格，再有风格</a:t>
            </a:r>
            <a:endParaRPr sz="1100">
              <a:solidFill>
                <a:srgbClr val="212121"/>
              </a:solidFill>
              <a:highlight>
                <a:srgbClr val="FFFFFF"/>
              </a:highlight>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rgbClr val="1C1C1C"/>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Used </a:t>
            </a:r>
            <a:r>
              <a:rPr lang="zh-HK" sz="1100">
                <a:solidFill>
                  <a:srgbClr val="0F1115"/>
                </a:solidFill>
                <a:highlight>
                  <a:srgbClr val="FFFFFF"/>
                </a:highlight>
                <a:latin typeface="Times New Roman"/>
                <a:ea typeface="Times New Roman"/>
                <a:cs typeface="Times New Roman"/>
                <a:sym typeface="Times New Roman"/>
              </a:rPr>
              <a:t>"personal style</a:t>
            </a:r>
            <a:r>
              <a:rPr lang="zh-HK" sz="1100">
                <a:solidFill>
                  <a:srgbClr val="0F1115"/>
                </a:solidFill>
                <a:highlight>
                  <a:srgbClr val="FFFFFF"/>
                </a:highlight>
                <a:latin typeface="Times New Roman"/>
                <a:ea typeface="Times New Roman"/>
                <a:cs typeface="Times New Roman"/>
                <a:sym typeface="Times New Roman"/>
              </a:rPr>
              <a:t>" as the thematic hook with trending keyword "本命" in the headline</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Curated 4 brands across different aesthetics and presented them as a style guide rather than a product push</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Positioned ifc as a destination for fashion and self-expression, appealing to shoppers who value taste over trends</a:t>
            </a:r>
            <a:endParaRPr b="0" i="0" sz="1200" u="none" cap="none" strike="noStrike">
              <a:solidFill>
                <a:srgbClr val="212121"/>
              </a:solidFill>
              <a:highlight>
                <a:srgbClr val="FFFFFF"/>
              </a:highlight>
              <a:latin typeface="Times New Roman"/>
              <a:ea typeface="Times New Roman"/>
              <a:cs typeface="Times New Roman"/>
              <a:sym typeface="Times New Roman"/>
            </a:endParaRPr>
          </a:p>
        </p:txBody>
      </p:sp>
      <p:sp>
        <p:nvSpPr>
          <p:cNvPr id="417" name="Google Shape;417;p16"/>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418" name="Google Shape;418;p16"/>
          <p:cNvPicPr preferRelativeResize="0"/>
          <p:nvPr/>
        </p:nvPicPr>
        <p:blipFill rotWithShape="1">
          <a:blip r:embed="rId6">
            <a:alphaModFix/>
          </a:blip>
          <a:srcRect b="21020" l="14061" r="17215" t="26140"/>
          <a:stretch/>
        </p:blipFill>
        <p:spPr>
          <a:xfrm>
            <a:off x="8094845" y="162433"/>
            <a:ext cx="1049154" cy="423511"/>
          </a:xfrm>
          <a:prstGeom prst="rect">
            <a:avLst/>
          </a:prstGeom>
          <a:noFill/>
          <a:ln>
            <a:noFill/>
          </a:ln>
        </p:spPr>
      </p:pic>
      <p:pic>
        <p:nvPicPr>
          <p:cNvPr id="419" name="Google Shape;419;p16"/>
          <p:cNvPicPr preferRelativeResize="0"/>
          <p:nvPr/>
        </p:nvPicPr>
        <p:blipFill>
          <a:blip r:embed="rId7">
            <a:alphaModFix/>
          </a:blip>
          <a:stretch>
            <a:fillRect/>
          </a:stretch>
        </p:blipFill>
        <p:spPr>
          <a:xfrm>
            <a:off x="677467" y="3256400"/>
            <a:ext cx="1383270" cy="1758274"/>
          </a:xfrm>
          <a:prstGeom prst="rect">
            <a:avLst/>
          </a:prstGeom>
          <a:noFill/>
          <a:ln>
            <a:noFill/>
          </a:ln>
        </p:spPr>
      </p:pic>
      <p:pic>
        <p:nvPicPr>
          <p:cNvPr id="420" name="Google Shape;420;p16"/>
          <p:cNvPicPr preferRelativeResize="0"/>
          <p:nvPr/>
        </p:nvPicPr>
        <p:blipFill>
          <a:blip r:embed="rId8">
            <a:alphaModFix/>
          </a:blip>
          <a:stretch>
            <a:fillRect/>
          </a:stretch>
        </p:blipFill>
        <p:spPr>
          <a:xfrm>
            <a:off x="2166183" y="3254893"/>
            <a:ext cx="1383274" cy="1761533"/>
          </a:xfrm>
          <a:prstGeom prst="rect">
            <a:avLst/>
          </a:prstGeom>
          <a:noFill/>
          <a:ln>
            <a:noFill/>
          </a:ln>
        </p:spPr>
      </p:pic>
      <p:pic>
        <p:nvPicPr>
          <p:cNvPr id="421" name="Google Shape;421;p16"/>
          <p:cNvPicPr preferRelativeResize="0"/>
          <p:nvPr/>
        </p:nvPicPr>
        <p:blipFill>
          <a:blip r:embed="rId9">
            <a:alphaModFix/>
          </a:blip>
          <a:stretch>
            <a:fillRect/>
          </a:stretch>
        </p:blipFill>
        <p:spPr>
          <a:xfrm>
            <a:off x="5320484" y="3119175"/>
            <a:ext cx="1251392" cy="1893752"/>
          </a:xfrm>
          <a:prstGeom prst="rect">
            <a:avLst/>
          </a:prstGeom>
          <a:noFill/>
          <a:ln>
            <a:noFill/>
          </a:ln>
        </p:spPr>
      </p:pic>
      <p:pic>
        <p:nvPicPr>
          <p:cNvPr id="422" name="Google Shape;422;p16"/>
          <p:cNvPicPr preferRelativeResize="0"/>
          <p:nvPr/>
        </p:nvPicPr>
        <p:blipFill>
          <a:blip r:embed="rId10">
            <a:alphaModFix/>
          </a:blip>
          <a:stretch>
            <a:fillRect/>
          </a:stretch>
        </p:blipFill>
        <p:spPr>
          <a:xfrm>
            <a:off x="6622850" y="3119175"/>
            <a:ext cx="994000" cy="1897216"/>
          </a:xfrm>
          <a:prstGeom prst="rect">
            <a:avLst/>
          </a:prstGeom>
          <a:noFill/>
          <a:ln>
            <a:noFill/>
          </a:ln>
        </p:spPr>
      </p:pic>
      <p:pic>
        <p:nvPicPr>
          <p:cNvPr id="423" name="Google Shape;423;p16"/>
          <p:cNvPicPr preferRelativeResize="0"/>
          <p:nvPr/>
        </p:nvPicPr>
        <p:blipFill>
          <a:blip r:embed="rId11">
            <a:alphaModFix/>
          </a:blip>
          <a:stretch>
            <a:fillRect/>
          </a:stretch>
        </p:blipFill>
        <p:spPr>
          <a:xfrm>
            <a:off x="7667825" y="3119175"/>
            <a:ext cx="994001" cy="192230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17"/>
          <p:cNvSpPr txBox="1"/>
          <p:nvPr/>
        </p:nvSpPr>
        <p:spPr>
          <a:xfrm>
            <a:off x="887425" y="234913"/>
            <a:ext cx="4521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Competitors Analysis - Channel </a:t>
            </a:r>
            <a:endParaRPr b="1" i="0" sz="2000" u="none" cap="none" strike="noStrike">
              <a:solidFill>
                <a:schemeClr val="dk1"/>
              </a:solidFill>
              <a:latin typeface="Times New Roman"/>
              <a:ea typeface="Times New Roman"/>
              <a:cs typeface="Times New Roman"/>
              <a:sym typeface="Times New Roman"/>
            </a:endParaRPr>
          </a:p>
        </p:txBody>
      </p:sp>
      <p:sp>
        <p:nvSpPr>
          <p:cNvPr id="429" name="Google Shape;429;p17"/>
          <p:cNvSpPr/>
          <p:nvPr/>
        </p:nvSpPr>
        <p:spPr>
          <a:xfrm>
            <a:off x="395027" y="359057"/>
            <a:ext cx="42900" cy="282600"/>
          </a:xfrm>
          <a:prstGeom prst="rect">
            <a:avLst/>
          </a:prstGeom>
          <a:solidFill>
            <a:srgbClr val="38761D"/>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pic>
        <p:nvPicPr>
          <p:cNvPr id="430" name="Google Shape;430;p17" title="a697a07488e44c8c8c06bebbaeb5ef46.png"/>
          <p:cNvPicPr preferRelativeResize="0"/>
          <p:nvPr/>
        </p:nvPicPr>
        <p:blipFill rotWithShape="1">
          <a:blip r:embed="rId3">
            <a:alphaModFix/>
          </a:blip>
          <a:srcRect b="0" l="278" r="268" t="0"/>
          <a:stretch/>
        </p:blipFill>
        <p:spPr>
          <a:xfrm>
            <a:off x="533025" y="282712"/>
            <a:ext cx="394818" cy="397000"/>
          </a:xfrm>
          <a:prstGeom prst="rect">
            <a:avLst/>
          </a:prstGeom>
          <a:noFill/>
          <a:ln>
            <a:noFill/>
          </a:ln>
        </p:spPr>
      </p:pic>
      <p:sp>
        <p:nvSpPr>
          <p:cNvPr id="431" name="Google Shape;431;p17"/>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432" name="Google Shape;432;p17"/>
          <p:cNvPicPr preferRelativeResize="0"/>
          <p:nvPr/>
        </p:nvPicPr>
        <p:blipFill rotWithShape="1">
          <a:blip r:embed="rId4">
            <a:alphaModFix/>
          </a:blip>
          <a:srcRect b="21020" l="14063" r="17215" t="26140"/>
          <a:stretch/>
        </p:blipFill>
        <p:spPr>
          <a:xfrm>
            <a:off x="8094845" y="162433"/>
            <a:ext cx="1049155" cy="423511"/>
          </a:xfrm>
          <a:prstGeom prst="rect">
            <a:avLst/>
          </a:prstGeom>
          <a:noFill/>
          <a:ln>
            <a:noFill/>
          </a:ln>
        </p:spPr>
      </p:pic>
      <p:sp>
        <p:nvSpPr>
          <p:cNvPr id="433" name="Google Shape;433;p17"/>
          <p:cNvSpPr txBox="1"/>
          <p:nvPr/>
        </p:nvSpPr>
        <p:spPr>
          <a:xfrm>
            <a:off x="3213900" y="3907913"/>
            <a:ext cx="2880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7"/>
          <p:cNvSpPr txBox="1"/>
          <p:nvPr/>
        </p:nvSpPr>
        <p:spPr>
          <a:xfrm>
            <a:off x="307550" y="3676075"/>
            <a:ext cx="3644700" cy="1327500"/>
          </a:xfrm>
          <a:prstGeom prst="rect">
            <a:avLst/>
          </a:prstGeom>
          <a:noFill/>
          <a:ln>
            <a:noFill/>
          </a:ln>
        </p:spPr>
        <p:txBody>
          <a:bodyPr anchorCtr="0" anchor="t" bIns="91425" lIns="91425" spcFirstLastPara="1" rIns="91425" wrap="square" tIns="91425">
            <a:spAutoFit/>
          </a:bodyPr>
          <a:lstStyle/>
          <a:p>
            <a:pPr indent="-298450" lvl="0" marL="457200" marR="0" rtl="0" algn="just">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Used "summer heat" and "ice cream cravings" to curate 7 dessert spots, positioning AIRSIDE as a one-stop dessert destination</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just">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Turned a sweet treat into a food-hopping 种草 experience, attracting families, couples, and young shoppers</a:t>
            </a:r>
            <a:endParaRPr sz="1100">
              <a:solidFill>
                <a:srgbClr val="0F1115"/>
              </a:solidFill>
              <a:highlight>
                <a:srgbClr val="FFFFFF"/>
              </a:highlight>
              <a:latin typeface="Times New Roman"/>
              <a:ea typeface="Times New Roman"/>
              <a:cs typeface="Times New Roman"/>
              <a:sym typeface="Times New Roman"/>
            </a:endParaRPr>
          </a:p>
        </p:txBody>
      </p:sp>
      <p:sp>
        <p:nvSpPr>
          <p:cNvPr id="435" name="Google Shape;435;p17"/>
          <p:cNvSpPr txBox="1"/>
          <p:nvPr/>
        </p:nvSpPr>
        <p:spPr>
          <a:xfrm>
            <a:off x="464307" y="3164000"/>
            <a:ext cx="34878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100"/>
              <a:buFont typeface="Arial"/>
              <a:buNone/>
            </a:pPr>
            <a:r>
              <a:rPr b="1" lang="zh-HK" sz="1100">
                <a:solidFill>
                  <a:srgbClr val="212121"/>
                </a:solidFill>
                <a:latin typeface="Times New Roman"/>
                <a:ea typeface="Times New Roman"/>
                <a:cs typeface="Times New Roman"/>
                <a:sym typeface="Times New Roman"/>
              </a:rPr>
              <a:t>AIRSIDE</a:t>
            </a:r>
            <a:r>
              <a:rPr b="1" i="0" lang="zh-HK" sz="1100" u="none" cap="none" strike="noStrike">
                <a:solidFill>
                  <a:srgbClr val="212121"/>
                </a:solidFill>
                <a:latin typeface="Times New Roman"/>
                <a:ea typeface="Times New Roman"/>
                <a:cs typeface="Times New Roman"/>
                <a:sym typeface="Times New Roman"/>
              </a:rPr>
              <a:t>: </a:t>
            </a:r>
            <a:r>
              <a:rPr b="1" lang="zh-HK" sz="1100">
                <a:solidFill>
                  <a:srgbClr val="212121"/>
                </a:solidFill>
                <a:latin typeface="Times New Roman"/>
                <a:ea typeface="Times New Roman"/>
                <a:cs typeface="Times New Roman"/>
                <a:sym typeface="Times New Roman"/>
              </a:rPr>
              <a:t>9</a:t>
            </a:r>
            <a:r>
              <a:rPr b="1" i="0" lang="zh-HK" sz="1100" u="none" cap="none" strike="noStrike">
                <a:solidFill>
                  <a:srgbClr val="212121"/>
                </a:solidFill>
                <a:latin typeface="Times New Roman"/>
                <a:ea typeface="Times New Roman"/>
                <a:cs typeface="Times New Roman"/>
                <a:sym typeface="Times New Roman"/>
              </a:rPr>
              <a:t> x Videos</a:t>
            </a:r>
            <a:endParaRPr b="1" i="0" sz="1100" u="none" cap="none" strike="noStrike">
              <a:solidFill>
                <a:srgbClr val="21212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200"/>
              <a:buFont typeface="Arial"/>
              <a:buNone/>
            </a:pPr>
            <a:r>
              <a:rPr b="1" i="0" lang="zh-HK" sz="1100" u="none" cap="none" strike="noStrike">
                <a:solidFill>
                  <a:srgbClr val="212121"/>
                </a:solidFill>
                <a:latin typeface="Times New Roman"/>
                <a:ea typeface="Times New Roman"/>
                <a:cs typeface="Times New Roman"/>
                <a:sym typeface="Times New Roman"/>
              </a:rPr>
              <a:t>Content pillars: IP Event, </a:t>
            </a:r>
            <a:r>
              <a:rPr b="1" lang="zh-HK" sz="1100">
                <a:solidFill>
                  <a:srgbClr val="212121"/>
                </a:solidFill>
                <a:latin typeface="Times New Roman"/>
                <a:ea typeface="Times New Roman"/>
                <a:cs typeface="Times New Roman"/>
                <a:sym typeface="Times New Roman"/>
              </a:rPr>
              <a:t>Shopping Guide, F&amp;B</a:t>
            </a:r>
            <a:endParaRPr b="0" i="0" sz="1100" u="none" cap="none" strike="noStrike">
              <a:solidFill>
                <a:srgbClr val="000000"/>
              </a:solidFill>
              <a:latin typeface="Arial"/>
              <a:ea typeface="Arial"/>
              <a:cs typeface="Arial"/>
              <a:sym typeface="Arial"/>
            </a:endParaRPr>
          </a:p>
        </p:txBody>
      </p:sp>
      <p:sp>
        <p:nvSpPr>
          <p:cNvPr id="436" name="Google Shape;436;p17"/>
          <p:cNvSpPr txBox="1"/>
          <p:nvPr/>
        </p:nvSpPr>
        <p:spPr>
          <a:xfrm>
            <a:off x="5107389" y="3152869"/>
            <a:ext cx="38556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100"/>
              <a:buFont typeface="Arial"/>
              <a:buNone/>
            </a:pPr>
            <a:r>
              <a:rPr b="1" lang="zh-HK" sz="1100">
                <a:solidFill>
                  <a:srgbClr val="474747"/>
                </a:solidFill>
                <a:highlight>
                  <a:srgbClr val="FFFFFF"/>
                </a:highlight>
                <a:latin typeface="Times New Roman"/>
                <a:ea typeface="Times New Roman"/>
                <a:cs typeface="Times New Roman"/>
                <a:sym typeface="Times New Roman"/>
              </a:rPr>
              <a:t>YOHO</a:t>
            </a:r>
            <a:r>
              <a:rPr b="0" i="0" lang="zh-HK" sz="1100" u="none" cap="none" strike="noStrike">
                <a:solidFill>
                  <a:srgbClr val="000000"/>
                </a:solidFill>
                <a:latin typeface="Times New Roman"/>
                <a:ea typeface="Times New Roman"/>
                <a:cs typeface="Times New Roman"/>
                <a:sym typeface="Times New Roman"/>
              </a:rPr>
              <a:t> </a:t>
            </a:r>
            <a:r>
              <a:rPr b="1" i="0" lang="zh-HK" sz="1100" u="none" cap="none" strike="noStrike">
                <a:solidFill>
                  <a:srgbClr val="212121"/>
                </a:solidFill>
                <a:latin typeface="Times New Roman"/>
                <a:ea typeface="Times New Roman"/>
                <a:cs typeface="Times New Roman"/>
                <a:sym typeface="Times New Roman"/>
              </a:rPr>
              <a:t>: 3 x Videos</a:t>
            </a:r>
            <a:endParaRPr b="1" i="0" sz="1100" u="none" cap="none" strike="noStrike">
              <a:solidFill>
                <a:srgbClr val="21212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200"/>
              <a:buFont typeface="Arial"/>
              <a:buNone/>
            </a:pPr>
            <a:r>
              <a:rPr b="1" i="0" lang="zh-HK" sz="1100" u="none" cap="none" strike="noStrike">
                <a:solidFill>
                  <a:srgbClr val="212121"/>
                </a:solidFill>
                <a:latin typeface="Times New Roman"/>
                <a:ea typeface="Times New Roman"/>
                <a:cs typeface="Times New Roman"/>
                <a:sym typeface="Times New Roman"/>
              </a:rPr>
              <a:t>Content pillars: </a:t>
            </a:r>
            <a:r>
              <a:rPr lang="zh-HK" sz="1100">
                <a:solidFill>
                  <a:srgbClr val="0F1115"/>
                </a:solidFill>
                <a:highlight>
                  <a:srgbClr val="FFFFFF"/>
                </a:highlight>
                <a:latin typeface="Times New Roman"/>
                <a:ea typeface="Times New Roman"/>
                <a:cs typeface="Times New Roman"/>
                <a:sym typeface="Times New Roman"/>
              </a:rPr>
              <a:t>Travel Guide, F&amp;B, Lifestyle</a:t>
            </a:r>
            <a:endParaRPr b="1" i="0" sz="1100" u="none" cap="none" strike="noStrike">
              <a:solidFill>
                <a:srgbClr val="000000"/>
              </a:solidFill>
              <a:latin typeface="Times New Roman"/>
              <a:ea typeface="Times New Roman"/>
              <a:cs typeface="Times New Roman"/>
              <a:sym typeface="Times New Roman"/>
            </a:endParaRPr>
          </a:p>
        </p:txBody>
      </p:sp>
      <p:sp>
        <p:nvSpPr>
          <p:cNvPr id="437" name="Google Shape;437;p17"/>
          <p:cNvSpPr txBox="1"/>
          <p:nvPr/>
        </p:nvSpPr>
        <p:spPr>
          <a:xfrm>
            <a:off x="4961999" y="3665492"/>
            <a:ext cx="3855600" cy="11328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Transformed an in-mall Sanrio IP event into a "Yuen Long travel guide" with 7 check-in installations</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just">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Combined location-based storytelling, photo guidance, and spend-and-redeem rewards to shorten the path from discovery to in-store dining, driving foot traffic and F&amp;B </a:t>
            </a:r>
            <a:endParaRPr sz="1100">
              <a:solidFill>
                <a:srgbClr val="0F1115"/>
              </a:solidFill>
              <a:highlight>
                <a:srgbClr val="FFFFFF"/>
              </a:highlight>
              <a:latin typeface="Times New Roman"/>
              <a:ea typeface="Times New Roman"/>
              <a:cs typeface="Times New Roman"/>
              <a:sym typeface="Times New Roman"/>
            </a:endParaRPr>
          </a:p>
        </p:txBody>
      </p:sp>
      <p:pic>
        <p:nvPicPr>
          <p:cNvPr id="438" name="Google Shape;438;p17"/>
          <p:cNvPicPr preferRelativeResize="0"/>
          <p:nvPr/>
        </p:nvPicPr>
        <p:blipFill>
          <a:blip r:embed="rId5">
            <a:alphaModFix/>
          </a:blip>
          <a:stretch>
            <a:fillRect/>
          </a:stretch>
        </p:blipFill>
        <p:spPr>
          <a:xfrm>
            <a:off x="1446630" y="977900"/>
            <a:ext cx="1619420" cy="2100275"/>
          </a:xfrm>
          <a:prstGeom prst="rect">
            <a:avLst/>
          </a:prstGeom>
          <a:noFill/>
          <a:ln>
            <a:noFill/>
          </a:ln>
        </p:spPr>
      </p:pic>
      <p:pic>
        <p:nvPicPr>
          <p:cNvPr id="439" name="Google Shape;439;p17"/>
          <p:cNvPicPr preferRelativeResize="0"/>
          <p:nvPr/>
        </p:nvPicPr>
        <p:blipFill>
          <a:blip r:embed="rId6">
            <a:alphaModFix/>
          </a:blip>
          <a:stretch>
            <a:fillRect/>
          </a:stretch>
        </p:blipFill>
        <p:spPr>
          <a:xfrm>
            <a:off x="3056525" y="977905"/>
            <a:ext cx="1285999" cy="2100280"/>
          </a:xfrm>
          <a:prstGeom prst="rect">
            <a:avLst/>
          </a:prstGeom>
          <a:noFill/>
          <a:ln>
            <a:noFill/>
          </a:ln>
        </p:spPr>
      </p:pic>
      <p:pic>
        <p:nvPicPr>
          <p:cNvPr id="440" name="Google Shape;440;p17"/>
          <p:cNvPicPr preferRelativeResize="0"/>
          <p:nvPr/>
        </p:nvPicPr>
        <p:blipFill>
          <a:blip r:embed="rId7">
            <a:alphaModFix/>
          </a:blip>
          <a:stretch>
            <a:fillRect/>
          </a:stretch>
        </p:blipFill>
        <p:spPr>
          <a:xfrm>
            <a:off x="307550" y="977900"/>
            <a:ext cx="1148588" cy="2100275"/>
          </a:xfrm>
          <a:prstGeom prst="rect">
            <a:avLst/>
          </a:prstGeom>
          <a:noFill/>
          <a:ln>
            <a:noFill/>
          </a:ln>
        </p:spPr>
      </p:pic>
      <p:pic>
        <p:nvPicPr>
          <p:cNvPr id="441" name="Google Shape;441;p17"/>
          <p:cNvPicPr preferRelativeResize="0"/>
          <p:nvPr/>
        </p:nvPicPr>
        <p:blipFill>
          <a:blip r:embed="rId8">
            <a:alphaModFix/>
          </a:blip>
          <a:stretch>
            <a:fillRect/>
          </a:stretch>
        </p:blipFill>
        <p:spPr>
          <a:xfrm>
            <a:off x="4877799" y="977900"/>
            <a:ext cx="1226516" cy="2100275"/>
          </a:xfrm>
          <a:prstGeom prst="rect">
            <a:avLst/>
          </a:prstGeom>
          <a:noFill/>
          <a:ln>
            <a:noFill/>
          </a:ln>
        </p:spPr>
      </p:pic>
      <p:pic>
        <p:nvPicPr>
          <p:cNvPr id="442" name="Google Shape;442;p17"/>
          <p:cNvPicPr preferRelativeResize="0"/>
          <p:nvPr/>
        </p:nvPicPr>
        <p:blipFill>
          <a:blip r:embed="rId9">
            <a:alphaModFix/>
          </a:blip>
          <a:stretch>
            <a:fillRect/>
          </a:stretch>
        </p:blipFill>
        <p:spPr>
          <a:xfrm>
            <a:off x="6036650" y="988050"/>
            <a:ext cx="1586163" cy="2080000"/>
          </a:xfrm>
          <a:prstGeom prst="rect">
            <a:avLst/>
          </a:prstGeom>
          <a:noFill/>
          <a:ln>
            <a:noFill/>
          </a:ln>
        </p:spPr>
      </p:pic>
      <p:pic>
        <p:nvPicPr>
          <p:cNvPr id="443" name="Google Shape;443;p17"/>
          <p:cNvPicPr preferRelativeResize="0"/>
          <p:nvPr/>
        </p:nvPicPr>
        <p:blipFill>
          <a:blip r:embed="rId10">
            <a:alphaModFix/>
          </a:blip>
          <a:stretch>
            <a:fillRect/>
          </a:stretch>
        </p:blipFill>
        <p:spPr>
          <a:xfrm>
            <a:off x="7622825" y="988062"/>
            <a:ext cx="1226524" cy="2080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8"/>
          <p:cNvSpPr txBox="1"/>
          <p:nvPr/>
        </p:nvSpPr>
        <p:spPr>
          <a:xfrm>
            <a:off x="887425" y="234913"/>
            <a:ext cx="4521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Competitors Analysis - Douyin </a:t>
            </a:r>
            <a:endParaRPr b="1" i="0" sz="2000" u="none" cap="none" strike="noStrike">
              <a:solidFill>
                <a:schemeClr val="dk1"/>
              </a:solidFill>
              <a:latin typeface="Times New Roman"/>
              <a:ea typeface="Times New Roman"/>
              <a:cs typeface="Times New Roman"/>
              <a:sym typeface="Times New Roman"/>
            </a:endParaRPr>
          </a:p>
        </p:txBody>
      </p:sp>
      <p:sp>
        <p:nvSpPr>
          <p:cNvPr id="449" name="Google Shape;449;p18"/>
          <p:cNvSpPr/>
          <p:nvPr/>
        </p:nvSpPr>
        <p:spPr>
          <a:xfrm>
            <a:off x="395027" y="359057"/>
            <a:ext cx="42900" cy="282600"/>
          </a:xfrm>
          <a:prstGeom prst="rect">
            <a:avLst/>
          </a:prstGeom>
          <a:solidFill>
            <a:srgbClr val="38761D"/>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pic>
        <p:nvPicPr>
          <p:cNvPr id="450" name="Google Shape;450;p18"/>
          <p:cNvPicPr preferRelativeResize="0"/>
          <p:nvPr/>
        </p:nvPicPr>
        <p:blipFill rotWithShape="1">
          <a:blip r:embed="rId3">
            <a:alphaModFix/>
          </a:blip>
          <a:srcRect b="21815" l="32544" r="32537" t="22001"/>
          <a:stretch/>
        </p:blipFill>
        <p:spPr>
          <a:xfrm>
            <a:off x="496975" y="314600"/>
            <a:ext cx="394818" cy="396999"/>
          </a:xfrm>
          <a:prstGeom prst="rect">
            <a:avLst/>
          </a:prstGeom>
          <a:noFill/>
          <a:ln>
            <a:noFill/>
          </a:ln>
        </p:spPr>
      </p:pic>
      <p:sp>
        <p:nvSpPr>
          <p:cNvPr id="451" name="Google Shape;451;p18"/>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452" name="Google Shape;452;p18"/>
          <p:cNvPicPr preferRelativeResize="0"/>
          <p:nvPr/>
        </p:nvPicPr>
        <p:blipFill rotWithShape="1">
          <a:blip r:embed="rId4">
            <a:alphaModFix/>
          </a:blip>
          <a:srcRect b="21020" l="14063" r="17215" t="26140"/>
          <a:stretch/>
        </p:blipFill>
        <p:spPr>
          <a:xfrm>
            <a:off x="8094845" y="162433"/>
            <a:ext cx="1049155" cy="423511"/>
          </a:xfrm>
          <a:prstGeom prst="rect">
            <a:avLst/>
          </a:prstGeom>
          <a:noFill/>
          <a:ln>
            <a:noFill/>
          </a:ln>
        </p:spPr>
      </p:pic>
      <p:sp>
        <p:nvSpPr>
          <p:cNvPr id="453" name="Google Shape;453;p18"/>
          <p:cNvSpPr txBox="1"/>
          <p:nvPr/>
        </p:nvSpPr>
        <p:spPr>
          <a:xfrm>
            <a:off x="220800" y="3780158"/>
            <a:ext cx="3738300" cy="11328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This video urned the mall into an 80s/90s Hong Kong playground with retro sets, snacks, games, and Cantopop parties</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just">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Evoked childhood memories to drive engagement with local families, millennials, and young shoppers</a:t>
            </a:r>
            <a:endParaRPr sz="1100">
              <a:solidFill>
                <a:srgbClr val="0F1115"/>
              </a:solidFill>
              <a:highlight>
                <a:srgbClr val="FFFFFF"/>
              </a:highlight>
              <a:latin typeface="Times New Roman"/>
              <a:ea typeface="Times New Roman"/>
              <a:cs typeface="Times New Roman"/>
              <a:sym typeface="Times New Roman"/>
            </a:endParaRPr>
          </a:p>
        </p:txBody>
      </p:sp>
      <p:sp>
        <p:nvSpPr>
          <p:cNvPr id="454" name="Google Shape;454;p18"/>
          <p:cNvSpPr txBox="1"/>
          <p:nvPr/>
        </p:nvSpPr>
        <p:spPr>
          <a:xfrm>
            <a:off x="4695825" y="3780233"/>
            <a:ext cx="4027800" cy="1132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This video positioned K11 MUSEA as an art destination through L'ÉCOLE jewellery exhibition, not retail</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Made high-end art accessible via workshops, masterclasses, and a scavenger hunt, captivating art lovers, families, and culturally curious travellers</a:t>
            </a:r>
            <a:endParaRPr sz="1100">
              <a:solidFill>
                <a:srgbClr val="0F1115"/>
              </a:solidFill>
              <a:highlight>
                <a:srgbClr val="FFFFFF"/>
              </a:highlight>
              <a:latin typeface="Times New Roman"/>
              <a:ea typeface="Times New Roman"/>
              <a:cs typeface="Times New Roman"/>
              <a:sym typeface="Times New Roman"/>
            </a:endParaRPr>
          </a:p>
        </p:txBody>
      </p:sp>
      <p:sp>
        <p:nvSpPr>
          <p:cNvPr id="455" name="Google Shape;455;p18"/>
          <p:cNvSpPr txBox="1"/>
          <p:nvPr/>
        </p:nvSpPr>
        <p:spPr>
          <a:xfrm>
            <a:off x="376382" y="3447771"/>
            <a:ext cx="2821500" cy="354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100"/>
              <a:buFont typeface="Arial"/>
              <a:buNone/>
            </a:pPr>
            <a:r>
              <a:rPr b="1" i="0" lang="zh-HK" sz="1100" u="none" cap="none" strike="noStrike">
                <a:solidFill>
                  <a:srgbClr val="212121"/>
                </a:solidFill>
                <a:latin typeface="Times New Roman"/>
                <a:ea typeface="Times New Roman"/>
                <a:cs typeface="Times New Roman"/>
                <a:sym typeface="Times New Roman"/>
              </a:rPr>
              <a:t>New Town Plaza: </a:t>
            </a:r>
            <a:r>
              <a:rPr b="1" lang="zh-HK" sz="1100">
                <a:solidFill>
                  <a:srgbClr val="212121"/>
                </a:solidFill>
                <a:latin typeface="Times New Roman"/>
                <a:ea typeface="Times New Roman"/>
                <a:cs typeface="Times New Roman"/>
                <a:sym typeface="Times New Roman"/>
              </a:rPr>
              <a:t>4</a:t>
            </a:r>
            <a:r>
              <a:rPr b="1" i="0" lang="zh-HK" sz="1100" u="none" cap="none" strike="noStrike">
                <a:solidFill>
                  <a:srgbClr val="212121"/>
                </a:solidFill>
                <a:latin typeface="Times New Roman"/>
                <a:ea typeface="Times New Roman"/>
                <a:cs typeface="Times New Roman"/>
                <a:sym typeface="Times New Roman"/>
              </a:rPr>
              <a:t> x Videos</a:t>
            </a:r>
            <a:endParaRPr b="0" i="0" sz="1400" u="none" cap="none" strike="noStrike">
              <a:solidFill>
                <a:srgbClr val="000000"/>
              </a:solidFill>
              <a:latin typeface="Arial"/>
              <a:ea typeface="Arial"/>
              <a:cs typeface="Arial"/>
              <a:sym typeface="Arial"/>
            </a:endParaRPr>
          </a:p>
        </p:txBody>
      </p:sp>
      <p:sp>
        <p:nvSpPr>
          <p:cNvPr id="456" name="Google Shape;456;p18"/>
          <p:cNvSpPr txBox="1"/>
          <p:nvPr/>
        </p:nvSpPr>
        <p:spPr>
          <a:xfrm>
            <a:off x="5173338" y="3383816"/>
            <a:ext cx="2821500" cy="354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100"/>
              <a:buFont typeface="Arial"/>
              <a:buNone/>
            </a:pPr>
            <a:r>
              <a:rPr b="1" i="0" lang="zh-HK" sz="1100" u="none" cap="none" strike="noStrike">
                <a:solidFill>
                  <a:srgbClr val="212121"/>
                </a:solidFill>
                <a:latin typeface="Times New Roman"/>
                <a:ea typeface="Times New Roman"/>
                <a:cs typeface="Times New Roman"/>
                <a:sym typeface="Times New Roman"/>
              </a:rPr>
              <a:t>K11 MUSEA: 2 x Videos</a:t>
            </a:r>
            <a:endParaRPr b="0" i="0" sz="1400" u="none" cap="none" strike="noStrike">
              <a:solidFill>
                <a:srgbClr val="000000"/>
              </a:solidFill>
              <a:latin typeface="Arial"/>
              <a:ea typeface="Arial"/>
              <a:cs typeface="Arial"/>
              <a:sym typeface="Arial"/>
            </a:endParaRPr>
          </a:p>
        </p:txBody>
      </p:sp>
      <p:pic>
        <p:nvPicPr>
          <p:cNvPr id="457" name="Google Shape;457;p18"/>
          <p:cNvPicPr preferRelativeResize="0"/>
          <p:nvPr/>
        </p:nvPicPr>
        <p:blipFill>
          <a:blip r:embed="rId5">
            <a:alphaModFix/>
          </a:blip>
          <a:stretch>
            <a:fillRect/>
          </a:stretch>
        </p:blipFill>
        <p:spPr>
          <a:xfrm>
            <a:off x="474925" y="878025"/>
            <a:ext cx="1404068" cy="2569748"/>
          </a:xfrm>
          <a:prstGeom prst="rect">
            <a:avLst/>
          </a:prstGeom>
          <a:noFill/>
          <a:ln>
            <a:noFill/>
          </a:ln>
        </p:spPr>
      </p:pic>
      <p:pic>
        <p:nvPicPr>
          <p:cNvPr id="458" name="Google Shape;458;p18"/>
          <p:cNvPicPr preferRelativeResize="0"/>
          <p:nvPr/>
        </p:nvPicPr>
        <p:blipFill>
          <a:blip r:embed="rId6">
            <a:alphaModFix/>
          </a:blip>
          <a:stretch>
            <a:fillRect/>
          </a:stretch>
        </p:blipFill>
        <p:spPr>
          <a:xfrm>
            <a:off x="1869475" y="876975"/>
            <a:ext cx="1748771" cy="2569750"/>
          </a:xfrm>
          <a:prstGeom prst="rect">
            <a:avLst/>
          </a:prstGeom>
          <a:noFill/>
          <a:ln>
            <a:noFill/>
          </a:ln>
        </p:spPr>
      </p:pic>
      <p:pic>
        <p:nvPicPr>
          <p:cNvPr id="459" name="Google Shape;459;p18"/>
          <p:cNvPicPr preferRelativeResize="0"/>
          <p:nvPr/>
        </p:nvPicPr>
        <p:blipFill>
          <a:blip r:embed="rId7">
            <a:alphaModFix/>
          </a:blip>
          <a:stretch>
            <a:fillRect/>
          </a:stretch>
        </p:blipFill>
        <p:spPr>
          <a:xfrm>
            <a:off x="5249550" y="765061"/>
            <a:ext cx="1404074" cy="2581238"/>
          </a:xfrm>
          <a:prstGeom prst="rect">
            <a:avLst/>
          </a:prstGeom>
          <a:noFill/>
          <a:ln>
            <a:noFill/>
          </a:ln>
        </p:spPr>
      </p:pic>
      <p:pic>
        <p:nvPicPr>
          <p:cNvPr id="460" name="Google Shape;460;p18"/>
          <p:cNvPicPr preferRelativeResize="0"/>
          <p:nvPr/>
        </p:nvPicPr>
        <p:blipFill>
          <a:blip r:embed="rId8">
            <a:alphaModFix/>
          </a:blip>
          <a:stretch>
            <a:fillRect/>
          </a:stretch>
        </p:blipFill>
        <p:spPr>
          <a:xfrm>
            <a:off x="6653625" y="765038"/>
            <a:ext cx="1748775" cy="2581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3f478e7f549_0_49"/>
          <p:cNvSpPr txBox="1"/>
          <p:nvPr/>
        </p:nvSpPr>
        <p:spPr>
          <a:xfrm>
            <a:off x="332100" y="727550"/>
            <a:ext cx="4963800" cy="3848400"/>
          </a:xfrm>
          <a:prstGeom prst="rect">
            <a:avLst/>
          </a:prstGeom>
          <a:noFill/>
          <a:ln>
            <a:noFill/>
          </a:ln>
        </p:spPr>
        <p:txBody>
          <a:bodyPr anchorCtr="0" anchor="t" bIns="68575" lIns="68575" spcFirstLastPara="1" rIns="68575" wrap="square" tIns="68575">
            <a:spAutoFit/>
          </a:bodyPr>
          <a:lstStyle/>
          <a:p>
            <a:pPr indent="0" lvl="0" marL="0" marR="0" rtl="0" algn="just">
              <a:lnSpc>
                <a:spcPct val="115000"/>
              </a:lnSpc>
              <a:spcBef>
                <a:spcPts val="1400"/>
              </a:spcBef>
              <a:spcAft>
                <a:spcPts val="0"/>
              </a:spcAft>
              <a:buClr>
                <a:srgbClr val="000000"/>
              </a:buClr>
              <a:buSzPts val="1000"/>
              <a:buFont typeface="Arial"/>
              <a:buNone/>
            </a:pPr>
            <a:r>
              <a:rPr b="1" lang="zh-HK" sz="1500">
                <a:latin typeface="Times New Roman"/>
                <a:ea typeface="Times New Roman"/>
                <a:cs typeface="Times New Roman"/>
                <a:sym typeface="Times New Roman"/>
              </a:rPr>
              <a:t>1</a:t>
            </a:r>
            <a:r>
              <a:rPr b="1" i="0" lang="zh-HK" sz="1500" u="none" cap="none" strike="noStrike">
                <a:solidFill>
                  <a:srgbClr val="000000"/>
                </a:solidFill>
                <a:latin typeface="Times New Roman"/>
                <a:ea typeface="Times New Roman"/>
                <a:cs typeface="Times New Roman"/>
                <a:sym typeface="Times New Roman"/>
              </a:rPr>
              <a:t>. </a:t>
            </a:r>
            <a:r>
              <a:rPr b="1" lang="zh-HK" sz="1500">
                <a:solidFill>
                  <a:srgbClr val="0F1115"/>
                </a:solidFill>
                <a:highlight>
                  <a:srgbClr val="FFFFFF"/>
                </a:highlight>
                <a:latin typeface="Times New Roman"/>
                <a:ea typeface="Times New Roman"/>
                <a:cs typeface="Times New Roman"/>
                <a:sym typeface="Times New Roman"/>
              </a:rPr>
              <a:t>生活提案式種草</a:t>
            </a:r>
            <a:r>
              <a:rPr b="1" i="0" lang="zh-HK" sz="1500" u="none" cap="none" strike="noStrike">
                <a:solidFill>
                  <a:srgbClr val="0F1115"/>
                </a:solidFill>
                <a:highlight>
                  <a:srgbClr val="FFFFFF"/>
                </a:highlight>
                <a:latin typeface="Times New Roman"/>
                <a:ea typeface="Times New Roman"/>
                <a:cs typeface="Times New Roman"/>
                <a:sym typeface="Times New Roman"/>
              </a:rPr>
              <a:t>—</a:t>
            </a:r>
            <a:r>
              <a:rPr b="1" lang="zh-HK" sz="1500">
                <a:solidFill>
                  <a:srgbClr val="0F1115"/>
                </a:solidFill>
                <a:highlight>
                  <a:srgbClr val="FFFFFF"/>
                </a:highlight>
                <a:latin typeface="Times New Roman"/>
                <a:ea typeface="Times New Roman"/>
                <a:cs typeface="Times New Roman"/>
                <a:sym typeface="Times New Roman"/>
              </a:rPr>
              <a:t>旺角人的生活</a:t>
            </a:r>
            <a:endParaRPr b="1" i="0" sz="1500" u="none" cap="none" strike="noStrike">
              <a:solidFill>
                <a:srgbClr val="0F1115"/>
              </a:solidFill>
              <a:highlight>
                <a:srgbClr val="FFFFFF"/>
              </a:highlight>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b="1" i="0" lang="zh-HK" sz="1100" u="none" cap="none" strike="noStrike">
                <a:solidFill>
                  <a:srgbClr val="0F1115"/>
                </a:solidFill>
                <a:highlight>
                  <a:srgbClr val="FFFFFF"/>
                </a:highlight>
                <a:latin typeface="Times New Roman"/>
                <a:ea typeface="Times New Roman"/>
                <a:cs typeface="Times New Roman"/>
                <a:sym typeface="Times New Roman"/>
              </a:rPr>
              <a:t>Core Concept: </a:t>
            </a:r>
            <a:br>
              <a:rPr lang="zh-HK" sz="1100">
                <a:solidFill>
                  <a:srgbClr val="0F1115"/>
                </a:solidFill>
                <a:highlight>
                  <a:srgbClr val="FFFFFF"/>
                </a:highlight>
                <a:latin typeface="Times New Roman"/>
                <a:ea typeface="Times New Roman"/>
                <a:cs typeface="Times New Roman"/>
                <a:sym typeface="Times New Roman"/>
              </a:rPr>
            </a:br>
            <a:r>
              <a:rPr lang="zh-HK" sz="1100">
                <a:solidFill>
                  <a:srgbClr val="0F1115"/>
                </a:solidFill>
                <a:highlight>
                  <a:srgbClr val="FFFFFF"/>
                </a:highlight>
                <a:latin typeface="Times New Roman"/>
                <a:ea typeface="Times New Roman"/>
                <a:cs typeface="Times New Roman"/>
                <a:sym typeface="Times New Roman"/>
              </a:rPr>
              <a:t>XHS content thrives on resonance, not persuasion — lifestyle content drives strong organic reach, as shown in previous data. Using a "day in my life" framework invites users to imagine themselves at Mong Kok and get naturally "种草" without hard-selling.</a:t>
            </a:r>
            <a:br>
              <a:rPr i="0" lang="zh-HK" sz="1150" u="none" cap="none" strike="noStrike">
                <a:solidFill>
                  <a:srgbClr val="000000"/>
                </a:solidFill>
                <a:latin typeface="Times New Roman"/>
                <a:ea typeface="Times New Roman"/>
                <a:cs typeface="Times New Roman"/>
                <a:sym typeface="Times New Roman"/>
              </a:rPr>
            </a:br>
            <a:br>
              <a:rPr i="0" lang="zh-HK" sz="1150" u="none" cap="none" strike="noStrike">
                <a:solidFill>
                  <a:srgbClr val="000000"/>
                </a:solidFill>
                <a:latin typeface="Times New Roman"/>
                <a:ea typeface="Times New Roman"/>
                <a:cs typeface="Times New Roman"/>
                <a:sym typeface="Times New Roman"/>
              </a:rPr>
            </a:br>
            <a:r>
              <a:rPr b="1" lang="zh-HK" sz="1150">
                <a:solidFill>
                  <a:srgbClr val="1155CC"/>
                </a:solidFill>
                <a:highlight>
                  <a:srgbClr val="FFFFFF"/>
                </a:highlight>
                <a:latin typeface="Times New Roman"/>
                <a:ea typeface="Times New Roman"/>
                <a:cs typeface="Times New Roman"/>
                <a:sym typeface="Times New Roman"/>
              </a:rPr>
              <a:t>「跟著街坊逛旺角! 朗豪坊本地人</a:t>
            </a:r>
            <a:r>
              <a:rPr b="1" lang="zh-HK" sz="1150">
                <a:solidFill>
                  <a:srgbClr val="1155CC"/>
                </a:solidFill>
                <a:highlight>
                  <a:srgbClr val="FFFFFF"/>
                </a:highlight>
                <a:latin typeface="Times New Roman"/>
                <a:ea typeface="Times New Roman"/>
                <a:cs typeface="Times New Roman"/>
                <a:sym typeface="Times New Roman"/>
              </a:rPr>
              <a:t>认</a:t>
            </a:r>
            <a:r>
              <a:rPr b="1" lang="zh-HK" sz="1150">
                <a:solidFill>
                  <a:srgbClr val="1155CC"/>
                </a:solidFill>
                <a:highlight>
                  <a:srgbClr val="FFFFFF"/>
                </a:highlight>
                <a:latin typeface="Times New Roman"/>
                <a:ea typeface="Times New Roman"/>
                <a:cs typeface="Times New Roman"/>
                <a:sym typeface="Times New Roman"/>
              </a:rPr>
              <a:t>证清單」</a:t>
            </a:r>
            <a:r>
              <a:rPr lang="zh-HK" sz="1150">
                <a:latin typeface="Times New Roman"/>
                <a:ea typeface="Times New Roman"/>
                <a:cs typeface="Times New Roman"/>
                <a:sym typeface="Times New Roman"/>
              </a:rPr>
              <a:t> </a:t>
            </a:r>
            <a:br>
              <a:rPr lang="zh-HK" sz="1150">
                <a:solidFill>
                  <a:srgbClr val="0F1115"/>
                </a:solidFill>
                <a:highlight>
                  <a:srgbClr val="FFFFFF"/>
                </a:highlight>
                <a:latin typeface="Times New Roman"/>
                <a:ea typeface="Times New Roman"/>
                <a:cs typeface="Times New Roman"/>
                <a:sym typeface="Times New Roman"/>
              </a:rPr>
            </a:br>
            <a:r>
              <a:rPr lang="zh-HK" sz="1150">
                <a:solidFill>
                  <a:srgbClr val="0F1115"/>
                </a:solidFill>
                <a:highlight>
                  <a:srgbClr val="FFFFFF"/>
                </a:highlight>
                <a:latin typeface="Times New Roman"/>
                <a:ea typeface="Times New Roman"/>
                <a:cs typeface="Times New Roman"/>
                <a:sym typeface="Times New Roman"/>
              </a:rPr>
              <a:t>Exploring Langham Place like a local — a curated list of "neighborhood-approved" stores and eats around the mall that only insiders know.</a:t>
            </a:r>
            <a:r>
              <a:rPr lang="zh-HK" sz="1150">
                <a:latin typeface="Times New Roman"/>
                <a:ea typeface="Times New Roman"/>
                <a:cs typeface="Times New Roman"/>
                <a:sym typeface="Times New Roman"/>
              </a:rPr>
              <a:t> </a:t>
            </a:r>
            <a:endParaRPr sz="1150">
              <a:solidFill>
                <a:srgbClr val="0F1115"/>
              </a:solidFill>
              <a:highlight>
                <a:srgbClr val="FFFFFF"/>
              </a:highlight>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200"/>
              <a:buFont typeface="Arial"/>
              <a:buNone/>
            </a:pPr>
            <a:r>
              <a:rPr b="1" lang="zh-HK" sz="1150">
                <a:solidFill>
                  <a:srgbClr val="1155CC"/>
                </a:solidFill>
                <a:highlight>
                  <a:srgbClr val="FFFFFF"/>
                </a:highlight>
                <a:latin typeface="Times New Roman"/>
                <a:ea typeface="Times New Roman"/>
                <a:cs typeface="Times New Roman"/>
                <a:sym typeface="Times New Roman"/>
              </a:rPr>
              <a:t>「旺角人的週末療癒清單」</a:t>
            </a:r>
            <a:r>
              <a:rPr b="1" lang="zh-HK" sz="1150">
                <a:solidFill>
                  <a:srgbClr val="1155CC"/>
                </a:solidFill>
                <a:latin typeface="Times New Roman"/>
                <a:ea typeface="Times New Roman"/>
                <a:cs typeface="Times New Roman"/>
                <a:sym typeface="Times New Roman"/>
              </a:rPr>
              <a:t> </a:t>
            </a:r>
            <a:br>
              <a:rPr lang="zh-HK" sz="1150">
                <a:solidFill>
                  <a:srgbClr val="0F1115"/>
                </a:solidFill>
                <a:highlight>
                  <a:srgbClr val="FFFFFF"/>
                </a:highlight>
                <a:latin typeface="Times New Roman"/>
                <a:ea typeface="Times New Roman"/>
                <a:cs typeface="Times New Roman"/>
                <a:sym typeface="Times New Roman"/>
              </a:rPr>
            </a:br>
            <a:r>
              <a:rPr lang="zh-HK" sz="1150">
                <a:solidFill>
                  <a:srgbClr val="0F1115"/>
                </a:solidFill>
                <a:highlight>
                  <a:srgbClr val="FFFFFF"/>
                </a:highlight>
                <a:latin typeface="Times New Roman"/>
                <a:ea typeface="Times New Roman"/>
                <a:cs typeface="Times New Roman"/>
                <a:sym typeface="Times New Roman"/>
              </a:rPr>
              <a:t>A local's weekend healing list — the best quiet corners at Langham Place for a coffee break, a good book, or a peaceful meal away from the city rush.</a:t>
            </a:r>
            <a:r>
              <a:rPr lang="zh-HK" sz="1150">
                <a:latin typeface="Times New Roman"/>
                <a:ea typeface="Times New Roman"/>
                <a:cs typeface="Times New Roman"/>
                <a:sym typeface="Times New Roman"/>
              </a:rPr>
              <a:t> </a:t>
            </a:r>
            <a:endParaRPr sz="1150">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200"/>
              <a:buFont typeface="Arial"/>
              <a:buNone/>
            </a:pPr>
            <a:r>
              <a:rPr b="1" lang="zh-HK" sz="1150">
                <a:solidFill>
                  <a:srgbClr val="1155CC"/>
                </a:solidFill>
                <a:highlight>
                  <a:srgbClr val="FFFFFF"/>
                </a:highlight>
                <a:latin typeface="Times New Roman"/>
                <a:ea typeface="Times New Roman"/>
                <a:cs typeface="Times New Roman"/>
                <a:sym typeface="Times New Roman"/>
              </a:rPr>
              <a:t>「下班去哪兒？旺角人</a:t>
            </a:r>
            <a:r>
              <a:rPr b="1" lang="zh-HK" sz="1150">
                <a:solidFill>
                  <a:srgbClr val="1155CC"/>
                </a:solidFill>
                <a:highlight>
                  <a:srgbClr val="FFFFFF"/>
                </a:highlight>
                <a:latin typeface="Times New Roman"/>
                <a:ea typeface="Times New Roman"/>
                <a:cs typeface="Times New Roman"/>
                <a:sym typeface="Times New Roman"/>
              </a:rPr>
              <a:t>夜晚</a:t>
            </a:r>
            <a:r>
              <a:rPr b="1" lang="zh-HK" sz="1150">
                <a:solidFill>
                  <a:srgbClr val="1155CC"/>
                </a:solidFill>
                <a:highlight>
                  <a:srgbClr val="FFFFFF"/>
                </a:highlight>
                <a:latin typeface="Times New Roman"/>
                <a:ea typeface="Times New Roman"/>
                <a:cs typeface="Times New Roman"/>
                <a:sym typeface="Times New Roman"/>
              </a:rPr>
              <a:t>鬆弛指南」</a:t>
            </a:r>
            <a:br>
              <a:rPr lang="zh-HK" sz="1150">
                <a:solidFill>
                  <a:srgbClr val="0F1115"/>
                </a:solidFill>
                <a:highlight>
                  <a:srgbClr val="FFFFFF"/>
                </a:highlight>
                <a:latin typeface="Times New Roman"/>
                <a:ea typeface="Times New Roman"/>
                <a:cs typeface="Times New Roman"/>
                <a:sym typeface="Times New Roman"/>
              </a:rPr>
            </a:br>
            <a:r>
              <a:rPr lang="zh-HK" sz="1150">
                <a:solidFill>
                  <a:srgbClr val="0F1115"/>
                </a:solidFill>
                <a:highlight>
                  <a:srgbClr val="FFFFFF"/>
                </a:highlight>
                <a:latin typeface="Times New Roman"/>
                <a:ea typeface="Times New Roman"/>
                <a:cs typeface="Times New Roman"/>
                <a:sym typeface="Times New Roman"/>
              </a:rPr>
              <a:t>After-work escape plan — how locals unwind in Mong Kok after dark, from a quiet drink to a solo movie night at Langham Place.</a:t>
            </a:r>
            <a:r>
              <a:rPr lang="zh-HK" sz="1100"/>
              <a:t>  </a:t>
            </a:r>
            <a:endParaRPr sz="1150">
              <a:latin typeface="Times New Roman"/>
              <a:ea typeface="Times New Roman"/>
              <a:cs typeface="Times New Roman"/>
              <a:sym typeface="Times New Roman"/>
            </a:endParaRPr>
          </a:p>
        </p:txBody>
      </p:sp>
      <p:sp>
        <p:nvSpPr>
          <p:cNvPr id="466" name="Google Shape;466;g3f478e7f549_0_49"/>
          <p:cNvSpPr txBox="1"/>
          <p:nvPr/>
        </p:nvSpPr>
        <p:spPr>
          <a:xfrm>
            <a:off x="333125" y="136150"/>
            <a:ext cx="5852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Insights &amp; Suggestions</a:t>
            </a:r>
            <a:endParaRPr b="1" i="0" sz="2000" u="none" cap="none" strike="noStrike">
              <a:solidFill>
                <a:schemeClr val="dk1"/>
              </a:solidFill>
              <a:latin typeface="Times New Roman"/>
              <a:ea typeface="Times New Roman"/>
              <a:cs typeface="Times New Roman"/>
              <a:sym typeface="Times New Roman"/>
            </a:endParaRPr>
          </a:p>
        </p:txBody>
      </p:sp>
      <p:sp>
        <p:nvSpPr>
          <p:cNvPr id="467" name="Google Shape;467;g3f478e7f549_0_49"/>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468" name="Google Shape;468;g3f478e7f549_0_49"/>
          <p:cNvPicPr preferRelativeResize="0"/>
          <p:nvPr/>
        </p:nvPicPr>
        <p:blipFill rotWithShape="1">
          <a:blip r:embed="rId3">
            <a:alphaModFix/>
          </a:blip>
          <a:srcRect b="21020" l="14061" r="17215" t="26140"/>
          <a:stretch/>
        </p:blipFill>
        <p:spPr>
          <a:xfrm>
            <a:off x="8094845" y="170700"/>
            <a:ext cx="1049154" cy="423511"/>
          </a:xfrm>
          <a:prstGeom prst="rect">
            <a:avLst/>
          </a:prstGeom>
          <a:noFill/>
          <a:ln>
            <a:noFill/>
          </a:ln>
        </p:spPr>
      </p:pic>
      <p:pic>
        <p:nvPicPr>
          <p:cNvPr id="469" name="Google Shape;469;g3f478e7f549_0_49"/>
          <p:cNvPicPr preferRelativeResize="0"/>
          <p:nvPr/>
        </p:nvPicPr>
        <p:blipFill>
          <a:blip r:embed="rId4">
            <a:alphaModFix/>
          </a:blip>
          <a:stretch>
            <a:fillRect/>
          </a:stretch>
        </p:blipFill>
        <p:spPr>
          <a:xfrm>
            <a:off x="5513625" y="677128"/>
            <a:ext cx="1744950" cy="2730197"/>
          </a:xfrm>
          <a:prstGeom prst="rect">
            <a:avLst/>
          </a:prstGeom>
          <a:noFill/>
          <a:ln>
            <a:noFill/>
          </a:ln>
        </p:spPr>
      </p:pic>
      <p:pic>
        <p:nvPicPr>
          <p:cNvPr id="470" name="Google Shape;470;g3f478e7f549_0_49"/>
          <p:cNvPicPr preferRelativeResize="0"/>
          <p:nvPr/>
        </p:nvPicPr>
        <p:blipFill>
          <a:blip r:embed="rId5">
            <a:alphaModFix/>
          </a:blip>
          <a:stretch>
            <a:fillRect/>
          </a:stretch>
        </p:blipFill>
        <p:spPr>
          <a:xfrm>
            <a:off x="7258575" y="2184125"/>
            <a:ext cx="1804975" cy="255858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g3e0a6527a63_6_19"/>
          <p:cNvSpPr txBox="1"/>
          <p:nvPr/>
        </p:nvSpPr>
        <p:spPr>
          <a:xfrm>
            <a:off x="228600" y="734583"/>
            <a:ext cx="5262900" cy="373290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1400"/>
              </a:spcBef>
              <a:spcAft>
                <a:spcPts val="0"/>
              </a:spcAft>
              <a:buClr>
                <a:srgbClr val="000000"/>
              </a:buClr>
              <a:buSzPts val="1200"/>
              <a:buFont typeface="Arial"/>
              <a:buNone/>
            </a:pPr>
            <a:r>
              <a:rPr b="1" lang="zh-HK">
                <a:latin typeface="Times New Roman"/>
                <a:ea typeface="Times New Roman"/>
                <a:cs typeface="Times New Roman"/>
                <a:sym typeface="Times New Roman"/>
              </a:rPr>
              <a:t>2</a:t>
            </a:r>
            <a:r>
              <a:rPr b="1" i="0" lang="zh-HK" u="none" cap="none" strike="noStrike">
                <a:solidFill>
                  <a:srgbClr val="000000"/>
                </a:solidFill>
                <a:latin typeface="Times New Roman"/>
                <a:ea typeface="Times New Roman"/>
                <a:cs typeface="Times New Roman"/>
                <a:sym typeface="Times New Roman"/>
              </a:rPr>
              <a:t>. </a:t>
            </a:r>
            <a:r>
              <a:rPr b="1" lang="zh-HK">
                <a:solidFill>
                  <a:srgbClr val="0F1115"/>
                </a:solidFill>
                <a:highlight>
                  <a:srgbClr val="FFFFFF"/>
                </a:highlight>
                <a:latin typeface="Times New Roman"/>
                <a:ea typeface="Times New Roman"/>
                <a:cs typeface="Times New Roman"/>
                <a:sym typeface="Times New Roman"/>
              </a:rPr>
              <a:t> </a:t>
            </a:r>
            <a:r>
              <a:rPr b="1" lang="zh-HK" sz="1500">
                <a:solidFill>
                  <a:srgbClr val="0F1115"/>
                </a:solidFill>
                <a:highlight>
                  <a:srgbClr val="FFFFFF"/>
                </a:highlight>
                <a:latin typeface="Times New Roman"/>
                <a:ea typeface="Times New Roman"/>
                <a:cs typeface="Times New Roman"/>
                <a:sym typeface="Times New Roman"/>
              </a:rPr>
              <a:t>特種兵式旅遊 </a:t>
            </a:r>
            <a:r>
              <a:rPr b="1" lang="zh-HK">
                <a:solidFill>
                  <a:srgbClr val="0F1115"/>
                </a:solidFill>
                <a:highlight>
                  <a:srgbClr val="FFFFFF"/>
                </a:highlight>
                <a:latin typeface="Times New Roman"/>
                <a:ea typeface="Times New Roman"/>
                <a:cs typeface="Times New Roman"/>
                <a:sym typeface="Times New Roman"/>
              </a:rPr>
              <a:t>– High-Value Check-in Guide</a:t>
            </a:r>
            <a:br>
              <a:rPr i="0" lang="zh-HK" u="none" cap="none" strike="noStrike">
                <a:solidFill>
                  <a:srgbClr val="000000"/>
                </a:solidFill>
                <a:latin typeface="Times New Roman"/>
                <a:ea typeface="Times New Roman"/>
                <a:cs typeface="Times New Roman"/>
                <a:sym typeface="Times New Roman"/>
              </a:rPr>
            </a:br>
            <a:br>
              <a:rPr b="1" i="0" lang="zh-HK" sz="1100" u="none" cap="none" strike="noStrike">
                <a:solidFill>
                  <a:srgbClr val="000000"/>
                </a:solidFill>
                <a:latin typeface="Times New Roman"/>
                <a:ea typeface="Times New Roman"/>
                <a:cs typeface="Times New Roman"/>
                <a:sym typeface="Times New Roman"/>
              </a:rPr>
            </a:br>
            <a:r>
              <a:rPr b="1" i="0" lang="zh-HK" sz="1100" u="none" cap="none" strike="noStrike">
                <a:solidFill>
                  <a:srgbClr val="0F1115"/>
                </a:solidFill>
                <a:highlight>
                  <a:srgbClr val="FFFFFF"/>
                </a:highlight>
                <a:latin typeface="Times New Roman"/>
                <a:ea typeface="Times New Roman"/>
                <a:cs typeface="Times New Roman"/>
                <a:sym typeface="Times New Roman"/>
              </a:rPr>
              <a:t>Core Concept:</a:t>
            </a:r>
            <a:r>
              <a:rPr i="0" lang="zh-HK" sz="1100" u="none" cap="none" strike="noStrike">
                <a:solidFill>
                  <a:srgbClr val="0F1115"/>
                </a:solidFill>
                <a:highlight>
                  <a:srgbClr val="FFFFFF"/>
                </a:highlight>
                <a:latin typeface="Times New Roman"/>
                <a:ea typeface="Times New Roman"/>
                <a:cs typeface="Times New Roman"/>
                <a:sym typeface="Times New Roman"/>
              </a:rPr>
              <a:t> </a:t>
            </a:r>
            <a:br>
              <a:rPr i="0" lang="zh-HK" sz="1100" u="none" cap="none" strike="noStrike">
                <a:solidFill>
                  <a:srgbClr val="0F1115"/>
                </a:solidFill>
                <a:highlight>
                  <a:srgbClr val="FFFFFF"/>
                </a:highlight>
                <a:latin typeface="Times New Roman"/>
                <a:ea typeface="Times New Roman"/>
                <a:cs typeface="Times New Roman"/>
                <a:sym typeface="Times New Roman"/>
              </a:rPr>
            </a:br>
            <a:r>
              <a:rPr b="1" lang="zh-HK" sz="1100">
                <a:solidFill>
                  <a:srgbClr val="0F1115"/>
                </a:solidFill>
                <a:highlight>
                  <a:schemeClr val="lt1"/>
                </a:highlight>
                <a:latin typeface="Times New Roman"/>
                <a:ea typeface="Times New Roman"/>
                <a:cs typeface="Times New Roman"/>
                <a:sym typeface="Times New Roman"/>
              </a:rPr>
              <a:t>特種兵式旅遊</a:t>
            </a:r>
            <a:r>
              <a:rPr lang="zh-HK" sz="1100">
                <a:solidFill>
                  <a:srgbClr val="0F1115"/>
                </a:solidFill>
                <a:highlight>
                  <a:srgbClr val="FFFFFF"/>
                </a:highlight>
                <a:latin typeface="Times New Roman"/>
                <a:ea typeface="Times New Roman"/>
                <a:cs typeface="Times New Roman"/>
                <a:sym typeface="Times New Roman"/>
              </a:rPr>
              <a:t> continues to trend among young tourists, with topics like "Citywalk" and "one-day tours" gaining strong traction on XHS. Langham Place can position itself as a key stop on budget-friendly routes, photo spots, affordable dining, and great-value shopping — all tailored to young travelers seeking efficient, low-cost itineraries.</a:t>
            </a:r>
            <a:r>
              <a:rPr lang="zh-HK" sz="1100">
                <a:latin typeface="Times New Roman"/>
                <a:ea typeface="Times New Roman"/>
                <a:cs typeface="Times New Roman"/>
                <a:sym typeface="Times New Roman"/>
              </a:rPr>
              <a:t> </a:t>
            </a:r>
            <a:br>
              <a:rPr lang="zh-HK" sz="1150">
                <a:latin typeface="Times New Roman"/>
                <a:ea typeface="Times New Roman"/>
                <a:cs typeface="Times New Roman"/>
                <a:sym typeface="Times New Roman"/>
              </a:rPr>
            </a:br>
            <a:br>
              <a:rPr b="1" i="0" lang="zh-HK" sz="1150" u="none" cap="none" strike="noStrike">
                <a:solidFill>
                  <a:srgbClr val="0F1115"/>
                </a:solidFill>
                <a:highlight>
                  <a:srgbClr val="FFFFFF"/>
                </a:highlight>
                <a:latin typeface="Times New Roman"/>
                <a:ea typeface="Times New Roman"/>
                <a:cs typeface="Times New Roman"/>
                <a:sym typeface="Times New Roman"/>
              </a:rPr>
            </a:br>
            <a:r>
              <a:rPr b="1" lang="zh-HK" sz="1150">
                <a:solidFill>
                  <a:srgbClr val="1155CC"/>
                </a:solidFill>
                <a:highlight>
                  <a:srgbClr val="FFFFFF"/>
                </a:highlight>
                <a:latin typeface="Times New Roman"/>
                <a:ea typeface="Times New Roman"/>
                <a:cs typeface="Times New Roman"/>
                <a:sym typeface="Times New Roman"/>
              </a:rPr>
              <a:t>「旺角高CP值路線! 打卡兼掃貨」</a:t>
            </a:r>
            <a:br>
              <a:rPr lang="zh-HK" sz="1150">
                <a:solidFill>
                  <a:srgbClr val="0F1115"/>
                </a:solidFill>
                <a:highlight>
                  <a:srgbClr val="FFFFFF"/>
                </a:highlight>
                <a:latin typeface="Times New Roman"/>
                <a:ea typeface="Times New Roman"/>
                <a:cs typeface="Times New Roman"/>
                <a:sym typeface="Times New Roman"/>
              </a:rPr>
            </a:br>
            <a:r>
              <a:rPr lang="zh-HK" sz="1150">
                <a:solidFill>
                  <a:srgbClr val="0F1115"/>
                </a:solidFill>
                <a:highlight>
                  <a:srgbClr val="FFFFFF"/>
                </a:highlight>
                <a:latin typeface="Times New Roman"/>
                <a:ea typeface="Times New Roman"/>
                <a:cs typeface="Times New Roman"/>
                <a:sym typeface="Times New Roman"/>
              </a:rPr>
              <a:t>A high-value Mong Kok route combining photo-worthy spots and great shopping finds — starting from Langham Place.</a:t>
            </a:r>
            <a:r>
              <a:rPr lang="zh-HK" sz="1150">
                <a:latin typeface="Times New Roman"/>
                <a:ea typeface="Times New Roman"/>
                <a:cs typeface="Times New Roman"/>
                <a:sym typeface="Times New Roman"/>
              </a:rPr>
              <a:t> </a:t>
            </a:r>
            <a:br>
              <a:rPr i="0" lang="zh-HK" sz="1150" u="none" cap="none" strike="noStrike">
                <a:solidFill>
                  <a:srgbClr val="000000"/>
                </a:solidFill>
                <a:latin typeface="Times New Roman"/>
                <a:ea typeface="Times New Roman"/>
                <a:cs typeface="Times New Roman"/>
                <a:sym typeface="Times New Roman"/>
              </a:rPr>
            </a:br>
            <a:br>
              <a:rPr b="1" lang="zh-HK" sz="1100">
                <a:solidFill>
                  <a:srgbClr val="1155CC"/>
                </a:solidFill>
              </a:rPr>
            </a:br>
            <a:r>
              <a:rPr b="1" lang="zh-HK" sz="1100">
                <a:solidFill>
                  <a:srgbClr val="1155CC"/>
                </a:solidFill>
                <a:highlight>
                  <a:srgbClr val="FFFFFF"/>
                </a:highlight>
                <a:latin typeface="Times New Roman"/>
                <a:ea typeface="Times New Roman"/>
                <a:cs typeface="Times New Roman"/>
                <a:sym typeface="Times New Roman"/>
              </a:rPr>
              <a:t>「本地人帶路！香港橫街窄巷美食攻略」</a:t>
            </a:r>
            <a:br>
              <a:rPr lang="zh-HK" sz="1100">
                <a:solidFill>
                  <a:srgbClr val="0F1115"/>
                </a:solidFill>
                <a:highlight>
                  <a:srgbClr val="FFFFFF"/>
                </a:highlight>
                <a:latin typeface="Times New Roman"/>
                <a:ea typeface="Times New Roman"/>
                <a:cs typeface="Times New Roman"/>
                <a:sym typeface="Times New Roman"/>
              </a:rPr>
            </a:br>
            <a:r>
              <a:rPr lang="zh-HK" sz="1100">
                <a:solidFill>
                  <a:srgbClr val="0F1115"/>
                </a:solidFill>
                <a:highlight>
                  <a:srgbClr val="FFFFFF"/>
                </a:highlight>
                <a:latin typeface="Times New Roman"/>
                <a:ea typeface="Times New Roman"/>
                <a:cs typeface="Times New Roman"/>
                <a:sym typeface="Times New Roman"/>
              </a:rPr>
              <a:t>Let a local guide you through Hong Kong's backstreets — uncovering the best bites within a stone's throw of Langham Place.</a:t>
            </a:r>
            <a:r>
              <a:rPr lang="zh-HK" sz="1100">
                <a:latin typeface="Times New Roman"/>
                <a:ea typeface="Times New Roman"/>
                <a:cs typeface="Times New Roman"/>
                <a:sym typeface="Times New Roman"/>
              </a:rPr>
              <a:t> </a:t>
            </a:r>
            <a:br>
              <a:rPr i="0" lang="zh-HK" sz="1150" u="none" cap="none" strike="noStrike">
                <a:solidFill>
                  <a:srgbClr val="000000"/>
                </a:solidFill>
                <a:latin typeface="Times New Roman"/>
                <a:ea typeface="Times New Roman"/>
                <a:cs typeface="Times New Roman"/>
                <a:sym typeface="Times New Roman"/>
              </a:rPr>
            </a:br>
            <a:br>
              <a:rPr i="0" lang="zh-HK" sz="1150" u="none" cap="none" strike="noStrike">
                <a:solidFill>
                  <a:srgbClr val="000000"/>
                </a:solidFill>
                <a:latin typeface="Times New Roman"/>
                <a:ea typeface="Times New Roman"/>
                <a:cs typeface="Times New Roman"/>
                <a:sym typeface="Times New Roman"/>
              </a:rPr>
            </a:br>
            <a:r>
              <a:rPr b="1" lang="zh-HK" sz="1100">
                <a:solidFill>
                  <a:srgbClr val="1155CC"/>
                </a:solidFill>
                <a:highlight>
                  <a:srgbClr val="FFFFFF"/>
                </a:highlight>
                <a:latin typeface="Times New Roman"/>
                <a:ea typeface="Times New Roman"/>
                <a:cs typeface="Times New Roman"/>
                <a:sym typeface="Times New Roman"/>
              </a:rPr>
              <a:t>「香港人私心推薦！來港必買清單」</a:t>
            </a:r>
            <a:br>
              <a:rPr lang="zh-HK" sz="1100">
                <a:solidFill>
                  <a:srgbClr val="0F1115"/>
                </a:solidFill>
                <a:highlight>
                  <a:srgbClr val="FFFFFF"/>
                </a:highlight>
                <a:latin typeface="Times New Roman"/>
                <a:ea typeface="Times New Roman"/>
                <a:cs typeface="Times New Roman"/>
                <a:sym typeface="Times New Roman"/>
              </a:rPr>
            </a:br>
            <a:r>
              <a:rPr lang="zh-HK" sz="1100">
                <a:solidFill>
                  <a:srgbClr val="0F1115"/>
                </a:solidFill>
                <a:highlight>
                  <a:srgbClr val="FFFFFF"/>
                </a:highlight>
                <a:latin typeface="Times New Roman"/>
                <a:ea typeface="Times New Roman"/>
                <a:cs typeface="Times New Roman"/>
                <a:sym typeface="Times New Roman"/>
              </a:rPr>
              <a:t>Hong Kong locals' personal favorites — the must-buy shopping list at Langham Place.</a:t>
            </a:r>
            <a:r>
              <a:rPr lang="zh-HK" sz="1100">
                <a:latin typeface="Times New Roman"/>
                <a:ea typeface="Times New Roman"/>
                <a:cs typeface="Times New Roman"/>
                <a:sym typeface="Times New Roman"/>
              </a:rPr>
              <a:t> </a:t>
            </a:r>
            <a:endParaRPr b="1" sz="1100">
              <a:solidFill>
                <a:srgbClr val="1155CC"/>
              </a:solidFill>
              <a:highlight>
                <a:srgbClr val="FFFFFF"/>
              </a:highlight>
              <a:latin typeface="Times New Roman"/>
              <a:ea typeface="Times New Roman"/>
              <a:cs typeface="Times New Roman"/>
              <a:sym typeface="Times New Roman"/>
            </a:endParaRPr>
          </a:p>
        </p:txBody>
      </p:sp>
      <p:sp>
        <p:nvSpPr>
          <p:cNvPr id="476" name="Google Shape;476;g3e0a6527a63_6_19"/>
          <p:cNvSpPr txBox="1"/>
          <p:nvPr/>
        </p:nvSpPr>
        <p:spPr>
          <a:xfrm>
            <a:off x="333125" y="136150"/>
            <a:ext cx="5852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Insights &amp; Suggestions</a:t>
            </a:r>
            <a:endParaRPr b="1" i="0" sz="2000" u="none" cap="none" strike="noStrike">
              <a:solidFill>
                <a:schemeClr val="dk1"/>
              </a:solidFill>
              <a:latin typeface="Times New Roman"/>
              <a:ea typeface="Times New Roman"/>
              <a:cs typeface="Times New Roman"/>
              <a:sym typeface="Times New Roman"/>
            </a:endParaRPr>
          </a:p>
        </p:txBody>
      </p:sp>
      <p:sp>
        <p:nvSpPr>
          <p:cNvPr id="477" name="Google Shape;477;g3e0a6527a63_6_19"/>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478" name="Google Shape;478;g3e0a6527a63_6_19"/>
          <p:cNvPicPr preferRelativeResize="0"/>
          <p:nvPr/>
        </p:nvPicPr>
        <p:blipFill rotWithShape="1">
          <a:blip r:embed="rId3">
            <a:alphaModFix/>
          </a:blip>
          <a:srcRect b="21020" l="14061" r="17215" t="26140"/>
          <a:stretch/>
        </p:blipFill>
        <p:spPr>
          <a:xfrm>
            <a:off x="8094845" y="170700"/>
            <a:ext cx="1049154" cy="423511"/>
          </a:xfrm>
          <a:prstGeom prst="rect">
            <a:avLst/>
          </a:prstGeom>
          <a:noFill/>
          <a:ln>
            <a:noFill/>
          </a:ln>
        </p:spPr>
      </p:pic>
      <p:pic>
        <p:nvPicPr>
          <p:cNvPr id="479" name="Google Shape;479;g3e0a6527a63_6_19"/>
          <p:cNvPicPr preferRelativeResize="0"/>
          <p:nvPr/>
        </p:nvPicPr>
        <p:blipFill>
          <a:blip r:embed="rId4">
            <a:alphaModFix/>
          </a:blip>
          <a:stretch>
            <a:fillRect/>
          </a:stretch>
        </p:blipFill>
        <p:spPr>
          <a:xfrm>
            <a:off x="5569000" y="532185"/>
            <a:ext cx="1662025" cy="2620915"/>
          </a:xfrm>
          <a:prstGeom prst="rect">
            <a:avLst/>
          </a:prstGeom>
          <a:noFill/>
          <a:ln>
            <a:noFill/>
          </a:ln>
        </p:spPr>
      </p:pic>
      <p:pic>
        <p:nvPicPr>
          <p:cNvPr id="480" name="Google Shape;480;g3e0a6527a63_6_19"/>
          <p:cNvPicPr preferRelativeResize="0"/>
          <p:nvPr/>
        </p:nvPicPr>
        <p:blipFill>
          <a:blip r:embed="rId5">
            <a:alphaModFix/>
          </a:blip>
          <a:stretch>
            <a:fillRect/>
          </a:stretch>
        </p:blipFill>
        <p:spPr>
          <a:xfrm>
            <a:off x="7308475" y="2409825"/>
            <a:ext cx="1722775" cy="25812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g3f478e7f549_0_62"/>
          <p:cNvSpPr txBox="1"/>
          <p:nvPr/>
        </p:nvSpPr>
        <p:spPr>
          <a:xfrm>
            <a:off x="277108" y="600250"/>
            <a:ext cx="5034600" cy="3898200"/>
          </a:xfrm>
          <a:prstGeom prst="rect">
            <a:avLst/>
          </a:prstGeom>
          <a:noFill/>
          <a:ln>
            <a:noFill/>
          </a:ln>
        </p:spPr>
        <p:txBody>
          <a:bodyPr anchorCtr="0" anchor="t" bIns="68575" lIns="68575" spcFirstLastPara="1" rIns="68575" wrap="square" tIns="68575">
            <a:spAutoFit/>
          </a:bodyPr>
          <a:lstStyle/>
          <a:p>
            <a:pPr indent="0" lvl="0" marL="0" marR="0" rtl="0" algn="just">
              <a:lnSpc>
                <a:spcPct val="115000"/>
              </a:lnSpc>
              <a:spcBef>
                <a:spcPts val="1400"/>
              </a:spcBef>
              <a:spcAft>
                <a:spcPts val="0"/>
              </a:spcAft>
              <a:buClr>
                <a:srgbClr val="000000"/>
              </a:buClr>
              <a:buSzPts val="1000"/>
              <a:buFont typeface="Arial"/>
              <a:buNone/>
            </a:pPr>
            <a:r>
              <a:rPr b="1" lang="zh-HK" sz="1500">
                <a:latin typeface="Times New Roman"/>
                <a:ea typeface="Times New Roman"/>
                <a:cs typeface="Times New Roman"/>
                <a:sym typeface="Times New Roman"/>
                <a:extLst>
                  <a:ext uri="http://customooxmlschemas.google.com/">
                    <go:slidesCustomData xmlns:go="http://customooxmlschemas.google.com/" textRoundtripDataId="2"/>
                  </a:ext>
                </a:extLst>
              </a:rPr>
              <a:t>3</a:t>
            </a:r>
            <a:r>
              <a:rPr b="1" i="0" lang="zh-HK" sz="1500" u="none" cap="none" strike="noStrike">
                <a:solidFill>
                  <a:srgbClr val="000000"/>
                </a:solidFill>
                <a:latin typeface="Times New Roman"/>
                <a:ea typeface="Times New Roman"/>
                <a:cs typeface="Times New Roman"/>
                <a:sym typeface="Times New Roman"/>
              </a:rPr>
              <a:t>. </a:t>
            </a:r>
            <a:r>
              <a:rPr b="1" lang="zh-HK" sz="1500">
                <a:solidFill>
                  <a:srgbClr val="0F1115"/>
                </a:solidFill>
                <a:highlight>
                  <a:srgbClr val="FFFFFF"/>
                </a:highlight>
                <a:latin typeface="Times New Roman"/>
                <a:ea typeface="Times New Roman"/>
                <a:cs typeface="Times New Roman"/>
                <a:sym typeface="Times New Roman"/>
              </a:rPr>
              <a:t>大學開學OOTS</a:t>
            </a:r>
            <a:r>
              <a:rPr b="1" i="0" lang="zh-HK" sz="1500" u="none" cap="none" strike="noStrike">
                <a:solidFill>
                  <a:srgbClr val="0F1115"/>
                </a:solidFill>
                <a:highlight>
                  <a:srgbClr val="FFFFFF"/>
                </a:highlight>
                <a:latin typeface="Times New Roman"/>
                <a:ea typeface="Times New Roman"/>
                <a:cs typeface="Times New Roman"/>
                <a:sym typeface="Times New Roman"/>
              </a:rPr>
              <a:t> — </a:t>
            </a:r>
            <a:r>
              <a:rPr b="1" lang="zh-HK" sz="1500">
                <a:solidFill>
                  <a:srgbClr val="0F1115"/>
                </a:solidFill>
                <a:highlight>
                  <a:srgbClr val="FFFFFF"/>
                </a:highlight>
                <a:latin typeface="Times New Roman"/>
                <a:ea typeface="Times New Roman"/>
                <a:cs typeface="Times New Roman"/>
                <a:sym typeface="Times New Roman"/>
              </a:rPr>
              <a:t>Back-to-School Fashion</a:t>
            </a:r>
            <a:endParaRPr b="1" sz="1500">
              <a:solidFill>
                <a:srgbClr val="0F1115"/>
              </a:solidFill>
              <a:highlight>
                <a:srgbClr val="FFFFFF"/>
              </a:highlight>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200"/>
              <a:buFont typeface="Arial"/>
              <a:buNone/>
            </a:pPr>
            <a:r>
              <a:rPr b="1" i="0" lang="zh-HK" sz="1100" u="none" cap="none" strike="noStrike">
                <a:solidFill>
                  <a:srgbClr val="0F1115"/>
                </a:solidFill>
                <a:highlight>
                  <a:srgbClr val="FFFFFF"/>
                </a:highlight>
                <a:latin typeface="Times New Roman"/>
                <a:ea typeface="Times New Roman"/>
                <a:cs typeface="Times New Roman"/>
                <a:sym typeface="Times New Roman"/>
              </a:rPr>
              <a:t>Core Concept: </a:t>
            </a:r>
            <a:br>
              <a:rPr i="0" lang="zh-HK" sz="1100" u="none" cap="none" strike="noStrike">
                <a:solidFill>
                  <a:srgbClr val="0F1115"/>
                </a:solidFill>
                <a:highlight>
                  <a:srgbClr val="FFFFFF"/>
                </a:highlight>
                <a:latin typeface="Times New Roman"/>
                <a:ea typeface="Times New Roman"/>
                <a:cs typeface="Times New Roman"/>
                <a:sym typeface="Times New Roman"/>
              </a:rPr>
            </a:br>
            <a:r>
              <a:rPr lang="zh-HK" sz="1100">
                <a:solidFill>
                  <a:srgbClr val="0F1115"/>
                </a:solidFill>
                <a:highlight>
                  <a:srgbClr val="FFFFFF"/>
                </a:highlight>
                <a:latin typeface="Times New Roman"/>
                <a:ea typeface="Times New Roman"/>
                <a:cs typeface="Times New Roman"/>
                <a:sym typeface="Times New Roman"/>
              </a:rPr>
              <a:t>Back-to-school season drives OOTD content demand on XHS. Langham Place can position itself as the go-to destination for students, combining practical style guides with Mong Kok street style. Using trending hashtags like #OOTS and #开学 can boost content reach with algorithmic traffic support.</a:t>
            </a:r>
            <a:r>
              <a:rPr lang="zh-HK" sz="1100">
                <a:latin typeface="Times New Roman"/>
                <a:ea typeface="Times New Roman"/>
                <a:cs typeface="Times New Roman"/>
                <a:sym typeface="Times New Roman"/>
              </a:rPr>
              <a:t> </a:t>
            </a:r>
            <a:br>
              <a:rPr i="0" lang="zh-HK" sz="1150" u="none" cap="none" strike="noStrike">
                <a:solidFill>
                  <a:srgbClr val="000000"/>
                </a:solidFill>
                <a:latin typeface="Times New Roman"/>
                <a:ea typeface="Times New Roman"/>
                <a:cs typeface="Times New Roman"/>
                <a:sym typeface="Times New Roman"/>
              </a:rPr>
            </a:br>
            <a:br>
              <a:rPr i="0" lang="zh-HK" sz="1150" u="none" cap="none" strike="noStrike">
                <a:solidFill>
                  <a:srgbClr val="000000"/>
                </a:solidFill>
                <a:latin typeface="Times New Roman"/>
                <a:ea typeface="Times New Roman"/>
                <a:cs typeface="Times New Roman"/>
                <a:sym typeface="Times New Roman"/>
              </a:rPr>
            </a:br>
            <a:r>
              <a:rPr b="1" lang="zh-HK" sz="1150">
                <a:solidFill>
                  <a:srgbClr val="1155CC"/>
                </a:solidFill>
                <a:highlight>
                  <a:srgbClr val="FFFFFF"/>
                </a:highlight>
                <a:latin typeface="Times New Roman"/>
                <a:ea typeface="Times New Roman"/>
                <a:cs typeface="Times New Roman"/>
                <a:sym typeface="Times New Roman"/>
              </a:rPr>
              <a:t>「OOTS 港校開學穿搭！本命開學造型GET」</a:t>
            </a:r>
            <a:r>
              <a:rPr lang="zh-HK" sz="1150">
                <a:latin typeface="Times New Roman"/>
                <a:ea typeface="Times New Roman"/>
                <a:cs typeface="Times New Roman"/>
                <a:sym typeface="Times New Roman"/>
              </a:rPr>
              <a:t> </a:t>
            </a:r>
            <a:br>
              <a:rPr lang="zh-HK" sz="1150">
                <a:latin typeface="Times New Roman"/>
                <a:ea typeface="Times New Roman"/>
                <a:cs typeface="Times New Roman"/>
                <a:sym typeface="Times New Roman"/>
              </a:rPr>
            </a:br>
            <a:r>
              <a:rPr lang="zh-HK" sz="1150">
                <a:solidFill>
                  <a:srgbClr val="0F1115"/>
                </a:solidFill>
                <a:highlight>
                  <a:srgbClr val="FFFFFF"/>
                </a:highlight>
                <a:latin typeface="Times New Roman"/>
                <a:ea typeface="Times New Roman"/>
                <a:cs typeface="Times New Roman"/>
                <a:sym typeface="Times New Roman"/>
              </a:rPr>
              <a:t>A back-to-school style—mix and match in-mall brands to find your "本命" (perfect match) look for the new semester.</a:t>
            </a:r>
            <a:r>
              <a:rPr lang="zh-HK" sz="1150">
                <a:latin typeface="Times New Roman"/>
                <a:ea typeface="Times New Roman"/>
                <a:cs typeface="Times New Roman"/>
                <a:sym typeface="Times New Roman"/>
              </a:rPr>
              <a:t> </a:t>
            </a:r>
            <a:br>
              <a:rPr lang="zh-HK" sz="1150">
                <a:latin typeface="Times New Roman"/>
                <a:ea typeface="Times New Roman"/>
                <a:cs typeface="Times New Roman"/>
                <a:sym typeface="Times New Roman"/>
              </a:rPr>
            </a:br>
            <a:br>
              <a:rPr i="0" lang="zh-HK" sz="1150" u="none" cap="none" strike="noStrike">
                <a:solidFill>
                  <a:srgbClr val="000000"/>
                </a:solidFill>
                <a:latin typeface="Times New Roman"/>
                <a:ea typeface="Times New Roman"/>
                <a:cs typeface="Times New Roman"/>
                <a:sym typeface="Times New Roman"/>
              </a:rPr>
            </a:br>
            <a:r>
              <a:rPr b="1" lang="zh-HK" sz="1150">
                <a:solidFill>
                  <a:srgbClr val="1155CC"/>
                </a:solidFill>
                <a:highlight>
                  <a:srgbClr val="FFFFFF"/>
                </a:highlight>
                <a:latin typeface="Times New Roman"/>
                <a:ea typeface="Times New Roman"/>
                <a:cs typeface="Times New Roman"/>
                <a:sym typeface="Times New Roman"/>
              </a:rPr>
              <a:t>「新生入學變身計劃！大學第一印象這樣穿」</a:t>
            </a:r>
            <a:r>
              <a:rPr lang="zh-HK" sz="1150">
                <a:latin typeface="Times New Roman"/>
                <a:ea typeface="Times New Roman"/>
                <a:cs typeface="Times New Roman"/>
                <a:sym typeface="Times New Roman"/>
              </a:rPr>
              <a:t> </a:t>
            </a:r>
            <a:br>
              <a:rPr i="0" lang="zh-HK" sz="1150" u="none" cap="none" strike="noStrike">
                <a:solidFill>
                  <a:srgbClr val="0F1115"/>
                </a:solidFill>
                <a:highlight>
                  <a:srgbClr val="FFFFFF"/>
                </a:highlight>
                <a:latin typeface="Times New Roman"/>
                <a:ea typeface="Times New Roman"/>
                <a:cs typeface="Times New Roman"/>
                <a:sym typeface="Times New Roman"/>
              </a:rPr>
            </a:br>
            <a:r>
              <a:rPr lang="zh-HK" sz="1150">
                <a:solidFill>
                  <a:srgbClr val="0F1115"/>
                </a:solidFill>
                <a:highlight>
                  <a:srgbClr val="FFFFFF"/>
                </a:highlight>
                <a:latin typeface="Times New Roman"/>
                <a:ea typeface="Times New Roman"/>
                <a:cs typeface="Times New Roman"/>
                <a:sym typeface="Times New Roman"/>
              </a:rPr>
              <a:t>Back-to-school style rescue kit for freshmen—different looks for different student personas, from artsy to sporty to Hong Kong cool.</a:t>
            </a:r>
            <a:r>
              <a:rPr lang="zh-HK" sz="1150">
                <a:latin typeface="Times New Roman"/>
                <a:ea typeface="Times New Roman"/>
                <a:cs typeface="Times New Roman"/>
                <a:sym typeface="Times New Roman"/>
              </a:rPr>
              <a:t>  </a:t>
            </a:r>
            <a:endParaRPr i="0" sz="1150" u="none" cap="none" strike="noStrike">
              <a:solidFill>
                <a:srgbClr val="0F1115"/>
              </a:solidFill>
              <a:highlight>
                <a:srgbClr val="FFFFFF"/>
              </a:highlight>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200"/>
              <a:buFont typeface="Arial"/>
              <a:buNone/>
            </a:pPr>
            <a:r>
              <a:rPr b="1" lang="zh-HK" sz="1150">
                <a:solidFill>
                  <a:srgbClr val="1155CC"/>
                </a:solidFill>
                <a:highlight>
                  <a:srgbClr val="FFFFFF"/>
                </a:highlight>
                <a:latin typeface="Times New Roman"/>
                <a:ea typeface="Times New Roman"/>
                <a:cs typeface="Times New Roman"/>
                <a:sym typeface="Times New Roman"/>
              </a:rPr>
              <a:t>「留學生落地香港第一站！朗豪坊開學置裝清單」</a:t>
            </a:r>
            <a:r>
              <a:rPr b="1" lang="zh-HK" sz="1150">
                <a:solidFill>
                  <a:srgbClr val="1155CC"/>
                </a:solidFill>
                <a:latin typeface="Times New Roman"/>
                <a:ea typeface="Times New Roman"/>
                <a:cs typeface="Times New Roman"/>
                <a:sym typeface="Times New Roman"/>
              </a:rPr>
              <a:t> </a:t>
            </a:r>
            <a:br>
              <a:rPr i="0" lang="zh-HK" sz="1150" u="none" cap="none" strike="noStrike">
                <a:solidFill>
                  <a:srgbClr val="000000"/>
                </a:solidFill>
                <a:latin typeface="Times New Roman"/>
                <a:ea typeface="Times New Roman"/>
                <a:cs typeface="Times New Roman"/>
                <a:sym typeface="Times New Roman"/>
              </a:rPr>
            </a:br>
            <a:r>
              <a:rPr lang="zh-HK" sz="1150">
                <a:solidFill>
                  <a:srgbClr val="0F1115"/>
                </a:solidFill>
                <a:highlight>
                  <a:srgbClr val="FFFFFF"/>
                </a:highlight>
                <a:latin typeface="Times New Roman"/>
                <a:ea typeface="Times New Roman"/>
                <a:cs typeface="Times New Roman"/>
                <a:sym typeface="Times New Roman"/>
              </a:rPr>
              <a:t>The ultimate back-to-school shopping list for incoming mainland students—everything you need for HK's climate, all at Langham Place.</a:t>
            </a:r>
            <a:r>
              <a:rPr lang="zh-HK" sz="1150">
                <a:latin typeface="Times New Roman"/>
                <a:ea typeface="Times New Roman"/>
                <a:cs typeface="Times New Roman"/>
                <a:sym typeface="Times New Roman"/>
              </a:rPr>
              <a:t> </a:t>
            </a:r>
            <a:endParaRPr i="0" sz="1150" u="none" cap="none" strike="noStrike">
              <a:solidFill>
                <a:srgbClr val="0F1115"/>
              </a:solidFill>
              <a:highlight>
                <a:srgbClr val="FFFFFF"/>
              </a:highlight>
              <a:latin typeface="Times New Roman"/>
              <a:ea typeface="Times New Roman"/>
              <a:cs typeface="Times New Roman"/>
              <a:sym typeface="Times New Roman"/>
            </a:endParaRPr>
          </a:p>
        </p:txBody>
      </p:sp>
      <p:sp>
        <p:nvSpPr>
          <p:cNvPr id="486" name="Google Shape;486;g3f478e7f549_0_62"/>
          <p:cNvSpPr txBox="1"/>
          <p:nvPr/>
        </p:nvSpPr>
        <p:spPr>
          <a:xfrm>
            <a:off x="333125" y="136150"/>
            <a:ext cx="5852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Insights &amp; Suggestions</a:t>
            </a:r>
            <a:endParaRPr b="1" i="0" sz="2000" u="none" cap="none" strike="noStrike">
              <a:solidFill>
                <a:schemeClr val="dk1"/>
              </a:solidFill>
              <a:latin typeface="Times New Roman"/>
              <a:ea typeface="Times New Roman"/>
              <a:cs typeface="Times New Roman"/>
              <a:sym typeface="Times New Roman"/>
            </a:endParaRPr>
          </a:p>
        </p:txBody>
      </p:sp>
      <p:sp>
        <p:nvSpPr>
          <p:cNvPr id="487" name="Google Shape;487;g3f478e7f549_0_62"/>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488" name="Google Shape;488;g3f478e7f549_0_62"/>
          <p:cNvPicPr preferRelativeResize="0"/>
          <p:nvPr/>
        </p:nvPicPr>
        <p:blipFill rotWithShape="1">
          <a:blip r:embed="rId3">
            <a:alphaModFix/>
          </a:blip>
          <a:srcRect b="21020" l="14061" r="17215" t="26140"/>
          <a:stretch/>
        </p:blipFill>
        <p:spPr>
          <a:xfrm>
            <a:off x="8094845" y="170700"/>
            <a:ext cx="1049154" cy="423511"/>
          </a:xfrm>
          <a:prstGeom prst="rect">
            <a:avLst/>
          </a:prstGeom>
          <a:noFill/>
          <a:ln>
            <a:noFill/>
          </a:ln>
        </p:spPr>
      </p:pic>
      <p:pic>
        <p:nvPicPr>
          <p:cNvPr id="489" name="Google Shape;489;g3f478e7f549_0_62"/>
          <p:cNvPicPr preferRelativeResize="0"/>
          <p:nvPr/>
        </p:nvPicPr>
        <p:blipFill rotWithShape="1">
          <a:blip r:embed="rId4">
            <a:alphaModFix/>
          </a:blip>
          <a:srcRect b="0" l="0" r="88321" t="0"/>
          <a:stretch/>
        </p:blipFill>
        <p:spPr>
          <a:xfrm>
            <a:off x="5434325" y="594188"/>
            <a:ext cx="1120449" cy="800675"/>
          </a:xfrm>
          <a:prstGeom prst="rect">
            <a:avLst/>
          </a:prstGeom>
          <a:noFill/>
          <a:ln>
            <a:noFill/>
          </a:ln>
        </p:spPr>
      </p:pic>
      <p:pic>
        <p:nvPicPr>
          <p:cNvPr id="490" name="Google Shape;490;g3f478e7f549_0_62"/>
          <p:cNvPicPr preferRelativeResize="0"/>
          <p:nvPr/>
        </p:nvPicPr>
        <p:blipFill rotWithShape="1">
          <a:blip r:embed="rId4">
            <a:alphaModFix/>
          </a:blip>
          <a:srcRect b="0" l="71666" r="19271" t="0"/>
          <a:stretch/>
        </p:blipFill>
        <p:spPr>
          <a:xfrm>
            <a:off x="6554774" y="612963"/>
            <a:ext cx="828675" cy="763150"/>
          </a:xfrm>
          <a:prstGeom prst="rect">
            <a:avLst/>
          </a:prstGeom>
          <a:noFill/>
          <a:ln>
            <a:noFill/>
          </a:ln>
        </p:spPr>
      </p:pic>
      <p:pic>
        <p:nvPicPr>
          <p:cNvPr id="491" name="Google Shape;491;g3f478e7f549_0_62"/>
          <p:cNvPicPr preferRelativeResize="0"/>
          <p:nvPr/>
        </p:nvPicPr>
        <p:blipFill rotWithShape="1">
          <a:blip r:embed="rId4">
            <a:alphaModFix/>
          </a:blip>
          <a:srcRect b="0" l="90209" r="1562" t="0"/>
          <a:stretch/>
        </p:blipFill>
        <p:spPr>
          <a:xfrm>
            <a:off x="7383450" y="616725"/>
            <a:ext cx="752476" cy="763150"/>
          </a:xfrm>
          <a:prstGeom prst="rect">
            <a:avLst/>
          </a:prstGeom>
          <a:noFill/>
          <a:ln>
            <a:noFill/>
          </a:ln>
        </p:spPr>
      </p:pic>
      <p:pic>
        <p:nvPicPr>
          <p:cNvPr id="492" name="Google Shape;492;g3f478e7f549_0_62"/>
          <p:cNvPicPr preferRelativeResize="0"/>
          <p:nvPr/>
        </p:nvPicPr>
        <p:blipFill>
          <a:blip r:embed="rId5">
            <a:alphaModFix/>
          </a:blip>
          <a:stretch>
            <a:fillRect/>
          </a:stretch>
        </p:blipFill>
        <p:spPr>
          <a:xfrm>
            <a:off x="8094850" y="616725"/>
            <a:ext cx="752475" cy="884840"/>
          </a:xfrm>
          <a:prstGeom prst="rect">
            <a:avLst/>
          </a:prstGeom>
          <a:noFill/>
          <a:ln>
            <a:noFill/>
          </a:ln>
        </p:spPr>
      </p:pic>
      <p:pic>
        <p:nvPicPr>
          <p:cNvPr id="493" name="Google Shape;493;g3f478e7f549_0_62"/>
          <p:cNvPicPr preferRelativeResize="0"/>
          <p:nvPr/>
        </p:nvPicPr>
        <p:blipFill>
          <a:blip r:embed="rId6">
            <a:alphaModFix/>
          </a:blip>
          <a:stretch>
            <a:fillRect/>
          </a:stretch>
        </p:blipFill>
        <p:spPr>
          <a:xfrm>
            <a:off x="7182900" y="3184575"/>
            <a:ext cx="1244555" cy="1870950"/>
          </a:xfrm>
          <a:prstGeom prst="rect">
            <a:avLst/>
          </a:prstGeom>
          <a:noFill/>
          <a:ln>
            <a:noFill/>
          </a:ln>
        </p:spPr>
      </p:pic>
      <p:pic>
        <p:nvPicPr>
          <p:cNvPr id="494" name="Google Shape;494;g3f478e7f549_0_62"/>
          <p:cNvPicPr preferRelativeResize="0"/>
          <p:nvPr/>
        </p:nvPicPr>
        <p:blipFill>
          <a:blip r:embed="rId7">
            <a:alphaModFix/>
          </a:blip>
          <a:stretch>
            <a:fillRect/>
          </a:stretch>
        </p:blipFill>
        <p:spPr>
          <a:xfrm>
            <a:off x="5768200" y="3131480"/>
            <a:ext cx="1244550" cy="1919019"/>
          </a:xfrm>
          <a:prstGeom prst="rect">
            <a:avLst/>
          </a:prstGeom>
          <a:noFill/>
          <a:ln>
            <a:noFill/>
          </a:ln>
        </p:spPr>
      </p:pic>
      <p:pic>
        <p:nvPicPr>
          <p:cNvPr id="495" name="Google Shape;495;g3f478e7f549_0_62"/>
          <p:cNvPicPr preferRelativeResize="0"/>
          <p:nvPr/>
        </p:nvPicPr>
        <p:blipFill>
          <a:blip r:embed="rId8">
            <a:alphaModFix/>
          </a:blip>
          <a:stretch>
            <a:fillRect/>
          </a:stretch>
        </p:blipFill>
        <p:spPr>
          <a:xfrm>
            <a:off x="5832716" y="1504078"/>
            <a:ext cx="1332600" cy="1552529"/>
          </a:xfrm>
          <a:prstGeom prst="rect">
            <a:avLst/>
          </a:prstGeom>
          <a:noFill/>
          <a:ln>
            <a:noFill/>
          </a:ln>
        </p:spPr>
      </p:pic>
      <p:pic>
        <p:nvPicPr>
          <p:cNvPr id="496" name="Google Shape;496;g3f478e7f549_0_62"/>
          <p:cNvPicPr preferRelativeResize="0"/>
          <p:nvPr/>
        </p:nvPicPr>
        <p:blipFill>
          <a:blip r:embed="rId9">
            <a:alphaModFix/>
          </a:blip>
          <a:stretch>
            <a:fillRect/>
          </a:stretch>
        </p:blipFill>
        <p:spPr>
          <a:xfrm>
            <a:off x="7316838" y="1541888"/>
            <a:ext cx="976675" cy="1602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3f679a2d4e1_0_68"/>
          <p:cNvSpPr txBox="1"/>
          <p:nvPr/>
        </p:nvSpPr>
        <p:spPr>
          <a:xfrm>
            <a:off x="945700" y="254050"/>
            <a:ext cx="4316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KOL Campaign status</a:t>
            </a:r>
            <a:endParaRPr b="1" i="0" sz="2000" u="none" cap="none" strike="noStrike">
              <a:solidFill>
                <a:srgbClr val="000000"/>
              </a:solidFill>
              <a:latin typeface="Arial"/>
              <a:ea typeface="Arial"/>
              <a:cs typeface="Arial"/>
              <a:sym typeface="Arial"/>
            </a:endParaRPr>
          </a:p>
        </p:txBody>
      </p:sp>
      <p:sp>
        <p:nvSpPr>
          <p:cNvPr id="502" name="Google Shape;502;g3f679a2d4e1_0_68"/>
          <p:cNvSpPr txBox="1"/>
          <p:nvPr/>
        </p:nvSpPr>
        <p:spPr>
          <a:xfrm>
            <a:off x="306725" y="862500"/>
            <a:ext cx="8561400" cy="5817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0"/>
              </a:spcBef>
              <a:spcAft>
                <a:spcPts val="0"/>
              </a:spcAft>
              <a:buClr>
                <a:schemeClr val="dk1"/>
              </a:buClr>
              <a:buSzPts val="1200"/>
              <a:buFont typeface="Times New Roman"/>
              <a:buChar char="●"/>
            </a:pPr>
            <a:r>
              <a:rPr b="0" i="0" lang="zh-HK" sz="1200" u="none" cap="none" strike="noStrike">
                <a:solidFill>
                  <a:srgbClr val="212121"/>
                </a:solidFill>
                <a:highlight>
                  <a:srgbClr val="FFFFFF"/>
                </a:highlight>
                <a:latin typeface="Times New Roman"/>
                <a:ea typeface="Times New Roman"/>
                <a:cs typeface="Times New Roman"/>
                <a:sym typeface="Times New Roman"/>
              </a:rPr>
              <a:t>In </a:t>
            </a:r>
            <a:r>
              <a:rPr lang="zh-HK" sz="1200">
                <a:solidFill>
                  <a:srgbClr val="212121"/>
                </a:solidFill>
                <a:highlight>
                  <a:srgbClr val="FFFFFF"/>
                </a:highlight>
                <a:latin typeface="Times New Roman"/>
                <a:ea typeface="Times New Roman"/>
                <a:cs typeface="Times New Roman"/>
                <a:sym typeface="Times New Roman"/>
              </a:rPr>
              <a:t>chiikawa</a:t>
            </a:r>
            <a:r>
              <a:rPr b="0" i="0" lang="zh-HK" sz="1200" u="none" cap="none" strike="noStrike">
                <a:solidFill>
                  <a:srgbClr val="212121"/>
                </a:solidFill>
                <a:highlight>
                  <a:srgbClr val="FFFFFF"/>
                </a:highlight>
                <a:latin typeface="Times New Roman"/>
                <a:ea typeface="Times New Roman"/>
                <a:cs typeface="Times New Roman"/>
                <a:sym typeface="Times New Roman"/>
              </a:rPr>
              <a:t> campaign, we invited 1x KOLs , 5 x KOCs and </a:t>
            </a:r>
            <a:r>
              <a:rPr lang="zh-HK" sz="1200">
                <a:solidFill>
                  <a:srgbClr val="212121"/>
                </a:solidFill>
                <a:highlight>
                  <a:srgbClr val="FFFFFF"/>
                </a:highlight>
                <a:latin typeface="Times New Roman"/>
                <a:ea typeface="Times New Roman"/>
                <a:cs typeface="Times New Roman"/>
                <a:sym typeface="Times New Roman"/>
              </a:rPr>
              <a:t>10</a:t>
            </a:r>
            <a:r>
              <a:rPr b="0" i="0" lang="zh-HK" sz="1200" u="none" cap="none" strike="noStrike">
                <a:solidFill>
                  <a:srgbClr val="212121"/>
                </a:solidFill>
                <a:highlight>
                  <a:srgbClr val="FFFFFF"/>
                </a:highlight>
                <a:latin typeface="Times New Roman"/>
                <a:ea typeface="Times New Roman"/>
                <a:cs typeface="Times New Roman"/>
                <a:sym typeface="Times New Roman"/>
              </a:rPr>
              <a:t> x Seedings to create total of </a:t>
            </a:r>
            <a:r>
              <a:rPr lang="zh-HK" sz="1200">
                <a:solidFill>
                  <a:srgbClr val="212121"/>
                </a:solidFill>
                <a:highlight>
                  <a:srgbClr val="FFFFFF"/>
                </a:highlight>
                <a:latin typeface="Times New Roman"/>
                <a:ea typeface="Times New Roman"/>
                <a:cs typeface="Times New Roman"/>
                <a:sym typeface="Times New Roman"/>
              </a:rPr>
              <a:t>28</a:t>
            </a:r>
            <a:r>
              <a:rPr b="0" i="0" lang="zh-HK" sz="1200" u="none" cap="none" strike="noStrike">
                <a:solidFill>
                  <a:srgbClr val="212121"/>
                </a:solidFill>
                <a:highlight>
                  <a:srgbClr val="FFFFFF"/>
                </a:highlight>
                <a:latin typeface="Times New Roman"/>
                <a:ea typeface="Times New Roman"/>
                <a:cs typeface="Times New Roman"/>
                <a:sym typeface="Times New Roman"/>
              </a:rPr>
              <a:t> posts.</a:t>
            </a:r>
            <a:endParaRPr b="0" i="0" sz="1200" u="none" cap="none" strike="noStrike">
              <a:solidFill>
                <a:srgbClr val="212121"/>
              </a:solidFill>
              <a:highlight>
                <a:srgbClr val="FFFFFF"/>
              </a:highlight>
              <a:latin typeface="Times New Roman"/>
              <a:ea typeface="Times New Roman"/>
              <a:cs typeface="Times New Roman"/>
              <a:sym typeface="Times New Roman"/>
            </a:endParaRPr>
          </a:p>
          <a:p>
            <a:pPr indent="-304800" lvl="0" marL="457200" marR="0" rtl="0" algn="l">
              <a:lnSpc>
                <a:spcPct val="115000"/>
              </a:lnSpc>
              <a:spcBef>
                <a:spcPts val="0"/>
              </a:spcBef>
              <a:spcAft>
                <a:spcPts val="0"/>
              </a:spcAft>
              <a:buClr>
                <a:schemeClr val="dk1"/>
              </a:buClr>
              <a:buSzPts val="1200"/>
              <a:buFont typeface="Times New Roman"/>
              <a:buChar char="●"/>
            </a:pPr>
            <a:r>
              <a:rPr b="0" i="0" lang="zh-HK" sz="1200" u="none" cap="none" strike="noStrike">
                <a:solidFill>
                  <a:srgbClr val="212121"/>
                </a:solidFill>
                <a:highlight>
                  <a:schemeClr val="lt1"/>
                </a:highlight>
                <a:latin typeface="Times New Roman"/>
                <a:ea typeface="Times New Roman"/>
                <a:cs typeface="Times New Roman"/>
                <a:sym typeface="Times New Roman"/>
              </a:rPr>
              <a:t>Until now, KOL campaign gained</a:t>
            </a:r>
            <a:r>
              <a:rPr b="1" i="0" lang="zh-HK" sz="1200" u="none" cap="none" strike="noStrike">
                <a:solidFill>
                  <a:srgbClr val="212121"/>
                </a:solidFill>
                <a:highlight>
                  <a:schemeClr val="lt1"/>
                </a:highlight>
                <a:latin typeface="Times New Roman"/>
                <a:ea typeface="Times New Roman"/>
                <a:cs typeface="Times New Roman"/>
                <a:sym typeface="Times New Roman"/>
              </a:rPr>
              <a:t> </a:t>
            </a:r>
            <a:r>
              <a:rPr b="1" lang="zh-HK" sz="1200">
                <a:solidFill>
                  <a:srgbClr val="212121"/>
                </a:solidFill>
                <a:highlight>
                  <a:schemeClr val="lt1"/>
                </a:highlight>
                <a:latin typeface="Times New Roman"/>
                <a:ea typeface="Times New Roman"/>
                <a:cs typeface="Times New Roman"/>
                <a:sym typeface="Times New Roman"/>
              </a:rPr>
              <a:t>123</a:t>
            </a:r>
            <a:r>
              <a:rPr b="1" i="0" lang="zh-HK" sz="1200" u="none" cap="none" strike="noStrike">
                <a:solidFill>
                  <a:srgbClr val="212121"/>
                </a:solidFill>
                <a:highlight>
                  <a:schemeClr val="lt1"/>
                </a:highlight>
                <a:latin typeface="Times New Roman"/>
                <a:ea typeface="Times New Roman"/>
                <a:cs typeface="Times New Roman"/>
                <a:sym typeface="Times New Roman"/>
              </a:rPr>
              <a:t>K+ views, </a:t>
            </a:r>
            <a:r>
              <a:rPr b="1" lang="zh-HK" sz="1200">
                <a:solidFill>
                  <a:srgbClr val="212121"/>
                </a:solidFill>
                <a:highlight>
                  <a:schemeClr val="lt1"/>
                </a:highlight>
                <a:latin typeface="Times New Roman"/>
                <a:ea typeface="Times New Roman"/>
                <a:cs typeface="Times New Roman"/>
                <a:sym typeface="Times New Roman"/>
              </a:rPr>
              <a:t>9</a:t>
            </a:r>
            <a:r>
              <a:rPr b="1" i="0" lang="zh-HK" sz="1200" u="none" cap="none" strike="noStrike">
                <a:solidFill>
                  <a:srgbClr val="212121"/>
                </a:solidFill>
                <a:highlight>
                  <a:schemeClr val="lt1"/>
                </a:highlight>
                <a:latin typeface="Times New Roman"/>
                <a:ea typeface="Times New Roman"/>
                <a:cs typeface="Times New Roman"/>
                <a:sym typeface="Times New Roman"/>
              </a:rPr>
              <a:t>.7k+ engagements </a:t>
            </a:r>
            <a:r>
              <a:rPr b="0" i="0" lang="zh-HK" sz="1200" u="none" cap="none" strike="noStrike">
                <a:solidFill>
                  <a:srgbClr val="212121"/>
                </a:solidFill>
                <a:highlight>
                  <a:schemeClr val="lt1"/>
                </a:highlight>
                <a:latin typeface="Times New Roman"/>
                <a:ea typeface="Times New Roman"/>
                <a:cs typeface="Times New Roman"/>
                <a:sym typeface="Times New Roman"/>
              </a:rPr>
              <a:t>and</a:t>
            </a:r>
            <a:r>
              <a:rPr b="1" i="0" lang="zh-HK" sz="1200" u="none" cap="none" strike="noStrike">
                <a:solidFill>
                  <a:srgbClr val="212121"/>
                </a:solidFill>
                <a:highlight>
                  <a:schemeClr val="lt1"/>
                </a:highlight>
                <a:latin typeface="Times New Roman"/>
                <a:ea typeface="Times New Roman"/>
                <a:cs typeface="Times New Roman"/>
                <a:sym typeface="Times New Roman"/>
              </a:rPr>
              <a:t> </a:t>
            </a:r>
            <a:r>
              <a:rPr b="1" lang="zh-HK" sz="1200">
                <a:solidFill>
                  <a:srgbClr val="212121"/>
                </a:solidFill>
                <a:highlight>
                  <a:schemeClr val="lt1"/>
                </a:highlight>
                <a:latin typeface="Times New Roman"/>
                <a:ea typeface="Times New Roman"/>
                <a:cs typeface="Times New Roman"/>
                <a:sym typeface="Times New Roman"/>
              </a:rPr>
              <a:t>7</a:t>
            </a:r>
            <a:r>
              <a:rPr b="1" i="0" lang="zh-HK" sz="1200" u="none" cap="none" strike="noStrike">
                <a:solidFill>
                  <a:srgbClr val="212121"/>
                </a:solidFill>
                <a:highlight>
                  <a:schemeClr val="lt1"/>
                </a:highlight>
                <a:latin typeface="Times New Roman"/>
                <a:ea typeface="Times New Roman"/>
                <a:cs typeface="Times New Roman"/>
                <a:sym typeface="Times New Roman"/>
              </a:rPr>
              <a:t>.</a:t>
            </a:r>
            <a:r>
              <a:rPr b="1" lang="zh-HK" sz="1200">
                <a:solidFill>
                  <a:srgbClr val="212121"/>
                </a:solidFill>
                <a:highlight>
                  <a:schemeClr val="lt1"/>
                </a:highlight>
                <a:latin typeface="Times New Roman"/>
                <a:ea typeface="Times New Roman"/>
                <a:cs typeface="Times New Roman"/>
                <a:sym typeface="Times New Roman"/>
              </a:rPr>
              <a:t>89</a:t>
            </a:r>
            <a:r>
              <a:rPr b="1" i="0" lang="zh-HK" sz="1200" u="none" cap="none" strike="noStrike">
                <a:solidFill>
                  <a:srgbClr val="212121"/>
                </a:solidFill>
                <a:highlight>
                  <a:schemeClr val="lt1"/>
                </a:highlight>
                <a:latin typeface="Times New Roman"/>
                <a:ea typeface="Times New Roman"/>
                <a:cs typeface="Times New Roman"/>
                <a:sym typeface="Times New Roman"/>
              </a:rPr>
              <a:t>% engagement rate</a:t>
            </a:r>
            <a:r>
              <a:rPr b="0" i="0" lang="zh-HK" sz="1200" u="none" cap="none" strike="noStrike">
                <a:solidFill>
                  <a:srgbClr val="212121"/>
                </a:solidFill>
                <a:highlight>
                  <a:schemeClr val="lt1"/>
                </a:highlight>
                <a:latin typeface="Times New Roman"/>
                <a:ea typeface="Times New Roman"/>
                <a:cs typeface="Times New Roman"/>
                <a:sym typeface="Times New Roman"/>
              </a:rPr>
              <a:t>. </a:t>
            </a:r>
            <a:endParaRPr b="0" i="0" sz="1200" u="none" cap="none" strike="noStrike">
              <a:solidFill>
                <a:srgbClr val="212121"/>
              </a:solidFill>
              <a:highlight>
                <a:srgbClr val="FFFFFF"/>
              </a:highlight>
              <a:latin typeface="Times New Roman"/>
              <a:ea typeface="Times New Roman"/>
              <a:cs typeface="Times New Roman"/>
              <a:sym typeface="Times New Roman"/>
            </a:endParaRPr>
          </a:p>
        </p:txBody>
      </p:sp>
      <p:pic>
        <p:nvPicPr>
          <p:cNvPr id="503" name="Google Shape;503;g3f679a2d4e1_0_68"/>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504" name="Google Shape;504;g3f679a2d4e1_0_68"/>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505" name="Google Shape;505;g3f679a2d4e1_0_68"/>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506" name="Google Shape;506;g3f679a2d4e1_0_68"/>
          <p:cNvPicPr preferRelativeResize="0"/>
          <p:nvPr/>
        </p:nvPicPr>
        <p:blipFill rotWithShape="1">
          <a:blip r:embed="rId4">
            <a:alphaModFix/>
          </a:blip>
          <a:srcRect b="21020" l="14061" r="17215" t="26140"/>
          <a:stretch/>
        </p:blipFill>
        <p:spPr>
          <a:xfrm>
            <a:off x="8094845" y="170700"/>
            <a:ext cx="1049154" cy="423511"/>
          </a:xfrm>
          <a:prstGeom prst="rect">
            <a:avLst/>
          </a:prstGeom>
          <a:noFill/>
          <a:ln>
            <a:noFill/>
          </a:ln>
        </p:spPr>
      </p:pic>
      <p:sp>
        <p:nvSpPr>
          <p:cNvPr id="507" name="Google Shape;507;g3f679a2d4e1_0_68"/>
          <p:cNvSpPr/>
          <p:nvPr/>
        </p:nvSpPr>
        <p:spPr>
          <a:xfrm>
            <a:off x="296250" y="2376687"/>
            <a:ext cx="1613700" cy="1613700"/>
          </a:xfrm>
          <a:prstGeom prst="ellipse">
            <a:avLst/>
          </a:prstGeom>
          <a:solidFill>
            <a:srgbClr val="F4CCCC"/>
          </a:solidFill>
          <a:ln cap="flat" cmpd="sng" w="9525">
            <a:solidFill>
              <a:srgbClr val="000000"/>
            </a:solidFill>
            <a:prstDash val="solid"/>
            <a:round/>
            <a:headEnd len="sm" w="sm" type="none"/>
            <a:tailEnd len="sm" w="sm" type="none"/>
          </a:ln>
        </p:spPr>
        <p:txBody>
          <a:bodyPr anchorCtr="0" anchor="ctr" bIns="79325" lIns="79325" spcFirstLastPara="1" rIns="79325" wrap="square" tIns="79325">
            <a:noAutofit/>
          </a:bodyPr>
          <a:lstStyle/>
          <a:p>
            <a:pPr indent="0" lvl="0" marL="0" marR="0" rtl="0" algn="ctr">
              <a:lnSpc>
                <a:spcPct val="100000"/>
              </a:lnSpc>
              <a:spcBef>
                <a:spcPts val="0"/>
              </a:spcBef>
              <a:spcAft>
                <a:spcPts val="0"/>
              </a:spcAft>
              <a:buClr>
                <a:srgbClr val="000000"/>
              </a:buClr>
              <a:buSzPts val="1215"/>
              <a:buFont typeface="Arial"/>
              <a:buNone/>
            </a:pPr>
            <a:r>
              <a:rPr b="1" i="0" lang="zh-HK" sz="1215" u="none" cap="none" strike="noStrike">
                <a:solidFill>
                  <a:srgbClr val="000000"/>
                </a:solidFill>
                <a:latin typeface="Arial"/>
                <a:ea typeface="Arial"/>
                <a:cs typeface="Arial"/>
                <a:sym typeface="Arial"/>
              </a:rPr>
              <a:t>Total No.of KOL: </a:t>
            </a:r>
            <a:r>
              <a:rPr b="0" i="0" lang="zh-HK" sz="1215" u="none" cap="none" strike="noStrike">
                <a:solidFill>
                  <a:srgbClr val="000000"/>
                </a:solidFill>
                <a:latin typeface="Arial"/>
                <a:ea typeface="Arial"/>
                <a:cs typeface="Arial"/>
                <a:sym typeface="Arial"/>
              </a:rPr>
              <a:t>1</a:t>
            </a:r>
            <a:endParaRPr b="0" i="0" sz="1215"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388"/>
              <a:buFont typeface="Arial"/>
              <a:buNone/>
            </a:pPr>
            <a:r>
              <a:t/>
            </a:r>
            <a:endParaRPr b="0" i="0" sz="1388" u="none" cap="none" strike="noStrike">
              <a:solidFill>
                <a:srgbClr val="000000"/>
              </a:solidFill>
              <a:latin typeface="Arial"/>
              <a:ea typeface="Arial"/>
              <a:cs typeface="Arial"/>
              <a:sym typeface="Arial"/>
            </a:endParaRPr>
          </a:p>
        </p:txBody>
      </p:sp>
      <p:sp>
        <p:nvSpPr>
          <p:cNvPr id="508" name="Google Shape;508;g3f679a2d4e1_0_68"/>
          <p:cNvSpPr/>
          <p:nvPr/>
        </p:nvSpPr>
        <p:spPr>
          <a:xfrm>
            <a:off x="2020198" y="2376694"/>
            <a:ext cx="1613700" cy="1613700"/>
          </a:xfrm>
          <a:prstGeom prst="ellipse">
            <a:avLst/>
          </a:prstGeom>
          <a:solidFill>
            <a:srgbClr val="F4CCCC"/>
          </a:solidFill>
          <a:ln cap="flat" cmpd="sng" w="9525">
            <a:solidFill>
              <a:srgbClr val="000000"/>
            </a:solidFill>
            <a:prstDash val="solid"/>
            <a:round/>
            <a:headEnd len="sm" w="sm" type="none"/>
            <a:tailEnd len="sm" w="sm" type="none"/>
          </a:ln>
        </p:spPr>
        <p:txBody>
          <a:bodyPr anchorCtr="0" anchor="ctr" bIns="79325" lIns="79325" spcFirstLastPara="1" rIns="79325" wrap="square" tIns="79325">
            <a:noAutofit/>
          </a:bodyPr>
          <a:lstStyle/>
          <a:p>
            <a:pPr indent="0" lvl="0" marL="0" marR="0" rtl="0" algn="ctr">
              <a:lnSpc>
                <a:spcPct val="100000"/>
              </a:lnSpc>
              <a:spcBef>
                <a:spcPts val="0"/>
              </a:spcBef>
              <a:spcAft>
                <a:spcPts val="0"/>
              </a:spcAft>
              <a:buClr>
                <a:srgbClr val="000000"/>
              </a:buClr>
              <a:buSzPts val="1215"/>
              <a:buFont typeface="Arial"/>
              <a:buNone/>
            </a:pPr>
            <a:r>
              <a:rPr b="1" i="0" lang="zh-HK" sz="1215" u="none" cap="none" strike="noStrike">
                <a:solidFill>
                  <a:srgbClr val="000000"/>
                </a:solidFill>
                <a:latin typeface="Arial"/>
                <a:ea typeface="Arial"/>
                <a:cs typeface="Arial"/>
                <a:sym typeface="Arial"/>
              </a:rPr>
              <a:t>Total No.of Posts:</a:t>
            </a:r>
            <a:endParaRPr b="1" i="0" sz="1215"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54"/>
              <a:buFont typeface="Arial"/>
              <a:buNone/>
            </a:pPr>
            <a:r>
              <a:rPr b="0" i="0" lang="zh-HK" sz="1215" u="none" cap="none" strike="noStrike">
                <a:solidFill>
                  <a:srgbClr val="000000"/>
                </a:solidFill>
                <a:latin typeface="Arial"/>
                <a:ea typeface="Arial"/>
                <a:cs typeface="Arial"/>
                <a:sym typeface="Arial"/>
              </a:rPr>
              <a:t>1</a:t>
            </a:r>
            <a:r>
              <a:rPr lang="zh-HK" sz="1215"/>
              <a:t>5</a:t>
            </a:r>
            <a:r>
              <a:rPr b="0" i="0" lang="zh-HK" sz="1215" u="none" cap="none" strike="noStrike">
                <a:solidFill>
                  <a:srgbClr val="000000"/>
                </a:solidFill>
                <a:latin typeface="Arial"/>
                <a:ea typeface="Arial"/>
                <a:cs typeface="Arial"/>
                <a:sym typeface="Arial"/>
              </a:rPr>
              <a:t> photos</a:t>
            </a:r>
            <a:endParaRPr b="0" i="0" sz="1215"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54"/>
              <a:buFont typeface="Arial"/>
              <a:buNone/>
            </a:pPr>
            <a:r>
              <a:rPr lang="zh-HK" sz="1215"/>
              <a:t>13 Videos</a:t>
            </a:r>
            <a:endParaRPr sz="1215"/>
          </a:p>
          <a:p>
            <a:pPr indent="0" lvl="0" marL="0" marR="0" rtl="0" algn="ctr">
              <a:lnSpc>
                <a:spcPct val="100000"/>
              </a:lnSpc>
              <a:spcBef>
                <a:spcPts val="0"/>
              </a:spcBef>
              <a:spcAft>
                <a:spcPts val="0"/>
              </a:spcAft>
              <a:buClr>
                <a:srgbClr val="000000"/>
              </a:buClr>
              <a:buSzPts val="954"/>
              <a:buFont typeface="Arial"/>
              <a:buNone/>
            </a:pPr>
            <a:r>
              <a:t/>
            </a:r>
            <a:endParaRPr b="0" i="0" sz="954" u="none" cap="none" strike="noStrike">
              <a:solidFill>
                <a:srgbClr val="000000"/>
              </a:solidFill>
              <a:latin typeface="Arial"/>
              <a:ea typeface="Arial"/>
              <a:cs typeface="Arial"/>
              <a:sym typeface="Arial"/>
            </a:endParaRPr>
          </a:p>
        </p:txBody>
      </p:sp>
      <p:sp>
        <p:nvSpPr>
          <p:cNvPr id="509" name="Google Shape;509;g3f679a2d4e1_0_68"/>
          <p:cNvSpPr/>
          <p:nvPr/>
        </p:nvSpPr>
        <p:spPr>
          <a:xfrm>
            <a:off x="3744156" y="2348061"/>
            <a:ext cx="1642200" cy="1642200"/>
          </a:xfrm>
          <a:prstGeom prst="ellipse">
            <a:avLst/>
          </a:prstGeom>
          <a:solidFill>
            <a:srgbClr val="F4CCCC"/>
          </a:solidFill>
          <a:ln cap="flat" cmpd="sng" w="9525">
            <a:solidFill>
              <a:srgbClr val="000000"/>
            </a:solidFill>
            <a:prstDash val="solid"/>
            <a:round/>
            <a:headEnd len="sm" w="sm" type="none"/>
            <a:tailEnd len="sm" w="sm" type="none"/>
          </a:ln>
        </p:spPr>
        <p:txBody>
          <a:bodyPr anchorCtr="0" anchor="ctr" bIns="79325" lIns="79325" spcFirstLastPara="1" rIns="79325" wrap="square" tIns="79325">
            <a:noAutofit/>
          </a:bodyPr>
          <a:lstStyle/>
          <a:p>
            <a:pPr indent="0" lvl="0" marL="0" marR="0" rtl="0" algn="ctr">
              <a:lnSpc>
                <a:spcPct val="100000"/>
              </a:lnSpc>
              <a:spcBef>
                <a:spcPts val="0"/>
              </a:spcBef>
              <a:spcAft>
                <a:spcPts val="0"/>
              </a:spcAft>
              <a:buClr>
                <a:srgbClr val="000000"/>
              </a:buClr>
              <a:buSzPts val="1215"/>
              <a:buFont typeface="Arial"/>
              <a:buNone/>
            </a:pPr>
            <a:r>
              <a:rPr b="1" i="0" lang="zh-HK" sz="1215" u="none" cap="none" strike="noStrike">
                <a:solidFill>
                  <a:srgbClr val="000000"/>
                </a:solidFill>
                <a:latin typeface="Arial"/>
                <a:ea typeface="Arial"/>
                <a:cs typeface="Arial"/>
                <a:sym typeface="Arial"/>
              </a:rPr>
              <a:t>Total Views:</a:t>
            </a:r>
            <a:endParaRPr b="1" i="0" sz="1215"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215"/>
              <a:buFont typeface="Arial"/>
              <a:buNone/>
            </a:pPr>
            <a:r>
              <a:rPr lang="zh-HK" sz="1215"/>
              <a:t>123</a:t>
            </a:r>
            <a:r>
              <a:rPr b="0" i="0" lang="zh-HK" sz="1215" u="none" cap="none" strike="noStrike">
                <a:solidFill>
                  <a:srgbClr val="000000"/>
                </a:solidFill>
                <a:latin typeface="Arial"/>
                <a:ea typeface="Arial"/>
                <a:cs typeface="Arial"/>
                <a:sym typeface="Arial"/>
              </a:rPr>
              <a:t>,</a:t>
            </a:r>
            <a:r>
              <a:rPr lang="zh-HK" sz="1215"/>
              <a:t>217</a:t>
            </a:r>
            <a:endParaRPr b="0" i="0" sz="1215" u="none" cap="none" strike="noStrike">
              <a:solidFill>
                <a:srgbClr val="000000"/>
              </a:solidFill>
              <a:latin typeface="Arial"/>
              <a:ea typeface="Arial"/>
              <a:cs typeface="Arial"/>
              <a:sym typeface="Arial"/>
            </a:endParaRPr>
          </a:p>
        </p:txBody>
      </p:sp>
      <p:sp>
        <p:nvSpPr>
          <p:cNvPr id="510" name="Google Shape;510;g3f679a2d4e1_0_68"/>
          <p:cNvSpPr/>
          <p:nvPr/>
        </p:nvSpPr>
        <p:spPr>
          <a:xfrm>
            <a:off x="5474843" y="2362376"/>
            <a:ext cx="1642200" cy="1642200"/>
          </a:xfrm>
          <a:prstGeom prst="ellipse">
            <a:avLst/>
          </a:prstGeom>
          <a:solidFill>
            <a:srgbClr val="F4CCCC"/>
          </a:solidFill>
          <a:ln cap="flat" cmpd="sng" w="9525">
            <a:solidFill>
              <a:srgbClr val="000000"/>
            </a:solidFill>
            <a:prstDash val="solid"/>
            <a:round/>
            <a:headEnd len="sm" w="sm" type="none"/>
            <a:tailEnd len="sm" w="sm" type="none"/>
          </a:ln>
        </p:spPr>
        <p:txBody>
          <a:bodyPr anchorCtr="0" anchor="ctr" bIns="79325" lIns="79325" spcFirstLastPara="1" rIns="79325" wrap="square" tIns="79325">
            <a:noAutofit/>
          </a:bodyPr>
          <a:lstStyle/>
          <a:p>
            <a:pPr indent="0" lvl="0" marL="0" marR="0" rtl="0" algn="ctr">
              <a:lnSpc>
                <a:spcPct val="100000"/>
              </a:lnSpc>
              <a:spcBef>
                <a:spcPts val="0"/>
              </a:spcBef>
              <a:spcAft>
                <a:spcPts val="0"/>
              </a:spcAft>
              <a:buClr>
                <a:srgbClr val="000000"/>
              </a:buClr>
              <a:buSzPts val="1215"/>
              <a:buFont typeface="Arial"/>
              <a:buNone/>
            </a:pPr>
            <a:r>
              <a:rPr b="1" i="0" lang="zh-HK" sz="1215" u="none" cap="none" strike="noStrike">
                <a:solidFill>
                  <a:srgbClr val="000000"/>
                </a:solidFill>
                <a:latin typeface="Arial"/>
                <a:ea typeface="Arial"/>
                <a:cs typeface="Arial"/>
                <a:sym typeface="Arial"/>
              </a:rPr>
              <a:t>Total Engagement:</a:t>
            </a:r>
            <a:endParaRPr b="1" i="0" sz="1215"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215"/>
              <a:buFont typeface="Arial"/>
              <a:buNone/>
            </a:pPr>
            <a:r>
              <a:rPr lang="zh-HK" sz="1215"/>
              <a:t>9</a:t>
            </a:r>
            <a:r>
              <a:rPr b="0" i="0" lang="zh-HK" sz="1215" u="none" cap="none" strike="noStrike">
                <a:solidFill>
                  <a:srgbClr val="000000"/>
                </a:solidFill>
                <a:latin typeface="Arial"/>
                <a:ea typeface="Arial"/>
                <a:cs typeface="Arial"/>
                <a:sym typeface="Arial"/>
              </a:rPr>
              <a:t>,7</a:t>
            </a:r>
            <a:r>
              <a:rPr lang="zh-HK" sz="1215"/>
              <a:t>26</a:t>
            </a:r>
            <a:endParaRPr b="0" i="0" sz="1215" u="none" cap="none" strike="noStrike">
              <a:solidFill>
                <a:srgbClr val="000000"/>
              </a:solidFill>
              <a:latin typeface="Arial"/>
              <a:ea typeface="Arial"/>
              <a:cs typeface="Arial"/>
              <a:sym typeface="Arial"/>
            </a:endParaRPr>
          </a:p>
        </p:txBody>
      </p:sp>
      <p:sp>
        <p:nvSpPr>
          <p:cNvPr id="511" name="Google Shape;511;g3f679a2d4e1_0_68"/>
          <p:cNvSpPr/>
          <p:nvPr/>
        </p:nvSpPr>
        <p:spPr>
          <a:xfrm>
            <a:off x="7205543" y="2333876"/>
            <a:ext cx="1642200" cy="1642200"/>
          </a:xfrm>
          <a:prstGeom prst="ellipse">
            <a:avLst/>
          </a:prstGeom>
          <a:solidFill>
            <a:srgbClr val="F4CCCC"/>
          </a:solidFill>
          <a:ln cap="flat" cmpd="sng" w="9525">
            <a:solidFill>
              <a:srgbClr val="000000"/>
            </a:solidFill>
            <a:prstDash val="solid"/>
            <a:round/>
            <a:headEnd len="sm" w="sm" type="none"/>
            <a:tailEnd len="sm" w="sm" type="none"/>
          </a:ln>
        </p:spPr>
        <p:txBody>
          <a:bodyPr anchorCtr="0" anchor="ctr" bIns="79325" lIns="79325" spcFirstLastPara="1" rIns="79325" wrap="square" tIns="79325">
            <a:noAutofit/>
          </a:bodyPr>
          <a:lstStyle/>
          <a:p>
            <a:pPr indent="0" lvl="0" marL="0" marR="0" rtl="0" algn="ctr">
              <a:lnSpc>
                <a:spcPct val="100000"/>
              </a:lnSpc>
              <a:spcBef>
                <a:spcPts val="0"/>
              </a:spcBef>
              <a:spcAft>
                <a:spcPts val="0"/>
              </a:spcAft>
              <a:buClr>
                <a:srgbClr val="000000"/>
              </a:buClr>
              <a:buSzPts val="1215"/>
              <a:buFont typeface="Arial"/>
              <a:buNone/>
            </a:pPr>
            <a:r>
              <a:rPr b="1" i="0" lang="zh-HK" sz="1215" u="none" cap="none" strike="noStrike">
                <a:solidFill>
                  <a:srgbClr val="000000"/>
                </a:solidFill>
                <a:latin typeface="Arial"/>
                <a:ea typeface="Arial"/>
                <a:cs typeface="Arial"/>
                <a:sym typeface="Arial"/>
              </a:rPr>
              <a:t>Engagement Rate: </a:t>
            </a:r>
            <a:r>
              <a:rPr lang="zh-HK" sz="1215"/>
              <a:t>7</a:t>
            </a:r>
            <a:r>
              <a:rPr b="0" i="0" lang="zh-HK" sz="1215" u="none" cap="none" strike="noStrike">
                <a:solidFill>
                  <a:srgbClr val="000000"/>
                </a:solidFill>
                <a:latin typeface="Arial"/>
                <a:ea typeface="Arial"/>
                <a:cs typeface="Arial"/>
                <a:sym typeface="Arial"/>
              </a:rPr>
              <a:t>.</a:t>
            </a:r>
            <a:r>
              <a:rPr lang="zh-HK" sz="1215"/>
              <a:t>89</a:t>
            </a:r>
            <a:r>
              <a:rPr b="0" i="0" lang="zh-HK" sz="1215" u="none" cap="none" strike="noStrike">
                <a:solidFill>
                  <a:srgbClr val="000000"/>
                </a:solidFill>
                <a:latin typeface="Arial"/>
                <a:ea typeface="Arial"/>
                <a:cs typeface="Arial"/>
                <a:sym typeface="Arial"/>
              </a:rPr>
              <a:t>%</a:t>
            </a:r>
            <a:endParaRPr b="0" i="0" sz="1215" u="none" cap="none" strike="noStrike">
              <a:solidFill>
                <a:srgbClr val="000000"/>
              </a:solidFill>
              <a:latin typeface="Arial"/>
              <a:ea typeface="Arial"/>
              <a:cs typeface="Arial"/>
              <a:sym typeface="Arial"/>
            </a:endParaRPr>
          </a:p>
        </p:txBody>
      </p:sp>
      <p:sp>
        <p:nvSpPr>
          <p:cNvPr id="512" name="Google Shape;512;g3f679a2d4e1_0_68"/>
          <p:cNvSpPr txBox="1"/>
          <p:nvPr/>
        </p:nvSpPr>
        <p:spPr>
          <a:xfrm>
            <a:off x="7265175" y="4894269"/>
            <a:ext cx="16662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Arial"/>
              <a:buNone/>
            </a:pPr>
            <a:r>
              <a:rPr b="0" i="0" lang="zh-HK" sz="1000" u="none" cap="none" strike="noStrike">
                <a:solidFill>
                  <a:schemeClr val="dk2"/>
                </a:solidFill>
                <a:latin typeface="Arial"/>
                <a:ea typeface="Arial"/>
                <a:cs typeface="Arial"/>
                <a:sym typeface="Arial"/>
              </a:rPr>
              <a:t>Data collected by </a:t>
            </a:r>
            <a:r>
              <a:rPr lang="zh-HK" sz="1000">
                <a:solidFill>
                  <a:schemeClr val="dk2"/>
                </a:solidFill>
              </a:rPr>
              <a:t>Aug</a:t>
            </a:r>
            <a:r>
              <a:rPr b="0" i="0" lang="zh-HK" sz="1000" u="none" cap="none" strike="noStrike">
                <a:solidFill>
                  <a:schemeClr val="dk2"/>
                </a:solidFill>
                <a:latin typeface="Arial"/>
                <a:ea typeface="Arial"/>
                <a:cs typeface="Arial"/>
                <a:sym typeface="Arial"/>
              </a:rPr>
              <a:t> </a:t>
            </a:r>
            <a:r>
              <a:rPr lang="zh-HK" sz="1000">
                <a:solidFill>
                  <a:schemeClr val="dk2"/>
                </a:solidFill>
              </a:rPr>
              <a:t>3</a:t>
            </a:r>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3f679a2d4e1_0_140"/>
          <p:cNvSpPr txBox="1"/>
          <p:nvPr/>
        </p:nvSpPr>
        <p:spPr>
          <a:xfrm>
            <a:off x="945700" y="254050"/>
            <a:ext cx="4316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KOL Campaign Summary</a:t>
            </a:r>
            <a:endParaRPr b="1" i="0" sz="2000" u="none" cap="none" strike="noStrike">
              <a:solidFill>
                <a:srgbClr val="000000"/>
              </a:solidFill>
              <a:latin typeface="Arial"/>
              <a:ea typeface="Arial"/>
              <a:cs typeface="Arial"/>
              <a:sym typeface="Arial"/>
            </a:endParaRPr>
          </a:p>
        </p:txBody>
      </p:sp>
      <p:sp>
        <p:nvSpPr>
          <p:cNvPr id="518" name="Google Shape;518;g3f679a2d4e1_0_140"/>
          <p:cNvSpPr txBox="1"/>
          <p:nvPr/>
        </p:nvSpPr>
        <p:spPr>
          <a:xfrm>
            <a:off x="351175" y="3792538"/>
            <a:ext cx="8561400" cy="5817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0"/>
              </a:spcBef>
              <a:spcAft>
                <a:spcPts val="0"/>
              </a:spcAft>
              <a:buClr>
                <a:schemeClr val="dk1"/>
              </a:buClr>
              <a:buSzPts val="1200"/>
              <a:buFont typeface="Times New Roman"/>
              <a:buChar char="●"/>
            </a:pPr>
            <a:r>
              <a:rPr b="0" i="0" lang="zh-HK" sz="1200" u="none" cap="none" strike="noStrike">
                <a:solidFill>
                  <a:srgbClr val="212121"/>
                </a:solidFill>
                <a:highlight>
                  <a:srgbClr val="FFFFFF"/>
                </a:highlight>
                <a:latin typeface="Times New Roman"/>
                <a:ea typeface="Times New Roman"/>
                <a:cs typeface="Times New Roman"/>
                <a:sym typeface="Times New Roman"/>
              </a:rPr>
              <a:t>Among all campaigns, the </a:t>
            </a:r>
            <a:r>
              <a:rPr lang="zh-HK" sz="1200">
                <a:solidFill>
                  <a:srgbClr val="212121"/>
                </a:solidFill>
                <a:highlight>
                  <a:srgbClr val="FFFFFF"/>
                </a:highlight>
                <a:latin typeface="Times New Roman"/>
                <a:ea typeface="Times New Roman"/>
                <a:cs typeface="Times New Roman"/>
                <a:sym typeface="Times New Roman"/>
              </a:rPr>
              <a:t>chiikawa</a:t>
            </a:r>
            <a:r>
              <a:rPr b="0" i="0" lang="zh-HK" sz="1200" u="none" cap="none" strike="noStrike">
                <a:solidFill>
                  <a:srgbClr val="212121"/>
                </a:solidFill>
                <a:highlight>
                  <a:srgbClr val="FFFFFF"/>
                </a:highlight>
                <a:latin typeface="Times New Roman"/>
                <a:ea typeface="Times New Roman"/>
                <a:cs typeface="Times New Roman"/>
                <a:sym typeface="Times New Roman"/>
              </a:rPr>
              <a:t> campaign delivered average views at a mid-tier level.</a:t>
            </a:r>
            <a:endParaRPr b="0" i="0" sz="1200" u="none" cap="none" strike="noStrike">
              <a:solidFill>
                <a:srgbClr val="212121"/>
              </a:solidFill>
              <a:highlight>
                <a:srgbClr val="FFFFFF"/>
              </a:highlight>
              <a:latin typeface="Times New Roman"/>
              <a:ea typeface="Times New Roman"/>
              <a:cs typeface="Times New Roman"/>
              <a:sym typeface="Times New Roman"/>
            </a:endParaRPr>
          </a:p>
          <a:p>
            <a:pPr indent="-304800" lvl="0" marL="457200" marR="0" rtl="0" algn="l">
              <a:lnSpc>
                <a:spcPct val="115000"/>
              </a:lnSpc>
              <a:spcBef>
                <a:spcPts val="0"/>
              </a:spcBef>
              <a:spcAft>
                <a:spcPts val="0"/>
              </a:spcAft>
              <a:buClr>
                <a:schemeClr val="dk1"/>
              </a:buClr>
              <a:buSzPts val="1200"/>
              <a:buFont typeface="Times New Roman"/>
              <a:buChar char="●"/>
            </a:pPr>
            <a:r>
              <a:rPr b="0" i="0" lang="zh-HK" sz="1200" u="none" cap="none" strike="noStrike">
                <a:solidFill>
                  <a:srgbClr val="212121"/>
                </a:solidFill>
                <a:highlight>
                  <a:srgbClr val="FFFFFF"/>
                </a:highlight>
                <a:latin typeface="Times New Roman"/>
                <a:ea typeface="Times New Roman"/>
                <a:cs typeface="Times New Roman"/>
                <a:sym typeface="Times New Roman"/>
              </a:rPr>
              <a:t>With only 1 quota, it achieved a </a:t>
            </a:r>
            <a:r>
              <a:rPr b="1" lang="zh-HK" sz="1200">
                <a:solidFill>
                  <a:srgbClr val="212121"/>
                </a:solidFill>
                <a:highlight>
                  <a:srgbClr val="FFFFFF"/>
                </a:highlight>
                <a:latin typeface="Times New Roman"/>
                <a:ea typeface="Times New Roman"/>
                <a:cs typeface="Times New Roman"/>
                <a:sym typeface="Times New Roman"/>
              </a:rPr>
              <a:t>7</a:t>
            </a:r>
            <a:r>
              <a:rPr b="1" i="0" lang="zh-HK" sz="1200" u="none" cap="none" strike="noStrike">
                <a:solidFill>
                  <a:srgbClr val="212121"/>
                </a:solidFill>
                <a:highlight>
                  <a:srgbClr val="FFFFFF"/>
                </a:highlight>
                <a:latin typeface="Times New Roman"/>
                <a:ea typeface="Times New Roman"/>
                <a:cs typeface="Times New Roman"/>
                <a:sym typeface="Times New Roman"/>
              </a:rPr>
              <a:t>.</a:t>
            </a:r>
            <a:r>
              <a:rPr b="1" lang="zh-HK" sz="1200">
                <a:solidFill>
                  <a:srgbClr val="212121"/>
                </a:solidFill>
                <a:highlight>
                  <a:srgbClr val="FFFFFF"/>
                </a:highlight>
                <a:latin typeface="Times New Roman"/>
                <a:ea typeface="Times New Roman"/>
                <a:cs typeface="Times New Roman"/>
                <a:sym typeface="Times New Roman"/>
              </a:rPr>
              <a:t>89</a:t>
            </a:r>
            <a:r>
              <a:rPr b="1" i="0" lang="zh-HK" sz="1200" u="none" cap="none" strike="noStrike">
                <a:solidFill>
                  <a:srgbClr val="212121"/>
                </a:solidFill>
                <a:highlight>
                  <a:srgbClr val="FFFFFF"/>
                </a:highlight>
                <a:latin typeface="Times New Roman"/>
                <a:ea typeface="Times New Roman"/>
                <a:cs typeface="Times New Roman"/>
                <a:sym typeface="Times New Roman"/>
              </a:rPr>
              <a:t>% </a:t>
            </a:r>
            <a:r>
              <a:rPr b="0" i="0" lang="zh-HK" sz="1200" u="none" cap="none" strike="noStrike">
                <a:solidFill>
                  <a:srgbClr val="212121"/>
                </a:solidFill>
                <a:highlight>
                  <a:srgbClr val="FFFFFF"/>
                </a:highlight>
                <a:latin typeface="Times New Roman"/>
                <a:ea typeface="Times New Roman"/>
                <a:cs typeface="Times New Roman"/>
                <a:sym typeface="Times New Roman"/>
              </a:rPr>
              <a:t>engagement rate, showing strong conversion efficiency for the brand activation.</a:t>
            </a:r>
            <a:endParaRPr b="0" i="0" sz="1200" u="none" cap="none" strike="noStrike">
              <a:solidFill>
                <a:srgbClr val="212121"/>
              </a:solidFill>
              <a:highlight>
                <a:srgbClr val="FFFFFF"/>
              </a:highlight>
              <a:latin typeface="Times New Roman"/>
              <a:ea typeface="Times New Roman"/>
              <a:cs typeface="Times New Roman"/>
              <a:sym typeface="Times New Roman"/>
            </a:endParaRPr>
          </a:p>
        </p:txBody>
      </p:sp>
      <p:pic>
        <p:nvPicPr>
          <p:cNvPr id="519" name="Google Shape;519;g3f679a2d4e1_0_140"/>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520" name="Google Shape;520;g3f679a2d4e1_0_140"/>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521" name="Google Shape;521;g3f679a2d4e1_0_140"/>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522" name="Google Shape;522;g3f679a2d4e1_0_140"/>
          <p:cNvPicPr preferRelativeResize="0"/>
          <p:nvPr/>
        </p:nvPicPr>
        <p:blipFill rotWithShape="1">
          <a:blip r:embed="rId4">
            <a:alphaModFix/>
          </a:blip>
          <a:srcRect b="21020" l="14061" r="17215" t="26140"/>
          <a:stretch/>
        </p:blipFill>
        <p:spPr>
          <a:xfrm>
            <a:off x="8094845" y="170700"/>
            <a:ext cx="1049154" cy="423511"/>
          </a:xfrm>
          <a:prstGeom prst="rect">
            <a:avLst/>
          </a:prstGeom>
          <a:noFill/>
          <a:ln>
            <a:noFill/>
          </a:ln>
        </p:spPr>
      </p:pic>
      <p:pic>
        <p:nvPicPr>
          <p:cNvPr id="523" name="Google Shape;523;g3f679a2d4e1_0_140" title="Chart"/>
          <p:cNvPicPr preferRelativeResize="0"/>
          <p:nvPr/>
        </p:nvPicPr>
        <p:blipFill>
          <a:blip r:embed="rId5">
            <a:alphaModFix/>
          </a:blip>
          <a:stretch>
            <a:fillRect/>
          </a:stretch>
        </p:blipFill>
        <p:spPr>
          <a:xfrm>
            <a:off x="4939634" y="1552088"/>
            <a:ext cx="4051965" cy="1813365"/>
          </a:xfrm>
          <a:prstGeom prst="rect">
            <a:avLst/>
          </a:prstGeom>
          <a:noFill/>
          <a:ln>
            <a:noFill/>
          </a:ln>
        </p:spPr>
      </p:pic>
      <p:sp>
        <p:nvSpPr>
          <p:cNvPr id="524" name="Google Shape;524;g3f679a2d4e1_0_140"/>
          <p:cNvSpPr txBox="1"/>
          <p:nvPr/>
        </p:nvSpPr>
        <p:spPr>
          <a:xfrm>
            <a:off x="7265175" y="4894269"/>
            <a:ext cx="16662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Arial"/>
              <a:buNone/>
            </a:pPr>
            <a:r>
              <a:rPr b="0" i="0" lang="zh-HK" sz="1000" u="none" cap="none" strike="noStrike">
                <a:solidFill>
                  <a:schemeClr val="dk2"/>
                </a:solidFill>
                <a:latin typeface="Arial"/>
                <a:ea typeface="Arial"/>
                <a:cs typeface="Arial"/>
                <a:sym typeface="Arial"/>
              </a:rPr>
              <a:t>Data collected by </a:t>
            </a:r>
            <a:r>
              <a:rPr lang="zh-HK" sz="1000">
                <a:solidFill>
                  <a:schemeClr val="dk2"/>
                </a:solidFill>
              </a:rPr>
              <a:t>Aug</a:t>
            </a:r>
            <a:r>
              <a:rPr b="0" i="0" lang="zh-HK" sz="1000" u="none" cap="none" strike="noStrike">
                <a:solidFill>
                  <a:schemeClr val="dk2"/>
                </a:solidFill>
                <a:latin typeface="Arial"/>
                <a:ea typeface="Arial"/>
                <a:cs typeface="Arial"/>
                <a:sym typeface="Arial"/>
              </a:rPr>
              <a:t> </a:t>
            </a:r>
            <a:r>
              <a:rPr lang="zh-HK" sz="1000">
                <a:solidFill>
                  <a:schemeClr val="dk2"/>
                </a:solidFill>
              </a:rPr>
              <a:t>3</a:t>
            </a:r>
            <a:endParaRPr b="0" i="0" sz="1000" u="none" cap="none" strike="noStrike">
              <a:solidFill>
                <a:schemeClr val="dk2"/>
              </a:solidFill>
              <a:latin typeface="Arial"/>
              <a:ea typeface="Arial"/>
              <a:cs typeface="Arial"/>
              <a:sym typeface="Arial"/>
            </a:endParaRPr>
          </a:p>
        </p:txBody>
      </p:sp>
      <p:pic>
        <p:nvPicPr>
          <p:cNvPr id="525" name="Google Shape;525;g3f679a2d4e1_0_140" title="Chart"/>
          <p:cNvPicPr preferRelativeResize="0"/>
          <p:nvPr/>
        </p:nvPicPr>
        <p:blipFill>
          <a:blip r:embed="rId6">
            <a:alphaModFix/>
          </a:blip>
          <a:stretch>
            <a:fillRect/>
          </a:stretch>
        </p:blipFill>
        <p:spPr>
          <a:xfrm>
            <a:off x="198950" y="1293125"/>
            <a:ext cx="4634835" cy="207232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g3f679a2d4e1_0_209"/>
          <p:cNvSpPr txBox="1"/>
          <p:nvPr/>
        </p:nvSpPr>
        <p:spPr>
          <a:xfrm>
            <a:off x="945700" y="254050"/>
            <a:ext cx="4316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zh-HK" sz="1800" u="none" cap="none" strike="noStrike">
                <a:solidFill>
                  <a:schemeClr val="dk1"/>
                </a:solidFill>
                <a:latin typeface="Times New Roman"/>
                <a:ea typeface="Times New Roman"/>
                <a:cs typeface="Times New Roman"/>
                <a:sym typeface="Times New Roman"/>
              </a:rPr>
              <a:t>KOL Performance</a:t>
            </a:r>
            <a:endParaRPr b="1" i="0" sz="2000" u="none" cap="none" strike="noStrike">
              <a:solidFill>
                <a:srgbClr val="000000"/>
              </a:solidFill>
              <a:latin typeface="Arial"/>
              <a:ea typeface="Arial"/>
              <a:cs typeface="Arial"/>
              <a:sym typeface="Arial"/>
            </a:endParaRPr>
          </a:p>
        </p:txBody>
      </p:sp>
      <p:pic>
        <p:nvPicPr>
          <p:cNvPr id="531" name="Google Shape;531;g3f679a2d4e1_0_209"/>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532" name="Google Shape;532;g3f679a2d4e1_0_209"/>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533" name="Google Shape;533;g3f679a2d4e1_0_209"/>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534" name="Google Shape;534;g3f679a2d4e1_0_209"/>
          <p:cNvPicPr preferRelativeResize="0"/>
          <p:nvPr/>
        </p:nvPicPr>
        <p:blipFill rotWithShape="1">
          <a:blip r:embed="rId4">
            <a:alphaModFix/>
          </a:blip>
          <a:srcRect b="21020" l="14061" r="17215" t="26140"/>
          <a:stretch/>
        </p:blipFill>
        <p:spPr>
          <a:xfrm>
            <a:off x="8094845" y="170700"/>
            <a:ext cx="1049154" cy="423511"/>
          </a:xfrm>
          <a:prstGeom prst="rect">
            <a:avLst/>
          </a:prstGeom>
          <a:noFill/>
          <a:ln>
            <a:noFill/>
          </a:ln>
        </p:spPr>
      </p:pic>
      <p:graphicFrame>
        <p:nvGraphicFramePr>
          <p:cNvPr id="535" name="Google Shape;535;g3f679a2d4e1_0_209"/>
          <p:cNvGraphicFramePr/>
          <p:nvPr/>
        </p:nvGraphicFramePr>
        <p:xfrm>
          <a:off x="104525" y="3765325"/>
          <a:ext cx="3000000" cy="3000000"/>
        </p:xfrm>
        <a:graphic>
          <a:graphicData uri="http://schemas.openxmlformats.org/drawingml/2006/table">
            <a:tbl>
              <a:tblPr>
                <a:noFill/>
                <a:tableStyleId>{873EBEE7-B6FE-475A-94F5-F896A97D1A76}</a:tableStyleId>
              </a:tblPr>
              <a:tblGrid>
                <a:gridCol w="888550"/>
                <a:gridCol w="888550"/>
                <a:gridCol w="888550"/>
                <a:gridCol w="888550"/>
                <a:gridCol w="888550"/>
                <a:gridCol w="888550"/>
                <a:gridCol w="888550"/>
                <a:gridCol w="888550"/>
                <a:gridCol w="888550"/>
                <a:gridCol w="888550"/>
              </a:tblGrid>
              <a:tr h="323525">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KOL name</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Fans No</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Post feed</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Post link</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Views</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Likes</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Saves</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Comments</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Total Engagement</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Engagement rate</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157325">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喵星人汪一个</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114,000</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Video</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HK" sz="1000" u="sng">
                          <a:solidFill>
                            <a:schemeClr val="hlink"/>
                          </a:solidFill>
                          <a:latin typeface="Times New Roman"/>
                          <a:ea typeface="Times New Roman"/>
                          <a:cs typeface="Times New Roman"/>
                          <a:sym typeface="Times New Roman"/>
                          <a:hlinkClick r:id="rId5"/>
                        </a:rPr>
                        <a:t>link</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2,950</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244</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24</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20</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288</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9.76%</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2625">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喵星人汪一个</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114,000</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Video</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HK" sz="1000" u="sng">
                          <a:solidFill>
                            <a:schemeClr val="hlink"/>
                          </a:solidFill>
                          <a:latin typeface="Times New Roman"/>
                          <a:ea typeface="Times New Roman"/>
                          <a:cs typeface="Times New Roman"/>
                          <a:sym typeface="Times New Roman"/>
                          <a:hlinkClick r:id="rId6"/>
                        </a:rPr>
                        <a:t>link</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11,908</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806</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332</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35</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1,173</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9.85%</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1100">
                <a:tc gridSpan="4">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Total</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hMerge="1"/>
                <a:tc hMerge="1"/>
                <a:tc hMerge="1"/>
                <a:tc>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14,858</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1,050</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356</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55</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1,461</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9.83%</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r>
            </a:tbl>
          </a:graphicData>
        </a:graphic>
      </p:graphicFrame>
      <p:pic>
        <p:nvPicPr>
          <p:cNvPr id="536" name="Google Shape;536;g3f679a2d4e1_0_209" title="截屏2026-08-07 11.16.26.png"/>
          <p:cNvPicPr preferRelativeResize="0"/>
          <p:nvPr/>
        </p:nvPicPr>
        <p:blipFill rotWithShape="1">
          <a:blip r:embed="rId7">
            <a:alphaModFix/>
          </a:blip>
          <a:srcRect b="2774" l="2167" r="1522" t="2859"/>
          <a:stretch/>
        </p:blipFill>
        <p:spPr>
          <a:xfrm>
            <a:off x="3342800" y="1024875"/>
            <a:ext cx="3103325" cy="2279601"/>
          </a:xfrm>
          <a:prstGeom prst="rect">
            <a:avLst/>
          </a:prstGeom>
          <a:noFill/>
          <a:ln>
            <a:noFill/>
          </a:ln>
        </p:spPr>
      </p:pic>
      <p:pic>
        <p:nvPicPr>
          <p:cNvPr id="537" name="Google Shape;537;g3f679a2d4e1_0_209" title="截屏2026-08-07 11.16.42.png"/>
          <p:cNvPicPr preferRelativeResize="0"/>
          <p:nvPr/>
        </p:nvPicPr>
        <p:blipFill rotWithShape="1">
          <a:blip r:embed="rId8">
            <a:alphaModFix/>
          </a:blip>
          <a:srcRect b="2774" l="0" r="1584" t="2859"/>
          <a:stretch/>
        </p:blipFill>
        <p:spPr>
          <a:xfrm>
            <a:off x="171475" y="1024875"/>
            <a:ext cx="3171326" cy="2279599"/>
          </a:xfrm>
          <a:prstGeom prst="rect">
            <a:avLst/>
          </a:prstGeom>
          <a:noFill/>
          <a:ln>
            <a:noFill/>
          </a:ln>
        </p:spPr>
      </p:pic>
      <p:sp>
        <p:nvSpPr>
          <p:cNvPr id="538" name="Google Shape;538;g3f679a2d4e1_0_209"/>
          <p:cNvSpPr txBox="1"/>
          <p:nvPr/>
        </p:nvSpPr>
        <p:spPr>
          <a:xfrm>
            <a:off x="6318142" y="669413"/>
            <a:ext cx="2697900" cy="28938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rgbClr val="212121"/>
              </a:buClr>
              <a:buSzPts val="1100"/>
              <a:buFont typeface="Times New Roman"/>
              <a:buChar char="●"/>
            </a:pPr>
            <a:r>
              <a:rPr lang="zh-HK" sz="1100">
                <a:solidFill>
                  <a:srgbClr val="212121"/>
                </a:solidFill>
                <a:highlight>
                  <a:srgbClr val="FFFFFF"/>
                </a:highlight>
                <a:latin typeface="Times New Roman"/>
                <a:ea typeface="Times New Roman"/>
                <a:cs typeface="Times New Roman"/>
                <a:sym typeface="Times New Roman"/>
              </a:rPr>
              <a:t>KOL “</a:t>
            </a:r>
            <a:r>
              <a:rPr lang="zh-HK" sz="1100">
                <a:solidFill>
                  <a:srgbClr val="212121"/>
                </a:solidFill>
                <a:latin typeface="Times New Roman"/>
                <a:ea typeface="Times New Roman"/>
                <a:cs typeface="Times New Roman"/>
                <a:sym typeface="Times New Roman"/>
              </a:rPr>
              <a:t>喵星人汪一个</a:t>
            </a:r>
            <a:r>
              <a:rPr lang="zh-HK" sz="1100">
                <a:solidFill>
                  <a:srgbClr val="212121"/>
                </a:solidFill>
                <a:highlight>
                  <a:srgbClr val="FFFFFF"/>
                </a:highlight>
                <a:latin typeface="Times New Roman"/>
                <a:ea typeface="Times New Roman"/>
                <a:cs typeface="Times New Roman"/>
                <a:sym typeface="Times New Roman"/>
              </a:rPr>
              <a:t>” published two Chiikawa-themed short videos promoting Langham Place. The posts accumulated 14,858 views and 1,461 total engagements, with an overall engagement rate of 9.83%.</a:t>
            </a:r>
            <a:br>
              <a:rPr lang="zh-HK" sz="1100">
                <a:solidFill>
                  <a:srgbClr val="212121"/>
                </a:solidFill>
                <a:highlight>
                  <a:srgbClr val="FFFFFF"/>
                </a:highlight>
                <a:latin typeface="Times New Roman"/>
                <a:ea typeface="Times New Roman"/>
                <a:cs typeface="Times New Roman"/>
                <a:sym typeface="Times New Roman"/>
              </a:rPr>
            </a:br>
            <a:endParaRPr sz="1100">
              <a:solidFill>
                <a:srgbClr val="212121"/>
              </a:solidFill>
              <a:highlight>
                <a:srgbClr val="FFFFFF"/>
              </a:highlight>
              <a:latin typeface="Times New Roman"/>
              <a:ea typeface="Times New Roman"/>
              <a:cs typeface="Times New Roman"/>
              <a:sym typeface="Times New Roman"/>
            </a:endParaRPr>
          </a:p>
          <a:p>
            <a:pPr indent="-298450" lvl="0" marL="457200" rtl="0" algn="l">
              <a:lnSpc>
                <a:spcPct val="150000"/>
              </a:lnSpc>
              <a:spcBef>
                <a:spcPts val="0"/>
              </a:spcBef>
              <a:spcAft>
                <a:spcPts val="0"/>
              </a:spcAft>
              <a:buClr>
                <a:srgbClr val="212121"/>
              </a:buClr>
              <a:buSzPts val="1100"/>
              <a:buFont typeface="Times New Roman"/>
              <a:buChar char="●"/>
            </a:pPr>
            <a:r>
              <a:rPr lang="zh-HK" sz="1100">
                <a:solidFill>
                  <a:srgbClr val="212121"/>
                </a:solidFill>
                <a:highlight>
                  <a:srgbClr val="FFFFFF"/>
                </a:highlight>
                <a:latin typeface="Times New Roman"/>
                <a:ea typeface="Times New Roman"/>
                <a:cs typeface="Times New Roman"/>
                <a:sym typeface="Times New Roman"/>
              </a:rPr>
              <a:t>The second video outperformed the first across all interaction metrics, demonstrating strong audience appeal of the Chiikawa IP content.</a:t>
            </a:r>
            <a:endParaRPr sz="1100"/>
          </a:p>
        </p:txBody>
      </p:sp>
      <p:sp>
        <p:nvSpPr>
          <p:cNvPr id="539" name="Google Shape;539;g3f679a2d4e1_0_209"/>
          <p:cNvSpPr txBox="1"/>
          <p:nvPr/>
        </p:nvSpPr>
        <p:spPr>
          <a:xfrm>
            <a:off x="7265175" y="4894269"/>
            <a:ext cx="16662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Arial"/>
              <a:buNone/>
            </a:pPr>
            <a:r>
              <a:rPr b="0" i="0" lang="zh-HK" sz="1000" u="none" cap="none" strike="noStrike">
                <a:solidFill>
                  <a:schemeClr val="dk2"/>
                </a:solidFill>
                <a:latin typeface="Arial"/>
                <a:ea typeface="Arial"/>
                <a:cs typeface="Arial"/>
                <a:sym typeface="Arial"/>
              </a:rPr>
              <a:t>Data collected by </a:t>
            </a:r>
            <a:r>
              <a:rPr lang="zh-HK" sz="1000">
                <a:solidFill>
                  <a:schemeClr val="dk2"/>
                </a:solidFill>
              </a:rPr>
              <a:t>Aug</a:t>
            </a:r>
            <a:r>
              <a:rPr b="0" i="0" lang="zh-HK" sz="1000" u="none" cap="none" strike="noStrike">
                <a:solidFill>
                  <a:schemeClr val="dk2"/>
                </a:solidFill>
                <a:latin typeface="Arial"/>
                <a:ea typeface="Arial"/>
                <a:cs typeface="Arial"/>
                <a:sym typeface="Arial"/>
              </a:rPr>
              <a:t> </a:t>
            </a:r>
            <a:r>
              <a:rPr lang="zh-HK" sz="1000">
                <a:solidFill>
                  <a:schemeClr val="dk2"/>
                </a:solidFill>
              </a:rPr>
              <a:t>3</a:t>
            </a:r>
            <a:endParaRPr b="0" i="0" sz="1000" u="none" cap="none" strike="noStrike">
              <a:solidFill>
                <a:schemeClr val="dk2"/>
              </a:solidFill>
              <a:latin typeface="Arial"/>
              <a:ea typeface="Arial"/>
              <a:cs typeface="Arial"/>
              <a:sym typeface="Arial"/>
            </a:endParaRPr>
          </a:p>
        </p:txBody>
      </p:sp>
      <p:sp>
        <p:nvSpPr>
          <p:cNvPr id="540" name="Google Shape;540;g3f679a2d4e1_0_209"/>
          <p:cNvSpPr/>
          <p:nvPr/>
        </p:nvSpPr>
        <p:spPr>
          <a:xfrm>
            <a:off x="104525" y="4368886"/>
            <a:ext cx="8885400" cy="21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g3f679a2d4e1_0_278"/>
          <p:cNvSpPr txBox="1"/>
          <p:nvPr/>
        </p:nvSpPr>
        <p:spPr>
          <a:xfrm>
            <a:off x="945700" y="254050"/>
            <a:ext cx="4316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zh-HK" sz="1800" u="none" cap="none" strike="noStrike">
                <a:solidFill>
                  <a:schemeClr val="dk1"/>
                </a:solidFill>
                <a:latin typeface="Times New Roman"/>
                <a:ea typeface="Times New Roman"/>
                <a:cs typeface="Times New Roman"/>
                <a:sym typeface="Times New Roman"/>
              </a:rPr>
              <a:t>KOC Performance</a:t>
            </a:r>
            <a:endParaRPr b="1" i="0" sz="2000" u="none" cap="none" strike="noStrike">
              <a:solidFill>
                <a:srgbClr val="000000"/>
              </a:solidFill>
              <a:latin typeface="Arial"/>
              <a:ea typeface="Arial"/>
              <a:cs typeface="Arial"/>
              <a:sym typeface="Arial"/>
            </a:endParaRPr>
          </a:p>
        </p:txBody>
      </p:sp>
      <p:pic>
        <p:nvPicPr>
          <p:cNvPr id="546" name="Google Shape;546;g3f679a2d4e1_0_278"/>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547" name="Google Shape;547;g3f679a2d4e1_0_278"/>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548" name="Google Shape;548;g3f679a2d4e1_0_278"/>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549" name="Google Shape;549;g3f679a2d4e1_0_278"/>
          <p:cNvPicPr preferRelativeResize="0"/>
          <p:nvPr/>
        </p:nvPicPr>
        <p:blipFill rotWithShape="1">
          <a:blip r:embed="rId4">
            <a:alphaModFix/>
          </a:blip>
          <a:srcRect b="21020" l="14061" r="17215" t="26140"/>
          <a:stretch/>
        </p:blipFill>
        <p:spPr>
          <a:xfrm>
            <a:off x="8094845" y="170700"/>
            <a:ext cx="1049154" cy="423511"/>
          </a:xfrm>
          <a:prstGeom prst="rect">
            <a:avLst/>
          </a:prstGeom>
          <a:noFill/>
          <a:ln>
            <a:noFill/>
          </a:ln>
        </p:spPr>
      </p:pic>
      <p:sp>
        <p:nvSpPr>
          <p:cNvPr id="550" name="Google Shape;550;g3f679a2d4e1_0_278"/>
          <p:cNvSpPr txBox="1"/>
          <p:nvPr/>
        </p:nvSpPr>
        <p:spPr>
          <a:xfrm>
            <a:off x="194500" y="715750"/>
            <a:ext cx="6385500" cy="1911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1" i="0" lang="zh-HK" sz="1100" u="none" cap="none" strike="noStrike">
                <a:solidFill>
                  <a:srgbClr val="212121"/>
                </a:solidFill>
                <a:highlight>
                  <a:schemeClr val="lt1"/>
                </a:highlight>
                <a:latin typeface="Times New Roman"/>
                <a:ea typeface="Times New Roman"/>
                <a:cs typeface="Times New Roman"/>
                <a:sym typeface="Times New Roman"/>
              </a:rPr>
              <a:t>5 KOCs generated </a:t>
            </a:r>
            <a:r>
              <a:rPr b="1" lang="zh-HK" sz="1100">
                <a:solidFill>
                  <a:srgbClr val="212121"/>
                </a:solidFill>
                <a:highlight>
                  <a:schemeClr val="lt1"/>
                </a:highlight>
                <a:latin typeface="Times New Roman"/>
                <a:ea typeface="Times New Roman"/>
                <a:cs typeface="Times New Roman"/>
                <a:sym typeface="Times New Roman"/>
              </a:rPr>
              <a:t>33</a:t>
            </a:r>
            <a:r>
              <a:rPr b="1" i="0" lang="zh-HK" sz="1100" u="none" cap="none" strike="noStrike">
                <a:solidFill>
                  <a:srgbClr val="212121"/>
                </a:solidFill>
                <a:highlight>
                  <a:schemeClr val="lt1"/>
                </a:highlight>
                <a:latin typeface="Times New Roman"/>
                <a:ea typeface="Times New Roman"/>
                <a:cs typeface="Times New Roman"/>
                <a:sym typeface="Times New Roman"/>
              </a:rPr>
              <a:t>,</a:t>
            </a:r>
            <a:r>
              <a:rPr b="1" lang="zh-HK" sz="1100">
                <a:solidFill>
                  <a:srgbClr val="212121"/>
                </a:solidFill>
                <a:highlight>
                  <a:schemeClr val="lt1"/>
                </a:highlight>
                <a:latin typeface="Times New Roman"/>
                <a:ea typeface="Times New Roman"/>
                <a:cs typeface="Times New Roman"/>
                <a:sym typeface="Times New Roman"/>
              </a:rPr>
              <a:t>712</a:t>
            </a:r>
            <a:r>
              <a:rPr b="1" i="0" lang="zh-HK" sz="1100" u="none" cap="none" strike="noStrike">
                <a:solidFill>
                  <a:srgbClr val="212121"/>
                </a:solidFill>
                <a:highlight>
                  <a:schemeClr val="lt1"/>
                </a:highlight>
                <a:latin typeface="Times New Roman"/>
                <a:ea typeface="Times New Roman"/>
                <a:cs typeface="Times New Roman"/>
                <a:sym typeface="Times New Roman"/>
              </a:rPr>
              <a:t> views and </a:t>
            </a:r>
            <a:r>
              <a:rPr b="1" lang="zh-HK" sz="1100">
                <a:solidFill>
                  <a:srgbClr val="212121"/>
                </a:solidFill>
                <a:highlight>
                  <a:schemeClr val="lt1"/>
                </a:highlight>
                <a:latin typeface="Times New Roman"/>
                <a:ea typeface="Times New Roman"/>
                <a:cs typeface="Times New Roman"/>
                <a:sym typeface="Times New Roman"/>
              </a:rPr>
              <a:t>3,249</a:t>
            </a:r>
            <a:r>
              <a:rPr b="1" i="0" lang="zh-HK" sz="1100" u="none" cap="none" strike="noStrike">
                <a:solidFill>
                  <a:srgbClr val="212121"/>
                </a:solidFill>
                <a:highlight>
                  <a:schemeClr val="lt1"/>
                </a:highlight>
                <a:latin typeface="Times New Roman"/>
                <a:ea typeface="Times New Roman"/>
                <a:cs typeface="Times New Roman"/>
                <a:sym typeface="Times New Roman"/>
              </a:rPr>
              <a:t> engagements.</a:t>
            </a:r>
            <a:br>
              <a:rPr b="1" i="0" lang="zh-HK" sz="1100" u="none" cap="none" strike="noStrike">
                <a:solidFill>
                  <a:srgbClr val="212121"/>
                </a:solidFill>
                <a:highlight>
                  <a:schemeClr val="lt1"/>
                </a:highlight>
                <a:latin typeface="Times New Roman"/>
                <a:ea typeface="Times New Roman"/>
                <a:cs typeface="Times New Roman"/>
                <a:sym typeface="Times New Roman"/>
              </a:rPr>
            </a:br>
            <a:r>
              <a:rPr b="1" i="0" lang="zh-HK" sz="1100" u="none" cap="none" strike="noStrike">
                <a:solidFill>
                  <a:srgbClr val="212121"/>
                </a:solidFill>
                <a:highlight>
                  <a:schemeClr val="lt1"/>
                </a:highlight>
                <a:latin typeface="Times New Roman"/>
                <a:ea typeface="Times New Roman"/>
                <a:cs typeface="Times New Roman"/>
                <a:sym typeface="Times New Roman"/>
              </a:rPr>
              <a:t> (average 4.</a:t>
            </a:r>
            <a:r>
              <a:rPr b="1" lang="zh-HK" sz="1100">
                <a:solidFill>
                  <a:srgbClr val="212121"/>
                </a:solidFill>
                <a:highlight>
                  <a:schemeClr val="lt1"/>
                </a:highlight>
                <a:latin typeface="Times New Roman"/>
                <a:ea typeface="Times New Roman"/>
                <a:cs typeface="Times New Roman"/>
                <a:sym typeface="Times New Roman"/>
              </a:rPr>
              <a:t>8</a:t>
            </a:r>
            <a:r>
              <a:rPr b="1" i="0" lang="zh-HK" sz="1100" u="none" cap="none" strike="noStrike">
                <a:solidFill>
                  <a:srgbClr val="212121"/>
                </a:solidFill>
                <a:highlight>
                  <a:schemeClr val="lt1"/>
                </a:highlight>
                <a:latin typeface="Times New Roman"/>
                <a:ea typeface="Times New Roman"/>
                <a:cs typeface="Times New Roman"/>
                <a:sym typeface="Times New Roman"/>
              </a:rPr>
              <a:t>K views and </a:t>
            </a:r>
            <a:r>
              <a:rPr b="1" lang="zh-HK" sz="1100">
                <a:solidFill>
                  <a:srgbClr val="212121"/>
                </a:solidFill>
                <a:highlight>
                  <a:schemeClr val="lt1"/>
                </a:highlight>
                <a:latin typeface="Times New Roman"/>
                <a:ea typeface="Times New Roman"/>
                <a:cs typeface="Times New Roman"/>
                <a:sym typeface="Times New Roman"/>
              </a:rPr>
              <a:t>464</a:t>
            </a:r>
            <a:r>
              <a:rPr b="1" i="0" lang="zh-HK" sz="1100" u="none" cap="none" strike="noStrike">
                <a:solidFill>
                  <a:srgbClr val="212121"/>
                </a:solidFill>
                <a:highlight>
                  <a:schemeClr val="lt1"/>
                </a:highlight>
                <a:latin typeface="Times New Roman"/>
                <a:ea typeface="Times New Roman"/>
                <a:cs typeface="Times New Roman"/>
                <a:sym typeface="Times New Roman"/>
              </a:rPr>
              <a:t> engagements/KOC)</a:t>
            </a:r>
            <a:endParaRPr b="1" i="0" sz="1100" u="none" cap="none" strike="noStrike">
              <a:solidFill>
                <a:srgbClr val="212121"/>
              </a:solidFill>
              <a:highlight>
                <a:schemeClr val="lt1"/>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200"/>
              <a:buFont typeface="Arial"/>
              <a:buNone/>
            </a:pPr>
            <a:r>
              <a:t/>
            </a:r>
            <a:endParaRPr b="1" i="0" sz="1100" u="none" cap="none" strike="noStrike">
              <a:solidFill>
                <a:srgbClr val="212121"/>
              </a:solidFill>
              <a:highlight>
                <a:schemeClr val="lt1"/>
              </a:highlight>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rgbClr val="212121"/>
              </a:buClr>
              <a:buSzPts val="1100"/>
              <a:buFont typeface="Times New Roman"/>
              <a:buChar char="●"/>
            </a:pPr>
            <a:r>
              <a:rPr lang="zh-HK" sz="1100">
                <a:solidFill>
                  <a:srgbClr val="212121"/>
                </a:solidFill>
                <a:highlight>
                  <a:schemeClr val="lt1"/>
                </a:highlight>
                <a:latin typeface="Times New Roman"/>
                <a:ea typeface="Times New Roman"/>
                <a:cs typeface="Times New Roman"/>
                <a:sym typeface="Times New Roman"/>
              </a:rPr>
              <a:t>To maximise reach for the Chiikawa campaign, we selected creators with proven traffic performance who specialise in pop-up event check-ins, lifestyle and fashion content.</a:t>
            </a:r>
            <a:endParaRPr sz="1100">
              <a:solidFill>
                <a:srgbClr val="212121"/>
              </a:solidFill>
              <a:highlight>
                <a:schemeClr val="lt1"/>
              </a:highlight>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rgbClr val="212121"/>
              </a:buClr>
              <a:buSzPts val="1100"/>
              <a:buFont typeface="Times New Roman"/>
              <a:buChar char="●"/>
            </a:pPr>
            <a:r>
              <a:rPr lang="zh-HK" sz="1100">
                <a:solidFill>
                  <a:srgbClr val="212121"/>
                </a:solidFill>
                <a:highlight>
                  <a:schemeClr val="lt1"/>
                </a:highlight>
                <a:latin typeface="Times New Roman"/>
                <a:ea typeface="Times New Roman"/>
                <a:cs typeface="Times New Roman"/>
                <a:sym typeface="Times New Roman"/>
              </a:rPr>
              <a:t>This campaign also tried XHS 報備 KOL post with 奶酪积垢.</a:t>
            </a:r>
            <a:endParaRPr sz="1100">
              <a:solidFill>
                <a:srgbClr val="212121"/>
              </a:solidFill>
              <a:highlight>
                <a:schemeClr val="lt1"/>
              </a:highlight>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rgbClr val="212121"/>
              </a:buClr>
              <a:buSzPts val="1100"/>
              <a:buFont typeface="Times New Roman"/>
              <a:buChar char="●"/>
            </a:pPr>
            <a:r>
              <a:rPr lang="zh-HK" sz="1100">
                <a:solidFill>
                  <a:srgbClr val="212121"/>
                </a:solidFill>
                <a:highlight>
                  <a:schemeClr val="lt1"/>
                </a:highlight>
                <a:latin typeface="Times New Roman"/>
                <a:ea typeface="Times New Roman"/>
                <a:cs typeface="Times New Roman"/>
                <a:sym typeface="Times New Roman"/>
              </a:rPr>
              <a:t>Despite running without ad boosting, the organic performance was solid, proving the potential of this approach. We recommend further testing with high-potential KOLs in the coming months.</a:t>
            </a:r>
            <a:endParaRPr sz="1100">
              <a:solidFill>
                <a:srgbClr val="212121"/>
              </a:solidFill>
              <a:highlight>
                <a:schemeClr val="lt1"/>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300"/>
              <a:buFont typeface="Arial"/>
              <a:buNone/>
            </a:pPr>
            <a:r>
              <a:t/>
            </a:r>
            <a:endParaRPr sz="1100">
              <a:solidFill>
                <a:srgbClr val="212121"/>
              </a:solidFill>
              <a:highlight>
                <a:schemeClr val="lt1"/>
              </a:highlight>
              <a:latin typeface="Times New Roman"/>
              <a:ea typeface="Times New Roman"/>
              <a:cs typeface="Times New Roman"/>
              <a:sym typeface="Times New Roman"/>
            </a:endParaRPr>
          </a:p>
        </p:txBody>
      </p:sp>
      <p:graphicFrame>
        <p:nvGraphicFramePr>
          <p:cNvPr id="551" name="Google Shape;551;g3f679a2d4e1_0_278"/>
          <p:cNvGraphicFramePr/>
          <p:nvPr/>
        </p:nvGraphicFramePr>
        <p:xfrm>
          <a:off x="56450" y="2483975"/>
          <a:ext cx="3000000" cy="3000000"/>
        </p:xfrm>
        <a:graphic>
          <a:graphicData uri="http://schemas.openxmlformats.org/drawingml/2006/table">
            <a:tbl>
              <a:tblPr>
                <a:noFill/>
                <a:tableStyleId>{873EBEE7-B6FE-475A-94F5-F896A97D1A76}</a:tableStyleId>
              </a:tblPr>
              <a:tblGrid>
                <a:gridCol w="638550"/>
                <a:gridCol w="638550"/>
                <a:gridCol w="638550"/>
                <a:gridCol w="600225"/>
                <a:gridCol w="590675"/>
                <a:gridCol w="552350"/>
                <a:gridCol w="520425"/>
                <a:gridCol w="709525"/>
                <a:gridCol w="791075"/>
                <a:gridCol w="705575"/>
              </a:tblGrid>
              <a:tr h="476000">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KOL name</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Fans No</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Post feed</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Post link</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Views</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Likes</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Saves</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Comments</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Total Engagement</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marR="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Engagement </a:t>
                      </a:r>
                      <a:endParaRPr sz="1000">
                        <a:solidFill>
                          <a:srgbClr val="212121"/>
                        </a:solidFill>
                        <a:latin typeface="Times New Roman"/>
                        <a:ea typeface="Times New Roman"/>
                        <a:cs typeface="Times New Roman"/>
                        <a:sym typeface="Times New Roman"/>
                      </a:endParaRPr>
                    </a:p>
                    <a:p>
                      <a:pPr indent="0" lvl="0" marL="0" marR="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rate</a:t>
                      </a:r>
                      <a:endParaRPr sz="1000">
                        <a:solidFill>
                          <a:srgbClr val="212121"/>
                        </a:solidFill>
                        <a:latin typeface="Times New Roman"/>
                        <a:ea typeface="Times New Roman"/>
                        <a:cs typeface="Times New Roman"/>
                        <a:sym typeface="Times New Roman"/>
                      </a:endParaRPr>
                    </a:p>
                  </a:txBody>
                  <a:tcPr marT="19050" marB="19050"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216650">
                <a:tc>
                  <a:txBody>
                    <a:bodyPr/>
                    <a:lstStyle/>
                    <a:p>
                      <a:pPr indent="0" lvl="0" marL="0" rtl="0" algn="ctr">
                        <a:lnSpc>
                          <a:spcPct val="115000"/>
                        </a:lnSpc>
                        <a:spcBef>
                          <a:spcPts val="0"/>
                        </a:spcBef>
                        <a:spcAft>
                          <a:spcPts val="0"/>
                        </a:spcAft>
                        <a:buNone/>
                      </a:pPr>
                      <a:r>
                        <a:rPr lang="zh-HK" sz="900">
                          <a:solidFill>
                            <a:srgbClr val="212121"/>
                          </a:solidFill>
                          <a:latin typeface="Times New Roman"/>
                          <a:ea typeface="Times New Roman"/>
                          <a:cs typeface="Times New Roman"/>
                          <a:sym typeface="Times New Roman"/>
                        </a:rPr>
                        <a:t>奶酪积垢</a:t>
                      </a:r>
                      <a:endParaRPr sz="9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9FA"/>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23,000</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9FA"/>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photo</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HK" sz="1000" u="sng">
                          <a:solidFill>
                            <a:schemeClr val="hlink"/>
                          </a:solidFill>
                          <a:latin typeface="Times New Roman"/>
                          <a:ea typeface="Times New Roman"/>
                          <a:cs typeface="Times New Roman"/>
                          <a:sym typeface="Times New Roman"/>
                          <a:hlinkClick r:id="rId5"/>
                        </a:rPr>
                        <a:t>link</a:t>
                      </a:r>
                      <a:endParaRPr sz="1000">
                        <a:solidFill>
                          <a:srgbClr val="212121"/>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9FA"/>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17,713</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9FA"/>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1,345</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271</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38</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1,654</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9.34%</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6650">
                <a:tc>
                  <a:txBody>
                    <a:bodyPr/>
                    <a:lstStyle/>
                    <a:p>
                      <a:pPr indent="0" lvl="0" marL="0" rtl="0" algn="ctr">
                        <a:lnSpc>
                          <a:spcPct val="115000"/>
                        </a:lnSpc>
                        <a:spcBef>
                          <a:spcPts val="0"/>
                        </a:spcBef>
                        <a:spcAft>
                          <a:spcPts val="0"/>
                        </a:spcAft>
                        <a:buNone/>
                      </a:pPr>
                      <a:r>
                        <a:rPr lang="zh-HK" sz="900">
                          <a:solidFill>
                            <a:srgbClr val="212121"/>
                          </a:solidFill>
                          <a:latin typeface="Times New Roman"/>
                          <a:ea typeface="Times New Roman"/>
                          <a:cs typeface="Times New Roman"/>
                          <a:sym typeface="Times New Roman"/>
                        </a:rPr>
                        <a:t>大旧忽</a:t>
                      </a:r>
                      <a:endParaRPr sz="9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22,000</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photo</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HK" sz="1000" u="sng">
                          <a:solidFill>
                            <a:schemeClr val="hlink"/>
                          </a:solidFill>
                          <a:latin typeface="Times New Roman"/>
                          <a:ea typeface="Times New Roman"/>
                          <a:cs typeface="Times New Roman"/>
                          <a:sym typeface="Times New Roman"/>
                          <a:hlinkClick r:id="rId6"/>
                        </a:rPr>
                        <a:t>link</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2,079</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9FA"/>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147</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24</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8</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179</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8.61%</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6650">
                <a:tc>
                  <a:txBody>
                    <a:bodyPr/>
                    <a:lstStyle/>
                    <a:p>
                      <a:pPr indent="0" lvl="0" marL="0" rtl="0" algn="ctr">
                        <a:lnSpc>
                          <a:spcPct val="115000"/>
                        </a:lnSpc>
                        <a:spcBef>
                          <a:spcPts val="0"/>
                        </a:spcBef>
                        <a:spcAft>
                          <a:spcPts val="0"/>
                        </a:spcAft>
                        <a:buNone/>
                      </a:pPr>
                      <a:r>
                        <a:rPr lang="zh-HK" sz="900">
                          <a:solidFill>
                            <a:srgbClr val="212121"/>
                          </a:solidFill>
                          <a:latin typeface="Times New Roman"/>
                          <a:ea typeface="Times New Roman"/>
                          <a:cs typeface="Times New Roman"/>
                          <a:sym typeface="Times New Roman"/>
                        </a:rPr>
                        <a:t>大旧忽</a:t>
                      </a:r>
                      <a:endParaRPr sz="9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9FA"/>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22,000</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9FA"/>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photo</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HK" sz="1000" u="sng">
                          <a:solidFill>
                            <a:schemeClr val="hlink"/>
                          </a:solidFill>
                          <a:latin typeface="Times New Roman"/>
                          <a:ea typeface="Times New Roman"/>
                          <a:cs typeface="Times New Roman"/>
                          <a:sym typeface="Times New Roman"/>
                          <a:hlinkClick r:id="rId7"/>
                        </a:rPr>
                        <a:t>link</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1,227</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136</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55</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4</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195</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15.89%</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6650">
                <a:tc>
                  <a:txBody>
                    <a:bodyPr/>
                    <a:lstStyle/>
                    <a:p>
                      <a:pPr indent="0" lvl="0" marL="0" rtl="0" algn="ctr">
                        <a:lnSpc>
                          <a:spcPct val="115000"/>
                        </a:lnSpc>
                        <a:spcBef>
                          <a:spcPts val="0"/>
                        </a:spcBef>
                        <a:spcAft>
                          <a:spcPts val="0"/>
                        </a:spcAft>
                        <a:buNone/>
                      </a:pPr>
                      <a:r>
                        <a:rPr lang="zh-HK" sz="900">
                          <a:solidFill>
                            <a:srgbClr val="212121"/>
                          </a:solidFill>
                          <a:latin typeface="Times New Roman"/>
                          <a:ea typeface="Times New Roman"/>
                          <a:cs typeface="Times New Roman"/>
                          <a:sym typeface="Times New Roman"/>
                        </a:rPr>
                        <a:t>张张Zz💎</a:t>
                      </a:r>
                      <a:endParaRPr sz="9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18,000</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photo</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HK" sz="1000" u="sng">
                          <a:solidFill>
                            <a:schemeClr val="hlink"/>
                          </a:solidFill>
                          <a:latin typeface="Times New Roman"/>
                          <a:ea typeface="Times New Roman"/>
                          <a:cs typeface="Times New Roman"/>
                          <a:sym typeface="Times New Roman"/>
                          <a:hlinkClick r:id="rId8"/>
                        </a:rPr>
                        <a:t>link</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2,339</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173</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126</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37</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336</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14.37%</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3575">
                <a:tc>
                  <a:txBody>
                    <a:bodyPr/>
                    <a:lstStyle/>
                    <a:p>
                      <a:pPr indent="0" lvl="0" marL="0" rtl="0" algn="ctr">
                        <a:lnSpc>
                          <a:spcPct val="115000"/>
                        </a:lnSpc>
                        <a:spcBef>
                          <a:spcPts val="0"/>
                        </a:spcBef>
                        <a:spcAft>
                          <a:spcPts val="0"/>
                        </a:spcAft>
                        <a:buNone/>
                      </a:pPr>
                      <a:r>
                        <a:rPr lang="zh-HK" sz="900">
                          <a:solidFill>
                            <a:srgbClr val="212121"/>
                          </a:solidFill>
                          <a:latin typeface="Times New Roman"/>
                          <a:ea typeface="Times New Roman"/>
                          <a:cs typeface="Times New Roman"/>
                          <a:sym typeface="Times New Roman"/>
                        </a:rPr>
                        <a:t>张张Zz💎</a:t>
                      </a:r>
                      <a:endParaRPr sz="9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9FA"/>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18,000</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9FA"/>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photo</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HK" sz="1000" u="sng">
                          <a:solidFill>
                            <a:schemeClr val="hlink"/>
                          </a:solidFill>
                          <a:latin typeface="Times New Roman"/>
                          <a:ea typeface="Times New Roman"/>
                          <a:cs typeface="Times New Roman"/>
                          <a:sym typeface="Times New Roman"/>
                          <a:hlinkClick r:id="rId9"/>
                        </a:rPr>
                        <a:t>link</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3,613</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265</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108</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27</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400</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11.07%</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6650">
                <a:tc>
                  <a:txBody>
                    <a:bodyPr/>
                    <a:lstStyle/>
                    <a:p>
                      <a:pPr indent="0" lvl="0" marL="0" rtl="0" algn="ctr">
                        <a:lnSpc>
                          <a:spcPct val="115000"/>
                        </a:lnSpc>
                        <a:spcBef>
                          <a:spcPts val="0"/>
                        </a:spcBef>
                        <a:spcAft>
                          <a:spcPts val="0"/>
                        </a:spcAft>
                        <a:buNone/>
                      </a:pPr>
                      <a:r>
                        <a:rPr lang="zh-HK" sz="900">
                          <a:solidFill>
                            <a:srgbClr val="212121"/>
                          </a:solidFill>
                          <a:latin typeface="Times New Roman"/>
                          <a:ea typeface="Times New Roman"/>
                          <a:cs typeface="Times New Roman"/>
                          <a:sym typeface="Times New Roman"/>
                        </a:rPr>
                        <a:t>潘潘kiwi</a:t>
                      </a:r>
                      <a:endParaRPr sz="9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11,000</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photo</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HK" sz="1000" u="sng">
                          <a:solidFill>
                            <a:schemeClr val="hlink"/>
                          </a:solidFill>
                          <a:latin typeface="Times New Roman"/>
                          <a:ea typeface="Times New Roman"/>
                          <a:cs typeface="Times New Roman"/>
                          <a:sym typeface="Times New Roman"/>
                          <a:hlinkClick r:id="rId10"/>
                        </a:rPr>
                        <a:t>link</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4,245</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212</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113</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21</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346</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8.15%</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3575">
                <a:tc>
                  <a:txBody>
                    <a:bodyPr/>
                    <a:lstStyle/>
                    <a:p>
                      <a:pPr indent="0" lvl="0" marL="0" rtl="0" algn="ctr">
                        <a:lnSpc>
                          <a:spcPct val="115000"/>
                        </a:lnSpc>
                        <a:spcBef>
                          <a:spcPts val="0"/>
                        </a:spcBef>
                        <a:spcAft>
                          <a:spcPts val="0"/>
                        </a:spcAft>
                        <a:buNone/>
                      </a:pPr>
                      <a:r>
                        <a:rPr lang="zh-HK" sz="900">
                          <a:solidFill>
                            <a:srgbClr val="212121"/>
                          </a:solidFill>
                          <a:latin typeface="Times New Roman"/>
                          <a:ea typeface="Times New Roman"/>
                          <a:cs typeface="Times New Roman"/>
                          <a:sym typeface="Times New Roman"/>
                        </a:rPr>
                        <a:t>奶牛小钟</a:t>
                      </a:r>
                      <a:endParaRPr sz="9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9FA"/>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9,256</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9FA"/>
                    </a:solidFill>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video</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HK" sz="1000" u="sng">
                          <a:solidFill>
                            <a:schemeClr val="hlink"/>
                          </a:solidFill>
                          <a:latin typeface="Times New Roman"/>
                          <a:ea typeface="Times New Roman"/>
                          <a:cs typeface="Times New Roman"/>
                          <a:sym typeface="Times New Roman"/>
                          <a:hlinkClick r:id="rId11"/>
                        </a:rPr>
                        <a:t>link</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2,496</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114</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14</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11</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139</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solidFill>
                            <a:srgbClr val="212121"/>
                          </a:solidFill>
                          <a:latin typeface="Times New Roman"/>
                          <a:ea typeface="Times New Roman"/>
                          <a:cs typeface="Times New Roman"/>
                          <a:sym typeface="Times New Roman"/>
                        </a:rPr>
                        <a:t>5.57%</a:t>
                      </a:r>
                      <a:endParaRPr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550">
                <a:tc gridSpan="4">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Total</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hMerge="1"/>
                <a:tc hMerge="1"/>
                <a:tc hMerge="1"/>
                <a:tc>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33,712</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2,392</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711</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146</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3,249</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solidFill>
                            <a:srgbClr val="212121"/>
                          </a:solidFill>
                          <a:latin typeface="Times New Roman"/>
                          <a:ea typeface="Times New Roman"/>
                          <a:cs typeface="Times New Roman"/>
                          <a:sym typeface="Times New Roman"/>
                        </a:rPr>
                        <a:t>9.64%</a:t>
                      </a:r>
                      <a:endParaRPr b="1" sz="1000">
                        <a:solidFill>
                          <a:srgbClr val="212121"/>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r>
            </a:tbl>
          </a:graphicData>
        </a:graphic>
      </p:graphicFrame>
      <p:pic>
        <p:nvPicPr>
          <p:cNvPr id="552" name="Google Shape;552;g3f679a2d4e1_0_278" title="截屏2026-08-07 11.43.48.png"/>
          <p:cNvPicPr preferRelativeResize="0"/>
          <p:nvPr/>
        </p:nvPicPr>
        <p:blipFill>
          <a:blip r:embed="rId12">
            <a:alphaModFix/>
          </a:blip>
          <a:stretch>
            <a:fillRect/>
          </a:stretch>
        </p:blipFill>
        <p:spPr>
          <a:xfrm>
            <a:off x="6609950" y="1118413"/>
            <a:ext cx="2249873" cy="1682999"/>
          </a:xfrm>
          <a:prstGeom prst="rect">
            <a:avLst/>
          </a:prstGeom>
          <a:noFill/>
          <a:ln>
            <a:noFill/>
          </a:ln>
        </p:spPr>
      </p:pic>
      <p:pic>
        <p:nvPicPr>
          <p:cNvPr id="553" name="Google Shape;553;g3f679a2d4e1_0_278" title="截屏2026-08-07 11.45.41.png"/>
          <p:cNvPicPr preferRelativeResize="0"/>
          <p:nvPr/>
        </p:nvPicPr>
        <p:blipFill>
          <a:blip r:embed="rId13">
            <a:alphaModFix/>
          </a:blip>
          <a:stretch>
            <a:fillRect/>
          </a:stretch>
        </p:blipFill>
        <p:spPr>
          <a:xfrm>
            <a:off x="6609938" y="3050450"/>
            <a:ext cx="2249899" cy="1712751"/>
          </a:xfrm>
          <a:prstGeom prst="rect">
            <a:avLst/>
          </a:prstGeom>
          <a:noFill/>
          <a:ln>
            <a:noFill/>
          </a:ln>
        </p:spPr>
      </p:pic>
      <p:sp>
        <p:nvSpPr>
          <p:cNvPr id="554" name="Google Shape;554;g3f679a2d4e1_0_278"/>
          <p:cNvSpPr txBox="1"/>
          <p:nvPr/>
        </p:nvSpPr>
        <p:spPr>
          <a:xfrm>
            <a:off x="56450" y="4659569"/>
            <a:ext cx="16662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Arial"/>
              <a:buNone/>
            </a:pPr>
            <a:r>
              <a:rPr b="0" i="0" lang="zh-HK" sz="1000" u="none" cap="none" strike="noStrike">
                <a:solidFill>
                  <a:schemeClr val="dk2"/>
                </a:solidFill>
                <a:latin typeface="Arial"/>
                <a:ea typeface="Arial"/>
                <a:cs typeface="Arial"/>
                <a:sym typeface="Arial"/>
              </a:rPr>
              <a:t>Data collected by </a:t>
            </a:r>
            <a:r>
              <a:rPr lang="zh-HK" sz="1000">
                <a:solidFill>
                  <a:schemeClr val="dk2"/>
                </a:solidFill>
              </a:rPr>
              <a:t>Aug</a:t>
            </a:r>
            <a:r>
              <a:rPr b="0" i="0" lang="zh-HK" sz="1000" u="none" cap="none" strike="noStrike">
                <a:solidFill>
                  <a:schemeClr val="dk2"/>
                </a:solidFill>
                <a:latin typeface="Arial"/>
                <a:ea typeface="Arial"/>
                <a:cs typeface="Arial"/>
                <a:sym typeface="Arial"/>
              </a:rPr>
              <a:t> </a:t>
            </a:r>
            <a:r>
              <a:rPr lang="zh-HK" sz="1000">
                <a:solidFill>
                  <a:schemeClr val="dk2"/>
                </a:solidFill>
              </a:rPr>
              <a:t>3</a:t>
            </a:r>
            <a:endParaRPr b="0" i="0" sz="1000" u="none" cap="none" strike="noStrike">
              <a:solidFill>
                <a:schemeClr val="dk2"/>
              </a:solidFill>
              <a:latin typeface="Arial"/>
              <a:ea typeface="Arial"/>
              <a:cs typeface="Arial"/>
              <a:sym typeface="Arial"/>
            </a:endParaRPr>
          </a:p>
        </p:txBody>
      </p:sp>
      <p:sp>
        <p:nvSpPr>
          <p:cNvPr id="555" name="Google Shape;555;g3f679a2d4e1_0_278"/>
          <p:cNvSpPr/>
          <p:nvPr/>
        </p:nvSpPr>
        <p:spPr>
          <a:xfrm>
            <a:off x="56458" y="2959975"/>
            <a:ext cx="6385500" cy="21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3f679a2d4e1_0_348"/>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561" name="Google Shape;561;g3f679a2d4e1_0_348"/>
          <p:cNvPicPr preferRelativeResize="0"/>
          <p:nvPr/>
        </p:nvPicPr>
        <p:blipFill rotWithShape="1">
          <a:blip r:embed="rId3">
            <a:alphaModFix/>
          </a:blip>
          <a:srcRect b="21020" l="14061" r="17215" t="26140"/>
          <a:stretch/>
        </p:blipFill>
        <p:spPr>
          <a:xfrm>
            <a:off x="8094845" y="170700"/>
            <a:ext cx="1049154" cy="423511"/>
          </a:xfrm>
          <a:prstGeom prst="rect">
            <a:avLst/>
          </a:prstGeom>
          <a:noFill/>
          <a:ln>
            <a:noFill/>
          </a:ln>
        </p:spPr>
      </p:pic>
      <p:sp>
        <p:nvSpPr>
          <p:cNvPr id="562" name="Google Shape;562;g3f679a2d4e1_0_348"/>
          <p:cNvSpPr txBox="1"/>
          <p:nvPr/>
        </p:nvSpPr>
        <p:spPr>
          <a:xfrm>
            <a:off x="945700" y="254050"/>
            <a:ext cx="4316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zh-HK" sz="1800" u="none" cap="none" strike="noStrike">
                <a:solidFill>
                  <a:schemeClr val="dk1"/>
                </a:solidFill>
                <a:latin typeface="Times New Roman"/>
                <a:ea typeface="Times New Roman"/>
                <a:cs typeface="Times New Roman"/>
                <a:sym typeface="Times New Roman"/>
              </a:rPr>
              <a:t>Seeding Performance</a:t>
            </a:r>
            <a:endParaRPr b="1" i="0" sz="2000" u="none" cap="none" strike="noStrike">
              <a:solidFill>
                <a:srgbClr val="000000"/>
              </a:solidFill>
              <a:latin typeface="Arial"/>
              <a:ea typeface="Arial"/>
              <a:cs typeface="Arial"/>
              <a:sym typeface="Arial"/>
            </a:endParaRPr>
          </a:p>
        </p:txBody>
      </p:sp>
      <p:pic>
        <p:nvPicPr>
          <p:cNvPr id="563" name="Google Shape;563;g3f679a2d4e1_0_348"/>
          <p:cNvPicPr preferRelativeResize="0"/>
          <p:nvPr/>
        </p:nvPicPr>
        <p:blipFill rotWithShape="1">
          <a:blip r:embed="rId4">
            <a:alphaModFix/>
          </a:blip>
          <a:srcRect b="0" l="0" r="0" t="0"/>
          <a:stretch/>
        </p:blipFill>
        <p:spPr>
          <a:xfrm>
            <a:off x="501350" y="307312"/>
            <a:ext cx="386075" cy="386075"/>
          </a:xfrm>
          <a:prstGeom prst="rect">
            <a:avLst/>
          </a:prstGeom>
          <a:noFill/>
          <a:ln>
            <a:noFill/>
          </a:ln>
        </p:spPr>
      </p:pic>
      <p:sp>
        <p:nvSpPr>
          <p:cNvPr id="564" name="Google Shape;564;g3f679a2d4e1_0_348"/>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565" name="Google Shape;565;g3f679a2d4e1_0_348"/>
          <p:cNvSpPr txBox="1"/>
          <p:nvPr/>
        </p:nvSpPr>
        <p:spPr>
          <a:xfrm>
            <a:off x="6676250" y="594188"/>
            <a:ext cx="2171100" cy="1723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1" lang="zh-HK" sz="1200">
                <a:solidFill>
                  <a:srgbClr val="212121"/>
                </a:solidFill>
                <a:highlight>
                  <a:schemeClr val="lt1"/>
                </a:highlight>
                <a:latin typeface="Times New Roman"/>
                <a:ea typeface="Times New Roman"/>
                <a:cs typeface="Times New Roman"/>
                <a:sym typeface="Times New Roman"/>
              </a:rPr>
              <a:t>19</a:t>
            </a:r>
            <a:r>
              <a:rPr b="1" i="0" lang="zh-HK" sz="1200" u="none" cap="none" strike="noStrike">
                <a:solidFill>
                  <a:srgbClr val="212121"/>
                </a:solidFill>
                <a:highlight>
                  <a:schemeClr val="lt1"/>
                </a:highlight>
                <a:latin typeface="Times New Roman"/>
                <a:ea typeface="Times New Roman"/>
                <a:cs typeface="Times New Roman"/>
                <a:sym typeface="Times New Roman"/>
              </a:rPr>
              <a:t> Seedings generated </a:t>
            </a:r>
            <a:r>
              <a:rPr b="1" lang="zh-HK" sz="1200">
                <a:solidFill>
                  <a:srgbClr val="212121"/>
                </a:solidFill>
                <a:highlight>
                  <a:schemeClr val="lt1"/>
                </a:highlight>
                <a:latin typeface="Times New Roman"/>
                <a:ea typeface="Times New Roman"/>
                <a:cs typeface="Times New Roman"/>
                <a:sym typeface="Times New Roman"/>
              </a:rPr>
              <a:t>74</a:t>
            </a:r>
            <a:r>
              <a:rPr b="1" i="0" lang="zh-HK" sz="1200" u="none" cap="none" strike="noStrike">
                <a:solidFill>
                  <a:srgbClr val="212121"/>
                </a:solidFill>
                <a:highlight>
                  <a:schemeClr val="lt1"/>
                </a:highlight>
                <a:latin typeface="Times New Roman"/>
                <a:ea typeface="Times New Roman"/>
                <a:cs typeface="Times New Roman"/>
                <a:sym typeface="Times New Roman"/>
              </a:rPr>
              <a:t>,</a:t>
            </a:r>
            <a:r>
              <a:rPr b="1" lang="zh-HK" sz="1200">
                <a:solidFill>
                  <a:srgbClr val="212121"/>
                </a:solidFill>
                <a:highlight>
                  <a:schemeClr val="lt1"/>
                </a:highlight>
                <a:latin typeface="Times New Roman"/>
                <a:ea typeface="Times New Roman"/>
                <a:cs typeface="Times New Roman"/>
                <a:sym typeface="Times New Roman"/>
              </a:rPr>
              <a:t>710</a:t>
            </a:r>
            <a:r>
              <a:rPr b="1" i="0" lang="zh-HK" sz="1200" u="none" cap="none" strike="noStrike">
                <a:solidFill>
                  <a:srgbClr val="212121"/>
                </a:solidFill>
                <a:highlight>
                  <a:schemeClr val="lt1"/>
                </a:highlight>
                <a:latin typeface="Times New Roman"/>
                <a:ea typeface="Times New Roman"/>
                <a:cs typeface="Times New Roman"/>
                <a:sym typeface="Times New Roman"/>
              </a:rPr>
              <a:t> views and </a:t>
            </a:r>
            <a:r>
              <a:rPr b="1" lang="zh-HK" sz="1200">
                <a:solidFill>
                  <a:srgbClr val="212121"/>
                </a:solidFill>
                <a:highlight>
                  <a:schemeClr val="lt1"/>
                </a:highlight>
                <a:latin typeface="Times New Roman"/>
                <a:ea typeface="Times New Roman"/>
                <a:cs typeface="Times New Roman"/>
                <a:sym typeface="Times New Roman"/>
              </a:rPr>
              <a:t>5,016</a:t>
            </a:r>
            <a:r>
              <a:rPr b="1" i="0" lang="zh-HK" sz="1200" u="none" cap="none" strike="noStrike">
                <a:solidFill>
                  <a:srgbClr val="212121"/>
                </a:solidFill>
                <a:highlight>
                  <a:schemeClr val="lt1"/>
                </a:highlight>
                <a:latin typeface="Times New Roman"/>
                <a:ea typeface="Times New Roman"/>
                <a:cs typeface="Times New Roman"/>
                <a:sym typeface="Times New Roman"/>
              </a:rPr>
              <a:t> engagements. (average </a:t>
            </a:r>
            <a:r>
              <a:rPr b="1" lang="zh-HK" sz="1200">
                <a:solidFill>
                  <a:srgbClr val="212121"/>
                </a:solidFill>
                <a:highlight>
                  <a:schemeClr val="lt1"/>
                </a:highlight>
                <a:latin typeface="Times New Roman"/>
                <a:ea typeface="Times New Roman"/>
                <a:cs typeface="Times New Roman"/>
                <a:sym typeface="Times New Roman"/>
              </a:rPr>
              <a:t>3</a:t>
            </a:r>
            <a:r>
              <a:rPr b="1" i="0" lang="zh-HK" sz="1200" u="none" cap="none" strike="noStrike">
                <a:solidFill>
                  <a:srgbClr val="212121"/>
                </a:solidFill>
                <a:highlight>
                  <a:schemeClr val="lt1"/>
                </a:highlight>
                <a:latin typeface="Times New Roman"/>
                <a:ea typeface="Times New Roman"/>
                <a:cs typeface="Times New Roman"/>
                <a:sym typeface="Times New Roman"/>
              </a:rPr>
              <a:t>.</a:t>
            </a:r>
            <a:r>
              <a:rPr b="1" lang="zh-HK" sz="1200">
                <a:solidFill>
                  <a:srgbClr val="212121"/>
                </a:solidFill>
                <a:highlight>
                  <a:schemeClr val="lt1"/>
                </a:highlight>
                <a:latin typeface="Times New Roman"/>
                <a:ea typeface="Times New Roman"/>
                <a:cs typeface="Times New Roman"/>
                <a:sym typeface="Times New Roman"/>
              </a:rPr>
              <a:t>9</a:t>
            </a:r>
            <a:r>
              <a:rPr b="1" i="0" lang="zh-HK" sz="1200" u="none" cap="none" strike="noStrike">
                <a:solidFill>
                  <a:srgbClr val="212121"/>
                </a:solidFill>
                <a:highlight>
                  <a:schemeClr val="lt1"/>
                </a:highlight>
                <a:latin typeface="Times New Roman"/>
                <a:ea typeface="Times New Roman"/>
                <a:cs typeface="Times New Roman"/>
                <a:sym typeface="Times New Roman"/>
              </a:rPr>
              <a:t>K views and 2</a:t>
            </a:r>
            <a:r>
              <a:rPr b="1" lang="zh-HK" sz="1200">
                <a:solidFill>
                  <a:srgbClr val="212121"/>
                </a:solidFill>
                <a:highlight>
                  <a:schemeClr val="lt1"/>
                </a:highlight>
                <a:latin typeface="Times New Roman"/>
                <a:ea typeface="Times New Roman"/>
                <a:cs typeface="Times New Roman"/>
                <a:sym typeface="Times New Roman"/>
              </a:rPr>
              <a:t>64</a:t>
            </a:r>
            <a:r>
              <a:rPr b="1" i="0" lang="zh-HK" sz="1200" u="none" cap="none" strike="noStrike">
                <a:solidFill>
                  <a:srgbClr val="212121"/>
                </a:solidFill>
                <a:highlight>
                  <a:schemeClr val="lt1"/>
                </a:highlight>
                <a:latin typeface="Times New Roman"/>
                <a:ea typeface="Times New Roman"/>
                <a:cs typeface="Times New Roman"/>
                <a:sym typeface="Times New Roman"/>
              </a:rPr>
              <a:t> engagements/Seeding)</a:t>
            </a:r>
            <a:endParaRPr b="1" i="0" sz="1200" u="none" cap="none" strike="noStrike">
              <a:solidFill>
                <a:srgbClr val="212121"/>
              </a:solidFill>
              <a:highlight>
                <a:schemeClr val="lt1"/>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200"/>
              <a:buFont typeface="Arial"/>
              <a:buNone/>
            </a:pPr>
            <a:r>
              <a:t/>
            </a:r>
            <a:endParaRPr b="1" i="0" sz="1200" u="none" cap="none" strike="noStrike">
              <a:solidFill>
                <a:srgbClr val="212121"/>
              </a:solidFill>
              <a:highlight>
                <a:schemeClr val="lt1"/>
              </a:highlight>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300"/>
              <a:buFont typeface="Arial"/>
              <a:buNone/>
            </a:pPr>
            <a:r>
              <a:t/>
            </a:r>
            <a:endParaRPr b="0" i="0" sz="1200" u="none" cap="none" strike="noStrike">
              <a:solidFill>
                <a:srgbClr val="000000"/>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212121"/>
              </a:solidFill>
              <a:highlight>
                <a:schemeClr val="lt1"/>
              </a:highlight>
              <a:latin typeface="Times New Roman"/>
              <a:ea typeface="Times New Roman"/>
              <a:cs typeface="Times New Roman"/>
              <a:sym typeface="Times New Roman"/>
            </a:endParaRPr>
          </a:p>
        </p:txBody>
      </p:sp>
      <p:pic>
        <p:nvPicPr>
          <p:cNvPr id="566" name="Google Shape;566;g3f679a2d4e1_0_348" title="截屏2026-08-07 12.27.50.png"/>
          <p:cNvPicPr preferRelativeResize="0"/>
          <p:nvPr/>
        </p:nvPicPr>
        <p:blipFill>
          <a:blip r:embed="rId5">
            <a:alphaModFix/>
          </a:blip>
          <a:stretch>
            <a:fillRect/>
          </a:stretch>
        </p:blipFill>
        <p:spPr>
          <a:xfrm>
            <a:off x="6836000" y="3334024"/>
            <a:ext cx="2171100" cy="1660545"/>
          </a:xfrm>
          <a:prstGeom prst="rect">
            <a:avLst/>
          </a:prstGeom>
          <a:noFill/>
          <a:ln>
            <a:noFill/>
          </a:ln>
        </p:spPr>
      </p:pic>
      <p:pic>
        <p:nvPicPr>
          <p:cNvPr id="567" name="Google Shape;567;g3f679a2d4e1_0_348" title="截屏2026-08-07 12.28.15.png"/>
          <p:cNvPicPr preferRelativeResize="0"/>
          <p:nvPr/>
        </p:nvPicPr>
        <p:blipFill>
          <a:blip r:embed="rId6">
            <a:alphaModFix/>
          </a:blip>
          <a:stretch>
            <a:fillRect/>
          </a:stretch>
        </p:blipFill>
        <p:spPr>
          <a:xfrm>
            <a:off x="6813674" y="1624000"/>
            <a:ext cx="2215750" cy="1654377"/>
          </a:xfrm>
          <a:prstGeom prst="rect">
            <a:avLst/>
          </a:prstGeom>
          <a:noFill/>
          <a:ln>
            <a:noFill/>
          </a:ln>
        </p:spPr>
      </p:pic>
      <p:sp>
        <p:nvSpPr>
          <p:cNvPr id="568" name="Google Shape;568;g3f679a2d4e1_0_348"/>
          <p:cNvSpPr txBox="1"/>
          <p:nvPr/>
        </p:nvSpPr>
        <p:spPr>
          <a:xfrm>
            <a:off x="220300" y="4697419"/>
            <a:ext cx="16662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Arial"/>
              <a:buNone/>
            </a:pPr>
            <a:r>
              <a:rPr b="0" i="0" lang="zh-HK" sz="1000" u="none" cap="none" strike="noStrike">
                <a:solidFill>
                  <a:schemeClr val="dk2"/>
                </a:solidFill>
                <a:latin typeface="Arial"/>
                <a:ea typeface="Arial"/>
                <a:cs typeface="Arial"/>
                <a:sym typeface="Arial"/>
              </a:rPr>
              <a:t>Data collected by </a:t>
            </a:r>
            <a:r>
              <a:rPr lang="zh-HK" sz="1000">
                <a:solidFill>
                  <a:schemeClr val="dk2"/>
                </a:solidFill>
              </a:rPr>
              <a:t>Aug</a:t>
            </a:r>
            <a:r>
              <a:rPr b="0" i="0" lang="zh-HK" sz="1000" u="none" cap="none" strike="noStrike">
                <a:solidFill>
                  <a:schemeClr val="dk2"/>
                </a:solidFill>
                <a:latin typeface="Arial"/>
                <a:ea typeface="Arial"/>
                <a:cs typeface="Arial"/>
                <a:sym typeface="Arial"/>
              </a:rPr>
              <a:t> </a:t>
            </a:r>
            <a:r>
              <a:rPr lang="zh-HK" sz="1000">
                <a:solidFill>
                  <a:schemeClr val="dk2"/>
                </a:solidFill>
              </a:rPr>
              <a:t>3</a:t>
            </a:r>
            <a:endParaRPr b="0" i="0" sz="1000" u="none" cap="none" strike="noStrike">
              <a:solidFill>
                <a:schemeClr val="dk2"/>
              </a:solidFill>
              <a:latin typeface="Arial"/>
              <a:ea typeface="Arial"/>
              <a:cs typeface="Arial"/>
              <a:sym typeface="Arial"/>
            </a:endParaRPr>
          </a:p>
        </p:txBody>
      </p:sp>
      <p:pic>
        <p:nvPicPr>
          <p:cNvPr id="569" name="Google Shape;569;g3f679a2d4e1_0_348"/>
          <p:cNvPicPr preferRelativeResize="0"/>
          <p:nvPr/>
        </p:nvPicPr>
        <p:blipFill>
          <a:blip r:embed="rId7">
            <a:alphaModFix/>
          </a:blip>
          <a:stretch>
            <a:fillRect/>
          </a:stretch>
        </p:blipFill>
        <p:spPr>
          <a:xfrm>
            <a:off x="220300" y="1801075"/>
            <a:ext cx="6508874" cy="2896354"/>
          </a:xfrm>
          <a:prstGeom prst="rect">
            <a:avLst/>
          </a:prstGeom>
          <a:noFill/>
          <a:ln>
            <a:noFill/>
          </a:ln>
        </p:spPr>
      </p:pic>
      <p:sp>
        <p:nvSpPr>
          <p:cNvPr id="570" name="Google Shape;570;g3f679a2d4e1_0_348"/>
          <p:cNvSpPr txBox="1"/>
          <p:nvPr/>
        </p:nvSpPr>
        <p:spPr>
          <a:xfrm>
            <a:off x="250300" y="715750"/>
            <a:ext cx="6177000" cy="1132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rgbClr val="0F1115"/>
              </a:buClr>
              <a:buSzPts val="1100"/>
              <a:buFont typeface="Times New Roman"/>
              <a:buChar char="●"/>
            </a:pPr>
            <a:r>
              <a:rPr b="1" lang="zh-HK" sz="1100">
                <a:solidFill>
                  <a:srgbClr val="0F1115"/>
                </a:solidFill>
                <a:highlight>
                  <a:srgbClr val="FFFFFF"/>
                </a:highlight>
                <a:latin typeface="Times New Roman"/>
                <a:ea typeface="Times New Roman"/>
                <a:cs typeface="Times New Roman"/>
                <a:sym typeface="Times New Roman"/>
              </a:rPr>
              <a:t>Views &amp; Engagement:</a:t>
            </a:r>
            <a:r>
              <a:rPr lang="zh-HK" sz="1100">
                <a:solidFill>
                  <a:srgbClr val="0F1115"/>
                </a:solidFill>
                <a:highlight>
                  <a:srgbClr val="FFFFFF"/>
                </a:highlight>
                <a:latin typeface="Times New Roman"/>
                <a:ea typeface="Times New Roman"/>
                <a:cs typeface="Times New Roman"/>
                <a:sym typeface="Times New Roman"/>
              </a:rPr>
              <a:t> KOL 小馬達阿豆 delivered the highest article views and the highest total engagement on video posts.</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b="1" lang="zh-HK" sz="1100">
                <a:solidFill>
                  <a:srgbClr val="0F1115"/>
                </a:solidFill>
                <a:highlight>
                  <a:srgbClr val="FFFFFF"/>
                </a:highlight>
                <a:latin typeface="Times New Roman"/>
                <a:ea typeface="Times New Roman"/>
                <a:cs typeface="Times New Roman"/>
                <a:sym typeface="Times New Roman"/>
              </a:rPr>
              <a:t>Engagement Rate:</a:t>
            </a:r>
            <a:r>
              <a:rPr lang="zh-HK" sz="1100">
                <a:solidFill>
                  <a:srgbClr val="0F1115"/>
                </a:solidFill>
                <a:highlight>
                  <a:srgbClr val="FFFFFF"/>
                </a:highlight>
                <a:latin typeface="Times New Roman"/>
                <a:ea typeface="Times New Roman"/>
                <a:cs typeface="Times New Roman"/>
                <a:sym typeface="Times New Roman"/>
              </a:rPr>
              <a:t> 愛旅行的 lulu achieved the highest engagement rate. Video content significantly outperformed photo posts, indicating stronger follower loyalty and greater potential for short-video collaborations.</a:t>
            </a:r>
            <a:endParaRPr sz="1100">
              <a:solidFill>
                <a:srgbClr val="0F1115"/>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3f997c9d9d1_1_2"/>
          <p:cNvSpPr txBox="1"/>
          <p:nvPr/>
        </p:nvSpPr>
        <p:spPr>
          <a:xfrm>
            <a:off x="945700" y="254050"/>
            <a:ext cx="616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zh-HK" sz="2000">
                <a:solidFill>
                  <a:schemeClr val="dk1"/>
                </a:solidFill>
                <a:latin typeface="Times New Roman"/>
                <a:ea typeface="Times New Roman"/>
                <a:cs typeface="Times New Roman"/>
                <a:sym typeface="Times New Roman"/>
              </a:rPr>
              <a:t>Learnings &amp; Insights</a:t>
            </a:r>
            <a:endParaRPr b="1" i="0" sz="2000" u="none" cap="none" strike="noStrike">
              <a:solidFill>
                <a:srgbClr val="000000"/>
              </a:solidFill>
              <a:latin typeface="Arial"/>
              <a:ea typeface="Arial"/>
              <a:cs typeface="Arial"/>
              <a:sym typeface="Arial"/>
            </a:endParaRPr>
          </a:p>
        </p:txBody>
      </p:sp>
      <p:pic>
        <p:nvPicPr>
          <p:cNvPr id="576" name="Google Shape;576;g3f997c9d9d1_1_2"/>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577" name="Google Shape;577;g3f997c9d9d1_1_2"/>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578" name="Google Shape;578;g3f997c9d9d1_1_2"/>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579" name="Google Shape;579;g3f997c9d9d1_1_2"/>
          <p:cNvPicPr preferRelativeResize="0"/>
          <p:nvPr/>
        </p:nvPicPr>
        <p:blipFill rotWithShape="1">
          <a:blip r:embed="rId4">
            <a:alphaModFix/>
          </a:blip>
          <a:srcRect b="21020" l="14061" r="17215" t="26140"/>
          <a:stretch/>
        </p:blipFill>
        <p:spPr>
          <a:xfrm>
            <a:off x="8094845" y="170700"/>
            <a:ext cx="1049154" cy="423511"/>
          </a:xfrm>
          <a:prstGeom prst="rect">
            <a:avLst/>
          </a:prstGeom>
          <a:noFill/>
          <a:ln>
            <a:noFill/>
          </a:ln>
        </p:spPr>
      </p:pic>
      <p:pic>
        <p:nvPicPr>
          <p:cNvPr id="580" name="Google Shape;580;g3f997c9d9d1_1_2"/>
          <p:cNvPicPr preferRelativeResize="0"/>
          <p:nvPr/>
        </p:nvPicPr>
        <p:blipFill>
          <a:blip r:embed="rId5">
            <a:alphaModFix/>
          </a:blip>
          <a:stretch>
            <a:fillRect/>
          </a:stretch>
        </p:blipFill>
        <p:spPr>
          <a:xfrm>
            <a:off x="4931025" y="947025"/>
            <a:ext cx="2009200" cy="2960899"/>
          </a:xfrm>
          <a:prstGeom prst="rect">
            <a:avLst/>
          </a:prstGeom>
          <a:noFill/>
          <a:ln>
            <a:noFill/>
          </a:ln>
        </p:spPr>
      </p:pic>
      <p:pic>
        <p:nvPicPr>
          <p:cNvPr id="581" name="Google Shape;581;g3f997c9d9d1_1_2"/>
          <p:cNvPicPr preferRelativeResize="0"/>
          <p:nvPr/>
        </p:nvPicPr>
        <p:blipFill>
          <a:blip r:embed="rId6">
            <a:alphaModFix/>
          </a:blip>
          <a:stretch>
            <a:fillRect/>
          </a:stretch>
        </p:blipFill>
        <p:spPr>
          <a:xfrm>
            <a:off x="6940225" y="947025"/>
            <a:ext cx="2092500" cy="3406924"/>
          </a:xfrm>
          <a:prstGeom prst="rect">
            <a:avLst/>
          </a:prstGeom>
          <a:noFill/>
          <a:ln>
            <a:noFill/>
          </a:ln>
        </p:spPr>
      </p:pic>
      <p:sp>
        <p:nvSpPr>
          <p:cNvPr id="582" name="Google Shape;582;g3f997c9d9d1_1_2"/>
          <p:cNvSpPr txBox="1"/>
          <p:nvPr/>
        </p:nvSpPr>
        <p:spPr>
          <a:xfrm>
            <a:off x="395025" y="852525"/>
            <a:ext cx="4332900" cy="303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sz="1100">
              <a:solidFill>
                <a:srgbClr val="212121"/>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rgbClr val="0F1115"/>
              </a:buClr>
              <a:buSzPts val="1100"/>
              <a:buFont typeface="Times New Roman"/>
              <a:buChar char="●"/>
            </a:pPr>
            <a:r>
              <a:rPr lang="zh-HK" sz="1100">
                <a:solidFill>
                  <a:srgbClr val="212121"/>
                </a:solidFill>
                <a:highlight>
                  <a:schemeClr val="lt1"/>
                </a:highlight>
                <a:latin typeface="Times New Roman"/>
                <a:ea typeface="Times New Roman"/>
                <a:cs typeface="Times New Roman"/>
                <a:sym typeface="Times New Roman"/>
              </a:rPr>
              <a:t>Chiikawa Campaign Phase 2 (Aug): continue to emphasize the “chiikawa 痛城/痛楼” concept, positioning Langham Place as a key Chiikawa IP destination to drive moviegoers to Gala Cinema for the Chiikawa film.</a:t>
            </a:r>
            <a:br>
              <a:rPr lang="zh-HK" sz="1100">
                <a:solidFill>
                  <a:srgbClr val="212121"/>
                </a:solidFill>
                <a:highlight>
                  <a:schemeClr val="lt1"/>
                </a:highlight>
                <a:latin typeface="Times New Roman"/>
                <a:ea typeface="Times New Roman"/>
                <a:cs typeface="Times New Roman"/>
                <a:sym typeface="Times New Roman"/>
              </a:rPr>
            </a:b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Inter"/>
              <a:buChar char="●"/>
            </a:pPr>
            <a:r>
              <a:rPr lang="zh-HK" sz="1100">
                <a:solidFill>
                  <a:srgbClr val="0F1115"/>
                </a:solidFill>
                <a:highlight>
                  <a:srgbClr val="FFFFFF"/>
                </a:highlight>
                <a:latin typeface="Times New Roman"/>
                <a:ea typeface="Times New Roman"/>
                <a:cs typeface="Times New Roman"/>
                <a:sym typeface="Times New Roman"/>
              </a:rPr>
              <a:t> Mid/Late Aug </a:t>
            </a:r>
            <a:r>
              <a:rPr lang="zh-HK" sz="1100">
                <a:latin typeface="Times New Roman"/>
                <a:ea typeface="Times New Roman"/>
                <a:cs typeface="Times New Roman"/>
                <a:sym typeface="Times New Roman"/>
              </a:rPr>
              <a:t>: Invite family-oriented and arts-focused KOLs to collaborate on phase3, promoting the 金庸 art sculptures and wrapping up the chiikawa event, while building anticipation for the two major holidays（中秋&amp;黄金周） in Sep and Oct.</a:t>
            </a:r>
            <a:br>
              <a:rPr lang="zh-HK" sz="1100">
                <a:latin typeface="Times New Roman"/>
                <a:ea typeface="Times New Roman"/>
                <a:cs typeface="Times New Roman"/>
                <a:sym typeface="Times New Roman"/>
              </a:rPr>
            </a:b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lang="zh-HK" sz="1100">
                <a:solidFill>
                  <a:srgbClr val="212121"/>
                </a:solidFill>
                <a:highlight>
                  <a:srgbClr val="FFFFFF"/>
                </a:highlight>
                <a:latin typeface="Times New Roman"/>
                <a:ea typeface="Times New Roman"/>
                <a:cs typeface="Times New Roman"/>
                <a:sym typeface="Times New Roman"/>
              </a:rPr>
              <a:t>Promote the Cordis Hotel and transportation options for travelers coming to hk  from the mainland, to attract more families traveling with children.</a:t>
            </a:r>
            <a:endParaRPr sz="1100">
              <a:solidFill>
                <a:srgbClr val="21212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20"/>
          <p:cNvSpPr txBox="1"/>
          <p:nvPr>
            <p:ph type="title"/>
          </p:nvPr>
        </p:nvSpPr>
        <p:spPr>
          <a:xfrm>
            <a:off x="430800" y="1523940"/>
            <a:ext cx="8282400" cy="1516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br>
              <a:rPr lang="zh-HK"/>
            </a:br>
            <a:r>
              <a:rPr b="1" lang="zh-HK" sz="3200">
                <a:solidFill>
                  <a:schemeClr val="lt1"/>
                </a:solidFill>
              </a:rPr>
              <a:t>Thank You</a:t>
            </a:r>
            <a:br>
              <a:rPr b="1" lang="zh-HK" sz="3200">
                <a:solidFill>
                  <a:schemeClr val="lt1"/>
                </a:solidFill>
              </a:rPr>
            </a:br>
            <a:br>
              <a:rPr lang="zh-HK" sz="3200">
                <a:solidFill>
                  <a:schemeClr val="lt1"/>
                </a:solidFill>
              </a:rPr>
            </a:br>
            <a:r>
              <a:rPr lang="zh-HK" sz="1400">
                <a:solidFill>
                  <a:schemeClr val="lt1"/>
                </a:solidFill>
                <a:latin typeface="Lato"/>
                <a:ea typeface="Lato"/>
                <a:cs typeface="Lato"/>
                <a:sym typeface="Lato"/>
              </a:rPr>
              <a:t>Contact: </a:t>
            </a:r>
            <a:r>
              <a:rPr lang="zh-HK" sz="1400">
                <a:solidFill>
                  <a:schemeClr val="hlink"/>
                </a:solidFill>
                <a:uFill>
                  <a:noFill/>
                </a:uFill>
                <a:latin typeface="Lato"/>
                <a:ea typeface="Lato"/>
                <a:cs typeface="Lato"/>
                <a:sym typeface="Lato"/>
                <a:hlinkClick r:id="rId3"/>
              </a:rPr>
              <a:t>info@dichat.hk</a:t>
            </a:r>
            <a:endParaRPr>
              <a:solidFill>
                <a:schemeClr val="lt1"/>
              </a:solidFill>
            </a:endParaRPr>
          </a:p>
        </p:txBody>
      </p:sp>
      <p:pic>
        <p:nvPicPr>
          <p:cNvPr descr="About | Langham Place" id="588" name="Google Shape;588;p20"/>
          <p:cNvPicPr preferRelativeResize="0"/>
          <p:nvPr/>
        </p:nvPicPr>
        <p:blipFill rotWithShape="1">
          <a:blip r:embed="rId4">
            <a:alphaModFix/>
          </a:blip>
          <a:srcRect b="21020" l="14063" r="17215" t="26140"/>
          <a:stretch/>
        </p:blipFill>
        <p:spPr>
          <a:xfrm>
            <a:off x="8094845" y="170700"/>
            <a:ext cx="1049155" cy="42351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1AFD1"/>
      </a:accent5>
      <a:accent6>
        <a:srgbClr val="F8E71C"/>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Jessica Liu</dc:creator>
</cp:coreProperties>
</file>