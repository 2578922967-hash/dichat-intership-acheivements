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6733FD-D956-4956-ACD5-ECA4EEF90769}">
  <a:tblStyle styleId="{1B6733FD-D956-4956-ACD5-ECA4EEF907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273198684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7273198684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27319868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727319868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2c3d7085d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72c3d7085d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2c24f0e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ab2c24f0e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27319868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7273198684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cd3ff02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ecd3ff02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b1435407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b1435407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b1435407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fb1435407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273198684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7273198684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0.jpg"/><Relationship Id="rId10" Type="http://schemas.openxmlformats.org/officeDocument/2006/relationships/image" Target="../media/image18.png"/><Relationship Id="rId9" Type="http://schemas.openxmlformats.org/officeDocument/2006/relationships/image" Target="../media/image17.png"/><Relationship Id="rId5" Type="http://schemas.openxmlformats.org/officeDocument/2006/relationships/image" Target="../media/image7.jpg"/><Relationship Id="rId6" Type="http://schemas.openxmlformats.org/officeDocument/2006/relationships/image" Target="../media/image26.jpg"/><Relationship Id="rId7" Type="http://schemas.openxmlformats.org/officeDocument/2006/relationships/image" Target="../media/image12.png"/><Relationship Id="rId8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hyperlink" Target="https://www.rednote.com/discovery/item/6a901c960000000004035a3d?xsec_token=ABR0v9SwCmZS3ZgS6tQXCJR8j8CfhZCm76ObqahgmIiVA=&amp;xsec_source=pc_user" TargetMode="External"/><Relationship Id="rId11" Type="http://schemas.openxmlformats.org/officeDocument/2006/relationships/image" Target="../media/image15.jpg"/><Relationship Id="rId10" Type="http://schemas.openxmlformats.org/officeDocument/2006/relationships/image" Target="../media/image20.jpg"/><Relationship Id="rId9" Type="http://schemas.openxmlformats.org/officeDocument/2006/relationships/image" Target="../media/image5.jpg"/><Relationship Id="rId5" Type="http://schemas.openxmlformats.org/officeDocument/2006/relationships/image" Target="../media/image16.jpg"/><Relationship Id="rId6" Type="http://schemas.openxmlformats.org/officeDocument/2006/relationships/image" Target="../media/image14.jpg"/><Relationship Id="rId7" Type="http://schemas.openxmlformats.org/officeDocument/2006/relationships/image" Target="../media/image9.jpg"/><Relationship Id="rId8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5.jpg"/><Relationship Id="rId5" Type="http://schemas.openxmlformats.org/officeDocument/2006/relationships/image" Target="../media/image20.jpg"/><Relationship Id="rId6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2.jpg"/><Relationship Id="rId5" Type="http://schemas.openxmlformats.org/officeDocument/2006/relationships/image" Target="../media/image27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mailto:info@dichat.h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475" y="0"/>
            <a:ext cx="4773702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9875"/>
            <a:ext cx="9144000" cy="52206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672478" y="1872750"/>
            <a:ext cx="51846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HIP SHING HONG XHS Performance Report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Aug.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 2026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4624" y="4746150"/>
            <a:ext cx="1054750" cy="2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3048" y="3516328"/>
            <a:ext cx="379725" cy="37974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662146" y="3513750"/>
            <a:ext cx="1584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September 2026</a:t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" name="Google Shape;60;p13" title="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1774" y="1370773"/>
            <a:ext cx="1205175" cy="643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-22200" y="-2"/>
            <a:ext cx="9188400" cy="210300"/>
          </a:xfrm>
          <a:prstGeom prst="rect">
            <a:avLst/>
          </a:prstGeom>
          <a:solidFill>
            <a:srgbClr val="F5842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950850" y="254025"/>
            <a:ext cx="45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 Summary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350" y="307312"/>
            <a:ext cx="386075" cy="3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395027" y="359057"/>
            <a:ext cx="42900" cy="282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11760" y="692703"/>
            <a:ext cx="20340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0121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overview</a:t>
            </a:r>
            <a:endParaRPr b="1" sz="1800">
              <a:solidFill>
                <a:srgbClr val="10121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3931127" y="617155"/>
            <a:ext cx="16224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Fans feature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107027" y="4294068"/>
            <a:ext cx="510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58.2%</a:t>
            </a:r>
            <a:r>
              <a:rPr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followers are female, </a:t>
            </a:r>
            <a:r>
              <a:rPr b="1"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22%</a:t>
            </a:r>
            <a:r>
              <a:rPr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aged between 41-50, </a:t>
            </a:r>
            <a:r>
              <a:rPr b="1"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32%</a:t>
            </a:r>
            <a:r>
              <a:rPr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located in first-tier cities.</a:t>
            </a:r>
            <a:endParaRPr sz="12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posts are mostly found by users on 1st page recommendations and search page.</a:t>
            </a:r>
            <a:endParaRPr sz="12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384475" y="421375"/>
            <a:ext cx="37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0" y="4511831"/>
            <a:ext cx="425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month, we published </a:t>
            </a:r>
            <a:r>
              <a:rPr b="1"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posts and gained </a:t>
            </a:r>
            <a:r>
              <a:rPr b="1"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</a:t>
            </a:r>
            <a:r>
              <a:rPr lang="en" sz="12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likes.</a:t>
            </a:r>
            <a:endParaRPr sz="12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14" title="IMG_2345.JPG"/>
          <p:cNvPicPr preferRelativeResize="0"/>
          <p:nvPr/>
        </p:nvPicPr>
        <p:blipFill rotWithShape="1">
          <a:blip r:embed="rId4">
            <a:alphaModFix/>
          </a:blip>
          <a:srcRect b="-1454" l="0" r="2344" t="-214"/>
          <a:stretch/>
        </p:blipFill>
        <p:spPr>
          <a:xfrm>
            <a:off x="264300" y="2888100"/>
            <a:ext cx="979801" cy="1575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5" name="Google Shape;75;p14" title="IMG_2346.JPG"/>
          <p:cNvPicPr preferRelativeResize="0"/>
          <p:nvPr/>
        </p:nvPicPr>
        <p:blipFill rotWithShape="1">
          <a:blip r:embed="rId5">
            <a:alphaModFix/>
          </a:blip>
          <a:srcRect b="-598" l="0" r="0" t="-832"/>
          <a:stretch/>
        </p:blipFill>
        <p:spPr>
          <a:xfrm>
            <a:off x="1400813" y="2889901"/>
            <a:ext cx="1003350" cy="157191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6" name="Google Shape;76;p14" title="IMG_2347.JPG"/>
          <p:cNvPicPr preferRelativeResize="0"/>
          <p:nvPr/>
        </p:nvPicPr>
        <p:blipFill rotWithShape="1">
          <a:blip r:embed="rId6">
            <a:alphaModFix/>
          </a:blip>
          <a:srcRect b="2661" l="0" r="0" t="2651"/>
          <a:stretch/>
        </p:blipFill>
        <p:spPr>
          <a:xfrm>
            <a:off x="2537350" y="2902837"/>
            <a:ext cx="979800" cy="15496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7" name="Google Shape;77;p14" title="截屏2026-09-02 下午6.59.0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0550" y="1082828"/>
            <a:ext cx="1953074" cy="144535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8" name="Google Shape;78;p14" title="截屏2026-09-02 下午6.59.4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6084" y="956250"/>
            <a:ext cx="2243215" cy="15719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79" name="Google Shape;79;p14" title="截屏2026-09-02 下午7.00.0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34350" y="2623363"/>
            <a:ext cx="2094152" cy="1575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0" name="Google Shape;80;p14" title="截屏2026-09-02 下午6.59.52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90125" y="2623375"/>
            <a:ext cx="2243224" cy="168241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graphicFrame>
        <p:nvGraphicFramePr>
          <p:cNvPr id="81" name="Google Shape;81;p14"/>
          <p:cNvGraphicFramePr/>
          <p:nvPr/>
        </p:nvGraphicFramePr>
        <p:xfrm>
          <a:off x="395025" y="112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{1B6733FD-D956-4956-ACD5-ECA4EEF90769}</a:tableStyleId>
              </a:tblPr>
              <a:tblGrid>
                <a:gridCol w="1486075"/>
                <a:gridCol w="14860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 level statistics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Aug 2026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Fans Number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2,253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Net Fans Growth</a:t>
                      </a:r>
                      <a:endParaRPr b="1"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Engagement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Views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Impressions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6701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Post no.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/>
        </p:nvSpPr>
        <p:spPr>
          <a:xfrm>
            <a:off x="950850" y="254025"/>
            <a:ext cx="452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XHS Post Performance Analysis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350" y="307312"/>
            <a:ext cx="386075" cy="3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395027" y="359057"/>
            <a:ext cx="42900" cy="282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-22200" y="-2"/>
            <a:ext cx="9188400" cy="210300"/>
          </a:xfrm>
          <a:prstGeom prst="rect">
            <a:avLst/>
          </a:prstGeom>
          <a:solidFill>
            <a:srgbClr val="F5842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298500" y="880150"/>
            <a:ext cx="86922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post of “</a:t>
            </a:r>
            <a:r>
              <a:rPr lang="en" sz="1000">
                <a:solidFill>
                  <a:schemeClr val="dk1"/>
                </a:solidFill>
              </a:rPr>
              <a:t>在中环上班☔竟然“一年不用带伞”？</a:t>
            </a:r>
            <a: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” achieved the highest engagement of </a:t>
            </a:r>
            <a:r>
              <a:rPr b="1"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alongside </a:t>
            </a:r>
            <a:r>
              <a:rPr b="1"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141</a:t>
            </a:r>
            <a: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views</a:t>
            </a:r>
            <a: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rgbClr val="1F232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" sz="1000">
                <a:solidFill>
                  <a:schemeClr val="dk1"/>
                </a:solidFill>
              </a:rPr>
              <a:t>问爆了！香港七夕去哪里？💑</a:t>
            </a:r>
            <a: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” post followed with </a:t>
            </a:r>
            <a:r>
              <a:rPr b="1"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engagements and the highest engagement rate of </a:t>
            </a:r>
            <a:r>
              <a:rPr b="1"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27.47%</a:t>
            </a:r>
            <a: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200">
                <a:solidFill>
                  <a:srgbClr val="1F23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rgbClr val="1F232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" name="Google Shape;91;p15"/>
          <p:cNvGraphicFramePr/>
          <p:nvPr/>
        </p:nvGraphicFramePr>
        <p:xfrm>
          <a:off x="560125" y="212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{1B6733FD-D956-4956-ACD5-ECA4EEF90769}</a:tableStyleId>
              </a:tblPr>
              <a:tblGrid>
                <a:gridCol w="1312800"/>
                <a:gridCol w="576975"/>
                <a:gridCol w="1087025"/>
                <a:gridCol w="576975"/>
                <a:gridCol w="576975"/>
                <a:gridCol w="576975"/>
                <a:gridCol w="576975"/>
                <a:gridCol w="576975"/>
                <a:gridCol w="702400"/>
                <a:gridCol w="852900"/>
                <a:gridCol w="751975"/>
              </a:tblGrid>
              <a:tr h="557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XHS Post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Date of Publish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Subject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View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Like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Comment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Share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Saved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Total Engagement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Total Engagement Rate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Fans Increased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557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8月 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香港34校网：中产爸妈“反内耗”卡位指南🎒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17.48%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8月 17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在中环上班☔竟然“一年不用带伞”？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21.28%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8月 20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问爆了！香港七夕去哪里？💑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27.47%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150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Aug total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21.79%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350" y="307312"/>
            <a:ext cx="386075" cy="3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/>
          <p:nvPr/>
        </p:nvSpPr>
        <p:spPr>
          <a:xfrm>
            <a:off x="395027" y="359057"/>
            <a:ext cx="42900" cy="282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-22200" y="-2"/>
            <a:ext cx="9188400" cy="210300"/>
          </a:xfrm>
          <a:prstGeom prst="rect">
            <a:avLst/>
          </a:prstGeom>
          <a:solidFill>
            <a:srgbClr val="F5842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950850" y="266800"/>
            <a:ext cx="761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Aug.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Media-buy Performance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- Post Boosting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71325" y="1080988"/>
            <a:ext cx="8999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The education-themed post “</a:t>
            </a:r>
            <a:r>
              <a:rPr lang="en" sz="1000">
                <a:solidFill>
                  <a:schemeClr val="dk1"/>
                </a:solidFill>
              </a:rPr>
              <a:t>香港34校网：中产爸妈“反内耗”卡位指南🎒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” achieved the highest engagement (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) and lowest 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CPC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3.98 RMB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b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The Qixi festival post “</a:t>
            </a:r>
            <a:r>
              <a:rPr lang="en" sz="1000">
                <a:solidFill>
                  <a:schemeClr val="dk1"/>
                </a:solidFill>
              </a:rPr>
              <a:t>问爆了！香港七夕去哪里？💑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” followed with 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 engagements. Overall August CPC averaged at 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4.01 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RMB.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205250" y="825425"/>
            <a:ext cx="541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 sz="1000">
                <a:solidFill>
                  <a:srgbClr val="262626"/>
                </a:solidFill>
              </a:rPr>
              <a:t>聚光</a:t>
            </a:r>
            <a:endParaRPr b="1" i="0" sz="10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99325" y="4860900"/>
            <a:ext cx="36681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Exchange rate: 1RMB = 1.16 HKD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3" name="Google Shape;103;p16"/>
          <p:cNvGraphicFramePr/>
          <p:nvPr/>
        </p:nvGraphicFramePr>
        <p:xfrm>
          <a:off x="99388" y="1944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{1B6733FD-D956-4956-ACD5-ECA4EEF90769}</a:tableStyleId>
              </a:tblPr>
              <a:tblGrid>
                <a:gridCol w="1140350"/>
                <a:gridCol w="495400"/>
                <a:gridCol w="944050"/>
                <a:gridCol w="521875"/>
                <a:gridCol w="468925"/>
                <a:gridCol w="495400"/>
                <a:gridCol w="495400"/>
                <a:gridCol w="495400"/>
                <a:gridCol w="616900"/>
                <a:gridCol w="738425"/>
                <a:gridCol w="551475"/>
                <a:gridCol w="495400"/>
                <a:gridCol w="495400"/>
                <a:gridCol w="495400"/>
                <a:gridCol w="4954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XHS Subject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Period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Objectives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Cost￥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Impressions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Clicks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Likes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Comment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Saved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Follow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Share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Total Engagement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CTR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CPC ¥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CPM ¥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香港34校网：中产爸妈“反内耗”卡位指南🎒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8/3-8/5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全站智投-互动量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95.43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827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2.90%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3.98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115.39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问爆了！香港七夕去哪里？💑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8/18-8/20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全站智投-互动量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60.96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549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2.73%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4.06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111.04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在中环上班☔竟然“一年不用带伞”？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/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Aug Total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156.39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1,376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2.83%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4.01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113.66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HKD Total + 20% Service fee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$217.69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350" y="250812"/>
            <a:ext cx="386075" cy="3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395027" y="302557"/>
            <a:ext cx="42900" cy="282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-22200" y="-2"/>
            <a:ext cx="9188400" cy="210300"/>
          </a:xfrm>
          <a:prstGeom prst="rect">
            <a:avLst/>
          </a:prstGeom>
          <a:solidFill>
            <a:srgbClr val="F5842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950850" y="210300"/>
            <a:ext cx="7611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July.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Media-buy Performance -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Page Boosting </a:t>
            </a: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210300" y="1075475"/>
            <a:ext cx="9092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In August, we continued utilizing XHS Boost (薯条) to drive post likes and saves. The post “在中环上班☔️竟然‘一年不用带伞’?” achieved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the highest 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CTR of 5.27%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 and the lowest 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CPC of 3.26 RMB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The overall campaign generated 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3,351 impressions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115 clicks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 at a total cost of 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550 RMB (HKD $765.60 incl. service fee)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210300" y="798575"/>
            <a:ext cx="60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" sz="1000">
                <a:solidFill>
                  <a:srgbClr val="262626"/>
                </a:solidFill>
              </a:rPr>
              <a:t>薯条</a:t>
            </a:r>
            <a:endParaRPr b="1" i="0" sz="10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7252800" y="302538"/>
            <a:ext cx="18912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Exchange rate: 1RMB = 1.16 HKD</a:t>
            </a:r>
            <a:endParaRPr sz="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5" name="Google Shape;115;p17"/>
          <p:cNvGraphicFramePr/>
          <p:nvPr/>
        </p:nvGraphicFramePr>
        <p:xfrm>
          <a:off x="198638" y="194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{1B6733FD-D956-4956-ACD5-ECA4EEF90769}</a:tableStyleId>
              </a:tblPr>
              <a:tblGrid>
                <a:gridCol w="1116350"/>
                <a:gridCol w="484975"/>
                <a:gridCol w="924200"/>
                <a:gridCol w="537875"/>
                <a:gridCol w="432075"/>
                <a:gridCol w="484975"/>
                <a:gridCol w="484975"/>
                <a:gridCol w="484975"/>
                <a:gridCol w="603925"/>
                <a:gridCol w="722875"/>
                <a:gridCol w="539875"/>
                <a:gridCol w="484975"/>
                <a:gridCol w="484975"/>
                <a:gridCol w="484975"/>
                <a:gridCol w="484975"/>
              </a:tblGrid>
              <a:tr h="621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XHS Subject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Period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Objectives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Cost￥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Impressions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Clicks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Likes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Comment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Saved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Follow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Homepage Views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Direct Messages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CTR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CPC ¥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CPM ¥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在中环上班☔竟然“一年不用带伞”？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8/17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点赞收藏量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873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5.27%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171.82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在中环上班☔竟然“一年不用带伞”？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8/17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点赞收藏量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1,296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2.93%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5.26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154.32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问爆了！香港七夕去哪里？💑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8/18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点赞收藏量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1,182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2.62%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6.45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169.20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Aug Total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3,351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3.43%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4.78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164.13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HKD Total + 20% Service fee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$765.60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/>
        </p:nvSpPr>
        <p:spPr>
          <a:xfrm>
            <a:off x="950850" y="258575"/>
            <a:ext cx="283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Competitors Analysis 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350" y="307312"/>
            <a:ext cx="386075" cy="3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/>
          <p:nvPr/>
        </p:nvSpPr>
        <p:spPr>
          <a:xfrm>
            <a:off x="395027" y="359057"/>
            <a:ext cx="42900" cy="282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-22200" y="-2"/>
            <a:ext cx="9188400" cy="210300"/>
          </a:xfrm>
          <a:prstGeom prst="rect">
            <a:avLst/>
          </a:prstGeom>
          <a:solidFill>
            <a:srgbClr val="F5842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287937" y="757201"/>
            <a:ext cx="320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会德丰香港WheelockLiving</a:t>
            </a:r>
            <a:endParaRPr b="1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287900" y="1071339"/>
            <a:ext cx="5118900" cy="38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25" spcFirstLastPara="1" rIns="51425" wrap="square" tIns="2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 overview </a:t>
            </a: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 Aug. :</a:t>
            </a:r>
            <a:endParaRPr b="1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posted 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feeds</a:t>
            </a: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including 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text and 3</a:t>
            </a: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video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 feeds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Pillar：</a:t>
            </a: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Experiential Living &amp; Local Engagement &amp; Offers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Top1 post analysis-</a:t>
            </a:r>
            <a:r>
              <a:rPr lang="en" sz="1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限时福利！香港秋季家居展门票免费送啦！</a:t>
            </a:r>
            <a:endParaRPr sz="1000">
              <a:solidFill>
                <a:srgbClr val="1C1F23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post performs exceptionally well by leveraging the "2026 Autumn Home Expo" and a free ticket giveaway — featuring 600+ booths, 7 themed zones, and the debut of "InZpire Luxe" luxury furniture exhibition with international masterpieces — which effectively captures user attention among homebuyers and renovation enthusiasts, keeping the brand top-of-mind in a practical and festive manner.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 Top 2&amp;3 content: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“🚇铁路贯通港深，尊踞北都新中环” The post performs well by recasting Kwu Tung North as the "New Central of the North Metropolis", leveraging MTR and port connectivity to attract cross-border commuters and drive interest in PALO SPRINGS.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Char char="●"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“古洞北PARK SILICON，创科菁英的理想生活圈” The post performs well by recasting PARK SILICON as a "Silicon Valley-style" resort, leveraging its prime location near I&amp;T hubs to attract tech professionals and drive project interest.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18" title="IMG_233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1024" y="451563"/>
            <a:ext cx="1114250" cy="180827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7" name="Google Shape;127;p18" title="IMG_2336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5924" y="451575"/>
            <a:ext cx="1114250" cy="18082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8" name="Google Shape;128;p18" title="IMG_2337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49785" y="492825"/>
            <a:ext cx="1221800" cy="15370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9" name="Google Shape;129;p18" title="IMG_2338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59624" y="2374600"/>
            <a:ext cx="1070751" cy="193442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0" name="Google Shape;130;p18" title="IMG_2339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45303" y="2065776"/>
            <a:ext cx="1221800" cy="146161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1" name="Google Shape;131;p18" title="IMG_2340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671029" y="2392525"/>
            <a:ext cx="1070750" cy="189218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2" name="Google Shape;132;p18" title="IMG_2341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46589" y="3590157"/>
            <a:ext cx="899150" cy="14615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/>
        </p:nvSpPr>
        <p:spPr>
          <a:xfrm>
            <a:off x="1016000" y="254050"/>
            <a:ext cx="28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&amp; Suggestions 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400" y="330813"/>
            <a:ext cx="339075" cy="3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395027" y="359057"/>
            <a:ext cx="42900" cy="282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-22200" y="-2"/>
            <a:ext cx="9188400" cy="210300"/>
          </a:xfrm>
          <a:prstGeom prst="rect">
            <a:avLst/>
          </a:prstGeom>
          <a:solidFill>
            <a:srgbClr val="F5842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195337" y="1182597"/>
            <a:ext cx="4759800" cy="27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Competitors Benchmarking：</a:t>
            </a:r>
            <a:endParaRPr b="1"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200">
                <a:solidFill>
                  <a:schemeClr val="dk1"/>
                </a:solidFill>
              </a:rPr>
              <a:t>Key takeaways from Wheelock Living (Aug): 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(1) </a:t>
            </a:r>
            <a:r>
              <a:rPr b="1" lang="en" sz="1200">
                <a:solidFill>
                  <a:schemeClr val="dk1"/>
                </a:solidFill>
              </a:rPr>
              <a:t>Giveaway-driven engagement</a:t>
            </a:r>
            <a:r>
              <a:rPr lang="en" sz="1200">
                <a:solidFill>
                  <a:schemeClr val="dk1"/>
                </a:solidFill>
              </a:rPr>
              <a:t>​ — ticket giveaways (Home Expo, Cat Expo, concert) remain their most reliable traffic formula;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(2) </a:t>
            </a:r>
            <a:r>
              <a:rPr b="1" lang="en" sz="1200">
                <a:solidFill>
                  <a:schemeClr val="dk1"/>
                </a:solidFill>
              </a:rPr>
              <a:t>Area storytelling</a:t>
            </a:r>
            <a:r>
              <a:rPr lang="en" sz="1200">
                <a:solidFill>
                  <a:schemeClr val="dk1"/>
                </a:solidFill>
              </a:rPr>
              <a:t>​ — recasting Kwu Tung North as "North Metropolis New Central" to build regional premium;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(3) </a:t>
            </a:r>
            <a:r>
              <a:rPr b="1" lang="en" sz="1200">
                <a:solidFill>
                  <a:schemeClr val="dk1"/>
                </a:solidFill>
              </a:rPr>
              <a:t>Cross-platform matrix</a:t>
            </a:r>
            <a:r>
              <a:rPr lang="en" sz="1200">
                <a:solidFill>
                  <a:schemeClr val="dk1"/>
                </a:solidFill>
              </a:rPr>
              <a:t>​ — leveraging KOLs + mainland channels to reach buyers.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9" title="IMG_233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0499" y="560350"/>
            <a:ext cx="1563550" cy="1870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3" name="Google Shape;143;p19" title="IMG_2340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6499" y="560350"/>
            <a:ext cx="1335453" cy="23599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44" name="Google Shape;144;p19" title="IMG_234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0109" y="2571746"/>
            <a:ext cx="1383050" cy="22482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/>
        </p:nvSpPr>
        <p:spPr>
          <a:xfrm>
            <a:off x="1016000" y="254050"/>
            <a:ext cx="28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&amp; Suggestions 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400" y="330813"/>
            <a:ext cx="339075" cy="3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/>
          <p:nvPr/>
        </p:nvSpPr>
        <p:spPr>
          <a:xfrm>
            <a:off x="395027" y="359057"/>
            <a:ext cx="42900" cy="282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-22200" y="-2"/>
            <a:ext cx="9188400" cy="210300"/>
          </a:xfrm>
          <a:prstGeom prst="rect">
            <a:avLst/>
          </a:prstGeom>
          <a:solidFill>
            <a:srgbClr val="F5842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493550" y="713997"/>
            <a:ext cx="4948200" cy="43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Strategy Recommendations: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Mid-Autumn &amp; National Day Seasonal Scenario Marketing Strategy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Capitalize on the September–October travel peak (Mid-Autumn Festival and National Day). Instead of traditional, hard-sell property promotions, shift to a highly interactive hook (e.g., local cultural trivia) to spark curiosity and discussion among tourists. This seamlessly transitions into the desire for a "relaxed" holiday, allowing for a soft and natural integration of Hip Shing Hong’s hotel portfolios, thereby boosting readability and brand affinity.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e.g. Promote Hotel Madera using a fun cultural trivia hook (e.g., why Hong Kong's Mid-Autumn holiday falls the day after) to pitch a slow-paced, relaxing vacation that naturally showcases the hotels as ideal bases for authentic local exploration.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p20" title="IMG_2367.jpg"/>
          <p:cNvPicPr preferRelativeResize="0"/>
          <p:nvPr/>
        </p:nvPicPr>
        <p:blipFill rotWithShape="1">
          <a:blip r:embed="rId4">
            <a:alphaModFix/>
          </a:blip>
          <a:srcRect b="7894" l="0" r="0" t="0"/>
          <a:stretch/>
        </p:blipFill>
        <p:spPr>
          <a:xfrm>
            <a:off x="5663475" y="359050"/>
            <a:ext cx="1643801" cy="24663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5" name="Google Shape;15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3925" y="1184000"/>
            <a:ext cx="1782525" cy="24330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56" name="Google Shape;156;p20"/>
          <p:cNvPicPr preferRelativeResize="0"/>
          <p:nvPr/>
        </p:nvPicPr>
        <p:blipFill rotWithShape="1">
          <a:blip r:embed="rId6">
            <a:alphaModFix/>
          </a:blip>
          <a:srcRect b="8400" l="0" r="0" t="0"/>
          <a:stretch/>
        </p:blipFill>
        <p:spPr>
          <a:xfrm>
            <a:off x="6354025" y="2692200"/>
            <a:ext cx="1524750" cy="2318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/>
        </p:nvSpPr>
        <p:spPr>
          <a:xfrm>
            <a:off x="1016000" y="254050"/>
            <a:ext cx="282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&amp; Suggestions 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400" y="330813"/>
            <a:ext cx="339075" cy="3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/>
          <p:nvPr/>
        </p:nvSpPr>
        <p:spPr>
          <a:xfrm>
            <a:off x="395027" y="359057"/>
            <a:ext cx="42900" cy="282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-22200" y="-2"/>
            <a:ext cx="9188400" cy="210300"/>
          </a:xfrm>
          <a:prstGeom prst="rect">
            <a:avLst/>
          </a:prstGeom>
          <a:solidFill>
            <a:srgbClr val="F5842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279275" y="714000"/>
            <a:ext cx="5322300" cy="4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Strategy Recommendations: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Topics Users Truly Care About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Transform policy and market trends—such as talent inflow and GBA entrepreneurship—into life and work topics that urbanites truly care about. Start from down-to-earth scenarios like commuting, pet-friendly living, and the startup ecosystem, and naturally highlight the differentiated strengths of Hip Shing Hong’s projects, making brand content more aligned with users’ real needs.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Times New Roman"/>
                <a:ea typeface="Times New Roman"/>
                <a:cs typeface="Times New Roman"/>
                <a:sym typeface="Times New Roman"/>
              </a:rPr>
              <a:t>e.g. Content can revolve around Hong Kong’s new regulations, local lifestyle, and vertical startup topics—introducing Genesis through pet-friendly living, highlighting Office Plus’s “just steps from the MTR” convenience via commuting pain points, and showcasing Gravity’s flexible working model for startups. This conveys brand value through relatable, real-life scenarios for sustainable long-term content output.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200" y="610075"/>
            <a:ext cx="1580811" cy="2358255"/>
          </a:xfrm>
          <a:prstGeom prst="rect">
            <a:avLst/>
          </a:prstGeom>
          <a:noFill/>
          <a:ln>
            <a:noFill/>
          </a:ln>
          <a:effectLst>
            <a:outerShdw blurRad="54829" rotWithShape="0" algn="bl" dir="5400000" dist="18276">
              <a:srgbClr val="000000">
                <a:alpha val="50000"/>
              </a:srgbClr>
            </a:outerShdw>
          </a:effectLst>
        </p:spPr>
      </p:pic>
      <p:pic>
        <p:nvPicPr>
          <p:cNvPr id="167" name="Google Shape;16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3714" y="1573305"/>
            <a:ext cx="1580811" cy="2233205"/>
          </a:xfrm>
          <a:prstGeom prst="rect">
            <a:avLst/>
          </a:prstGeom>
          <a:noFill/>
          <a:ln>
            <a:noFill/>
          </a:ln>
          <a:effectLst>
            <a:outerShdw blurRad="54829" rotWithShape="0" algn="bl" dir="5400000" dist="18276">
              <a:srgbClr val="000000">
                <a:alpha val="50000"/>
              </a:srgbClr>
            </a:outerShdw>
          </a:effectLst>
        </p:spPr>
      </p:pic>
      <p:pic>
        <p:nvPicPr>
          <p:cNvPr id="168" name="Google Shape;16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8256" y="3091952"/>
            <a:ext cx="1384706" cy="1868269"/>
          </a:xfrm>
          <a:prstGeom prst="rect">
            <a:avLst/>
          </a:prstGeom>
          <a:noFill/>
          <a:ln>
            <a:noFill/>
          </a:ln>
          <a:effectLst>
            <a:outerShdw blurRad="54829" rotWithShape="0" algn="bl" dir="5400000" dist="18276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475" y="0"/>
            <a:ext cx="4773702" cy="5143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758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4624" y="4746150"/>
            <a:ext cx="1054750" cy="28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/>
          <p:nvPr/>
        </p:nvSpPr>
        <p:spPr>
          <a:xfrm>
            <a:off x="466725" y="2135600"/>
            <a:ext cx="79584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icrosoft Yahei"/>
              <a:buNone/>
            </a:pPr>
            <a:r>
              <a:rPr b="1" i="0" lang="en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531150" y="3047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Contact: </a:t>
            </a:r>
            <a:r>
              <a:rPr b="0" i="0" lang="en" sz="1800" u="sng" cap="none" strike="noStrike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info@dichat.hk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