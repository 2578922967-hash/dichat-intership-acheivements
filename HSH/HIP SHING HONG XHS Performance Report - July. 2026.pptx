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6835F7-9396-4022-A013-61C5F7CA1F8A}">
  <a:tblStyle styleId="{7D6835F7-9396-4022-A013-61C5F7CA1F8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6F50A6D-77A3-4A06-8495-73F4A716AD6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27319868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7273198684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727319868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727319868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2c3d7085d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372c3d7085d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b2c24f0e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ab2c24f0ec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273198684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7273198684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f185b3c2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df185b3c2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cd3ff02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ecd3ff022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273198684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7273198684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3.png"/><Relationship Id="rId10" Type="http://schemas.openxmlformats.org/officeDocument/2006/relationships/image" Target="../media/image11.png"/><Relationship Id="rId9"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9.png"/><Relationship Id="rId7" Type="http://schemas.openxmlformats.org/officeDocument/2006/relationships/image" Target="../media/image10.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s://www.xiaohongshu.com/explore/6a6c7f0b0000000032031eee?xsec_token=ABRHdh8eGlk_iuFImHwLY6gvwgpWP_pynddZR513HUt1M=&amp;xsec_source=pc_search" TargetMode="External"/><Relationship Id="rId10" Type="http://schemas.openxmlformats.org/officeDocument/2006/relationships/image" Target="../media/image16.png"/><Relationship Id="rId9" Type="http://schemas.openxmlformats.org/officeDocument/2006/relationships/image" Target="../media/image22.png"/><Relationship Id="rId5" Type="http://schemas.openxmlformats.org/officeDocument/2006/relationships/image" Target="../media/image14.png"/><Relationship Id="rId6" Type="http://schemas.openxmlformats.org/officeDocument/2006/relationships/image" Target="../media/image23.png"/><Relationship Id="rId7" Type="http://schemas.openxmlformats.org/officeDocument/2006/relationships/image" Target="../media/image20.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hyperlink" Target="mailto:info@dichat.h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325475" y="0"/>
            <a:ext cx="4773702" cy="5143498"/>
          </a:xfrm>
          <a:prstGeom prst="rect">
            <a:avLst/>
          </a:prstGeom>
          <a:noFill/>
          <a:ln>
            <a:noFill/>
          </a:ln>
        </p:spPr>
      </p:pic>
      <p:pic>
        <p:nvPicPr>
          <p:cNvPr id="55" name="Google Shape;55;p13"/>
          <p:cNvPicPr preferRelativeResize="0"/>
          <p:nvPr/>
        </p:nvPicPr>
        <p:blipFill rotWithShape="1">
          <a:blip r:embed="rId4">
            <a:alphaModFix/>
          </a:blip>
          <a:srcRect b="0" l="0" r="0" t="0"/>
          <a:stretch/>
        </p:blipFill>
        <p:spPr>
          <a:xfrm>
            <a:off x="0" y="-39875"/>
            <a:ext cx="9144000" cy="5220625"/>
          </a:xfrm>
          <a:prstGeom prst="rect">
            <a:avLst/>
          </a:prstGeom>
          <a:noFill/>
          <a:ln cap="flat" cmpd="sng" w="9525">
            <a:solidFill>
              <a:schemeClr val="lt1"/>
            </a:solidFill>
            <a:prstDash val="solid"/>
            <a:round/>
            <a:headEnd len="sm" w="sm" type="none"/>
            <a:tailEnd len="sm" w="sm" type="none"/>
          </a:ln>
        </p:spPr>
      </p:pic>
      <p:sp>
        <p:nvSpPr>
          <p:cNvPr id="56" name="Google Shape;56;p13"/>
          <p:cNvSpPr txBox="1"/>
          <p:nvPr>
            <p:ph type="ctrTitle"/>
          </p:nvPr>
        </p:nvSpPr>
        <p:spPr>
          <a:xfrm>
            <a:off x="672478" y="1872750"/>
            <a:ext cx="5184600" cy="1398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990"/>
              <a:buNone/>
            </a:pPr>
            <a:r>
              <a:rPr b="1" lang="en" sz="2400">
                <a:latin typeface="Times New Roman"/>
                <a:ea typeface="Times New Roman"/>
                <a:cs typeface="Times New Roman"/>
                <a:sym typeface="Times New Roman"/>
              </a:rPr>
              <a:t>HIP SHING HONG XHS Performance Report </a:t>
            </a:r>
            <a:r>
              <a:rPr b="1" lang="en" sz="2400">
                <a:latin typeface="Times New Roman"/>
                <a:ea typeface="Times New Roman"/>
                <a:cs typeface="Times New Roman"/>
                <a:sym typeface="Times New Roman"/>
              </a:rPr>
              <a:t>- July</a:t>
            </a:r>
            <a:r>
              <a:rPr b="1" lang="en" sz="2400">
                <a:latin typeface="Times New Roman"/>
                <a:ea typeface="Times New Roman"/>
                <a:cs typeface="Times New Roman"/>
                <a:sym typeface="Times New Roman"/>
              </a:rPr>
              <a:t>.</a:t>
            </a:r>
            <a:r>
              <a:rPr b="1" lang="en" sz="2400">
                <a:latin typeface="Times New Roman"/>
                <a:ea typeface="Times New Roman"/>
                <a:cs typeface="Times New Roman"/>
                <a:sym typeface="Times New Roman"/>
              </a:rPr>
              <a:t> 2026</a:t>
            </a:r>
            <a:endParaRPr b="1" sz="2400">
              <a:latin typeface="Times New Roman"/>
              <a:ea typeface="Times New Roman"/>
              <a:cs typeface="Times New Roman"/>
              <a:sym typeface="Times New Roman"/>
            </a:endParaRPr>
          </a:p>
        </p:txBody>
      </p:sp>
      <p:pic>
        <p:nvPicPr>
          <p:cNvPr id="57" name="Google Shape;57;p13"/>
          <p:cNvPicPr preferRelativeResize="0"/>
          <p:nvPr/>
        </p:nvPicPr>
        <p:blipFill rotWithShape="1">
          <a:blip r:embed="rId5">
            <a:alphaModFix/>
          </a:blip>
          <a:srcRect b="0" l="0" r="0" t="0"/>
          <a:stretch/>
        </p:blipFill>
        <p:spPr>
          <a:xfrm>
            <a:off x="4044624" y="4746150"/>
            <a:ext cx="1054750" cy="282525"/>
          </a:xfrm>
          <a:prstGeom prst="rect">
            <a:avLst/>
          </a:prstGeom>
          <a:noFill/>
          <a:ln>
            <a:noFill/>
          </a:ln>
        </p:spPr>
      </p:pic>
      <p:pic>
        <p:nvPicPr>
          <p:cNvPr id="58" name="Google Shape;58;p13"/>
          <p:cNvPicPr preferRelativeResize="0"/>
          <p:nvPr/>
        </p:nvPicPr>
        <p:blipFill rotWithShape="1">
          <a:blip r:embed="rId6">
            <a:alphaModFix/>
          </a:blip>
          <a:srcRect b="0" l="0" r="0" t="0"/>
          <a:stretch/>
        </p:blipFill>
        <p:spPr>
          <a:xfrm>
            <a:off x="1886950" y="3516328"/>
            <a:ext cx="379725" cy="379744"/>
          </a:xfrm>
          <a:prstGeom prst="rect">
            <a:avLst/>
          </a:prstGeom>
          <a:noFill/>
          <a:ln>
            <a:noFill/>
          </a:ln>
        </p:spPr>
      </p:pic>
      <p:sp>
        <p:nvSpPr>
          <p:cNvPr id="59" name="Google Shape;59;p13"/>
          <p:cNvSpPr txBox="1"/>
          <p:nvPr/>
        </p:nvSpPr>
        <p:spPr>
          <a:xfrm>
            <a:off x="681763" y="3513750"/>
            <a:ext cx="1584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lang="en" sz="1300">
                <a:solidFill>
                  <a:schemeClr val="dk1"/>
                </a:solidFill>
                <a:latin typeface="Times New Roman"/>
                <a:ea typeface="Times New Roman"/>
                <a:cs typeface="Times New Roman"/>
                <a:sym typeface="Times New Roman"/>
              </a:rPr>
              <a:t>6 August 2026</a:t>
            </a:r>
            <a:endParaRPr b="1" i="0" sz="1300" u="none" cap="none" strike="noStrike">
              <a:solidFill>
                <a:schemeClr val="dk1"/>
              </a:solidFill>
              <a:latin typeface="Times New Roman"/>
              <a:ea typeface="Times New Roman"/>
              <a:cs typeface="Times New Roman"/>
              <a:sym typeface="Times New Roman"/>
            </a:endParaRPr>
          </a:p>
        </p:txBody>
      </p:sp>
      <p:pic>
        <p:nvPicPr>
          <p:cNvPr id="60" name="Google Shape;60;p13" title="logo.png"/>
          <p:cNvPicPr preferRelativeResize="0"/>
          <p:nvPr/>
        </p:nvPicPr>
        <p:blipFill>
          <a:blip r:embed="rId7">
            <a:alphaModFix/>
          </a:blip>
          <a:stretch>
            <a:fillRect/>
          </a:stretch>
        </p:blipFill>
        <p:spPr>
          <a:xfrm>
            <a:off x="681774" y="1370773"/>
            <a:ext cx="1205175" cy="6438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4"/>
          <p:cNvSpPr txBox="1"/>
          <p:nvPr/>
        </p:nvSpPr>
        <p:spPr>
          <a:xfrm>
            <a:off x="950850" y="254025"/>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lang="en" sz="2000">
                <a:solidFill>
                  <a:schemeClr val="dk1"/>
                </a:solidFill>
                <a:latin typeface="Times New Roman"/>
                <a:ea typeface="Times New Roman"/>
                <a:cs typeface="Times New Roman"/>
                <a:sym typeface="Times New Roman"/>
              </a:rPr>
              <a:t>Account Summary</a:t>
            </a:r>
            <a:endParaRPr b="1" sz="2000">
              <a:solidFill>
                <a:schemeClr val="dk1"/>
              </a:solidFill>
              <a:latin typeface="Times New Roman"/>
              <a:ea typeface="Times New Roman"/>
              <a:cs typeface="Times New Roman"/>
              <a:sym typeface="Times New Roman"/>
            </a:endParaRPr>
          </a:p>
        </p:txBody>
      </p:sp>
      <p:pic>
        <p:nvPicPr>
          <p:cNvPr id="67" name="Google Shape;67;p14"/>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68" name="Google Shape;68;p14"/>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graphicFrame>
        <p:nvGraphicFramePr>
          <p:cNvPr id="69" name="Google Shape;69;p14"/>
          <p:cNvGraphicFramePr/>
          <p:nvPr/>
        </p:nvGraphicFramePr>
        <p:xfrm>
          <a:off x="362230" y="1123775"/>
          <a:ext cx="3000000" cy="3000000"/>
        </p:xfrm>
        <a:graphic>
          <a:graphicData uri="http://schemas.openxmlformats.org/drawingml/2006/table">
            <a:tbl>
              <a:tblPr>
                <a:noFill/>
                <a:tableStyleId>{7D6835F7-9396-4022-A013-61C5F7CA1F8A}</a:tableStyleId>
              </a:tblPr>
              <a:tblGrid>
                <a:gridCol w="2118500"/>
                <a:gridCol w="962025"/>
              </a:tblGrid>
              <a:tr h="249650">
                <a:tc>
                  <a:txBody>
                    <a:bodyPr/>
                    <a:lstStyle/>
                    <a:p>
                      <a:pPr indent="0" lvl="0" marL="0" marR="0" rtl="0" algn="ctr">
                        <a:lnSpc>
                          <a:spcPct val="115000"/>
                        </a:lnSpc>
                        <a:spcBef>
                          <a:spcPts val="0"/>
                        </a:spcBef>
                        <a:spcAft>
                          <a:spcPts val="0"/>
                        </a:spcAft>
                        <a:buClr>
                          <a:srgbClr val="000000"/>
                        </a:buClr>
                        <a:buSzPts val="1000"/>
                        <a:buFont typeface="Arial"/>
                        <a:buNone/>
                      </a:pPr>
                      <a:r>
                        <a:rPr b="1" lang="en" sz="1200" u="none" cap="none" strike="noStrike">
                          <a:solidFill>
                            <a:srgbClr val="1F1F1F"/>
                          </a:solidFill>
                          <a:latin typeface="Times New Roman"/>
                          <a:ea typeface="Times New Roman"/>
                          <a:cs typeface="Times New Roman"/>
                          <a:sym typeface="Times New Roman"/>
                        </a:rPr>
                        <a:t>Page level statistics</a:t>
                      </a:r>
                      <a:endParaRPr b="1"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200">
                          <a:latin typeface="Times New Roman"/>
                          <a:ea typeface="Times New Roman"/>
                          <a:cs typeface="Times New Roman"/>
                          <a:sym typeface="Times New Roman"/>
                        </a:rPr>
                        <a:t>July</a:t>
                      </a:r>
                      <a:endParaRPr b="1" sz="12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r>
              <a:tr h="206625">
                <a:tc>
                  <a:txBody>
                    <a:bodyPr/>
                    <a:lstStyle/>
                    <a:p>
                      <a:pPr indent="0" lvl="0" marL="0" marR="0" rtl="0" algn="ctr">
                        <a:lnSpc>
                          <a:spcPct val="115000"/>
                        </a:lnSpc>
                        <a:spcBef>
                          <a:spcPts val="0"/>
                        </a:spcBef>
                        <a:spcAft>
                          <a:spcPts val="0"/>
                        </a:spcAft>
                        <a:buClr>
                          <a:srgbClr val="000000"/>
                        </a:buClr>
                        <a:buSzPts val="1000"/>
                        <a:buFont typeface="Arial"/>
                        <a:buNone/>
                      </a:pPr>
                      <a:r>
                        <a:rPr lang="en" sz="1200" u="none" cap="none" strike="noStrike">
                          <a:solidFill>
                            <a:srgbClr val="1F1F1F"/>
                          </a:solidFill>
                          <a:latin typeface="Times New Roman"/>
                          <a:ea typeface="Times New Roman"/>
                          <a:cs typeface="Times New Roman"/>
                          <a:sym typeface="Times New Roman"/>
                        </a:rPr>
                        <a:t>Fans Number</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2,154</a:t>
                      </a:r>
                      <a:endParaRPr sz="12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ctr">
                        <a:lnSpc>
                          <a:spcPct val="115000"/>
                        </a:lnSpc>
                        <a:spcBef>
                          <a:spcPts val="0"/>
                        </a:spcBef>
                        <a:spcAft>
                          <a:spcPts val="0"/>
                        </a:spcAft>
                        <a:buClr>
                          <a:srgbClr val="000000"/>
                        </a:buClr>
                        <a:buSzPts val="1000"/>
                        <a:buFont typeface="Arial"/>
                        <a:buNone/>
                      </a:pPr>
                      <a:r>
                        <a:rPr lang="en" sz="1200" u="none" cap="none" strike="noStrike">
                          <a:solidFill>
                            <a:srgbClr val="1F1F1F"/>
                          </a:solidFill>
                          <a:latin typeface="Times New Roman"/>
                          <a:ea typeface="Times New Roman"/>
                          <a:cs typeface="Times New Roman"/>
                          <a:sym typeface="Times New Roman"/>
                        </a:rPr>
                        <a:t>Fans Net </a:t>
                      </a:r>
                      <a:r>
                        <a:rPr lang="en" sz="1200">
                          <a:solidFill>
                            <a:srgbClr val="1F1F1F"/>
                          </a:solidFill>
                          <a:latin typeface="Times New Roman"/>
                          <a:ea typeface="Times New Roman"/>
                          <a:cs typeface="Times New Roman"/>
                          <a:sym typeface="Times New Roman"/>
                        </a:rPr>
                        <a:t>G</a:t>
                      </a:r>
                      <a:r>
                        <a:rPr lang="en" sz="1200" u="none" cap="none" strike="noStrike">
                          <a:solidFill>
                            <a:srgbClr val="1F1F1F"/>
                          </a:solidFill>
                          <a:latin typeface="Times New Roman"/>
                          <a:ea typeface="Times New Roman"/>
                          <a:cs typeface="Times New Roman"/>
                          <a:sym typeface="Times New Roman"/>
                        </a:rPr>
                        <a:t>rowth</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128</a:t>
                      </a:r>
                      <a:endParaRPr sz="12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marR="0" rtl="0" algn="ctr">
                        <a:lnSpc>
                          <a:spcPct val="115000"/>
                        </a:lnSpc>
                        <a:spcBef>
                          <a:spcPts val="0"/>
                        </a:spcBef>
                        <a:spcAft>
                          <a:spcPts val="0"/>
                        </a:spcAft>
                        <a:buClr>
                          <a:srgbClr val="000000"/>
                        </a:buClr>
                        <a:buSzPts val="1000"/>
                        <a:buFont typeface="Arial"/>
                        <a:buNone/>
                      </a:pPr>
                      <a:r>
                        <a:rPr lang="en" sz="1200" u="none" cap="none" strike="noStrike">
                          <a:solidFill>
                            <a:srgbClr val="1F1F1F"/>
                          </a:solidFill>
                          <a:latin typeface="Times New Roman"/>
                          <a:ea typeface="Times New Roman"/>
                          <a:cs typeface="Times New Roman"/>
                          <a:sym typeface="Times New Roman"/>
                        </a:rPr>
                        <a:t>No. of Post</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ctr">
                        <a:lnSpc>
                          <a:spcPct val="115000"/>
                        </a:lnSpc>
                        <a:spcBef>
                          <a:spcPts val="0"/>
                        </a:spcBef>
                        <a:spcAft>
                          <a:spcPts val="0"/>
                        </a:spcAft>
                        <a:buClr>
                          <a:srgbClr val="000000"/>
                        </a:buClr>
                        <a:buSzPts val="1000"/>
                        <a:buFont typeface="Arial"/>
                        <a:buNone/>
                      </a:pPr>
                      <a:r>
                        <a:rPr lang="en" sz="1200" u="none" cap="none" strike="noStrike">
                          <a:solidFill>
                            <a:srgbClr val="1F1F1F"/>
                          </a:solidFill>
                          <a:latin typeface="Times New Roman"/>
                          <a:ea typeface="Times New Roman"/>
                          <a:cs typeface="Times New Roman"/>
                          <a:sym typeface="Times New Roman"/>
                        </a:rPr>
                        <a:t>Total Views</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469</a:t>
                      </a:r>
                      <a:endParaRPr sz="12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marR="0" rtl="0" algn="ctr">
                        <a:lnSpc>
                          <a:spcPct val="115000"/>
                        </a:lnSpc>
                        <a:spcBef>
                          <a:spcPts val="0"/>
                        </a:spcBef>
                        <a:spcAft>
                          <a:spcPts val="0"/>
                        </a:spcAft>
                        <a:buClr>
                          <a:srgbClr val="000000"/>
                        </a:buClr>
                        <a:buSzPts val="1000"/>
                        <a:buFont typeface="Arial"/>
                        <a:buNone/>
                      </a:pPr>
                      <a:r>
                        <a:rPr lang="en" sz="1200" u="none" cap="none" strike="noStrike">
                          <a:solidFill>
                            <a:srgbClr val="1F1F1F"/>
                          </a:solidFill>
                          <a:latin typeface="Times New Roman"/>
                          <a:ea typeface="Times New Roman"/>
                          <a:cs typeface="Times New Roman"/>
                          <a:sym typeface="Times New Roman"/>
                        </a:rPr>
                        <a:t>Total Engagement</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98</a:t>
                      </a:r>
                      <a:endParaRPr sz="12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marR="0" rtl="0" algn="ctr">
                        <a:lnSpc>
                          <a:spcPct val="115000"/>
                        </a:lnSpc>
                        <a:spcBef>
                          <a:spcPts val="0"/>
                        </a:spcBef>
                        <a:spcAft>
                          <a:spcPts val="0"/>
                        </a:spcAft>
                        <a:buNone/>
                      </a:pPr>
                      <a:r>
                        <a:rPr lang="en" sz="1200">
                          <a:solidFill>
                            <a:srgbClr val="1F1F1F"/>
                          </a:solidFill>
                          <a:latin typeface="Times New Roman"/>
                          <a:ea typeface="Times New Roman"/>
                          <a:cs typeface="Times New Roman"/>
                          <a:sym typeface="Times New Roman"/>
                        </a:rPr>
                        <a:t>Total Impressions</a:t>
                      </a:r>
                      <a:endParaRPr sz="12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Times New Roman"/>
                          <a:ea typeface="Times New Roman"/>
                          <a:cs typeface="Times New Roman"/>
                          <a:sym typeface="Times New Roman"/>
                        </a:rPr>
                        <a:t>9,802</a:t>
                      </a:r>
                      <a:endParaRPr sz="12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0" name="Google Shape;70;p14"/>
          <p:cNvSpPr txBox="1"/>
          <p:nvPr/>
        </p:nvSpPr>
        <p:spPr>
          <a:xfrm>
            <a:off x="311760" y="692703"/>
            <a:ext cx="20340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01214"/>
                </a:solidFill>
                <a:latin typeface="Times New Roman"/>
                <a:ea typeface="Times New Roman"/>
                <a:cs typeface="Times New Roman"/>
                <a:sym typeface="Times New Roman"/>
              </a:rPr>
              <a:t>Data overview</a:t>
            </a:r>
            <a:endParaRPr b="1" sz="1800">
              <a:solidFill>
                <a:srgbClr val="101214"/>
              </a:solidFill>
              <a:latin typeface="Times New Roman"/>
              <a:ea typeface="Times New Roman"/>
              <a:cs typeface="Times New Roman"/>
              <a:sym typeface="Times New Roman"/>
            </a:endParaRPr>
          </a:p>
        </p:txBody>
      </p:sp>
      <p:sp>
        <p:nvSpPr>
          <p:cNvPr id="71" name="Google Shape;71;p14"/>
          <p:cNvSpPr txBox="1"/>
          <p:nvPr/>
        </p:nvSpPr>
        <p:spPr>
          <a:xfrm>
            <a:off x="3931127" y="617155"/>
            <a:ext cx="1622400" cy="3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Times New Roman"/>
                <a:ea typeface="Times New Roman"/>
                <a:cs typeface="Times New Roman"/>
                <a:sym typeface="Times New Roman"/>
              </a:rPr>
              <a:t>Fans feature</a:t>
            </a:r>
            <a:endParaRPr b="1" sz="1800">
              <a:latin typeface="Times New Roman"/>
              <a:ea typeface="Times New Roman"/>
              <a:cs typeface="Times New Roman"/>
              <a:sym typeface="Times New Roman"/>
            </a:endParaRPr>
          </a:p>
        </p:txBody>
      </p:sp>
      <p:sp>
        <p:nvSpPr>
          <p:cNvPr id="72" name="Google Shape;72;p14"/>
          <p:cNvSpPr txBox="1"/>
          <p:nvPr/>
        </p:nvSpPr>
        <p:spPr>
          <a:xfrm>
            <a:off x="4107027" y="4294068"/>
            <a:ext cx="5105700" cy="572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58.6%</a:t>
            </a:r>
            <a:r>
              <a:rPr lang="en" sz="1200">
                <a:solidFill>
                  <a:srgbClr val="1F1F1F"/>
                </a:solidFill>
                <a:latin typeface="Times New Roman"/>
                <a:ea typeface="Times New Roman"/>
                <a:cs typeface="Times New Roman"/>
                <a:sym typeface="Times New Roman"/>
              </a:rPr>
              <a:t> followers are female, 21%+ aged between 41-50, located in </a:t>
            </a:r>
            <a:r>
              <a:rPr lang="en" sz="1200">
                <a:solidFill>
                  <a:srgbClr val="1F1F1F"/>
                </a:solidFill>
                <a:latin typeface="Times New Roman"/>
                <a:ea typeface="Times New Roman"/>
                <a:cs typeface="Times New Roman"/>
                <a:sym typeface="Times New Roman"/>
              </a:rPr>
              <a:t>first-tier city</a:t>
            </a:r>
            <a:r>
              <a:rPr lang="en" sz="1200">
                <a:solidFill>
                  <a:srgbClr val="1F1F1F"/>
                </a:solidFill>
                <a:latin typeface="Times New Roman"/>
                <a:ea typeface="Times New Roman"/>
                <a:cs typeface="Times New Roman"/>
                <a:sym typeface="Times New Roman"/>
              </a:rPr>
              <a:t>. </a:t>
            </a:r>
            <a:endParaRPr sz="1200">
              <a:solidFill>
                <a:srgbClr val="1F1F1F"/>
              </a:solidFill>
              <a:latin typeface="Times New Roman"/>
              <a:ea typeface="Times New Roman"/>
              <a:cs typeface="Times New Roman"/>
              <a:sym typeface="Times New Roman"/>
            </a:endParaRPr>
          </a:p>
          <a:p>
            <a:pPr indent="-304800" lvl="0" marL="457200" rtl="0" algn="l">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Our posts are mostly found by users on 1st page</a:t>
            </a:r>
            <a:r>
              <a:rPr lang="en" sz="1200">
                <a:solidFill>
                  <a:srgbClr val="1F1F1F"/>
                </a:solidFill>
                <a:latin typeface="Times New Roman"/>
                <a:ea typeface="Times New Roman"/>
                <a:cs typeface="Times New Roman"/>
                <a:sym typeface="Times New Roman"/>
              </a:rPr>
              <a:t> recommendations and search page</a:t>
            </a:r>
            <a:r>
              <a:rPr lang="en" sz="1200">
                <a:solidFill>
                  <a:srgbClr val="1F1F1F"/>
                </a:solidFill>
                <a:latin typeface="Times New Roman"/>
                <a:ea typeface="Times New Roman"/>
                <a:cs typeface="Times New Roman"/>
                <a:sym typeface="Times New Roman"/>
              </a:rPr>
              <a:t>.</a:t>
            </a:r>
            <a:endParaRPr sz="1200">
              <a:solidFill>
                <a:srgbClr val="1F1F1F"/>
              </a:solidFill>
              <a:latin typeface="Times New Roman"/>
              <a:ea typeface="Times New Roman"/>
              <a:cs typeface="Times New Roman"/>
              <a:sym typeface="Times New Roman"/>
            </a:endParaRPr>
          </a:p>
        </p:txBody>
      </p:sp>
      <p:sp>
        <p:nvSpPr>
          <p:cNvPr id="73" name="Google Shape;73;p14"/>
          <p:cNvSpPr txBox="1"/>
          <p:nvPr/>
        </p:nvSpPr>
        <p:spPr>
          <a:xfrm>
            <a:off x="5384475" y="421375"/>
            <a:ext cx="376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74" name="Google Shape;74;p14"/>
          <p:cNvSpPr txBox="1"/>
          <p:nvPr/>
        </p:nvSpPr>
        <p:spPr>
          <a:xfrm>
            <a:off x="6137402" y="2736180"/>
            <a:ext cx="9798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dk2"/>
                </a:solidFill>
              </a:rPr>
              <a:t>观众来源</a:t>
            </a:r>
            <a:endParaRPr sz="600">
              <a:solidFill>
                <a:schemeClr val="dk2"/>
              </a:solidFill>
            </a:endParaRPr>
          </a:p>
        </p:txBody>
      </p:sp>
      <p:sp>
        <p:nvSpPr>
          <p:cNvPr id="75" name="Google Shape;75;p14"/>
          <p:cNvSpPr txBox="1"/>
          <p:nvPr/>
        </p:nvSpPr>
        <p:spPr>
          <a:xfrm>
            <a:off x="0" y="4441275"/>
            <a:ext cx="4251000" cy="5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This month, we published 3 posts and gained 128 new followers, bringing our total number of followers to 2.1k+.</a:t>
            </a:r>
            <a:endParaRPr sz="1200">
              <a:solidFill>
                <a:srgbClr val="1F1F1F"/>
              </a:solidFill>
              <a:latin typeface="Times New Roman"/>
              <a:ea typeface="Times New Roman"/>
              <a:cs typeface="Times New Roman"/>
              <a:sym typeface="Times New Roman"/>
            </a:endParaRPr>
          </a:p>
        </p:txBody>
      </p:sp>
      <p:pic>
        <p:nvPicPr>
          <p:cNvPr id="76" name="Google Shape;76;p14"/>
          <p:cNvPicPr preferRelativeResize="0"/>
          <p:nvPr/>
        </p:nvPicPr>
        <p:blipFill>
          <a:blip r:embed="rId4">
            <a:alphaModFix/>
          </a:blip>
          <a:stretch>
            <a:fillRect/>
          </a:stretch>
        </p:blipFill>
        <p:spPr>
          <a:xfrm>
            <a:off x="264301" y="2888112"/>
            <a:ext cx="1003345" cy="1575501"/>
          </a:xfrm>
          <a:prstGeom prst="rect">
            <a:avLst/>
          </a:prstGeom>
          <a:noFill/>
          <a:ln>
            <a:noFill/>
          </a:ln>
          <a:effectLst>
            <a:outerShdw blurRad="57150" rotWithShape="0" algn="bl" dir="5400000" dist="19050">
              <a:srgbClr val="000000">
                <a:alpha val="50000"/>
              </a:srgbClr>
            </a:outerShdw>
          </a:effectLst>
        </p:spPr>
      </p:pic>
      <p:pic>
        <p:nvPicPr>
          <p:cNvPr id="77" name="Google Shape;77;p14"/>
          <p:cNvPicPr preferRelativeResize="0"/>
          <p:nvPr/>
        </p:nvPicPr>
        <p:blipFill>
          <a:blip r:embed="rId5">
            <a:alphaModFix/>
          </a:blip>
          <a:stretch>
            <a:fillRect/>
          </a:stretch>
        </p:blipFill>
        <p:spPr>
          <a:xfrm>
            <a:off x="1400813" y="2889901"/>
            <a:ext cx="1003350" cy="1571913"/>
          </a:xfrm>
          <a:prstGeom prst="rect">
            <a:avLst/>
          </a:prstGeom>
          <a:noFill/>
          <a:ln>
            <a:noFill/>
          </a:ln>
          <a:effectLst>
            <a:outerShdw blurRad="57150" rotWithShape="0" algn="bl" dir="5400000" dist="19050">
              <a:srgbClr val="000000">
                <a:alpha val="50000"/>
              </a:srgbClr>
            </a:outerShdw>
          </a:effectLst>
        </p:spPr>
      </p:pic>
      <p:pic>
        <p:nvPicPr>
          <p:cNvPr id="78" name="Google Shape;78;p14"/>
          <p:cNvPicPr preferRelativeResize="0"/>
          <p:nvPr/>
        </p:nvPicPr>
        <p:blipFill>
          <a:blip r:embed="rId6">
            <a:alphaModFix/>
          </a:blip>
          <a:stretch>
            <a:fillRect/>
          </a:stretch>
        </p:blipFill>
        <p:spPr>
          <a:xfrm>
            <a:off x="2537350" y="2902837"/>
            <a:ext cx="979800" cy="1549651"/>
          </a:xfrm>
          <a:prstGeom prst="rect">
            <a:avLst/>
          </a:prstGeom>
          <a:noFill/>
          <a:ln>
            <a:noFill/>
          </a:ln>
          <a:effectLst>
            <a:outerShdw blurRad="57150" rotWithShape="0" algn="bl" dir="5400000" dist="19050">
              <a:srgbClr val="000000">
                <a:alpha val="50000"/>
              </a:srgbClr>
            </a:outerShdw>
          </a:effectLst>
        </p:spPr>
      </p:pic>
      <p:pic>
        <p:nvPicPr>
          <p:cNvPr id="79" name="Google Shape;79;p14"/>
          <p:cNvPicPr preferRelativeResize="0"/>
          <p:nvPr/>
        </p:nvPicPr>
        <p:blipFill>
          <a:blip r:embed="rId7">
            <a:alphaModFix/>
          </a:blip>
          <a:stretch>
            <a:fillRect/>
          </a:stretch>
        </p:blipFill>
        <p:spPr>
          <a:xfrm>
            <a:off x="3955300" y="1092675"/>
            <a:ext cx="1757533" cy="1479075"/>
          </a:xfrm>
          <a:prstGeom prst="rect">
            <a:avLst/>
          </a:prstGeom>
          <a:noFill/>
          <a:ln>
            <a:noFill/>
          </a:ln>
          <a:effectLst>
            <a:outerShdw blurRad="57150" rotWithShape="0" algn="bl" dir="5400000" dist="19050">
              <a:srgbClr val="000000">
                <a:alpha val="50000"/>
              </a:srgbClr>
            </a:outerShdw>
          </a:effectLst>
        </p:spPr>
      </p:pic>
      <p:pic>
        <p:nvPicPr>
          <p:cNvPr id="80" name="Google Shape;80;p14"/>
          <p:cNvPicPr preferRelativeResize="0"/>
          <p:nvPr/>
        </p:nvPicPr>
        <p:blipFill>
          <a:blip r:embed="rId8">
            <a:alphaModFix/>
          </a:blip>
          <a:stretch>
            <a:fillRect/>
          </a:stretch>
        </p:blipFill>
        <p:spPr>
          <a:xfrm>
            <a:off x="6141688" y="1035475"/>
            <a:ext cx="1673538" cy="1623206"/>
          </a:xfrm>
          <a:prstGeom prst="rect">
            <a:avLst/>
          </a:prstGeom>
          <a:noFill/>
          <a:ln>
            <a:noFill/>
          </a:ln>
          <a:effectLst>
            <a:outerShdw blurRad="57150" rotWithShape="0" algn="bl" dir="5400000" dist="19050">
              <a:srgbClr val="000000">
                <a:alpha val="50000"/>
              </a:srgbClr>
            </a:outerShdw>
          </a:effectLst>
        </p:spPr>
      </p:pic>
      <p:pic>
        <p:nvPicPr>
          <p:cNvPr id="81" name="Google Shape;81;p14"/>
          <p:cNvPicPr preferRelativeResize="0"/>
          <p:nvPr/>
        </p:nvPicPr>
        <p:blipFill>
          <a:blip r:embed="rId9">
            <a:alphaModFix/>
          </a:blip>
          <a:stretch>
            <a:fillRect/>
          </a:stretch>
        </p:blipFill>
        <p:spPr>
          <a:xfrm>
            <a:off x="4052233" y="2698834"/>
            <a:ext cx="1757525" cy="1615365"/>
          </a:xfrm>
          <a:prstGeom prst="rect">
            <a:avLst/>
          </a:prstGeom>
          <a:noFill/>
          <a:ln>
            <a:noFill/>
          </a:ln>
          <a:effectLst>
            <a:outerShdw blurRad="57150" rotWithShape="0" algn="bl" dir="5400000" dist="19050">
              <a:srgbClr val="000000">
                <a:alpha val="50000"/>
              </a:srgbClr>
            </a:outerShdw>
          </a:effectLst>
        </p:spPr>
      </p:pic>
      <p:pic>
        <p:nvPicPr>
          <p:cNvPr id="82" name="Google Shape;82;p14"/>
          <p:cNvPicPr preferRelativeResize="0"/>
          <p:nvPr/>
        </p:nvPicPr>
        <p:blipFill>
          <a:blip r:embed="rId10">
            <a:alphaModFix/>
          </a:blip>
          <a:stretch>
            <a:fillRect/>
          </a:stretch>
        </p:blipFill>
        <p:spPr>
          <a:xfrm>
            <a:off x="6161262" y="3025300"/>
            <a:ext cx="2213531" cy="1301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nvSpPr>
        <p:spPr>
          <a:xfrm>
            <a:off x="950850" y="254025"/>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 sz="2000" u="none" cap="none" strike="noStrike">
                <a:solidFill>
                  <a:schemeClr val="dk1"/>
                </a:solidFill>
                <a:latin typeface="Times New Roman"/>
                <a:ea typeface="Times New Roman"/>
                <a:cs typeface="Times New Roman"/>
                <a:sym typeface="Times New Roman"/>
              </a:rPr>
              <a:t>XHS Post Performance Analysis</a:t>
            </a:r>
            <a:endParaRPr b="1" i="0" sz="2000" u="none" cap="none" strike="noStrike">
              <a:solidFill>
                <a:srgbClr val="000000"/>
              </a:solidFill>
              <a:latin typeface="Times New Roman"/>
              <a:ea typeface="Times New Roman"/>
              <a:cs typeface="Times New Roman"/>
              <a:sym typeface="Times New Roman"/>
            </a:endParaRPr>
          </a:p>
        </p:txBody>
      </p:sp>
      <p:pic>
        <p:nvPicPr>
          <p:cNvPr id="88" name="Google Shape;88;p15"/>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89" name="Google Shape;89;p15"/>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90" name="Google Shape;90;p15"/>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5"/>
          <p:cNvSpPr txBox="1"/>
          <p:nvPr/>
        </p:nvSpPr>
        <p:spPr>
          <a:xfrm>
            <a:off x="298500" y="880150"/>
            <a:ext cx="8692200" cy="910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SzPts val="1200"/>
              <a:buFont typeface="Times New Roman"/>
              <a:buChar char="●"/>
            </a:pPr>
            <a:r>
              <a:rPr i="0" lang="en" sz="1200" u="none" cap="none" strike="noStrike">
                <a:solidFill>
                  <a:srgbClr val="1F2329"/>
                </a:solidFill>
                <a:highlight>
                  <a:srgbClr val="FFFFFF"/>
                </a:highlight>
                <a:latin typeface="Times New Roman"/>
                <a:ea typeface="Times New Roman"/>
                <a:cs typeface="Times New Roman"/>
                <a:sym typeface="Times New Roman"/>
              </a:rPr>
              <a:t>The post of “</a:t>
            </a:r>
            <a:r>
              <a:rPr lang="en" sz="1200">
                <a:solidFill>
                  <a:schemeClr val="dk1"/>
                </a:solidFill>
                <a:latin typeface="Times New Roman"/>
                <a:ea typeface="Times New Roman"/>
                <a:cs typeface="Times New Roman"/>
                <a:sym typeface="Times New Roman"/>
              </a:rPr>
              <a:t>香港年中蓄势｜在有呼吸感的空间办场沙龙✨</a:t>
            </a:r>
            <a:r>
              <a:rPr lang="en" sz="1200">
                <a:solidFill>
                  <a:srgbClr val="1F2329"/>
                </a:solidFill>
                <a:highlight>
                  <a:srgbClr val="FFFFFF"/>
                </a:highlight>
                <a:latin typeface="Times New Roman"/>
                <a:ea typeface="Times New Roman"/>
                <a:cs typeface="Times New Roman"/>
                <a:sym typeface="Times New Roman"/>
              </a:rPr>
              <a:t>” </a:t>
            </a:r>
            <a:r>
              <a:rPr lang="en" sz="1200">
                <a:solidFill>
                  <a:srgbClr val="1F2329"/>
                </a:solidFill>
                <a:highlight>
                  <a:srgbClr val="FFFFFF"/>
                </a:highlight>
                <a:latin typeface="Times New Roman"/>
                <a:ea typeface="Times New Roman"/>
                <a:cs typeface="Times New Roman"/>
                <a:sym typeface="Times New Roman"/>
              </a:rPr>
              <a:t>achieving the highest engagement of </a:t>
            </a:r>
            <a:r>
              <a:rPr lang="en" sz="1200">
                <a:solidFill>
                  <a:srgbClr val="1F2329"/>
                </a:solidFill>
                <a:highlight>
                  <a:srgbClr val="FFFFFF"/>
                </a:highlight>
                <a:latin typeface="Times New Roman"/>
                <a:ea typeface="Times New Roman"/>
                <a:cs typeface="Times New Roman"/>
                <a:sym typeface="Times New Roman"/>
              </a:rPr>
              <a:t>191</a:t>
            </a:r>
            <a:r>
              <a:rPr lang="en" sz="1200">
                <a:solidFill>
                  <a:srgbClr val="1F2329"/>
                </a:solidFill>
                <a:highlight>
                  <a:srgbClr val="FFFFFF"/>
                </a:highlight>
                <a:latin typeface="Times New Roman"/>
                <a:ea typeface="Times New Roman"/>
                <a:cs typeface="Times New Roman"/>
                <a:sym typeface="Times New Roman"/>
              </a:rPr>
              <a:t>, alongside 57 </a:t>
            </a:r>
            <a:r>
              <a:rPr lang="en" sz="1200">
                <a:solidFill>
                  <a:srgbClr val="1F2329"/>
                </a:solidFill>
                <a:highlight>
                  <a:srgbClr val="FFFFFF"/>
                </a:highlight>
                <a:latin typeface="Times New Roman"/>
                <a:ea typeface="Times New Roman"/>
                <a:cs typeface="Times New Roman"/>
                <a:sym typeface="Times New Roman"/>
              </a:rPr>
              <a:t>engagements</a:t>
            </a:r>
            <a:r>
              <a:rPr lang="en" sz="1200">
                <a:solidFill>
                  <a:srgbClr val="1F2329"/>
                </a:solidFill>
                <a:highlight>
                  <a:srgbClr val="FFFFFF"/>
                </a:highlight>
                <a:latin typeface="Times New Roman"/>
                <a:ea typeface="Times New Roman"/>
                <a:cs typeface="Times New Roman"/>
                <a:sym typeface="Times New Roman"/>
              </a:rPr>
              <a:t> and a gain of 2 new fan</a:t>
            </a:r>
            <a:r>
              <a:rPr lang="en" sz="1200">
                <a:solidFill>
                  <a:srgbClr val="1F2329"/>
                </a:solidFill>
                <a:highlight>
                  <a:srgbClr val="FFFFFF"/>
                </a:highlight>
                <a:latin typeface="Times New Roman"/>
                <a:ea typeface="Times New Roman"/>
                <a:cs typeface="Times New Roman"/>
                <a:sym typeface="Times New Roman"/>
              </a:rPr>
              <a:t>s.​</a:t>
            </a:r>
            <a:endParaRPr sz="1200">
              <a:solidFill>
                <a:srgbClr val="1F2329"/>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Clr>
                <a:srgbClr val="1F2329"/>
              </a:buClr>
              <a:buSzPts val="1200"/>
              <a:buFont typeface="Times New Roman"/>
              <a:buChar char="●"/>
            </a:pPr>
            <a:r>
              <a:rPr lang="en" sz="1200">
                <a:solidFill>
                  <a:schemeClr val="dk1"/>
                </a:solidFill>
                <a:latin typeface="Times New Roman"/>
                <a:ea typeface="Times New Roman"/>
                <a:cs typeface="Times New Roman"/>
                <a:sym typeface="Times New Roman"/>
              </a:rPr>
              <a:t>“26Fall香港租房不踩雷！神仙公寓了解下🙋” post followed with  views and 25 engagements. </a:t>
            </a:r>
            <a:endParaRPr sz="1200">
              <a:solidFill>
                <a:srgbClr val="1F2329"/>
              </a:solidFill>
              <a:highlight>
                <a:srgbClr val="FFFFFF"/>
              </a:highlight>
              <a:latin typeface="Times New Roman"/>
              <a:ea typeface="Times New Roman"/>
              <a:cs typeface="Times New Roman"/>
              <a:sym typeface="Times New Roman"/>
            </a:endParaRPr>
          </a:p>
        </p:txBody>
      </p:sp>
      <p:graphicFrame>
        <p:nvGraphicFramePr>
          <p:cNvPr id="92" name="Google Shape;92;p15"/>
          <p:cNvGraphicFramePr/>
          <p:nvPr/>
        </p:nvGraphicFramePr>
        <p:xfrm>
          <a:off x="458950" y="2095325"/>
          <a:ext cx="3000000" cy="3000000"/>
        </p:xfrm>
        <a:graphic>
          <a:graphicData uri="http://schemas.openxmlformats.org/drawingml/2006/table">
            <a:tbl>
              <a:tblPr>
                <a:noFill/>
                <a:tableStyleId>{76F50A6D-77A3-4A06-8495-73F4A716AD60}</a:tableStyleId>
              </a:tblPr>
              <a:tblGrid>
                <a:gridCol w="780750"/>
                <a:gridCol w="689700"/>
                <a:gridCol w="1454850"/>
                <a:gridCol w="613900"/>
                <a:gridCol w="570600"/>
                <a:gridCol w="613900"/>
                <a:gridCol w="581425"/>
                <a:gridCol w="624750"/>
                <a:gridCol w="810925"/>
                <a:gridCol w="928200"/>
                <a:gridCol w="702275"/>
              </a:tblGrid>
              <a:tr h="455000">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XHS Post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Date of Publish</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Subject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View</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Like</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Comment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Share</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Saved</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Total Engagement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Total Engagement Rate</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Fans Increased</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9999"/>
                    </a:solidFill>
                  </a:tcPr>
                </a:tc>
              </a:tr>
              <a:tr h="380175">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7月 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香港年中蓄势｜在有呼吸感的空间办场沙龙✨</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191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15</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57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29.84%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380175">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7月 14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26Fall香港租房不踩雷！神仙公寓了解下🙋</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202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25</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12.38%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175">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7月 31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香港34校网：中产爸妈“反内耗”卡位指南🎒</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21.05%</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9150">
                <a:tc gridSpan="3">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July total</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469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60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98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20.90%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3" name="Google Shape;93;p15"/>
          <p:cNvSpPr/>
          <p:nvPr/>
        </p:nvSpPr>
        <p:spPr>
          <a:xfrm>
            <a:off x="265788" y="2647775"/>
            <a:ext cx="8757600" cy="4161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6"/>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99" name="Google Shape;99;p16"/>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00" name="Google Shape;100;p16"/>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txBox="1"/>
          <p:nvPr/>
        </p:nvSpPr>
        <p:spPr>
          <a:xfrm>
            <a:off x="950850" y="266800"/>
            <a:ext cx="7611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 sz="2000">
                <a:latin typeface="Times New Roman"/>
                <a:ea typeface="Times New Roman"/>
                <a:cs typeface="Times New Roman"/>
                <a:sym typeface="Times New Roman"/>
              </a:rPr>
              <a:t>July.</a:t>
            </a:r>
            <a:r>
              <a:rPr b="1" lang="en" sz="2000">
                <a:latin typeface="Times New Roman"/>
                <a:ea typeface="Times New Roman"/>
                <a:cs typeface="Times New Roman"/>
                <a:sym typeface="Times New Roman"/>
              </a:rPr>
              <a:t> </a:t>
            </a:r>
            <a:r>
              <a:rPr b="1" i="0" lang="en" sz="2000" u="none" cap="none" strike="noStrike">
                <a:solidFill>
                  <a:srgbClr val="000000"/>
                </a:solidFill>
                <a:latin typeface="Times New Roman"/>
                <a:ea typeface="Times New Roman"/>
                <a:cs typeface="Times New Roman"/>
                <a:sym typeface="Times New Roman"/>
              </a:rPr>
              <a:t>Media-buy Performance </a:t>
            </a:r>
            <a:r>
              <a:rPr b="1" lang="en" sz="2000">
                <a:latin typeface="Times New Roman"/>
                <a:ea typeface="Times New Roman"/>
                <a:cs typeface="Times New Roman"/>
                <a:sym typeface="Times New Roman"/>
              </a:rPr>
              <a:t>- Post Boosting </a:t>
            </a:r>
            <a:r>
              <a:rPr b="1" i="0" lang="en" sz="2000" u="none" cap="none" strike="noStrike">
                <a:solidFill>
                  <a:srgbClr val="000000"/>
                </a:solidFill>
                <a:latin typeface="Times New Roman"/>
                <a:ea typeface="Times New Roman"/>
                <a:cs typeface="Times New Roman"/>
                <a:sym typeface="Times New Roman"/>
              </a:rPr>
              <a:t> </a:t>
            </a:r>
            <a:endParaRPr b="1" i="0" sz="2000" u="none" cap="none" strike="noStrike">
              <a:solidFill>
                <a:srgbClr val="000000"/>
              </a:solidFill>
              <a:latin typeface="Times New Roman"/>
              <a:ea typeface="Times New Roman"/>
              <a:cs typeface="Times New Roman"/>
              <a:sym typeface="Times New Roman"/>
            </a:endParaRPr>
          </a:p>
        </p:txBody>
      </p:sp>
      <p:sp>
        <p:nvSpPr>
          <p:cNvPr id="102" name="Google Shape;102;p16"/>
          <p:cNvSpPr txBox="1"/>
          <p:nvPr/>
        </p:nvSpPr>
        <p:spPr>
          <a:xfrm>
            <a:off x="171325" y="1080988"/>
            <a:ext cx="8999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“香港太子这片教育蓝海有多“香”？”, achieving an overall CPC of just 2.09 RMB​ and a total engagement of 70 engagement at a minimal total cost.</a:t>
            </a:r>
            <a:endParaRPr sz="1000">
              <a:latin typeface="Times New Roman"/>
              <a:ea typeface="Times New Roman"/>
              <a:cs typeface="Times New Roman"/>
              <a:sym typeface="Times New Roman"/>
            </a:endParaRPr>
          </a:p>
        </p:txBody>
      </p:sp>
      <p:sp>
        <p:nvSpPr>
          <p:cNvPr id="103" name="Google Shape;103;p16"/>
          <p:cNvSpPr txBox="1"/>
          <p:nvPr/>
        </p:nvSpPr>
        <p:spPr>
          <a:xfrm>
            <a:off x="205250" y="825425"/>
            <a:ext cx="541500" cy="30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lang="en" sz="1000">
                <a:solidFill>
                  <a:srgbClr val="262626"/>
                </a:solidFill>
              </a:rPr>
              <a:t>聚光</a:t>
            </a:r>
            <a:endParaRPr b="1" i="0" sz="1000" u="none" cap="none" strike="noStrike">
              <a:solidFill>
                <a:srgbClr val="262626"/>
              </a:solidFill>
              <a:latin typeface="Arial"/>
              <a:ea typeface="Arial"/>
              <a:cs typeface="Arial"/>
              <a:sym typeface="Arial"/>
            </a:endParaRPr>
          </a:p>
        </p:txBody>
      </p:sp>
      <p:sp>
        <p:nvSpPr>
          <p:cNvPr id="104" name="Google Shape;104;p16"/>
          <p:cNvSpPr txBox="1"/>
          <p:nvPr/>
        </p:nvSpPr>
        <p:spPr>
          <a:xfrm>
            <a:off x="99325" y="4860900"/>
            <a:ext cx="3668100" cy="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Times New Roman"/>
                <a:ea typeface="Times New Roman"/>
                <a:cs typeface="Times New Roman"/>
                <a:sym typeface="Times New Roman"/>
              </a:rPr>
              <a:t>Exchange rate: 1RMB = 1.16 HKD</a:t>
            </a:r>
            <a:endParaRPr sz="900">
              <a:solidFill>
                <a:schemeClr val="dk2"/>
              </a:solidFill>
              <a:latin typeface="Times New Roman"/>
              <a:ea typeface="Times New Roman"/>
              <a:cs typeface="Times New Roman"/>
              <a:sym typeface="Times New Roman"/>
            </a:endParaRPr>
          </a:p>
        </p:txBody>
      </p:sp>
      <p:graphicFrame>
        <p:nvGraphicFramePr>
          <p:cNvPr id="105" name="Google Shape;105;p16"/>
          <p:cNvGraphicFramePr/>
          <p:nvPr/>
        </p:nvGraphicFramePr>
        <p:xfrm>
          <a:off x="171325" y="1419700"/>
          <a:ext cx="3000000" cy="3000000"/>
        </p:xfrm>
        <a:graphic>
          <a:graphicData uri="http://schemas.openxmlformats.org/drawingml/2006/table">
            <a:tbl>
              <a:tblPr>
                <a:noFill/>
                <a:tableStyleId>{76F50A6D-77A3-4A06-8495-73F4A716AD60}</a:tableStyleId>
              </a:tblPr>
              <a:tblGrid>
                <a:gridCol w="1027925"/>
                <a:gridCol w="581525"/>
                <a:gridCol w="690650"/>
                <a:gridCol w="495650"/>
                <a:gridCol w="717450"/>
                <a:gridCol w="487425"/>
                <a:gridCol w="454950"/>
                <a:gridCol w="624450"/>
                <a:gridCol w="565175"/>
                <a:gridCol w="548800"/>
                <a:gridCol w="479900"/>
                <a:gridCol w="769700"/>
                <a:gridCol w="493525"/>
                <a:gridCol w="453400"/>
                <a:gridCol w="497725"/>
              </a:tblGrid>
              <a:tr h="342900">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XHS Subject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Period</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Objectives</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Cost￥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Impressions</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Clicks</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Likes</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Comment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Saved</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Follow</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Share</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Total Engagement</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CTR</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CPC ¥</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CPM ¥</a:t>
                      </a:r>
                      <a:endParaRPr b="1" sz="10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r>
              <a:tr h="400050">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香港年中蓄势｜在有呼吸感的空间办场沙龙✨</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7.6-7.8</a:t>
                      </a:r>
                      <a:endParaRPr sz="10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7.25-7.26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全站智投-互动量</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262.17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1,472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53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3.60%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4.95</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178.10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0050">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26Fall香港租房不踩雷！神仙公寓了解下🙋</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0050">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香港34校网：中产爸妈“反内耗”卡位指南🎒</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香港太子这片教育蓝海有多“香”？</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7.3-7.6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全站智投-互动量</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260.06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3,814</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197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5.17%</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1.32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68.19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July Total</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522.23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5,286</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250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41</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12</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8</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70</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4.73%</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2.09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98.79</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highlight>
                            <a:schemeClr val="accent6"/>
                          </a:highlight>
                          <a:latin typeface="Times New Roman"/>
                          <a:ea typeface="Times New Roman"/>
                          <a:cs typeface="Times New Roman"/>
                          <a:sym typeface="Times New Roman"/>
                        </a:rPr>
                        <a:t>HKD Total + 20% Service fee</a:t>
                      </a:r>
                      <a:endParaRPr sz="1000">
                        <a:highlight>
                          <a:schemeClr val="accent6"/>
                        </a:highlight>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highlight>
                            <a:schemeClr val="accent6"/>
                          </a:highlight>
                          <a:latin typeface="Times New Roman"/>
                          <a:ea typeface="Times New Roman"/>
                          <a:cs typeface="Times New Roman"/>
                          <a:sym typeface="Times New Roman"/>
                        </a:rPr>
                        <a:t>$726.94</a:t>
                      </a:r>
                      <a:endParaRPr sz="1000">
                        <a:highlight>
                          <a:schemeClr val="accent6"/>
                        </a:highlight>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7"/>
          <p:cNvPicPr preferRelativeResize="0"/>
          <p:nvPr/>
        </p:nvPicPr>
        <p:blipFill rotWithShape="1">
          <a:blip r:embed="rId3">
            <a:alphaModFix/>
          </a:blip>
          <a:srcRect b="0" l="0" r="0" t="0"/>
          <a:stretch/>
        </p:blipFill>
        <p:spPr>
          <a:xfrm>
            <a:off x="501350" y="250812"/>
            <a:ext cx="386075" cy="386075"/>
          </a:xfrm>
          <a:prstGeom prst="rect">
            <a:avLst/>
          </a:prstGeom>
          <a:noFill/>
          <a:ln>
            <a:noFill/>
          </a:ln>
        </p:spPr>
      </p:pic>
      <p:sp>
        <p:nvSpPr>
          <p:cNvPr id="111" name="Google Shape;111;p17"/>
          <p:cNvSpPr/>
          <p:nvPr/>
        </p:nvSpPr>
        <p:spPr>
          <a:xfrm>
            <a:off x="395027" y="3025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12" name="Google Shape;112;p17"/>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txBox="1"/>
          <p:nvPr/>
        </p:nvSpPr>
        <p:spPr>
          <a:xfrm>
            <a:off x="950850" y="210300"/>
            <a:ext cx="7611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 sz="2000">
                <a:latin typeface="Times New Roman"/>
                <a:ea typeface="Times New Roman"/>
                <a:cs typeface="Times New Roman"/>
                <a:sym typeface="Times New Roman"/>
              </a:rPr>
              <a:t>July.</a:t>
            </a:r>
            <a:r>
              <a:rPr b="1" lang="en" sz="2000">
                <a:latin typeface="Times New Roman"/>
                <a:ea typeface="Times New Roman"/>
                <a:cs typeface="Times New Roman"/>
                <a:sym typeface="Times New Roman"/>
              </a:rPr>
              <a:t> </a:t>
            </a:r>
            <a:r>
              <a:rPr b="1" i="0" lang="en" sz="2000" u="none" cap="none" strike="noStrike">
                <a:solidFill>
                  <a:srgbClr val="000000"/>
                </a:solidFill>
                <a:latin typeface="Times New Roman"/>
                <a:ea typeface="Times New Roman"/>
                <a:cs typeface="Times New Roman"/>
                <a:sym typeface="Times New Roman"/>
              </a:rPr>
              <a:t>Media-buy Performance - </a:t>
            </a:r>
            <a:r>
              <a:rPr b="1" lang="en" sz="2000">
                <a:latin typeface="Times New Roman"/>
                <a:ea typeface="Times New Roman"/>
                <a:cs typeface="Times New Roman"/>
                <a:sym typeface="Times New Roman"/>
              </a:rPr>
              <a:t>Page Boosting </a:t>
            </a:r>
            <a:r>
              <a:rPr b="1" i="0" lang="en" sz="2000" u="none" cap="none" strike="noStrike">
                <a:solidFill>
                  <a:srgbClr val="000000"/>
                </a:solidFill>
                <a:latin typeface="Times New Roman"/>
                <a:ea typeface="Times New Roman"/>
                <a:cs typeface="Times New Roman"/>
                <a:sym typeface="Times New Roman"/>
              </a:rPr>
              <a:t> </a:t>
            </a:r>
            <a:endParaRPr b="1" i="0" sz="2000" u="none" cap="none" strike="noStrike">
              <a:solidFill>
                <a:srgbClr val="000000"/>
              </a:solidFill>
              <a:latin typeface="Times New Roman"/>
              <a:ea typeface="Times New Roman"/>
              <a:cs typeface="Times New Roman"/>
              <a:sym typeface="Times New Roman"/>
            </a:endParaRPr>
          </a:p>
        </p:txBody>
      </p:sp>
      <p:sp>
        <p:nvSpPr>
          <p:cNvPr id="114" name="Google Shape;114;p17"/>
          <p:cNvSpPr txBox="1"/>
          <p:nvPr/>
        </p:nvSpPr>
        <p:spPr>
          <a:xfrm>
            <a:off x="210300" y="807000"/>
            <a:ext cx="909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In July, we executed a hybrid media-buy strategy utilizing both XHS Spark (聚光) and Boost (薯条) to drive post likes and saves.</a:t>
            </a:r>
            <a:endParaRPr sz="1000">
              <a:latin typeface="Times New Roman"/>
              <a:ea typeface="Times New Roman"/>
              <a:cs typeface="Times New Roman"/>
              <a:sym typeface="Times New Roman"/>
            </a:endParaRPr>
          </a:p>
        </p:txBody>
      </p:sp>
      <p:sp>
        <p:nvSpPr>
          <p:cNvPr id="115" name="Google Shape;115;p17"/>
          <p:cNvSpPr txBox="1"/>
          <p:nvPr/>
        </p:nvSpPr>
        <p:spPr>
          <a:xfrm>
            <a:off x="203775" y="591600"/>
            <a:ext cx="605100" cy="27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lang="en" sz="1000">
                <a:solidFill>
                  <a:srgbClr val="262626"/>
                </a:solidFill>
              </a:rPr>
              <a:t>薯条</a:t>
            </a:r>
            <a:endParaRPr b="1" i="0" sz="1000" u="none" cap="none" strike="noStrike">
              <a:solidFill>
                <a:srgbClr val="262626"/>
              </a:solidFill>
              <a:latin typeface="Arial"/>
              <a:ea typeface="Arial"/>
              <a:cs typeface="Arial"/>
              <a:sym typeface="Arial"/>
            </a:endParaRPr>
          </a:p>
        </p:txBody>
      </p:sp>
      <p:sp>
        <p:nvSpPr>
          <p:cNvPr id="116" name="Google Shape;116;p17"/>
          <p:cNvSpPr txBox="1"/>
          <p:nvPr/>
        </p:nvSpPr>
        <p:spPr>
          <a:xfrm>
            <a:off x="7252800" y="302538"/>
            <a:ext cx="1891200" cy="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Times New Roman"/>
                <a:ea typeface="Times New Roman"/>
                <a:cs typeface="Times New Roman"/>
                <a:sym typeface="Times New Roman"/>
              </a:rPr>
              <a:t>Exchange rate: 1RMB = 1.16 HKD</a:t>
            </a:r>
            <a:endParaRPr sz="900">
              <a:solidFill>
                <a:schemeClr val="dk2"/>
              </a:solidFill>
              <a:latin typeface="Times New Roman"/>
              <a:ea typeface="Times New Roman"/>
              <a:cs typeface="Times New Roman"/>
              <a:sym typeface="Times New Roman"/>
            </a:endParaRPr>
          </a:p>
        </p:txBody>
      </p:sp>
      <p:graphicFrame>
        <p:nvGraphicFramePr>
          <p:cNvPr id="117" name="Google Shape;117;p17"/>
          <p:cNvGraphicFramePr/>
          <p:nvPr/>
        </p:nvGraphicFramePr>
        <p:xfrm>
          <a:off x="203775" y="1145700"/>
          <a:ext cx="3000000" cy="3000000"/>
        </p:xfrm>
        <a:graphic>
          <a:graphicData uri="http://schemas.openxmlformats.org/drawingml/2006/table">
            <a:tbl>
              <a:tblPr>
                <a:noFill/>
                <a:tableStyleId>{76F50A6D-77A3-4A06-8495-73F4A716AD60}</a:tableStyleId>
              </a:tblPr>
              <a:tblGrid>
                <a:gridCol w="1090275"/>
                <a:gridCol w="566275"/>
                <a:gridCol w="870000"/>
                <a:gridCol w="437150"/>
                <a:gridCol w="652350"/>
                <a:gridCol w="501700"/>
                <a:gridCol w="501700"/>
                <a:gridCol w="501700"/>
                <a:gridCol w="431050"/>
                <a:gridCol w="532575"/>
                <a:gridCol w="676900"/>
                <a:gridCol w="501700"/>
                <a:gridCol w="447875"/>
                <a:gridCol w="480175"/>
                <a:gridCol w="490950"/>
              </a:tblGrid>
              <a:tr h="226200">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XHS Subject</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Period</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Objectives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Cost￥</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Impressions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Clicks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Likes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Comment</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Saved</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Follow</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Homepage Views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Direct Messages</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CTR</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CPC ¥</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600">
                          <a:solidFill>
                            <a:schemeClr val="dk1"/>
                          </a:solidFill>
                          <a:latin typeface="Times New Roman"/>
                          <a:ea typeface="Times New Roman"/>
                          <a:cs typeface="Times New Roman"/>
                          <a:sym typeface="Times New Roman"/>
                        </a:rPr>
                        <a:t>CPM ¥</a:t>
                      </a:r>
                      <a:endParaRPr b="1" sz="600">
                        <a:solidFill>
                          <a:schemeClr val="dk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香港年中蓄势｜在有呼吸感的空间办场沙龙✨</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7/7</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300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2,225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68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3.06%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4.41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134.83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26Fall香港租房不踩雷！神仙公寓了解下🙋</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7/15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150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835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22</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6.82</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179.64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26Fall香港租房不踩雷！神仙公寓了解下🙋</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7/23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150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1,488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1.08%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9.38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100.81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香港太子这片教育蓝海有多“香”</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7/29</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粉丝关注量</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300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4,036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285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19</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7.06%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1.05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5">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74.33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当AI接管了逻辑，为什么我们仍需见一面？</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马年办活动不踩雷⚡香港三地场地任选</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从工业区到艺术核心，在黄竹坑偶遇灵感</a:t>
                      </a:r>
                      <a:endParaRPr sz="600">
                        <a:latin typeface="Times New Roman"/>
                        <a:ea typeface="Times New Roman"/>
                        <a:cs typeface="Times New Roman"/>
                        <a:sym typeface="Times New Roman"/>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在中环「黄金边界」寻找你的事业坐标</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1分钟香港站！中环宝藏“效率坐标”🚀</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7/29</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300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2,604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226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29</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8.68%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1.33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115.21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26Fall香港租房不踩雷！神仙公寓了解下🙋</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7/29</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200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880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3.18%</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7.14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227.27</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26Fall香港租房不踩雷！神仙公寓了解下🙋</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7/30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点赞收藏量</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150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975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31</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6</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7.69%</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2.00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153.85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1分钟香港站！中环宝藏“效率坐标”🚀</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香港CBD2！观塘24小时不打烊创意基地💡</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2262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港岛选址秘籍：看懂人流量，开店成功一半</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vMerge="1"/>
                <a:tc vMerge="1"/>
                <a:tc vMerge="1"/>
                <a:tc vMerge="1"/>
                <a:tc vMerge="1"/>
                <a:tc vMerge="1"/>
                <a:tc vMerge="1"/>
                <a:tc vMerge="1"/>
                <a:tc vMerge="1"/>
                <a:tc vMerge="1"/>
                <a:tc vMerge="1"/>
                <a:tc vMerge="1"/>
                <a:tc vMerge="1"/>
              </a:tr>
              <a:tr h="130500">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July Total</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1,550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13,043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720</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117</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53</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87</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5.52%</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2.15</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latin typeface="Times New Roman"/>
                          <a:ea typeface="Times New Roman"/>
                          <a:cs typeface="Times New Roman"/>
                          <a:sym typeface="Times New Roman"/>
                        </a:rPr>
                        <a:t>118.84</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0500">
                <a:tc>
                  <a:txBody>
                    <a:bodyPr/>
                    <a:lstStyle/>
                    <a:p>
                      <a:pPr indent="0" lvl="0" marL="0" rtl="0" algn="ctr">
                        <a:lnSpc>
                          <a:spcPct val="115000"/>
                        </a:lnSpc>
                        <a:spcBef>
                          <a:spcPts val="0"/>
                        </a:spcBef>
                        <a:spcAft>
                          <a:spcPts val="0"/>
                        </a:spcAft>
                        <a:buNone/>
                      </a:pPr>
                      <a:r>
                        <a:rPr lang="en" sz="600">
                          <a:highlight>
                            <a:schemeClr val="accent6"/>
                          </a:highlight>
                          <a:latin typeface="Times New Roman"/>
                          <a:ea typeface="Times New Roman"/>
                          <a:cs typeface="Times New Roman"/>
                          <a:sym typeface="Times New Roman"/>
                        </a:rPr>
                        <a:t>HKD Total + 20% Service fee</a:t>
                      </a:r>
                      <a:endParaRPr sz="600">
                        <a:highlight>
                          <a:schemeClr val="accent6"/>
                        </a:highlight>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highlight>
                            <a:schemeClr val="accent6"/>
                          </a:highlight>
                          <a:latin typeface="Times New Roman"/>
                          <a:ea typeface="Times New Roman"/>
                          <a:cs typeface="Times New Roman"/>
                          <a:sym typeface="Times New Roman"/>
                        </a:rPr>
                        <a:t>$</a:t>
                      </a:r>
                      <a:r>
                        <a:rPr lang="en" sz="600">
                          <a:highlight>
                            <a:schemeClr val="accent6"/>
                          </a:highlight>
                          <a:latin typeface="Times New Roman"/>
                          <a:ea typeface="Times New Roman"/>
                          <a:cs typeface="Times New Roman"/>
                          <a:sym typeface="Times New Roman"/>
                        </a:rPr>
                        <a:t>2,157.60</a:t>
                      </a:r>
                      <a:endParaRPr sz="600">
                        <a:highlight>
                          <a:schemeClr val="accent6"/>
                        </a:highlight>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8"/>
          <p:cNvSpPr txBox="1"/>
          <p:nvPr/>
        </p:nvSpPr>
        <p:spPr>
          <a:xfrm>
            <a:off x="950850" y="258575"/>
            <a:ext cx="2838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Times New Roman"/>
                <a:ea typeface="Times New Roman"/>
                <a:cs typeface="Times New Roman"/>
                <a:sym typeface="Times New Roman"/>
              </a:rPr>
              <a:t>Competitors Analysis </a:t>
            </a:r>
            <a:endParaRPr b="1" i="0" sz="2000" u="none" cap="none" strike="noStrike">
              <a:solidFill>
                <a:schemeClr val="dk1"/>
              </a:solidFill>
              <a:latin typeface="Times New Roman"/>
              <a:ea typeface="Times New Roman"/>
              <a:cs typeface="Times New Roman"/>
              <a:sym typeface="Times New Roman"/>
            </a:endParaRPr>
          </a:p>
        </p:txBody>
      </p:sp>
      <p:pic>
        <p:nvPicPr>
          <p:cNvPr id="123" name="Google Shape;123;p18"/>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124" name="Google Shape;124;p1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25" name="Google Shape;125;p18"/>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8"/>
          <p:cNvSpPr txBox="1"/>
          <p:nvPr/>
        </p:nvSpPr>
        <p:spPr>
          <a:xfrm>
            <a:off x="287937" y="819926"/>
            <a:ext cx="32004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50000"/>
              </a:lnSpc>
              <a:spcBef>
                <a:spcPts val="0"/>
              </a:spcBef>
              <a:spcAft>
                <a:spcPts val="0"/>
              </a:spcAft>
              <a:buClr>
                <a:srgbClr val="000000"/>
              </a:buClr>
              <a:buSzPts val="800"/>
              <a:buFont typeface="Arial"/>
              <a:buNone/>
            </a:pPr>
            <a:r>
              <a:rPr b="1" lang="en" sz="1200">
                <a:latin typeface="Times New Roman"/>
                <a:ea typeface="Times New Roman"/>
                <a:cs typeface="Times New Roman"/>
                <a:sym typeface="Times New Roman"/>
              </a:rPr>
              <a:t>会德丰香港WheelockLiving</a:t>
            </a:r>
            <a:endParaRPr b="1" i="0" sz="1200" u="none" cap="none" strike="noStrike">
              <a:solidFill>
                <a:srgbClr val="000000"/>
              </a:solidFill>
              <a:latin typeface="Times New Roman"/>
              <a:ea typeface="Times New Roman"/>
              <a:cs typeface="Times New Roman"/>
              <a:sym typeface="Times New Roman"/>
            </a:endParaRPr>
          </a:p>
        </p:txBody>
      </p:sp>
      <p:sp>
        <p:nvSpPr>
          <p:cNvPr id="127" name="Google Shape;127;p18"/>
          <p:cNvSpPr txBox="1"/>
          <p:nvPr/>
        </p:nvSpPr>
        <p:spPr>
          <a:xfrm>
            <a:off x="287900" y="1143025"/>
            <a:ext cx="5118900" cy="4015500"/>
          </a:xfrm>
          <a:prstGeom prst="rect">
            <a:avLst/>
          </a:prstGeom>
          <a:noFill/>
          <a:ln>
            <a:noFill/>
          </a:ln>
        </p:spPr>
        <p:txBody>
          <a:bodyPr anchorCtr="0" anchor="t" bIns="25700" lIns="51425" spcFirstLastPara="1" rIns="51425" wrap="square" tIns="25700">
            <a:spAutoFit/>
          </a:bodyPr>
          <a:lstStyle/>
          <a:p>
            <a:pPr indent="0" lvl="0" marL="0" marR="0" rtl="0" algn="l">
              <a:lnSpc>
                <a:spcPct val="150000"/>
              </a:lnSpc>
              <a:spcBef>
                <a:spcPts val="0"/>
              </a:spcBef>
              <a:spcAft>
                <a:spcPts val="0"/>
              </a:spcAft>
              <a:buClr>
                <a:srgbClr val="000000"/>
              </a:buClr>
              <a:buSzPts val="1200"/>
              <a:buFont typeface="Arial"/>
              <a:buNone/>
            </a:pPr>
            <a:r>
              <a:rPr b="1" i="0" lang="en" sz="1000" u="none" cap="none" strike="noStrike">
                <a:solidFill>
                  <a:srgbClr val="000000"/>
                </a:solidFill>
                <a:latin typeface="Times New Roman"/>
                <a:ea typeface="Times New Roman"/>
                <a:cs typeface="Times New Roman"/>
                <a:sym typeface="Times New Roman"/>
              </a:rPr>
              <a:t>Account overview </a:t>
            </a:r>
            <a:r>
              <a:rPr b="1" lang="en" sz="1000">
                <a:solidFill>
                  <a:srgbClr val="000000"/>
                </a:solidFill>
                <a:latin typeface="Times New Roman"/>
                <a:ea typeface="Times New Roman"/>
                <a:cs typeface="Times New Roman"/>
                <a:sym typeface="Times New Roman"/>
              </a:rPr>
              <a:t>in</a:t>
            </a:r>
            <a:r>
              <a:rPr b="1" lang="en" sz="1000">
                <a:latin typeface="Times New Roman"/>
                <a:ea typeface="Times New Roman"/>
                <a:cs typeface="Times New Roman"/>
                <a:sym typeface="Times New Roman"/>
              </a:rPr>
              <a:t> July. :</a:t>
            </a:r>
            <a:endParaRPr b="1" i="0" sz="1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b="0" i="0" lang="en" sz="1000" u="none" cap="none" strike="noStrike">
                <a:solidFill>
                  <a:srgbClr val="000000"/>
                </a:solidFill>
                <a:latin typeface="Times New Roman"/>
                <a:ea typeface="Times New Roman"/>
                <a:cs typeface="Times New Roman"/>
                <a:sym typeface="Times New Roman"/>
              </a:rPr>
              <a:t>Total posted </a:t>
            </a:r>
            <a:r>
              <a:rPr lang="en" sz="1000">
                <a:latin typeface="Times New Roman"/>
                <a:ea typeface="Times New Roman"/>
                <a:cs typeface="Times New Roman"/>
                <a:sym typeface="Times New Roman"/>
              </a:rPr>
              <a:t>6</a:t>
            </a:r>
            <a:r>
              <a:rPr b="0" i="0" lang="en" sz="1000" u="none" cap="none" strike="noStrike">
                <a:solidFill>
                  <a:srgbClr val="000000"/>
                </a:solidFill>
                <a:latin typeface="Times New Roman"/>
                <a:ea typeface="Times New Roman"/>
                <a:cs typeface="Times New Roman"/>
                <a:sym typeface="Times New Roman"/>
              </a:rPr>
              <a:t> </a:t>
            </a:r>
            <a:r>
              <a:rPr lang="en" sz="1000">
                <a:latin typeface="Times New Roman"/>
                <a:ea typeface="Times New Roman"/>
                <a:cs typeface="Times New Roman"/>
                <a:sym typeface="Times New Roman"/>
              </a:rPr>
              <a:t>feeds</a:t>
            </a:r>
            <a:r>
              <a:rPr b="0" i="0" lang="en" sz="1000" u="none" cap="none" strike="noStrike">
                <a:solidFill>
                  <a:srgbClr val="000000"/>
                </a:solidFill>
                <a:latin typeface="Times New Roman"/>
                <a:ea typeface="Times New Roman"/>
                <a:cs typeface="Times New Roman"/>
                <a:sym typeface="Times New Roman"/>
              </a:rPr>
              <a:t>, including </a:t>
            </a:r>
            <a:r>
              <a:rPr lang="en" sz="1000">
                <a:latin typeface="Times New Roman"/>
                <a:ea typeface="Times New Roman"/>
                <a:cs typeface="Times New Roman"/>
                <a:sym typeface="Times New Roman"/>
              </a:rPr>
              <a:t>5</a:t>
            </a:r>
            <a:r>
              <a:rPr b="0" i="0" lang="en" sz="1000" u="none" cap="none" strike="noStrike">
                <a:solidFill>
                  <a:srgbClr val="000000"/>
                </a:solidFill>
                <a:latin typeface="Times New Roman"/>
                <a:ea typeface="Times New Roman"/>
                <a:cs typeface="Times New Roman"/>
                <a:sym typeface="Times New Roman"/>
              </a:rPr>
              <a:t> </a:t>
            </a:r>
            <a:r>
              <a:rPr lang="en" sz="1000">
                <a:latin typeface="Times New Roman"/>
                <a:ea typeface="Times New Roman"/>
                <a:cs typeface="Times New Roman"/>
                <a:sym typeface="Times New Roman"/>
              </a:rPr>
              <a:t>text and 1</a:t>
            </a:r>
            <a:r>
              <a:rPr b="0" i="0" lang="en" sz="1000" u="none" cap="none" strike="noStrike">
                <a:solidFill>
                  <a:srgbClr val="000000"/>
                </a:solidFill>
                <a:latin typeface="Times New Roman"/>
                <a:ea typeface="Times New Roman"/>
                <a:cs typeface="Times New Roman"/>
                <a:sym typeface="Times New Roman"/>
              </a:rPr>
              <a:t> video</a:t>
            </a:r>
            <a:r>
              <a:rPr lang="en" sz="1000">
                <a:latin typeface="Times New Roman"/>
                <a:ea typeface="Times New Roman"/>
                <a:cs typeface="Times New Roman"/>
                <a:sym typeface="Times New Roman"/>
              </a:rPr>
              <a:t> feeds</a:t>
            </a:r>
            <a:endParaRPr b="0" i="0" sz="1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b="0" i="0" lang="en" sz="1000" u="none" cap="none" strike="noStrike">
                <a:solidFill>
                  <a:srgbClr val="000000"/>
                </a:solidFill>
                <a:latin typeface="Times New Roman"/>
                <a:ea typeface="Times New Roman"/>
                <a:cs typeface="Times New Roman"/>
                <a:sym typeface="Times New Roman"/>
              </a:rPr>
              <a:t>Content Pillar：</a:t>
            </a:r>
            <a:r>
              <a:rPr lang="en" sz="1000">
                <a:latin typeface="Times New Roman"/>
                <a:ea typeface="Times New Roman"/>
                <a:cs typeface="Times New Roman"/>
                <a:sym typeface="Times New Roman"/>
              </a:rPr>
              <a:t>Experiential Living &amp; Local Engagement &amp; Offers</a:t>
            </a:r>
            <a:endParaRPr sz="1000">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t/>
            </a:r>
            <a:endParaRPr sz="10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 sz="1000">
                <a:solidFill>
                  <a:schemeClr val="dk1"/>
                </a:solidFill>
                <a:latin typeface="Times New Roman"/>
                <a:ea typeface="Times New Roman"/>
                <a:cs typeface="Times New Roman"/>
                <a:sym typeface="Times New Roman"/>
              </a:rPr>
              <a:t>Top1 post analysis-</a:t>
            </a:r>
            <a:r>
              <a:rPr lang="en" sz="1000" u="sng">
                <a:solidFill>
                  <a:schemeClr val="hlink"/>
                </a:solidFill>
                <a:latin typeface="Times New Roman"/>
                <a:ea typeface="Times New Roman"/>
                <a:cs typeface="Times New Roman"/>
                <a:sym typeface="Times New Roman"/>
                <a:hlinkClick r:id="rId4"/>
              </a:rPr>
              <a:t>新城35周年🎵100张音乐会门票免费送</a:t>
            </a:r>
            <a:endParaRPr sz="1000">
              <a:solidFill>
                <a:srgbClr val="1C1F23"/>
              </a:solidFill>
              <a:highlight>
                <a:schemeClr val="lt1"/>
              </a:highlight>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The post performs exceptionally well by leveraging the 35th anniversary milestone​ and a high-value free concert ticket giveaway​ — featuring popular artists like Stephy Tang — which effectively captures user attention and keeps the brand top-of-mind in a festive, engaging manner.</a:t>
            </a:r>
            <a:endParaRPr sz="10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000">
                <a:solidFill>
                  <a:schemeClr val="dk1"/>
                </a:solidFill>
                <a:latin typeface="Times New Roman"/>
                <a:ea typeface="Times New Roman"/>
                <a:cs typeface="Times New Roman"/>
                <a:sym typeface="Times New Roman"/>
              </a:rPr>
              <a:t>July Top 2&amp;3 content:</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“猫奴集合！香港猫迷博览会门票免费送啦～” post performs well by leveraging the mass appeal of 'Hong Kong Cat Fanciers Expo 2026' and a 'Western Cowboy Cat' themed free ticket giveaway, using a native XHS giveaway format that lowers participation barriers and effectively boosts brand affection among pet-loving audiences.</a:t>
            </a:r>
            <a:endParaRPr sz="10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“📢古洞北免费导赏团，限时招募中！” performs well by recasting Kwu Tung North as a "Ghibli-style summer" eco-escape, pairing a free guided tour with scarcity and tangible rewards to lower participation barriers and drive strong save-and-comment engagement.</a:t>
            </a:r>
            <a:endParaRPr sz="1000">
              <a:solidFill>
                <a:schemeClr val="dk1"/>
              </a:solidFill>
              <a:latin typeface="Times New Roman"/>
              <a:ea typeface="Times New Roman"/>
              <a:cs typeface="Times New Roman"/>
              <a:sym typeface="Times New Roman"/>
            </a:endParaRPr>
          </a:p>
        </p:txBody>
      </p:sp>
      <p:pic>
        <p:nvPicPr>
          <p:cNvPr id="128" name="Google Shape;128;p18"/>
          <p:cNvPicPr preferRelativeResize="0"/>
          <p:nvPr/>
        </p:nvPicPr>
        <p:blipFill>
          <a:blip r:embed="rId5">
            <a:alphaModFix/>
          </a:blip>
          <a:stretch>
            <a:fillRect/>
          </a:stretch>
        </p:blipFill>
        <p:spPr>
          <a:xfrm>
            <a:off x="5513750" y="456825"/>
            <a:ext cx="1114250" cy="1783699"/>
          </a:xfrm>
          <a:prstGeom prst="rect">
            <a:avLst/>
          </a:prstGeom>
          <a:noFill/>
          <a:ln>
            <a:noFill/>
          </a:ln>
          <a:effectLst>
            <a:outerShdw blurRad="57150" rotWithShape="0" algn="bl" dir="5400000" dist="19050">
              <a:srgbClr val="000000">
                <a:alpha val="50000"/>
              </a:srgbClr>
            </a:outerShdw>
          </a:effectLst>
        </p:spPr>
      </p:pic>
      <p:pic>
        <p:nvPicPr>
          <p:cNvPr id="129" name="Google Shape;129;p18"/>
          <p:cNvPicPr preferRelativeResize="0"/>
          <p:nvPr/>
        </p:nvPicPr>
        <p:blipFill>
          <a:blip r:embed="rId6">
            <a:alphaModFix/>
          </a:blip>
          <a:stretch>
            <a:fillRect/>
          </a:stretch>
        </p:blipFill>
        <p:spPr>
          <a:xfrm>
            <a:off x="7956150" y="471275"/>
            <a:ext cx="1114250" cy="1768863"/>
          </a:xfrm>
          <a:prstGeom prst="rect">
            <a:avLst/>
          </a:prstGeom>
          <a:noFill/>
          <a:ln>
            <a:noFill/>
          </a:ln>
          <a:effectLst>
            <a:outerShdw blurRad="57150" rotWithShape="0" algn="bl" dir="5400000" dist="19050">
              <a:srgbClr val="000000">
                <a:alpha val="50000"/>
              </a:srgbClr>
            </a:outerShdw>
          </a:effectLst>
        </p:spPr>
      </p:pic>
      <p:pic>
        <p:nvPicPr>
          <p:cNvPr id="130" name="Google Shape;130;p18"/>
          <p:cNvPicPr preferRelativeResize="0"/>
          <p:nvPr/>
        </p:nvPicPr>
        <p:blipFill>
          <a:blip r:embed="rId7">
            <a:alphaModFix/>
          </a:blip>
          <a:stretch>
            <a:fillRect/>
          </a:stretch>
        </p:blipFill>
        <p:spPr>
          <a:xfrm>
            <a:off x="6734950" y="456825"/>
            <a:ext cx="1114251" cy="1797769"/>
          </a:xfrm>
          <a:prstGeom prst="rect">
            <a:avLst/>
          </a:prstGeom>
          <a:noFill/>
          <a:ln>
            <a:noFill/>
          </a:ln>
          <a:effectLst>
            <a:outerShdw blurRad="57150" rotWithShape="0" algn="bl" dir="5400000" dist="19050">
              <a:srgbClr val="000000">
                <a:alpha val="50000"/>
              </a:srgbClr>
            </a:outerShdw>
          </a:effectLst>
        </p:spPr>
      </p:pic>
      <p:pic>
        <p:nvPicPr>
          <p:cNvPr id="131" name="Google Shape;131;p18"/>
          <p:cNvPicPr preferRelativeResize="0"/>
          <p:nvPr/>
        </p:nvPicPr>
        <p:blipFill>
          <a:blip r:embed="rId8">
            <a:alphaModFix/>
          </a:blip>
          <a:stretch>
            <a:fillRect/>
          </a:stretch>
        </p:blipFill>
        <p:spPr>
          <a:xfrm>
            <a:off x="5513749" y="2408850"/>
            <a:ext cx="1114250" cy="1753590"/>
          </a:xfrm>
          <a:prstGeom prst="rect">
            <a:avLst/>
          </a:prstGeom>
          <a:noFill/>
          <a:ln>
            <a:noFill/>
          </a:ln>
          <a:effectLst>
            <a:outerShdw blurRad="57150" rotWithShape="0" algn="bl" dir="5400000" dist="19050">
              <a:srgbClr val="000000">
                <a:alpha val="50000"/>
              </a:srgbClr>
            </a:outerShdw>
          </a:effectLst>
        </p:spPr>
      </p:pic>
      <p:pic>
        <p:nvPicPr>
          <p:cNvPr id="132" name="Google Shape;132;p18"/>
          <p:cNvPicPr preferRelativeResize="0"/>
          <p:nvPr/>
        </p:nvPicPr>
        <p:blipFill>
          <a:blip r:embed="rId9">
            <a:alphaModFix/>
          </a:blip>
          <a:stretch>
            <a:fillRect/>
          </a:stretch>
        </p:blipFill>
        <p:spPr>
          <a:xfrm>
            <a:off x="6734950" y="2408850"/>
            <a:ext cx="1114250" cy="1753600"/>
          </a:xfrm>
          <a:prstGeom prst="rect">
            <a:avLst/>
          </a:prstGeom>
          <a:noFill/>
          <a:ln>
            <a:noFill/>
          </a:ln>
          <a:effectLst>
            <a:outerShdw blurRad="57150" rotWithShape="0" algn="bl" dir="5400000" dist="19050">
              <a:srgbClr val="000000">
                <a:alpha val="50000"/>
              </a:srgbClr>
            </a:outerShdw>
          </a:effectLst>
        </p:spPr>
      </p:pic>
      <p:pic>
        <p:nvPicPr>
          <p:cNvPr id="133" name="Google Shape;133;p18"/>
          <p:cNvPicPr preferRelativeResize="0"/>
          <p:nvPr/>
        </p:nvPicPr>
        <p:blipFill>
          <a:blip r:embed="rId10">
            <a:alphaModFix/>
          </a:blip>
          <a:stretch>
            <a:fillRect/>
          </a:stretch>
        </p:blipFill>
        <p:spPr>
          <a:xfrm>
            <a:off x="7922825" y="2711700"/>
            <a:ext cx="1180900" cy="12486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nvSpPr>
        <p:spPr>
          <a:xfrm>
            <a:off x="1016000" y="254050"/>
            <a:ext cx="2823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Times New Roman"/>
                <a:ea typeface="Times New Roman"/>
                <a:cs typeface="Times New Roman"/>
                <a:sym typeface="Times New Roman"/>
              </a:rPr>
              <a:t>Learning &amp; Suggestions </a:t>
            </a:r>
            <a:endParaRPr b="1" i="0" sz="2000" u="none" cap="none" strike="noStrike">
              <a:solidFill>
                <a:schemeClr val="dk1"/>
              </a:solidFill>
              <a:latin typeface="Times New Roman"/>
              <a:ea typeface="Times New Roman"/>
              <a:cs typeface="Times New Roman"/>
              <a:sym typeface="Times New Roman"/>
            </a:endParaRPr>
          </a:p>
        </p:txBody>
      </p:sp>
      <p:pic>
        <p:nvPicPr>
          <p:cNvPr id="139" name="Google Shape;139;p19"/>
          <p:cNvPicPr preferRelativeResize="0"/>
          <p:nvPr/>
        </p:nvPicPr>
        <p:blipFill rotWithShape="1">
          <a:blip r:embed="rId3">
            <a:alphaModFix/>
          </a:blip>
          <a:srcRect b="0" l="0" r="0" t="0"/>
          <a:stretch/>
        </p:blipFill>
        <p:spPr>
          <a:xfrm>
            <a:off x="582400" y="330813"/>
            <a:ext cx="339075" cy="339075"/>
          </a:xfrm>
          <a:prstGeom prst="rect">
            <a:avLst/>
          </a:prstGeom>
          <a:noFill/>
          <a:ln>
            <a:noFill/>
          </a:ln>
        </p:spPr>
      </p:pic>
      <p:sp>
        <p:nvSpPr>
          <p:cNvPr id="140" name="Google Shape;140;p19"/>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41" name="Google Shape;141;p19"/>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9"/>
          <p:cNvSpPr txBox="1"/>
          <p:nvPr/>
        </p:nvSpPr>
        <p:spPr>
          <a:xfrm>
            <a:off x="370095" y="1137947"/>
            <a:ext cx="4325700" cy="3343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Content Strategy Recommendations：</a:t>
            </a:r>
            <a:br>
              <a:rPr b="1" lang="en" sz="1000">
                <a:solidFill>
                  <a:schemeClr val="dk1"/>
                </a:solidFill>
                <a:latin typeface="Times New Roman"/>
                <a:ea typeface="Times New Roman"/>
                <a:cs typeface="Times New Roman"/>
                <a:sym typeface="Times New Roman"/>
              </a:rPr>
            </a:br>
            <a:endParaRPr b="1" sz="1000">
              <a:solidFill>
                <a:schemeClr val="dk1"/>
              </a:solidFill>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Font typeface="Times New Roman"/>
              <a:buChar char="●"/>
            </a:pPr>
            <a:r>
              <a:rPr b="1" lang="en" sz="1200">
                <a:solidFill>
                  <a:schemeClr val="dk1"/>
                </a:solidFill>
                <a:latin typeface="Times New Roman"/>
                <a:ea typeface="Times New Roman"/>
                <a:cs typeface="Times New Roman"/>
                <a:sym typeface="Times New Roman"/>
              </a:rPr>
              <a:t> Efficiency Workplace Experience Strategy</a:t>
            </a:r>
            <a:endParaRPr b="1" sz="1200">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lang="en" sz="1200">
                <a:latin typeface="Times New Roman"/>
                <a:ea typeface="Times New Roman"/>
                <a:cs typeface="Times New Roman"/>
                <a:sym typeface="Times New Roman"/>
              </a:rPr>
              <a:t>Shift focus from individual properties to universal worker pain points—like weather-disrupted commutes or inefficient transit between work and social life. Position Hip Shing Hong’s portfolio as a system that eliminates these frictions, building emotional resonance with efficiency-driven decision-makers. </a:t>
            </a:r>
            <a:endParaRPr sz="1200">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lang="en" sz="1200">
                <a:latin typeface="Times New Roman"/>
                <a:ea typeface="Times New Roman"/>
                <a:cs typeface="Times New Roman"/>
                <a:sym typeface="Times New Roman"/>
              </a:rPr>
              <a:t>e.g.​ Promote Hip Shing Hong Centre by highlighting its covered walkway network in Central that workers can stay dry from MTR to desk to after-work drinks—turning infrastructure into an aspirational lifestyle of seamless productivity.</a:t>
            </a:r>
            <a:endParaRPr sz="1200">
              <a:latin typeface="Times New Roman"/>
              <a:ea typeface="Times New Roman"/>
              <a:cs typeface="Times New Roman"/>
              <a:sym typeface="Times New Roman"/>
            </a:endParaRPr>
          </a:p>
        </p:txBody>
      </p:sp>
      <p:pic>
        <p:nvPicPr>
          <p:cNvPr id="143" name="Google Shape;143;p19"/>
          <p:cNvPicPr preferRelativeResize="0"/>
          <p:nvPr/>
        </p:nvPicPr>
        <p:blipFill>
          <a:blip r:embed="rId4">
            <a:alphaModFix/>
          </a:blip>
          <a:stretch>
            <a:fillRect/>
          </a:stretch>
        </p:blipFill>
        <p:spPr>
          <a:xfrm>
            <a:off x="4937849" y="1297364"/>
            <a:ext cx="1974050" cy="3024375"/>
          </a:xfrm>
          <a:prstGeom prst="rect">
            <a:avLst/>
          </a:prstGeom>
          <a:noFill/>
          <a:ln>
            <a:noFill/>
          </a:ln>
        </p:spPr>
      </p:pic>
      <p:pic>
        <p:nvPicPr>
          <p:cNvPr id="144" name="Google Shape;144;p19"/>
          <p:cNvPicPr preferRelativeResize="0"/>
          <p:nvPr/>
        </p:nvPicPr>
        <p:blipFill>
          <a:blip r:embed="rId5">
            <a:alphaModFix/>
          </a:blip>
          <a:stretch>
            <a:fillRect/>
          </a:stretch>
        </p:blipFill>
        <p:spPr>
          <a:xfrm>
            <a:off x="7060127" y="1297375"/>
            <a:ext cx="1767400" cy="29272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nvSpPr>
        <p:spPr>
          <a:xfrm>
            <a:off x="1016000" y="254050"/>
            <a:ext cx="2823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Times New Roman"/>
                <a:ea typeface="Times New Roman"/>
                <a:cs typeface="Times New Roman"/>
                <a:sym typeface="Times New Roman"/>
              </a:rPr>
              <a:t>Learning &amp; Suggestions </a:t>
            </a:r>
            <a:endParaRPr b="1" i="0" sz="2000" u="none" cap="none" strike="noStrike">
              <a:solidFill>
                <a:schemeClr val="dk1"/>
              </a:solidFill>
              <a:latin typeface="Times New Roman"/>
              <a:ea typeface="Times New Roman"/>
              <a:cs typeface="Times New Roman"/>
              <a:sym typeface="Times New Roman"/>
            </a:endParaRPr>
          </a:p>
        </p:txBody>
      </p:sp>
      <p:pic>
        <p:nvPicPr>
          <p:cNvPr id="150" name="Google Shape;150;p20"/>
          <p:cNvPicPr preferRelativeResize="0"/>
          <p:nvPr/>
        </p:nvPicPr>
        <p:blipFill rotWithShape="1">
          <a:blip r:embed="rId3">
            <a:alphaModFix/>
          </a:blip>
          <a:srcRect b="0" l="0" r="0" t="0"/>
          <a:stretch/>
        </p:blipFill>
        <p:spPr>
          <a:xfrm>
            <a:off x="582400" y="330813"/>
            <a:ext cx="339075" cy="339075"/>
          </a:xfrm>
          <a:prstGeom prst="rect">
            <a:avLst/>
          </a:prstGeom>
          <a:noFill/>
          <a:ln>
            <a:noFill/>
          </a:ln>
        </p:spPr>
      </p:pic>
      <p:sp>
        <p:nvSpPr>
          <p:cNvPr id="151" name="Google Shape;151;p20"/>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52" name="Google Shape;152;p20"/>
          <p:cNvSpPr/>
          <p:nvPr/>
        </p:nvSpPr>
        <p:spPr>
          <a:xfrm>
            <a:off x="-22200" y="-2"/>
            <a:ext cx="9188400" cy="210300"/>
          </a:xfrm>
          <a:prstGeom prst="rect">
            <a:avLst/>
          </a:prstGeom>
          <a:solidFill>
            <a:srgbClr val="F5842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0"/>
          <p:cNvSpPr txBox="1"/>
          <p:nvPr/>
        </p:nvSpPr>
        <p:spPr>
          <a:xfrm>
            <a:off x="195337" y="1182597"/>
            <a:ext cx="4759800" cy="2836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Content Strategy Recommendations：</a:t>
            </a:r>
            <a:br>
              <a:rPr b="1" lang="en" sz="1000">
                <a:solidFill>
                  <a:schemeClr val="dk1"/>
                </a:solidFill>
                <a:latin typeface="Times New Roman"/>
                <a:ea typeface="Times New Roman"/>
                <a:cs typeface="Times New Roman"/>
                <a:sym typeface="Times New Roman"/>
              </a:rPr>
            </a:br>
            <a:endParaRPr b="1" sz="10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SzPts val="1400"/>
              <a:buChar char="●"/>
            </a:pPr>
            <a:r>
              <a:rPr b="1" lang="en" sz="1200">
                <a:latin typeface="Times New Roman"/>
                <a:ea typeface="Times New Roman"/>
                <a:cs typeface="Times New Roman"/>
                <a:sym typeface="Times New Roman"/>
              </a:rPr>
              <a:t>Hip Shing Hong Archives Strategy</a:t>
            </a:r>
            <a:endParaRPr b="1" sz="12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 sz="1200">
                <a:latin typeface="Times New Roman"/>
                <a:ea typeface="Times New Roman"/>
                <a:cs typeface="Times New Roman"/>
                <a:sym typeface="Times New Roman"/>
              </a:rPr>
              <a:t>Leverage the rich history of Hip Shing Hong and its properties as a content pillar. Uncover hidden historical facts, architectural details, and the background stories (e.g. Kwun Tong’s urban renewal). Examples include trivia like "How many MTR exits does this Central footbridge connect?" or "Why Madera Hotel's name has Portuguese roots." Source materials from internal archives, Wikipedia, and old newspapers, which builds brand depth and nostalgia.</a:t>
            </a:r>
            <a:endParaRPr sz="1200">
              <a:latin typeface="Times New Roman"/>
              <a:ea typeface="Times New Roman"/>
              <a:cs typeface="Times New Roman"/>
              <a:sym typeface="Times New Roman"/>
            </a:endParaRPr>
          </a:p>
        </p:txBody>
      </p:sp>
      <p:pic>
        <p:nvPicPr>
          <p:cNvPr id="154" name="Google Shape;154;p20"/>
          <p:cNvPicPr preferRelativeResize="0"/>
          <p:nvPr/>
        </p:nvPicPr>
        <p:blipFill>
          <a:blip r:embed="rId4">
            <a:alphaModFix/>
          </a:blip>
          <a:stretch>
            <a:fillRect/>
          </a:stretch>
        </p:blipFill>
        <p:spPr>
          <a:xfrm>
            <a:off x="5241999" y="1305975"/>
            <a:ext cx="1862526" cy="3010400"/>
          </a:xfrm>
          <a:prstGeom prst="rect">
            <a:avLst/>
          </a:prstGeom>
          <a:noFill/>
          <a:ln>
            <a:noFill/>
          </a:ln>
        </p:spPr>
      </p:pic>
      <p:pic>
        <p:nvPicPr>
          <p:cNvPr id="155" name="Google Shape;155;p20"/>
          <p:cNvPicPr preferRelativeResize="0"/>
          <p:nvPr/>
        </p:nvPicPr>
        <p:blipFill>
          <a:blip r:embed="rId5">
            <a:alphaModFix/>
          </a:blip>
          <a:stretch>
            <a:fillRect/>
          </a:stretch>
        </p:blipFill>
        <p:spPr>
          <a:xfrm>
            <a:off x="7167275" y="1305985"/>
            <a:ext cx="1734676" cy="28863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1"/>
          <p:cNvPicPr preferRelativeResize="0"/>
          <p:nvPr/>
        </p:nvPicPr>
        <p:blipFill>
          <a:blip r:embed="rId3">
            <a:alphaModFix/>
          </a:blip>
          <a:stretch>
            <a:fillRect/>
          </a:stretch>
        </p:blipFill>
        <p:spPr>
          <a:xfrm>
            <a:off x="4325475" y="0"/>
            <a:ext cx="4773702" cy="5143498"/>
          </a:xfrm>
          <a:prstGeom prst="rect">
            <a:avLst/>
          </a:prstGeom>
          <a:noFill/>
          <a:ln>
            <a:noFill/>
          </a:ln>
        </p:spPr>
      </p:pic>
      <p:pic>
        <p:nvPicPr>
          <p:cNvPr id="161" name="Google Shape;161;p21"/>
          <p:cNvPicPr preferRelativeResize="0"/>
          <p:nvPr/>
        </p:nvPicPr>
        <p:blipFill rotWithShape="1">
          <a:blip r:embed="rId4">
            <a:alphaModFix/>
          </a:blip>
          <a:srcRect b="0" l="0" r="0" t="0"/>
          <a:stretch/>
        </p:blipFill>
        <p:spPr>
          <a:xfrm>
            <a:off x="0" y="0"/>
            <a:ext cx="9144000" cy="5175875"/>
          </a:xfrm>
          <a:prstGeom prst="rect">
            <a:avLst/>
          </a:prstGeom>
          <a:noFill/>
          <a:ln cap="flat" cmpd="sng" w="9525">
            <a:solidFill>
              <a:schemeClr val="lt1"/>
            </a:solidFill>
            <a:prstDash val="solid"/>
            <a:round/>
            <a:headEnd len="sm" w="sm" type="none"/>
            <a:tailEnd len="sm" w="sm" type="none"/>
          </a:ln>
        </p:spPr>
      </p:pic>
      <p:pic>
        <p:nvPicPr>
          <p:cNvPr id="162" name="Google Shape;162;p21"/>
          <p:cNvPicPr preferRelativeResize="0"/>
          <p:nvPr/>
        </p:nvPicPr>
        <p:blipFill rotWithShape="1">
          <a:blip r:embed="rId5">
            <a:alphaModFix/>
          </a:blip>
          <a:srcRect b="0" l="0" r="0" t="0"/>
          <a:stretch/>
        </p:blipFill>
        <p:spPr>
          <a:xfrm>
            <a:off x="4044624" y="4746150"/>
            <a:ext cx="1054750" cy="282525"/>
          </a:xfrm>
          <a:prstGeom prst="rect">
            <a:avLst/>
          </a:prstGeom>
          <a:noFill/>
          <a:ln>
            <a:noFill/>
          </a:ln>
        </p:spPr>
      </p:pic>
      <p:sp>
        <p:nvSpPr>
          <p:cNvPr id="163" name="Google Shape;163;p21"/>
          <p:cNvSpPr/>
          <p:nvPr/>
        </p:nvSpPr>
        <p:spPr>
          <a:xfrm>
            <a:off x="466725" y="2135600"/>
            <a:ext cx="7958400" cy="1003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000000"/>
              </a:buClr>
              <a:buSzPts val="3200"/>
              <a:buFont typeface="Microsoft Yahei"/>
              <a:buNone/>
            </a:pPr>
            <a:r>
              <a:rPr b="1" i="0" lang="en" sz="3600" u="none" cap="none" strike="noStrike">
                <a:solidFill>
                  <a:srgbClr val="000000"/>
                </a:solidFill>
                <a:latin typeface="Arial"/>
                <a:ea typeface="Arial"/>
                <a:cs typeface="Arial"/>
                <a:sym typeface="Arial"/>
              </a:rPr>
              <a:t>Thank You</a:t>
            </a:r>
            <a:endParaRPr b="1" i="0" sz="3600" u="none" cap="none" strike="noStrike">
              <a:solidFill>
                <a:srgbClr val="000000"/>
              </a:solidFill>
              <a:latin typeface="Arial"/>
              <a:ea typeface="Arial"/>
              <a:cs typeface="Arial"/>
              <a:sym typeface="Arial"/>
            </a:endParaRPr>
          </a:p>
        </p:txBody>
      </p:sp>
      <p:sp>
        <p:nvSpPr>
          <p:cNvPr id="164" name="Google Shape;164;p21"/>
          <p:cNvSpPr txBox="1"/>
          <p:nvPr/>
        </p:nvSpPr>
        <p:spPr>
          <a:xfrm>
            <a:off x="531150" y="30472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rPr b="0" i="0" lang="en" sz="1800" u="none" cap="none" strike="noStrike">
                <a:solidFill>
                  <a:srgbClr val="000000"/>
                </a:solidFill>
                <a:latin typeface="Arial"/>
                <a:ea typeface="Arial"/>
                <a:cs typeface="Arial"/>
                <a:sym typeface="Arial"/>
              </a:rPr>
              <a:t>Contact: </a:t>
            </a:r>
            <a:r>
              <a:rPr b="0" i="0" lang="en" sz="1800" u="sng" cap="none" strike="noStrike">
                <a:solidFill>
                  <a:srgbClr val="0563C1"/>
                </a:solidFill>
                <a:latin typeface="Arial"/>
                <a:ea typeface="Arial"/>
                <a:cs typeface="Arial"/>
                <a:sym typeface="Arial"/>
                <a:hlinkClick r:id="rId6">
                  <a:extLst>
                    <a:ext uri="{A12FA001-AC4F-418D-AE19-62706E023703}">
                      <ahyp:hlinkClr val="tx"/>
                    </a:ext>
                  </a:extLst>
                </a:hlinkClick>
              </a:rPr>
              <a:t>info@dichat.hk</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